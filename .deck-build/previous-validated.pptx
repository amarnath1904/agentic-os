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97571196c524724" /><Relationship Type="http://schemas.openxmlformats.org/officeDocument/2006/relationships/extended-properties" Target="/docProps/app.xml" Id="Rbabdb607c8924967" /><Relationship Type="http://schemas.openxmlformats.org/officeDocument/2006/relationships/officeDocument" Target="/ppt/presentation.xml" Id="Ra0c76d98e9214e49" /></Relationships>
</file>

<file path=ppt/presentation.xml><?xml version="1.0" encoding="utf-8"?>
<p:presentation xmlns:p="http://schemas.openxmlformats.org/presentationml/2006/main">
  <p:sldMasterIdLst>
    <p:sldMasterId xmlns:r="http://schemas.openxmlformats.org/officeDocument/2006/relationships" id="2147483648" r:id="Rededd0c9cb6f4f17"/>
  </p:sldMasterIdLst>
  <p:notesMasterIdLst>
    <p:notesMasterId xmlns:r="http://schemas.openxmlformats.org/officeDocument/2006/relationships" r:id="R92c6402eb4734242"/>
  </p:notesMasterIdLst>
  <p:sldIdLst>
    <p:sldId xmlns:r="http://schemas.openxmlformats.org/officeDocument/2006/relationships" id="256" r:id="R27aaa979154e43a8"/>
    <p:sldId xmlns:r="http://schemas.openxmlformats.org/officeDocument/2006/relationships" id="257" r:id="R57c8e354072145ec"/>
    <p:sldId xmlns:r="http://schemas.openxmlformats.org/officeDocument/2006/relationships" id="258" r:id="R7effc6044635472f"/>
    <p:sldId xmlns:r="http://schemas.openxmlformats.org/officeDocument/2006/relationships" id="259" r:id="Racfacaf868ed4464"/>
    <p:sldId xmlns:r="http://schemas.openxmlformats.org/officeDocument/2006/relationships" id="260" r:id="R37efeab9c530462d"/>
    <p:sldId xmlns:r="http://schemas.openxmlformats.org/officeDocument/2006/relationships" id="261" r:id="R18db6c04e398488f"/>
    <p:sldId xmlns:r="http://schemas.openxmlformats.org/officeDocument/2006/relationships" id="262" r:id="R86055b07d10c48b6"/>
    <p:sldId xmlns:r="http://schemas.openxmlformats.org/officeDocument/2006/relationships" id="263" r:id="R53df12ba33944a34"/>
    <p:sldId xmlns:r="http://schemas.openxmlformats.org/officeDocument/2006/relationships" id="264" r:id="Rcc73279360fb4083"/>
    <p:sldId xmlns:r="http://schemas.openxmlformats.org/officeDocument/2006/relationships" id="265" r:id="R0031ae4a1b6647d6"/>
    <p:sldId xmlns:r="http://schemas.openxmlformats.org/officeDocument/2006/relationships" id="266" r:id="R3b9702a1866f4728"/>
    <p:sldId xmlns:r="http://schemas.openxmlformats.org/officeDocument/2006/relationships" id="267" r:id="R178736c64dda4fa7"/>
    <p:sldId xmlns:r="http://schemas.openxmlformats.org/officeDocument/2006/relationships" id="268" r:id="R72410973120548cf"/>
    <p:sldId xmlns:r="http://schemas.openxmlformats.org/officeDocument/2006/relationships" id="269" r:id="R15944c5327124bd6"/>
    <p:sldId xmlns:r="http://schemas.openxmlformats.org/officeDocument/2006/relationships" id="270" r:id="Rf77a7b837e3b480a"/>
    <p:sldId xmlns:r="http://schemas.openxmlformats.org/officeDocument/2006/relationships" id="271" r:id="Rbf0c77c89fa447f3"/>
    <p:sldId xmlns:r="http://schemas.openxmlformats.org/officeDocument/2006/relationships" id="272" r:id="R36eeeee40e374995"/>
    <p:sldId xmlns:r="http://schemas.openxmlformats.org/officeDocument/2006/relationships" id="273" r:id="R9bd00f6098dd4782"/>
    <p:sldId xmlns:r="http://schemas.openxmlformats.org/officeDocument/2006/relationships" id="274" r:id="Rf4161f3d1b4949e5"/>
    <p:sldId xmlns:r="http://schemas.openxmlformats.org/officeDocument/2006/relationships" id="275" r:id="R20eba95a9bf44746"/>
    <p:sldId xmlns:r="http://schemas.openxmlformats.org/officeDocument/2006/relationships" id="276" r:id="R5a6d1bf7db334375"/>
    <p:sldId xmlns:r="http://schemas.openxmlformats.org/officeDocument/2006/relationships" id="277" r:id="R3c0afe483b07421f"/>
    <p:sldId xmlns:r="http://schemas.openxmlformats.org/officeDocument/2006/relationships" id="278" r:id="Rb0bd3c6ffce64a90"/>
    <p:sldId xmlns:r="http://schemas.openxmlformats.org/officeDocument/2006/relationships" id="279" r:id="R6e043a1e9fc34b1e"/>
    <p:sldId xmlns:r="http://schemas.openxmlformats.org/officeDocument/2006/relationships" id="280" r:id="Rf62bac65be9f4b06"/>
    <p:sldId xmlns:r="http://schemas.openxmlformats.org/officeDocument/2006/relationships" id="281" r:id="R6b69b473bd88473d"/>
    <p:sldId xmlns:r="http://schemas.openxmlformats.org/officeDocument/2006/relationships" id="282" r:id="R56e4b1e7ab8e463e"/>
    <p:sldId xmlns:r="http://schemas.openxmlformats.org/officeDocument/2006/relationships" id="283" r:id="R61e9eeb8a2544ca8"/>
    <p:sldId xmlns:r="http://schemas.openxmlformats.org/officeDocument/2006/relationships" id="284" r:id="R25bd5078f1e74978"/>
    <p:sldId xmlns:r="http://schemas.openxmlformats.org/officeDocument/2006/relationships" id="285" r:id="R9bc8b23f86dc4ff2"/>
    <p:sldId xmlns:r="http://schemas.openxmlformats.org/officeDocument/2006/relationships" id="286" r:id="R58860a4899974186"/>
    <p:sldId xmlns:r="http://schemas.openxmlformats.org/officeDocument/2006/relationships" id="287" r:id="R5b3e637c4a14460e"/>
    <p:sldId xmlns:r="http://schemas.openxmlformats.org/officeDocument/2006/relationships" id="288" r:id="R3adda224a9dd44b1"/>
    <p:sldId xmlns:r="http://schemas.openxmlformats.org/officeDocument/2006/relationships" id="289" r:id="R4496fe4849f9417e"/>
    <p:sldId xmlns:r="http://schemas.openxmlformats.org/officeDocument/2006/relationships" id="290" r:id="R7059420ec2cc47f7"/>
    <p:sldId xmlns:r="http://schemas.openxmlformats.org/officeDocument/2006/relationships" id="291" r:id="R244e8b2fdf6a4d98"/>
    <p:sldId xmlns:r="http://schemas.openxmlformats.org/officeDocument/2006/relationships" id="292" r:id="R44155ce315144448"/>
    <p:sldId xmlns:r="http://schemas.openxmlformats.org/officeDocument/2006/relationships" id="293" r:id="R3b6cb7ff4fc04e71"/>
    <p:sldId xmlns:r="http://schemas.openxmlformats.org/officeDocument/2006/relationships" id="294" r:id="R6b1ccc738c6f4a2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f77591df1f4956" /><Relationship Type="http://schemas.openxmlformats.org/officeDocument/2006/relationships/slideMaster" Target="/ppt/slideMasters/slideMaster1.xml" Id="Rededd0c9cb6f4f17" /><Relationship Type="http://schemas.openxmlformats.org/officeDocument/2006/relationships/notesMaster" Target="/ppt/notesMasters/notesMaster1.xml" Id="R92c6402eb4734242" /><Relationship Type="http://schemas.openxmlformats.org/officeDocument/2006/relationships/presProps" Target="/ppt/presProps.xml" Id="Rdd51a5bb9f224eeb" /><Relationship Type="http://schemas.openxmlformats.org/officeDocument/2006/relationships/tableStyles" Target="/ppt/tableStyles.xml" Id="R0af6c52f9e1e41e1" /><Relationship Type="http://schemas.openxmlformats.org/officeDocument/2006/relationships/slide" Target="/ppt/slides/slide1.xml" Id="R27aaa979154e43a8" /><Relationship Type="http://schemas.openxmlformats.org/officeDocument/2006/relationships/slide" Target="/ppt/slides/slide2.xml" Id="R57c8e354072145ec" /><Relationship Type="http://schemas.openxmlformats.org/officeDocument/2006/relationships/slide" Target="/ppt/slides/slide3.xml" Id="R7effc6044635472f" /><Relationship Type="http://schemas.openxmlformats.org/officeDocument/2006/relationships/slide" Target="/ppt/slides/slide4.xml" Id="Racfacaf868ed4464" /><Relationship Type="http://schemas.openxmlformats.org/officeDocument/2006/relationships/slide" Target="/ppt/slides/slide5.xml" Id="R37efeab9c530462d" /><Relationship Type="http://schemas.openxmlformats.org/officeDocument/2006/relationships/slide" Target="/ppt/slides/slide6.xml" Id="R18db6c04e398488f" /><Relationship Type="http://schemas.openxmlformats.org/officeDocument/2006/relationships/slide" Target="/ppt/slides/slide7.xml" Id="R86055b07d10c48b6" /><Relationship Type="http://schemas.openxmlformats.org/officeDocument/2006/relationships/slide" Target="/ppt/slides/slide8.xml" Id="R53df12ba33944a34" /><Relationship Type="http://schemas.openxmlformats.org/officeDocument/2006/relationships/slide" Target="/ppt/slides/slide9.xml" Id="Rcc73279360fb4083" /><Relationship Type="http://schemas.openxmlformats.org/officeDocument/2006/relationships/slide" Target="/ppt/slides/slide10.xml" Id="R0031ae4a1b6647d6" /><Relationship Type="http://schemas.openxmlformats.org/officeDocument/2006/relationships/slide" Target="/ppt/slides/slide11.xml" Id="R3b9702a1866f4728" /><Relationship Type="http://schemas.openxmlformats.org/officeDocument/2006/relationships/slide" Target="/ppt/slides/slide12.xml" Id="R178736c64dda4fa7" /><Relationship Type="http://schemas.openxmlformats.org/officeDocument/2006/relationships/slide" Target="/ppt/slides/slide13.xml" Id="R72410973120548cf" /><Relationship Type="http://schemas.openxmlformats.org/officeDocument/2006/relationships/slide" Target="/ppt/slides/slide14.xml" Id="R15944c5327124bd6" /><Relationship Type="http://schemas.openxmlformats.org/officeDocument/2006/relationships/slide" Target="/ppt/slides/slide15.xml" Id="Rf77a7b837e3b480a" /><Relationship Type="http://schemas.openxmlformats.org/officeDocument/2006/relationships/slide" Target="/ppt/slides/slide16.xml" Id="Rbf0c77c89fa447f3" /><Relationship Type="http://schemas.openxmlformats.org/officeDocument/2006/relationships/slide" Target="/ppt/slides/slide17.xml" Id="R36eeeee40e374995" /><Relationship Type="http://schemas.openxmlformats.org/officeDocument/2006/relationships/slide" Target="/ppt/slides/slide18.xml" Id="R9bd00f6098dd4782" /><Relationship Type="http://schemas.openxmlformats.org/officeDocument/2006/relationships/slide" Target="/ppt/slides/slide19.xml" Id="Rf4161f3d1b4949e5" /><Relationship Type="http://schemas.openxmlformats.org/officeDocument/2006/relationships/slide" Target="/ppt/slides/slide20.xml" Id="R20eba95a9bf44746" /><Relationship Type="http://schemas.openxmlformats.org/officeDocument/2006/relationships/slide" Target="/ppt/slides/slide21.xml" Id="R5a6d1bf7db334375" /><Relationship Type="http://schemas.openxmlformats.org/officeDocument/2006/relationships/slide" Target="/ppt/slides/slide22.xml" Id="R3c0afe483b07421f" /><Relationship Type="http://schemas.openxmlformats.org/officeDocument/2006/relationships/slide" Target="/ppt/slides/slide23.xml" Id="Rb0bd3c6ffce64a90" /><Relationship Type="http://schemas.openxmlformats.org/officeDocument/2006/relationships/slide" Target="/ppt/slides/slide24.xml" Id="R6e043a1e9fc34b1e" /><Relationship Type="http://schemas.openxmlformats.org/officeDocument/2006/relationships/slide" Target="/ppt/slides/slide25.xml" Id="Rf62bac65be9f4b06" /><Relationship Type="http://schemas.openxmlformats.org/officeDocument/2006/relationships/slide" Target="/ppt/slides/slide26.xml" Id="R6b69b473bd88473d" /><Relationship Type="http://schemas.openxmlformats.org/officeDocument/2006/relationships/slide" Target="/ppt/slides/slide27.xml" Id="R56e4b1e7ab8e463e" /><Relationship Type="http://schemas.openxmlformats.org/officeDocument/2006/relationships/slide" Target="/ppt/slides/slide28.xml" Id="R61e9eeb8a2544ca8" /><Relationship Type="http://schemas.openxmlformats.org/officeDocument/2006/relationships/slide" Target="/ppt/slides/slide29.xml" Id="R25bd5078f1e74978" /><Relationship Type="http://schemas.openxmlformats.org/officeDocument/2006/relationships/slide" Target="/ppt/slides/slide30.xml" Id="R9bc8b23f86dc4ff2" /><Relationship Type="http://schemas.openxmlformats.org/officeDocument/2006/relationships/slide" Target="/ppt/slides/slide31.xml" Id="R58860a4899974186" /><Relationship Type="http://schemas.openxmlformats.org/officeDocument/2006/relationships/slide" Target="/ppt/slides/slide32.xml" Id="R5b3e637c4a14460e" /><Relationship Type="http://schemas.openxmlformats.org/officeDocument/2006/relationships/slide" Target="/ppt/slides/slide33.xml" Id="R3adda224a9dd44b1" /><Relationship Type="http://schemas.openxmlformats.org/officeDocument/2006/relationships/slide" Target="/ppt/slides/slide34.xml" Id="R4496fe4849f9417e" /><Relationship Type="http://schemas.openxmlformats.org/officeDocument/2006/relationships/slide" Target="/ppt/slides/slide35.xml" Id="R7059420ec2cc47f7" /><Relationship Type="http://schemas.openxmlformats.org/officeDocument/2006/relationships/slide" Target="/ppt/slides/slide36.xml" Id="R244e8b2fdf6a4d98" /><Relationship Type="http://schemas.openxmlformats.org/officeDocument/2006/relationships/slide" Target="/ppt/slides/slide37.xml" Id="R44155ce315144448" /><Relationship Type="http://schemas.openxmlformats.org/officeDocument/2006/relationships/slide" Target="/ppt/slides/slide38.xml" Id="R3b6cb7ff4fc04e71" /><Relationship Type="http://schemas.openxmlformats.org/officeDocument/2006/relationships/slide" Target="/ppt/slides/slide39.xml" Id="R6b1ccc738c6f4a2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1da49bc4d0b4e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09380a1134d4c34" /><Relationship Type="http://schemas.openxmlformats.org/officeDocument/2006/relationships/notesMaster" Target="/ppt/notesMasters/notesMaster1.xml" Id="R12fb599caf4345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543a0c70e5464146" /><Relationship Type="http://schemas.openxmlformats.org/officeDocument/2006/relationships/notesMaster" Target="/ppt/notesMasters/notesMaster1.xml" Id="R46c111fdf29147d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c48d7ddcbe47a8" /><Relationship Type="http://schemas.openxmlformats.org/officeDocument/2006/relationships/notesMaster" Target="/ppt/notesMasters/notesMaster1.xml" Id="R87b3520e0c0e41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7a3e12145b4188" /><Relationship Type="http://schemas.openxmlformats.org/officeDocument/2006/relationships/notesMaster" Target="/ppt/notesMasters/notesMaster1.xml" Id="R22d3bfdc5b5d47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9ba6acb7acf4292" /><Relationship Type="http://schemas.openxmlformats.org/officeDocument/2006/relationships/notesMaster" Target="/ppt/notesMasters/notesMaster1.xml" Id="R35c07747d18a4f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4104ec6d434692" /><Relationship Type="http://schemas.openxmlformats.org/officeDocument/2006/relationships/notesMaster" Target="/ppt/notesMasters/notesMaster1.xml" Id="Rb6b3bcd83e4b436d" /></Relationships>
</file>

<file path=ppt/notesSlides/_rels/notesSlide7.xml.rels>&#65279;<?xml version="1.0" encoding="utf-8"?><Relationships xmlns="http://schemas.openxmlformats.org/package/2006/relationships"><Relationship Type="http://schemas.openxmlformats.org/officeDocument/2006/relationships/slide" Target="/ppt/slides/slide7.xml" Id="R2fbcf7a273224c50" /><Relationship Type="http://schemas.openxmlformats.org/officeDocument/2006/relationships/notesMaster" Target="/ppt/notesMasters/notesMaster1.xml" Id="Ra18dd3b9ed804097"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4ebe2f1fde4750" /><Relationship Type="http://schemas.openxmlformats.org/officeDocument/2006/relationships/notesMaster" Target="/ppt/notesMasters/notesMaster1.xml" Id="Ra0dd6cbd7cce4d2d" /></Relationships>
</file>

<file path=ppt/notesSlides/_rels/notesSlide9.xml.rels>&#65279;<?xml version="1.0" encoding="utf-8"?><Relationships xmlns="http://schemas.openxmlformats.org/package/2006/relationships"><Relationship Type="http://schemas.openxmlformats.org/officeDocument/2006/relationships/slide" Target="/ppt/slides/slide9.xml" Id="R63af25538b5b4a89" /><Relationship Type="http://schemas.openxmlformats.org/officeDocument/2006/relationships/notesMaster" Target="/ppt/notesMasters/notesMaster1.xml" Id="R64284693c4514ce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81fd23139424b8d" /><Relationship Type="http://schemas.openxmlformats.org/officeDocument/2006/relationships/notesMaster" Target="/ppt/notesMasters/notesMaster1.xml" Id="Rb2dc549dccf74f3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f17c2500228462e" /><Relationship Type="http://schemas.openxmlformats.org/officeDocument/2006/relationships/notesMaster" Target="/ppt/notesMasters/notesMaster1.xml" Id="R45fed47384c4414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c7626d90c3f47a8" /><Relationship Type="http://schemas.openxmlformats.org/officeDocument/2006/relationships/notesMaster" Target="/ppt/notesMasters/notesMaster1.xml" Id="R8c8b400c181d40c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fecd9c364d34b8f" /><Relationship Type="http://schemas.openxmlformats.org/officeDocument/2006/relationships/notesMaster" Target="/ppt/notesMasters/notesMaster1.xml" Id="R6d85bca4d1ab45e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b42b55433d445c9" /><Relationship Type="http://schemas.openxmlformats.org/officeDocument/2006/relationships/notesMaster" Target="/ppt/notesMasters/notesMaster1.xml" Id="R36f2f4d10141452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8a01052447045ef" /><Relationship Type="http://schemas.openxmlformats.org/officeDocument/2006/relationships/notesMaster" Target="/ppt/notesMasters/notesMaster1.xml" Id="R227effd3da814ef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b025063a3524d5d" /><Relationship Type="http://schemas.openxmlformats.org/officeDocument/2006/relationships/notesMaster" Target="/ppt/notesMasters/notesMaster1.xml" Id="Rbfab825a24e744d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22e79e761404985" /><Relationship Type="http://schemas.openxmlformats.org/officeDocument/2006/relationships/notesMaster" Target="/ppt/notesMasters/notesMaster1.xml" Id="R72d6f45a52e34f0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0d7e82033b54c03" /><Relationship Type="http://schemas.openxmlformats.org/officeDocument/2006/relationships/notesMaster" Target="/ppt/notesMasters/notesMaster1.xml" Id="R540c9a0d0db14bc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b721525d7224edd" /><Relationship Type="http://schemas.openxmlformats.org/officeDocument/2006/relationships/notesMaster" Target="/ppt/notesMasters/notesMaster1.xml" Id="Rf6327c2b6b6a47d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fa1d1ab4e3947ba" /><Relationship Type="http://schemas.openxmlformats.org/officeDocument/2006/relationships/notesMaster" Target="/ppt/notesMasters/notesMaster1.xml" Id="Re15e33efde4140c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1637f2b1ba54ccf" /><Relationship Type="http://schemas.openxmlformats.org/officeDocument/2006/relationships/notesMaster" Target="/ppt/notesMasters/notesMaster1.xml" Id="Ra6a0c57c0281407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aec31b5275c4fa1" /><Relationship Type="http://schemas.openxmlformats.org/officeDocument/2006/relationships/notesMaster" Target="/ppt/notesMasters/notesMaster1.xml" Id="Rb17dc1367cb942d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489d0a0f2c44fac" /><Relationship Type="http://schemas.openxmlformats.org/officeDocument/2006/relationships/notesMaster" Target="/ppt/notesMasters/notesMaster1.xml" Id="R08e9cef8850a477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786ec5bdf2741d3" /><Relationship Type="http://schemas.openxmlformats.org/officeDocument/2006/relationships/notesMaster" Target="/ppt/notesMasters/notesMaster1.xml" Id="R2ee3188e14254dd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ffd3c35aef3437f" /><Relationship Type="http://schemas.openxmlformats.org/officeDocument/2006/relationships/notesMaster" Target="/ppt/notesMasters/notesMaster1.xml" Id="R5a14c6e725a94f6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7c243078b6149d4" /><Relationship Type="http://schemas.openxmlformats.org/officeDocument/2006/relationships/notesMaster" Target="/ppt/notesMasters/notesMaster1.xml" Id="R6483ec52f2e6450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af1ee61666948dc" /><Relationship Type="http://schemas.openxmlformats.org/officeDocument/2006/relationships/notesMaster" Target="/ppt/notesMasters/notesMaster1.xml" Id="R6c6ec9b0df81491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ff3dc4126e34231" /><Relationship Type="http://schemas.openxmlformats.org/officeDocument/2006/relationships/notesMaster" Target="/ppt/notesMasters/notesMaster1.xml" Id="R427f067d2ef041d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816d5248860473d" /><Relationship Type="http://schemas.openxmlformats.org/officeDocument/2006/relationships/notesMaster" Target="/ppt/notesMasters/notesMaster1.xml" Id="R758ae253488e40c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5eb5c24d86444db" /><Relationship Type="http://schemas.openxmlformats.org/officeDocument/2006/relationships/notesMaster" Target="/ppt/notesMasters/notesMaster1.xml" Id="R693bf0411d2941a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dc44887b3c340de" /><Relationship Type="http://schemas.openxmlformats.org/officeDocument/2006/relationships/notesMaster" Target="/ppt/notesMasters/notesMaster1.xml" Id="Rc563862533eb444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e03996e6c584d17" /><Relationship Type="http://schemas.openxmlformats.org/officeDocument/2006/relationships/notesMaster" Target="/ppt/notesMasters/notesMaster1.xml" Id="Rc4fd237c3a244a4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0b8dccdf2114739" /><Relationship Type="http://schemas.openxmlformats.org/officeDocument/2006/relationships/notesMaster" Target="/ppt/notesMasters/notesMaster1.xml" Id="R48d61356f1404d6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2d53e521c3d431e" /><Relationship Type="http://schemas.openxmlformats.org/officeDocument/2006/relationships/notesMaster" Target="/ppt/notesMasters/notesMaster1.xml" Id="R3fa92aff4fae4b3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868d40e146d4f7c" /><Relationship Type="http://schemas.openxmlformats.org/officeDocument/2006/relationships/notesMaster" Target="/ppt/notesMasters/notesMaster1.xml" Id="R1dc24a6244b1470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46fdf6d56aa4e9b" /><Relationship Type="http://schemas.openxmlformats.org/officeDocument/2006/relationships/notesMaster" Target="/ppt/notesMasters/notesMaster1.xml" Id="R666f1de4f60a43c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37a99ac31d4465d" /><Relationship Type="http://schemas.openxmlformats.org/officeDocument/2006/relationships/notesMaster" Target="/ppt/notesMasters/notesMaster1.xml" Id="R3d1218c0c0564e4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8a493b4c230495f" /><Relationship Type="http://schemas.openxmlformats.org/officeDocument/2006/relationships/notesMaster" Target="/ppt/notesMasters/notesMaster1.xml" Id="R278934481423447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b41101c72af4aa4" /><Relationship Type="http://schemas.openxmlformats.org/officeDocument/2006/relationships/notesMaster" Target="/ppt/notesMasters/notesMaster1.xml" Id="R7924cd2efcdb4d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technical walkthrough of the supplied x86 OS MVP and the user-requested completed-state agent architecture. No runtime success or performance measurements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presentation separates kernel mechanics, networking and the completed-state agent design, then provides repository-grounded build and demo commands.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kernel/kernel.c; kernel/shell/shell.c; kernel/net/tcp_probe.c. Completed-state design assumption requested for this presentation. Gemini gateway, agent registry, tool policy and guest application transport are not implemented in the inspected repository. The diagram describes their coherent integration, not a tested runtime.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Completed-state design assumption requested for this presentation. Gemini gateway, agent registry, tool policy and guest application transport are not implemented in the inspected repository. The diagram describes their coherent integration, not a tested runtime. Example: the user requests creation of a short note. The model selects a declared tool. A deterministic local executor validates the path and changes the filesystem.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kernel/kernel.c; kernel/fs/ramfs/ramfs.c; kernel/net/ne2k.c. Completed-state design assumption requested for this presentation. Gemini gateway, agent registry, tool policy and guest application transport are not implemented in the inspected repository. The diagram describes their coherent integration, not a tested runtime.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build.sh; linker.ld; kernel/*; host_tools/tcp_ping/*.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build.sh. The build assembles ELF32 stubs, compiles freestanding C, links the kernel at 0x10000 and converts ELF to a flat binary. It computes the number of sectors for the bootloader and pads the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boot.asm; kernel/entry.asm; kernel/kernel.c. The loader uses BIOS INT 13h extensions, enables A20, loads the GDT, sets CR0.PE and jumps to 0x10000. Entry code initializes the stack and clears BSS.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kernel/kernel.c. kmain initializes hardware, memory, interrupts and scheduler before showing the banner. login_run gates access. net_init follows login, then RAMFS initialization and the infinite shell loop.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linker.ld; kernel/entry.asm; kernel/memory/memory.c; kernel/memory/paging.c. The first 8 MiB are identity-mapped through two page tables of 1024 4 KiB pages. The heap spans 4–8 MiB. kfree checks and clears allocations but the allocator is a bump allocator with no general reuse.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kernel/drivers/keyboard.c; kernel/drivers/vga.c; kernel/io/line_input.c; kernel/interrupts/pic.c. PIC remaps IRQ vectors and unmasks keyboard IRQ1. Network receive uses polling. VGA output writes text to the text buffer. The line-input helper supplies editable lines and controls echo.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kernel/shell/shell.c. Input capacity is 256 bytes and command capacity is 32 bytes, both including terminators. The current directory begins at /. Arguments are parsed by whitespace. This shell does not implement pipes or a full quoting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kernel/fs/ramfs/ramfs.h; kernel/fs/ramfs/ramfs.c; kernel/fs/ramfs/path.h. The filesystem holds up to 96 entries. Each stores a used flag, node type, absolute path, data pointer and size. The path buffer is 128 bytes; validation can reject paths before full capacity. Root is implicit and lookup scans entries. Reboot discards the filesystem.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kernel/shell/shell.c; kernel/fs/ramfs/ramfs.c. Create rejects an existing path. Write creates or replaces a file and ensures parent directories. Reads use offset/capacity. Unlink refuses root and nonempty directories. These are kernel functions, not completed POSIX file descriptors.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kernel/shell/shell.c; kernel/fs/ramfs/ramfs.c. The shell splits path from remaining text and resolves an absolute path. RAMFS creates parents when needed, allocates new data before replacing existing data, and returns a status. The heap is finite.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kernel/scheduler/scheduler.c; kernel/syscalls/syscall.c; kernel/kernel.c. Scheduler code rotates bookkeeping state but does not implement a register/stack context switch. The shell does not return to kernel_loop. SYS_READ and SYS_EXIT contain unfinished behavior. This is not evidence of a working isolated multi-process runtime.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kernel/net/ne2k.c; kernel/net/tcp_probe.c; kernel/net/net_config.h. NE2000 is configured at I/O 0x300 and IRQ11, while packet reception is polled. The probe builds Ethernet, ARP, IPv4 and TCP packets. It does not provide an HTTP or TLS client.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kernel/net/net_config.h; bochsrc.bxrc. These addresses are compiled defaults, not a guarantee that the selected Bochs network backend provides that subnet. Match them to the chosen network. Changing net_config.h requires a rebuild.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kernel/net/tcp_probe.c. The next hop is the destination on the local subnet or the configured gateway. The probe broadcasts ARP, sends SYN, checks reply addresses, ports, flags and acknowledgement, then sends RST+ACK to end the probe. It does not transfer an application payload.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host_tools/tcp_ping/__main__.py; host_tools/tcp_ping/http_server.py; host_tools/tcp_ping/tcp_probe.py. The Python utility uses the host operating system TCP connect API. It is separate from the guest SYN probe. It serves /health, /status and GET/POST /ping on 127.0.0.1:8765 by default. No outbound probe occurs until requested.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Completed-state design assumption requested for this presentation. Gemini gateway, agent registry, tool policy and guest application transport are not implemented in the inspected repository. The diagram describes their coherent integration, not a tested runtime. This design uses a host gateway to perform DNS, HTTPS, authentication and model request handling. A guest application transport carries bounded messages. A SYN probe alone cannot carry these messages.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Completed-state design assumption requested for this presentation. Gemini gateway, agent registry, tool policy and guest application transport are not implemented in the inspected repository. The diagram describes their coherent integration, not a tested runtime. Sources: https://ai.google.dev/gemini-api/docs/api-key and https://ai.google.dev/gemini-api/docs/function-calling. API credentials stay in the host environment. Gemini returns function names and arguments; application code executes those functions. Exact timeout, retry and request limits are deployment settings.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Completed-state design assumption requested for this presentation. Gemini gateway, agent registry, tool policy and guest application transport are not implemented in the inspected repository. The diagram describes their coherent integration, not a tested runtime. Source: https://ai.google.dev/gemini-api/docs/function-calling. The application supplies tool definitions, receives a requested call, runs its own implementation, and submits the result for the model response. Local policy remains authoritative.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Completed-state design assumption requested for this presentation. Gemini gateway, agent registry, tool policy and guest application transport are not implemented in the inspected repository. The diagram describes their coherent integration, not a tested runtime. An agent configuration names a purpose, tools, scope and execution budget. It does not create a separate kernel process. The sample is a design-level configuration, not an existing file format or command.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Completed-state design assumption requested for this presentation. Gemini gateway, agent registry, tool policy and guest application transport are not implemented in the inspected repository. The diagram describes their coherent integration, not a tested runtime. Creation validates configuration and stores it in a registry. The main agent returns an identifier. The registry can be RAM-backed in this MVP, so it should not imply persistent agents across reboot.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Completed-state design assumption requested for this presentation. Gemini gateway, agent registry, tool policy and guest application transport are not implemented in the inspected repository. The diagram describes their coherent integration, not a tested runtime. The main agent resolves user intent, selects a helper, applies operation policy and delegates validated tool execution. Results include actual tool status rather than only generated prose. It remains a logical control layer above the current kernel filesystem.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Completed-state design assumption requested for this presentation. Gemini gateway, agent registry, tool policy and guest application transport are not implemented in the inspected repository. The diagram describes their coherent integration, not a tested runtime. The names are presentation-level interfaces, not existing kernel exports. Create maps to ramfs_create_empty_file; read maps to ramfs_read_file; update maps to ramfs_write_file; delete maps to ramfs_unlink. Tool policy must check existence before update to make update-only semantics distinct from RAMFS upsert.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Completed-state design assumption requested for this presentation. Gemini gateway, agent registry, tool policy and guest application transport are not implemented in the inspected repository. The diagram describes their coherent integration, not a tested runtime. Example flow for a request to create a note. The tool adapter enforces create-only behavior and maps errors. Read-back verifies the bytes before the agent reports success. This is a designed sequence rather than a recorded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Completed-state design assumption requested for this presentation. Gemini gateway, agent registry, tool policy and guest application transport are not implemented in the inspected repository. The diagram describes their coherent integration, not a tested runtime. Scope checking belongs in the agent adapter. Existing RAMFS normalizes paths, rejects dot segments, enforces types and refuses root deletion or nonempty-directory deletion. Agent allowlists and user confirmation are design assumptions.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Completed-state design assumption requested for this presentation. Gemini gateway, agent registry, tool policy and guest application transport are not implemented in the inspected repository. The diagram describes their coherent integration, not a tested runtime. Timeouts return an explicit network error. Invalid tool output is rejected before mutation. Read-only model requests may retry within a budget. Mutating operations need request IDs and reconciliation to avoid duplicate effects. These policies describe the requested integrated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build.sh; bochsrc.bxrc; host_tools/tcp_ping/__main__.py. Use a Bash environment with NASM and an i686-elf GCC/binutils cross toolchain. WSL or a Linux development environment is suitable if those tools are installed. The supplied emulator configuration uses Windows Bochs 3.0 paths. No clean kernel build or guest runtime was verified during deck creation.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boot.asm; bochsrc.bxrc. The inspected boot.asm contains the malformed instruction "mo   v ds, ax". Change it to "mov ds, ax" before rebuilding. The checked-in bochsrc points to a different project directory. These are required setup corrections; the presentation does not modify repository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build.sh. Commands are intended for Bash with the cross toolchain installed. The script overwrites generated boot/kernel build artifacts. It links kernel.elf, uses objcopy for kernel.bin, assembles boot.bin with the calculated sector count, concatenates and pads boot.img.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bochsrc.bxrc; kernel/auth/login.c; kernel/shell/shell.c. PowerShell launch uses the installed Bochs executable. Keep the local config disk path and BIOS paths correct. Use the development credentials defined in kernel/auth/login.c; passwords are deliberately not copied into this shareable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kernel/shell/shell.c; kernel/fs/ramfs/ramfs.c. These commands exercise the existing shell in order. write uses the remainder of the input line as content and replaces file content. No shell quotes are required. The final directory should be empty. Reboot resets RAMFS.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host_tools/tcp_ping/__main__.py; host_tools/tcp_ping/http_server.py. Run the server in one host terminal and the health request in another. The default listener is localhost only. A guest cannot reach the host service via the guest loopback address. Do not assume the host HTTP service is a Gemini bridge.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kernel/shell/shell.c; kernel/net/net_config.h. Completed-state design assumption requested for this presentation. Gemini gateway, agent registry, tool policy and guest application transport are not implemented in the inspected repository. The diagram describes their coherent integration, not a tested runtime. First select a known listening endpoint reachable from the guest subnet. The agent prompts are a completed-state demonstration script, not supported shell commands in this checkout. Host gateway launch commands cannot be given until its actual entry point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boot.asm; build.sh; bochsrc.bxrc; kernel/net/net_config.h; kernel/net/tcp_probe.c; kernel/fs/ramfs/ramfs.c. These are source-grounded diagnostic leads, not a claim that the demo passed. A SYN-ACK says the port is reachable. It does not test TLS, Gemini authentication or tool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kernel/kernel.c; kernel/shell/shell.c; kernel/fs/ramfs/ramfs.c. Completed-state design assumption requested for this presentation. Gemini gateway, agent registry, tool policy and guest application transport are not implemented in the inspected repository. The diagram describes their coherent integration, not a tested runtime. The final demonstration should show boot, a direct shell CRUD cycle, networking reachability, an agent definition and a verified tool-driven file action. Avoid claiming production security, persistence, full TCP/TLS support or measured reliability from this MVP. Sources for provider behavior: https://ai.google.dev/gemini-api/docs/function-calling and https://ai.google.dev/gemini-api/docs/api-key.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692c9f315c4ef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80c3d790442498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fd16654ca8946f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f088fb40c6c4e5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19a70e59b3446c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12e873293bd46a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814AAB-4E1E-48C9-AC1D-2D9FFC25E93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1A30055-A500-4033-B27F-B5BE9FB7CEF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4F283CA-ADD3-42C3-BCA6-C37FA888F52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38825F-382A-44FE-91CF-43EFB72734F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7281439-8A9B-4684-B352-D67F9451C25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1E6B1FA-12BB-4E0B-9664-0FB96B1AD2C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AA69E60-CBED-4358-9111-74D2D52DC9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B2FB500-D42A-462B-89C1-2F1406FA2A1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CCBD9E-1472-49B8-92C7-6B2CAC560B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1130EB8-24A0-49DC-8D26-F8E88AAB1C0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c573ace98d4b12" /><Relationship Type="http://schemas.openxmlformats.org/officeDocument/2006/relationships/slideLayout" Target="/ppt/slideLayouts/slideLayout1.xml" Id="Rafcb74000a3a4e49" /><Relationship Type="http://schemas.openxmlformats.org/officeDocument/2006/relationships/slideLayout" Target="/ppt/slideLayouts/slideLayout2.xml" Id="R8b3dc329f0d64b78" /><Relationship Type="http://schemas.openxmlformats.org/officeDocument/2006/relationships/slideLayout" Target="/ppt/slideLayouts/slideLayout3.xml" Id="R8ec17595178c4ccd" /><Relationship Type="http://schemas.openxmlformats.org/officeDocument/2006/relationships/slideLayout" Target="/ppt/slideLayouts/slideLayout4.xml" Id="R039dcceaefcd4a25" /><Relationship Type="http://schemas.openxmlformats.org/officeDocument/2006/relationships/slideLayout" Target="/ppt/slideLayouts/slideLayout5.xml" Id="R268f9c2adbf34450" /><Relationship Type="http://schemas.openxmlformats.org/officeDocument/2006/relationships/slideLayout" Target="/ppt/slideLayouts/slideLayout6.xml" Id="R976a12e18be64ae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cb74000a3a4e49"/>
    <p:sldLayoutId xmlns:r="http://schemas.openxmlformats.org/officeDocument/2006/relationships" id="2147483650" r:id="R8b3dc329f0d64b78"/>
    <p:sldLayoutId xmlns:r="http://schemas.openxmlformats.org/officeDocument/2006/relationships" id="2147483651" r:id="R8ec17595178c4ccd"/>
    <p:sldLayoutId xmlns:r="http://schemas.openxmlformats.org/officeDocument/2006/relationships" id="2147483652" r:id="R039dcceaefcd4a25"/>
    <p:sldLayoutId xmlns:r="http://schemas.openxmlformats.org/officeDocument/2006/relationships" id="2147483653" r:id="R268f9c2adbf34450"/>
    <p:sldLayoutId xmlns:r="http://schemas.openxmlformats.org/officeDocument/2006/relationships" id="2147483654" r:id="R976a12e18be64ae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ea952e139504b5f" /><Relationship Type="http://schemas.openxmlformats.org/officeDocument/2006/relationships/notesSlide" Target="/ppt/notesSlides/notesSlide1.xml" Id="R486f7fbe38bd492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2346d43c7f74b29" /><Relationship Type="http://schemas.openxmlformats.org/officeDocument/2006/relationships/notesSlide" Target="/ppt/notesSlides/notesSlide2.xml" Id="R008d125b02554e5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f5924bd84fb44ee" /><Relationship Type="http://schemas.openxmlformats.org/officeDocument/2006/relationships/notesSlide" Target="/ppt/notesSlides/notesSlide3.xml" Id="R6c0b4920c105454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049fe73324142ac" /><Relationship Type="http://schemas.openxmlformats.org/officeDocument/2006/relationships/notesSlide" Target="/ppt/notesSlides/notesSlide4.xml" Id="Rba405f9f534040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2ef183dbebc4e94" /><Relationship Type="http://schemas.openxmlformats.org/officeDocument/2006/relationships/notesSlide" Target="/ppt/notesSlides/notesSlide5.xml" Id="R4196435ab2ee48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e19cb5441054aca" /><Relationship Type="http://schemas.openxmlformats.org/officeDocument/2006/relationships/notesSlide" Target="/ppt/notesSlides/notesSlide6.xml" Id="Rf21851643aa74ae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2509044c0d94a31" /><Relationship Type="http://schemas.openxmlformats.org/officeDocument/2006/relationships/notesSlide" Target="/ppt/notesSlides/notesSlide7.xml" Id="Rbfb506cf476641f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c94e0d7efa4422f" /><Relationship Type="http://schemas.openxmlformats.org/officeDocument/2006/relationships/notesSlide" Target="/ppt/notesSlides/notesSlide8.xml" Id="Rc70ff374c01143f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59b942902944121" /><Relationship Type="http://schemas.openxmlformats.org/officeDocument/2006/relationships/notesSlide" Target="/ppt/notesSlides/notesSlide9.xml" Id="R4fc8554b2654455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e7cc810b23f4937" /><Relationship Type="http://schemas.openxmlformats.org/officeDocument/2006/relationships/notesSlide" Target="/ppt/notesSlides/notesSlide10.xml" Id="R5545dec34ade40e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9060a68f18341a4" /><Relationship Type="http://schemas.openxmlformats.org/officeDocument/2006/relationships/notesSlide" Target="/ppt/notesSlides/notesSlide11.xml" Id="Rb312f03f1d464c4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690f3ee7a874635" /><Relationship Type="http://schemas.openxmlformats.org/officeDocument/2006/relationships/notesSlide" Target="/ppt/notesSlides/notesSlide12.xml" Id="R8fb78946621c416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6fa0e01d60946b7" /><Relationship Type="http://schemas.openxmlformats.org/officeDocument/2006/relationships/notesSlide" Target="/ppt/notesSlides/notesSlide13.xml" Id="Ra20a823fda604f1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4df1b98b6a64c70" /><Relationship Type="http://schemas.openxmlformats.org/officeDocument/2006/relationships/notesSlide" Target="/ppt/notesSlides/notesSlide14.xml" Id="R09fef7b336db498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b47ec09a0904581" /><Relationship Type="http://schemas.openxmlformats.org/officeDocument/2006/relationships/notesSlide" Target="/ppt/notesSlides/notesSlide15.xml" Id="R420066f048ba47b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a5f19b8228448f8" /><Relationship Type="http://schemas.openxmlformats.org/officeDocument/2006/relationships/notesSlide" Target="/ppt/notesSlides/notesSlide16.xml" Id="R9217744978ba488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fb1b18596ad4823" /><Relationship Type="http://schemas.openxmlformats.org/officeDocument/2006/relationships/notesSlide" Target="/ppt/notesSlides/notesSlide17.xml" Id="Rc866d4b8d503404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de9654de0e94bdd" /><Relationship Type="http://schemas.openxmlformats.org/officeDocument/2006/relationships/notesSlide" Target="/ppt/notesSlides/notesSlide18.xml" Id="R0bb77857b0dc43a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07f451baf044709" /><Relationship Type="http://schemas.openxmlformats.org/officeDocument/2006/relationships/notesSlide" Target="/ppt/notesSlides/notesSlide19.xml" Id="R1cc50c39fe9c425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b120e0b8d3d4b95" /><Relationship Type="http://schemas.openxmlformats.org/officeDocument/2006/relationships/notesSlide" Target="/ppt/notesSlides/notesSlide20.xml" Id="Rf8b7cd5c9681460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2999bbf9d2349e1" /><Relationship Type="http://schemas.openxmlformats.org/officeDocument/2006/relationships/notesSlide" Target="/ppt/notesSlides/notesSlide21.xml" Id="Ra26ac14cd14144a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52b1b2f26404d77" /><Relationship Type="http://schemas.openxmlformats.org/officeDocument/2006/relationships/notesSlide" Target="/ppt/notesSlides/notesSlide22.xml" Id="R89f191ad67c842d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771e8a667cc34f30" /><Relationship Type="http://schemas.openxmlformats.org/officeDocument/2006/relationships/notesSlide" Target="/ppt/notesSlides/notesSlide23.xml" Id="Re70876309105400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a7c23395f8d488a" /><Relationship Type="http://schemas.openxmlformats.org/officeDocument/2006/relationships/notesSlide" Target="/ppt/notesSlides/notesSlide24.xml" Id="R5aefcaaefc54406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2f88e128b4e3438a" /><Relationship Type="http://schemas.openxmlformats.org/officeDocument/2006/relationships/notesSlide" Target="/ppt/notesSlides/notesSlide25.xml" Id="R866828707bfa447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879b4d7ca6a42fc" /><Relationship Type="http://schemas.openxmlformats.org/officeDocument/2006/relationships/notesSlide" Target="/ppt/notesSlides/notesSlide26.xml" Id="Rddbf6e439fdd4a7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f15de0790f34978" /><Relationship Type="http://schemas.openxmlformats.org/officeDocument/2006/relationships/notesSlide" Target="/ppt/notesSlides/notesSlide27.xml" Id="R9aca06f0515a4b3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096960f76e2340e7" /><Relationship Type="http://schemas.openxmlformats.org/officeDocument/2006/relationships/notesSlide" Target="/ppt/notesSlides/notesSlide28.xml" Id="Ra5ba3e9ddfba423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c0ca6b9178947d1" /><Relationship Type="http://schemas.openxmlformats.org/officeDocument/2006/relationships/notesSlide" Target="/ppt/notesSlides/notesSlide29.xml" Id="R1f43d1492d99430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75ce177fbf14f70" /><Relationship Type="http://schemas.openxmlformats.org/officeDocument/2006/relationships/notesSlide" Target="/ppt/notesSlides/notesSlide30.xml" Id="R4601a9ad8f6d44a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57db01ea8ba5494f" /><Relationship Type="http://schemas.openxmlformats.org/officeDocument/2006/relationships/notesSlide" Target="/ppt/notesSlides/notesSlide31.xml" Id="Rb5a3a98269574cf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3276de721e5e4634" /><Relationship Type="http://schemas.openxmlformats.org/officeDocument/2006/relationships/notesSlide" Target="/ppt/notesSlides/notesSlide32.xml" Id="Ra884e6fe6048472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f4649c6cd7324a7e" /><Relationship Type="http://schemas.openxmlformats.org/officeDocument/2006/relationships/notesSlide" Target="/ppt/notesSlides/notesSlide33.xml" Id="R4d0ecc332cfd4dc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0a8c4b74f4fa46e2" /><Relationship Type="http://schemas.openxmlformats.org/officeDocument/2006/relationships/notesSlide" Target="/ppt/notesSlides/notesSlide34.xml" Id="Rfed93668c79441f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644ee5b8c5aa45d5" /><Relationship Type="http://schemas.openxmlformats.org/officeDocument/2006/relationships/notesSlide" Target="/ppt/notesSlides/notesSlide35.xml" Id="Rb5604bda761b41e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8b1101ebddcb4475" /><Relationship Type="http://schemas.openxmlformats.org/officeDocument/2006/relationships/notesSlide" Target="/ppt/notesSlides/notesSlide36.xml" Id="R03d51d869dd046b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2c5c4ce0341c444a" /><Relationship Type="http://schemas.openxmlformats.org/officeDocument/2006/relationships/notesSlide" Target="/ppt/notesSlides/notesSlide37.xml" Id="Rf7f33fd473db442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9c4dbb531a8e43fb" /><Relationship Type="http://schemas.openxmlformats.org/officeDocument/2006/relationships/notesSlide" Target="/ppt/notesSlides/notesSlide38.xml" Id="Rc6a731d8d7954ec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a35f6c2065014c88" /><Relationship Type="http://schemas.openxmlformats.org/officeDocument/2006/relationships/notesSlide" Target="/ppt/notesSlides/notesSlide39.xml" Id="Rc86ea6fbdd534033" /></Relationships>
</file>

<file path=ppt/slides/slide1.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5" name="MVP  /  TECHNICAL WALKTHROUGH">
            <a:extLst xmlns:a="http://schemas.openxmlformats.org/drawingml/2006/main">
              <a:ext uri="{FF2B5EF4-FFF2-40B4-BE49-F238E27FC236}">
                <a16:creationId xmlns:a16="http://schemas.microsoft.com/office/drawing/2014/main" id="{D50EEAA0-2483-44FD-938D-0D2C131C1A3E}"/>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MVP  /  TECHNICAL WALKTHROUGH</a:t>
            </a:r>
          </a:p>
        </p:txBody>
      </p:sp>
      <p:sp>
        <p:nvSpPr>
          <p:cNvPr id="2" name="Agentic OS">
            <a:extLst xmlns:a="http://schemas.openxmlformats.org/drawingml/2006/main">
              <a:ext uri="{FF2B5EF4-FFF2-40B4-BE49-F238E27FC236}">
                <a16:creationId xmlns:a16="http://schemas.microsoft.com/office/drawing/2014/main" id="{52D9F6C0-1F67-4F79-8E2D-03F8C4288297}"/>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Agentic OS</a:t>
            </a:r>
          </a:p>
        </p:txBody>
      </p:sp>
      <p:sp>
        <p:nvSpPr>
          <p:cNvPr id="3" name="AGENTIC OS  /  MVP TECHNICAL WALKTHROUGH">
            <a:extLst xmlns:a="http://schemas.openxmlformats.org/drawingml/2006/main">
              <a:ext uri="{FF2B5EF4-FFF2-40B4-BE49-F238E27FC236}">
                <a16:creationId xmlns:a16="http://schemas.microsoft.com/office/drawing/2014/main" id="{FCDEBD4C-2912-4754-BC57-A0ACC3FF776D}"/>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01">
            <a:extLst xmlns:a="http://schemas.openxmlformats.org/drawingml/2006/main">
              <a:ext uri="{FF2B5EF4-FFF2-40B4-BE49-F238E27FC236}">
                <a16:creationId xmlns:a16="http://schemas.microsoft.com/office/drawing/2014/main" id="{E46F08BD-BD63-4E53-AE68-D7C8A06DE8B6}"/>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01</a:t>
            </a:r>
          </a:p>
        </p:txBody>
      </p:sp>
      <p:sp>
        <p:nvSpPr>
          <p:cNvPr id="5" name="A small operating system&#10;with an agent contr">
            <a:extLst xmlns:a="http://schemas.openxmlformats.org/drawingml/2006/main">
              <a:ext uri="{FF2B5EF4-FFF2-40B4-BE49-F238E27FC236}">
                <a16:creationId xmlns:a16="http://schemas.microsoft.com/office/drawing/2014/main" id="{56B12D11-23CB-4001-84FE-5F6F2DAC702D}"/>
              </a:ext>
            </a:extLst>
          </p:cNvPr>
          <p:cNvSpPr>
            <a:spLocks xmlns:a="http://schemas.openxmlformats.org/drawingml/2006/main" noGrp="1"/>
          </p:cNvSpPr>
          <p:nvPr/>
        </p:nvSpPr>
        <p:spPr>
          <a:xfrm xmlns:a="http://schemas.openxmlformats.org/drawingml/2006/main">
            <a:off x="609600" y="2057400"/>
            <a:ext cx="6953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675" b="1">
                <a:solidFill>
                  <a:srgbClr val="FFFFFF"/>
                </a:solidFill>
                <a:latin typeface="Arial"/>
                <a:ea typeface="Arial"/>
                <a:cs typeface="Arial"/>
              </a:defRPr>
            </a:defPPr>
          </a:lstStyle>
          <a:p xmlns:a="http://schemas.openxmlformats.org/drawingml/2006/main">
            <a:pPr algn="l">
              <a:defRPr sz="3675" b="1">
                <a:solidFill>
                  <a:srgbClr val="FFFFFF"/>
                </a:solidFill>
                <a:latin typeface="Arial"/>
                <a:ea typeface="Arial"/>
                <a:cs typeface="Arial"/>
              </a:defRPr>
            </a:pPr>
            <a:r>
              <a:rPr sz="3675" b="1">
                <a:solidFill>
                  <a:srgbClr val="FFFFFF"/>
                </a:solidFill>
                <a:latin typeface="Arial"/>
                <a:ea typeface="Arial"/>
                <a:cs typeface="Arial"/>
              </a:rPr>
              <a:t>A small operating system</a:t>
            </a:r>
          </a:p>
          <a:p xmlns:a="http://schemas.openxmlformats.org/drawingml/2006/main">
            <a:pPr algn="l">
              <a:defRPr sz="3675" b="1">
                <a:solidFill>
                  <a:srgbClr val="FFFFFF"/>
                </a:solidFill>
                <a:latin typeface="Arial"/>
                <a:ea typeface="Arial"/>
                <a:cs typeface="Arial"/>
              </a:defRPr>
            </a:pPr>
            <a:r>
              <a:rPr sz="3675" b="1">
                <a:solidFill>
                  <a:srgbClr val="FFFFFF"/>
                </a:solidFill>
                <a:latin typeface="Arial"/>
                <a:ea typeface="Arial"/>
                <a:cs typeface="Arial"/>
              </a:rPr>
              <a:t>with an agent control layer</a:t>
            </a:r>
          </a:p>
        </p:txBody>
      </p:sp>
      <p:sp>
        <p:nvSpPr>
          <p:cNvPr id="6" name="">
            <a:extLst xmlns:a="http://schemas.openxmlformats.org/drawingml/2006/main">
              <a:ext uri="{FF2B5EF4-FFF2-40B4-BE49-F238E27FC236}">
                <a16:creationId xmlns:a16="http://schemas.microsoft.com/office/drawing/2014/main" id="{70A65A3F-5701-47D7-8116-F3F7E4CB79E2}"/>
              </a:ext>
            </a:extLst>
          </p:cNvPr>
          <p:cNvSpPr>
            <a:spLocks xmlns:a="http://schemas.openxmlformats.org/drawingml/2006/main" noGrp="1"/>
          </p:cNvSpPr>
          <p:nvPr/>
        </p:nvSpPr>
        <p:spPr>
          <a:xfrm xmlns:a="http://schemas.openxmlformats.org/drawingml/2006/main">
            <a:off x="8191500" y="2076450"/>
            <a:ext cx="2714625" cy="7620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7" name="Intent">
            <a:extLst xmlns:a="http://schemas.openxmlformats.org/drawingml/2006/main">
              <a:ext uri="{FF2B5EF4-FFF2-40B4-BE49-F238E27FC236}">
                <a16:creationId xmlns:a16="http://schemas.microsoft.com/office/drawing/2014/main" id="{C5C80B4A-EBE3-45D0-ACC9-48E47D18CA2B}"/>
              </a:ext>
            </a:extLst>
          </p:cNvPr>
          <p:cNvSpPr>
            <a:spLocks xmlns:a="http://schemas.openxmlformats.org/drawingml/2006/main" noGrp="1"/>
          </p:cNvSpPr>
          <p:nvPr/>
        </p:nvSpPr>
        <p:spPr>
          <a:xfrm xmlns:a="http://schemas.openxmlformats.org/drawingml/2006/main">
            <a:off x="8334375" y="2162175"/>
            <a:ext cx="2428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Intent</a:t>
            </a:r>
          </a:p>
        </p:txBody>
      </p:sp>
      <p:sp>
        <p:nvSpPr>
          <p:cNvPr id="8" name="">
            <a:extLst xmlns:a="http://schemas.openxmlformats.org/drawingml/2006/main">
              <a:ext uri="{FF2B5EF4-FFF2-40B4-BE49-F238E27FC236}">
                <a16:creationId xmlns:a16="http://schemas.microsoft.com/office/drawing/2014/main" id="{91DA7543-B6D5-4D2F-8001-3D06C070714A}"/>
              </a:ext>
            </a:extLst>
          </p:cNvPr>
          <p:cNvSpPr>
            <a:spLocks xmlns:a="http://schemas.openxmlformats.org/drawingml/2006/main" noGrp="1"/>
          </p:cNvSpPr>
          <p:nvPr/>
        </p:nvSpPr>
        <p:spPr>
          <a:xfrm xmlns:a="http://schemas.openxmlformats.org/drawingml/2006/main">
            <a:off x="8191500" y="3343275"/>
            <a:ext cx="2714625" cy="7620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Main OS agent">
            <a:extLst xmlns:a="http://schemas.openxmlformats.org/drawingml/2006/main">
              <a:ext uri="{FF2B5EF4-FFF2-40B4-BE49-F238E27FC236}">
                <a16:creationId xmlns:a16="http://schemas.microsoft.com/office/drawing/2014/main" id="{D2B67CEB-D6AC-4945-A78E-2F0AC504F5DE}"/>
              </a:ext>
            </a:extLst>
          </p:cNvPr>
          <p:cNvSpPr>
            <a:spLocks xmlns:a="http://schemas.openxmlformats.org/drawingml/2006/main" noGrp="1"/>
          </p:cNvSpPr>
          <p:nvPr/>
        </p:nvSpPr>
        <p:spPr>
          <a:xfrm xmlns:a="http://schemas.openxmlformats.org/drawingml/2006/main">
            <a:off x="8334375" y="3429000"/>
            <a:ext cx="2428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Main OS agent</a:t>
            </a:r>
          </a:p>
        </p:txBody>
      </p:sp>
      <p:sp>
        <p:nvSpPr>
          <p:cNvPr id="10" name="">
            <a:extLst xmlns:a="http://schemas.openxmlformats.org/drawingml/2006/main">
              <a:ext uri="{FF2B5EF4-FFF2-40B4-BE49-F238E27FC236}">
                <a16:creationId xmlns:a16="http://schemas.microsoft.com/office/drawing/2014/main" id="{8441C282-5B86-4131-A4B2-7CB10B6CC145}"/>
              </a:ext>
            </a:extLst>
          </p:cNvPr>
          <p:cNvSpPr>
            <a:spLocks xmlns:a="http://schemas.openxmlformats.org/drawingml/2006/main" noGrp="1"/>
          </p:cNvSpPr>
          <p:nvPr/>
        </p:nvSpPr>
        <p:spPr>
          <a:xfrm xmlns:a="http://schemas.openxmlformats.org/drawingml/2006/main">
            <a:off x="8191500" y="4610100"/>
            <a:ext cx="2714625" cy="7620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1" name="File operations">
            <a:extLst xmlns:a="http://schemas.openxmlformats.org/drawingml/2006/main">
              <a:ext uri="{FF2B5EF4-FFF2-40B4-BE49-F238E27FC236}">
                <a16:creationId xmlns:a16="http://schemas.microsoft.com/office/drawing/2014/main" id="{A53EF57A-04E1-486B-8324-F1F7B6A6A15E}"/>
              </a:ext>
            </a:extLst>
          </p:cNvPr>
          <p:cNvSpPr>
            <a:spLocks xmlns:a="http://schemas.openxmlformats.org/drawingml/2006/main" noGrp="1"/>
          </p:cNvSpPr>
          <p:nvPr/>
        </p:nvSpPr>
        <p:spPr>
          <a:xfrm xmlns:a="http://schemas.openxmlformats.org/drawingml/2006/main">
            <a:off x="8334375" y="4695825"/>
            <a:ext cx="2428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File operations</a:t>
            </a:r>
          </a:p>
        </p:txBody>
      </p:sp>
      <p:cxnSp>
        <p:nvCxnSpPr>
          <p:cNvPr id="12" name="">
            <a:extLst xmlns:a="http://schemas.openxmlformats.org/drawingml/2006/main">
              <a:ext uri="{FF2B5EF4-FFF2-40B4-BE49-F238E27FC236}">
                <a16:creationId xmlns:a16="http://schemas.microsoft.com/office/drawing/2014/main" id="{FEFABEBC-85E7-45B2-9337-E9B3CD6A17E6}"/>
              </a:ext>
            </a:extLst>
          </p:cNvPr>
          <p:cNvCxnSpPr/>
          <p:nvPr/>
        </p:nvCxnSpPr>
        <p:spPr>
          <a:xfrm xmlns:a="http://schemas.openxmlformats.org/drawingml/2006/main" flipH="0" flipV="0">
            <a:off x="9544050" y="2838450"/>
            <a:ext cx="0" cy="428625"/>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BADF0937-B1BF-4FD6-A53B-D88BFCE1F982}"/>
              </a:ext>
            </a:extLst>
          </p:cNvPr>
          <p:cNvCxnSpPr/>
          <p:nvPr/>
        </p:nvCxnSpPr>
        <p:spPr>
          <a:xfrm xmlns:a="http://schemas.openxmlformats.org/drawingml/2006/main" flipH="0" flipV="0">
            <a:off x="9544050" y="4105275"/>
            <a:ext cx="0" cy="428625"/>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4" name="Kernel architecture, Gemini networking,&#10;file">
            <a:extLst xmlns:a="http://schemas.openxmlformats.org/drawingml/2006/main">
              <a:ext uri="{FF2B5EF4-FFF2-40B4-BE49-F238E27FC236}">
                <a16:creationId xmlns:a16="http://schemas.microsoft.com/office/drawing/2014/main" id="{CEC3DC61-526F-4696-92F0-381B25D1C09E}"/>
              </a:ext>
            </a:extLst>
          </p:cNvPr>
          <p:cNvSpPr>
            <a:spLocks xmlns:a="http://schemas.openxmlformats.org/drawingml/2006/main" noGrp="1"/>
          </p:cNvSpPr>
          <p:nvPr/>
        </p:nvSpPr>
        <p:spPr>
          <a:xfrm xmlns:a="http://schemas.openxmlformats.org/drawingml/2006/main">
            <a:off x="609600" y="4114800"/>
            <a:ext cx="666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0">
                <a:solidFill>
                  <a:srgbClr val="D5C9E6"/>
                </a:solidFill>
                <a:latin typeface="Arial"/>
                <a:ea typeface="Arial"/>
                <a:cs typeface="Arial"/>
              </a:defRPr>
            </a:defPPr>
          </a:lstStyle>
          <a:p xmlns:a="http://schemas.openxmlformats.org/drawingml/2006/main">
            <a:pPr algn="l">
              <a:defRPr sz="2100" b="0">
                <a:solidFill>
                  <a:srgbClr val="D5C9E6"/>
                </a:solidFill>
                <a:latin typeface="Arial"/>
                <a:ea typeface="Arial"/>
                <a:cs typeface="Arial"/>
              </a:defRPr>
            </a:pPr>
            <a:r>
              <a:rPr sz="2100" b="0">
                <a:solidFill>
                  <a:srgbClr val="D5C9E6"/>
                </a:solidFill>
                <a:latin typeface="Arial"/>
                <a:ea typeface="Arial"/>
                <a:cs typeface="Arial"/>
              </a:rPr>
              <a:t>Kernel architecture, Gemini networking,</a:t>
            </a:r>
          </a:p>
          <a:p xmlns:a="http://schemas.openxmlformats.org/drawingml/2006/main">
            <a:pPr algn="l">
              <a:defRPr sz="2100" b="0">
                <a:solidFill>
                  <a:srgbClr val="D5C9E6"/>
                </a:solidFill>
                <a:latin typeface="Arial"/>
                <a:ea typeface="Arial"/>
                <a:cs typeface="Arial"/>
              </a:defRPr>
            </a:pPr>
            <a:r>
              <a:rPr sz="2100" b="0">
                <a:solidFill>
                  <a:srgbClr val="D5C9E6"/>
                </a:solidFill>
                <a:latin typeface="Arial"/>
                <a:ea typeface="Arial"/>
                <a:cs typeface="Arial"/>
              </a:rPr>
              <a:t>file CRUD and a practical run guide</a:t>
            </a:r>
          </a:p>
        </p:txBody>
      </p:sp>
    </p:spTree>
    <p:extLst>
      <p:ext uri="{BB962C8B-B14F-4D97-AF65-F5344CB8AC3E}">
        <p14:creationId xmlns:p14="http://schemas.microsoft.com/office/powerpoint/2010/main" val="142272588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OVERVIEW">
            <a:extLst xmlns:a="http://schemas.openxmlformats.org/drawingml/2006/main">
              <a:ext uri="{FF2B5EF4-FFF2-40B4-BE49-F238E27FC236}">
                <a16:creationId xmlns:a16="http://schemas.microsoft.com/office/drawing/2014/main" id="{0FACB983-16A7-4FBB-9F43-E00F6AC8BCAD}"/>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7D43D5"/>
                </a:solidFill>
                <a:latin typeface="Arial"/>
                <a:ea typeface="Arial"/>
                <a:cs typeface="Arial"/>
              </a:defRPr>
            </a:defPPr>
          </a:lstStyle>
          <a:p xmlns:a="http://schemas.openxmlformats.org/drawingml/2006/main">
            <a:pPr algn="l">
              <a:defRPr sz="1200" b="1">
                <a:solidFill>
                  <a:srgbClr val="7D43D5"/>
                </a:solidFill>
                <a:latin typeface="Arial"/>
                <a:ea typeface="Arial"/>
                <a:cs typeface="Arial"/>
              </a:defRPr>
            </a:pPr>
            <a:r>
              <a:rPr sz="1200" b="1">
                <a:solidFill>
                  <a:srgbClr val="7D43D5"/>
                </a:solidFill>
                <a:latin typeface="Arial"/>
                <a:ea typeface="Arial"/>
                <a:cs typeface="Arial"/>
              </a:rPr>
              <a:t>OVERVIEW</a:t>
            </a:r>
          </a:p>
        </p:txBody>
      </p:sp>
      <p:sp>
        <p:nvSpPr>
          <p:cNvPr id="2" name="Walkthrough map">
            <a:extLst xmlns:a="http://schemas.openxmlformats.org/drawingml/2006/main">
              <a:ext uri="{FF2B5EF4-FFF2-40B4-BE49-F238E27FC236}">
                <a16:creationId xmlns:a16="http://schemas.microsoft.com/office/drawing/2014/main" id="{671C39B7-0306-4FA1-8B9F-564A7F9ED078}"/>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51139"/>
                </a:solidFill>
                <a:latin typeface="Arial"/>
                <a:ea typeface="Arial"/>
                <a:cs typeface="Arial"/>
              </a:defRPr>
            </a:defPPr>
          </a:lstStyle>
          <a:p xmlns:a="http://schemas.openxmlformats.org/drawingml/2006/main">
            <a:pPr algn="l">
              <a:defRPr sz="3300" b="1">
                <a:solidFill>
                  <a:srgbClr val="251139"/>
                </a:solidFill>
                <a:latin typeface="Arial"/>
                <a:ea typeface="Arial"/>
                <a:cs typeface="Arial"/>
              </a:defRPr>
            </a:pPr>
            <a:r>
              <a:rPr sz="3300" b="1">
                <a:solidFill>
                  <a:srgbClr val="251139"/>
                </a:solidFill>
                <a:latin typeface="Arial"/>
                <a:ea typeface="Arial"/>
                <a:cs typeface="Arial"/>
              </a:rPr>
              <a:t>Walkthrough map</a:t>
            </a:r>
          </a:p>
        </p:txBody>
      </p:sp>
      <p:sp>
        <p:nvSpPr>
          <p:cNvPr id="3" name="AGENTIC OS  /  MVP TECHNICAL WALKTHROUGH">
            <a:extLst xmlns:a="http://schemas.openxmlformats.org/drawingml/2006/main">
              <a:ext uri="{FF2B5EF4-FFF2-40B4-BE49-F238E27FC236}">
                <a16:creationId xmlns:a16="http://schemas.microsoft.com/office/drawing/2014/main" id="{E616C03A-5233-4CD6-9A40-41B280C7C020}"/>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7D43D5"/>
                </a:solidFill>
                <a:latin typeface="Arial"/>
                <a:ea typeface="Arial"/>
                <a:cs typeface="Arial"/>
              </a:defRPr>
            </a:defPPr>
          </a:lstStyle>
          <a:p xmlns:a="http://schemas.openxmlformats.org/drawingml/2006/main">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02">
            <a:extLst xmlns:a="http://schemas.openxmlformats.org/drawingml/2006/main">
              <a:ext uri="{FF2B5EF4-FFF2-40B4-BE49-F238E27FC236}">
                <a16:creationId xmlns:a16="http://schemas.microsoft.com/office/drawing/2014/main" id="{13A9F663-DC44-4961-A4CF-6CB9CE41C821}"/>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7D43D5"/>
                </a:solidFill>
                <a:latin typeface="Arial"/>
                <a:ea typeface="Arial"/>
                <a:cs typeface="Arial"/>
              </a:defRPr>
            </a:defPPr>
          </a:lstStyle>
          <a:p xmlns:a="http://schemas.openxmlformats.org/drawingml/2006/main">
            <a:pPr algn="r">
              <a:defRPr sz="1275" b="0">
                <a:solidFill>
                  <a:srgbClr val="7D43D5"/>
                </a:solidFill>
                <a:latin typeface="Arial"/>
                <a:ea typeface="Arial"/>
                <a:cs typeface="Arial"/>
              </a:defRPr>
            </a:pPr>
            <a:r>
              <a:rPr sz="1275" b="0">
                <a:solidFill>
                  <a:srgbClr val="7D43D5"/>
                </a:solidFill>
                <a:latin typeface="Arial"/>
                <a:ea typeface="Arial"/>
                <a:cs typeface="Arial"/>
              </a:rPr>
              <a:t>02</a:t>
            </a:r>
          </a:p>
        </p:txBody>
      </p:sp>
      <p:sp>
        <p:nvSpPr>
          <p:cNvPr id="5" name="01  Foundation">
            <a:extLst xmlns:a="http://schemas.openxmlformats.org/drawingml/2006/main">
              <a:ext uri="{FF2B5EF4-FFF2-40B4-BE49-F238E27FC236}">
                <a16:creationId xmlns:a16="http://schemas.microsoft.com/office/drawing/2014/main" id="{30EE32DF-56C1-451A-9BDB-B448A5398F7B}"/>
              </a:ext>
            </a:extLst>
          </p:cNvPr>
          <p:cNvSpPr>
            <a:spLocks xmlns:a="http://schemas.openxmlformats.org/drawingml/2006/main" noGrp="1"/>
          </p:cNvSpPr>
          <p:nvPr/>
        </p:nvSpPr>
        <p:spPr>
          <a:xfrm xmlns:a="http://schemas.openxmlformats.org/drawingml/2006/main">
            <a:off x="609600" y="19812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01  Foundation</a:t>
            </a:r>
          </a:p>
        </p:txBody>
      </p:sp>
      <p:sp>
        <p:nvSpPr>
          <p:cNvPr id="6" name="Boot, memory, input and the shell">
            <a:extLst xmlns:a="http://schemas.openxmlformats.org/drawingml/2006/main">
              <a:ext uri="{FF2B5EF4-FFF2-40B4-BE49-F238E27FC236}">
                <a16:creationId xmlns:a16="http://schemas.microsoft.com/office/drawing/2014/main" id="{814F2D18-919C-41DB-BB7F-5F2B5500E53E}"/>
              </a:ext>
            </a:extLst>
          </p:cNvPr>
          <p:cNvSpPr>
            <a:spLocks xmlns:a="http://schemas.openxmlformats.org/drawingml/2006/main" noGrp="1"/>
          </p:cNvSpPr>
          <p:nvPr/>
        </p:nvSpPr>
        <p:spPr>
          <a:xfrm xmlns:a="http://schemas.openxmlformats.org/drawingml/2006/main">
            <a:off x="3943350" y="198120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Boot, memory, input and the shell</a:t>
            </a:r>
          </a:p>
        </p:txBody>
      </p:sp>
      <p:sp>
        <p:nvSpPr>
          <p:cNvPr id="7" name="02  Connectivity">
            <a:extLst xmlns:a="http://schemas.openxmlformats.org/drawingml/2006/main">
              <a:ext uri="{FF2B5EF4-FFF2-40B4-BE49-F238E27FC236}">
                <a16:creationId xmlns:a16="http://schemas.microsoft.com/office/drawing/2014/main" id="{47DCE3FB-9EF3-4702-A36B-B2138BCEC9EB}"/>
              </a:ext>
            </a:extLst>
          </p:cNvPr>
          <p:cNvSpPr>
            <a:spLocks xmlns:a="http://schemas.openxmlformats.org/drawingml/2006/main" noGrp="1"/>
          </p:cNvSpPr>
          <p:nvPr/>
        </p:nvSpPr>
        <p:spPr>
          <a:xfrm xmlns:a="http://schemas.openxmlformats.org/drawingml/2006/main">
            <a:off x="609600" y="28765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02  Connectivity</a:t>
            </a:r>
          </a:p>
        </p:txBody>
      </p:sp>
      <p:sp>
        <p:nvSpPr>
          <p:cNvPr id="8" name="NE2000 networking and the Gemini gateway">
            <a:extLst xmlns:a="http://schemas.openxmlformats.org/drawingml/2006/main">
              <a:ext uri="{FF2B5EF4-FFF2-40B4-BE49-F238E27FC236}">
                <a16:creationId xmlns:a16="http://schemas.microsoft.com/office/drawing/2014/main" id="{01E27F75-A961-4559-AA36-2897CC02CE07}"/>
              </a:ext>
            </a:extLst>
          </p:cNvPr>
          <p:cNvSpPr>
            <a:spLocks xmlns:a="http://schemas.openxmlformats.org/drawingml/2006/main" noGrp="1"/>
          </p:cNvSpPr>
          <p:nvPr/>
        </p:nvSpPr>
        <p:spPr>
          <a:xfrm xmlns:a="http://schemas.openxmlformats.org/drawingml/2006/main">
            <a:off x="3943350" y="287655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NE2000 networking and the Gemini gateway</a:t>
            </a:r>
          </a:p>
        </p:txBody>
      </p:sp>
      <p:sp>
        <p:nvSpPr>
          <p:cNvPr id="9" name="03  Agents">
            <a:extLst xmlns:a="http://schemas.openxmlformats.org/drawingml/2006/main">
              <a:ext uri="{FF2B5EF4-FFF2-40B4-BE49-F238E27FC236}">
                <a16:creationId xmlns:a16="http://schemas.microsoft.com/office/drawing/2014/main" id="{533E40BC-B3D5-461D-BF30-BAA0246704F3}"/>
              </a:ext>
            </a:extLst>
          </p:cNvPr>
          <p:cNvSpPr>
            <a:spLocks xmlns:a="http://schemas.openxmlformats.org/drawingml/2006/main" noGrp="1"/>
          </p:cNvSpPr>
          <p:nvPr/>
        </p:nvSpPr>
        <p:spPr>
          <a:xfrm xmlns:a="http://schemas.openxmlformats.org/drawingml/2006/main">
            <a:off x="609600" y="37719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03  Agents</a:t>
            </a:r>
          </a:p>
        </p:txBody>
      </p:sp>
      <p:sp>
        <p:nvSpPr>
          <p:cNvPr id="10" name="Simple agents and controlled file operations">
            <a:extLst xmlns:a="http://schemas.openxmlformats.org/drawingml/2006/main">
              <a:ext uri="{FF2B5EF4-FFF2-40B4-BE49-F238E27FC236}">
                <a16:creationId xmlns:a16="http://schemas.microsoft.com/office/drawing/2014/main" id="{FE7E7FC6-A6D5-45A0-BDF5-BA2C936A284B}"/>
              </a:ext>
            </a:extLst>
          </p:cNvPr>
          <p:cNvSpPr>
            <a:spLocks xmlns:a="http://schemas.openxmlformats.org/drawingml/2006/main" noGrp="1"/>
          </p:cNvSpPr>
          <p:nvPr/>
        </p:nvSpPr>
        <p:spPr>
          <a:xfrm xmlns:a="http://schemas.openxmlformats.org/drawingml/2006/main">
            <a:off x="3943350" y="377190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Simple agents and controlled file operations</a:t>
            </a:r>
          </a:p>
        </p:txBody>
      </p:sp>
      <p:sp>
        <p:nvSpPr>
          <p:cNvPr id="11" name="04  Run &amp; demonstrate">
            <a:extLst xmlns:a="http://schemas.openxmlformats.org/drawingml/2006/main">
              <a:ext uri="{FF2B5EF4-FFF2-40B4-BE49-F238E27FC236}">
                <a16:creationId xmlns:a16="http://schemas.microsoft.com/office/drawing/2014/main" id="{4103F072-6B1B-47B4-B77D-6E387A817A30}"/>
              </a:ext>
            </a:extLst>
          </p:cNvPr>
          <p:cNvSpPr>
            <a:spLocks xmlns:a="http://schemas.openxmlformats.org/drawingml/2006/main" noGrp="1"/>
          </p:cNvSpPr>
          <p:nvPr/>
        </p:nvSpPr>
        <p:spPr>
          <a:xfrm xmlns:a="http://schemas.openxmlformats.org/drawingml/2006/main">
            <a:off x="609600" y="46672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04  Run &amp; demonstrate</a:t>
            </a:r>
          </a:p>
        </p:txBody>
      </p:sp>
      <p:sp>
        <p:nvSpPr>
          <p:cNvPr id="12" name="Build, configure, launch and verify">
            <a:extLst xmlns:a="http://schemas.openxmlformats.org/drawingml/2006/main">
              <a:ext uri="{FF2B5EF4-FFF2-40B4-BE49-F238E27FC236}">
                <a16:creationId xmlns:a16="http://schemas.microsoft.com/office/drawing/2014/main" id="{FB3E273D-9AF1-4021-94F2-96B0CAAE437B}"/>
              </a:ext>
            </a:extLst>
          </p:cNvPr>
          <p:cNvSpPr>
            <a:spLocks xmlns:a="http://schemas.openxmlformats.org/drawingml/2006/main" noGrp="1"/>
          </p:cNvSpPr>
          <p:nvPr/>
        </p:nvSpPr>
        <p:spPr>
          <a:xfrm xmlns:a="http://schemas.openxmlformats.org/drawingml/2006/main">
            <a:off x="3943350" y="466725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Build, configure, launch and verify</a:t>
            </a:r>
          </a:p>
        </p:txBody>
      </p:sp>
    </p:spTree>
    <p:extLst>
      <p:ext uri="{BB962C8B-B14F-4D97-AF65-F5344CB8AC3E}">
        <p14:creationId xmlns:p14="http://schemas.microsoft.com/office/powerpoint/2010/main" val="651766482"/>
      </p:ext>
    </p:extLst>
  </p:cSld>
</p:sld>
</file>

<file path=ppt/slides/slide3.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0" name="OVERVIEW">
            <a:extLst xmlns:a="http://schemas.openxmlformats.org/drawingml/2006/main">
              <a:ext uri="{FF2B5EF4-FFF2-40B4-BE49-F238E27FC236}">
                <a16:creationId xmlns:a16="http://schemas.microsoft.com/office/drawing/2014/main" id="{24FBCB9F-5D42-40D5-A286-507EBDB12C96}"/>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OVERVIEW</a:t>
            </a:r>
          </a:p>
        </p:txBody>
      </p:sp>
      <p:sp>
        <p:nvSpPr>
          <p:cNvPr id="2" name="Architecture scope">
            <a:extLst xmlns:a="http://schemas.openxmlformats.org/drawingml/2006/main">
              <a:ext uri="{FF2B5EF4-FFF2-40B4-BE49-F238E27FC236}">
                <a16:creationId xmlns:a16="http://schemas.microsoft.com/office/drawing/2014/main" id="{028459E0-AB65-4B7A-8E61-0E9A1C0B6522}"/>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Architecture scope</a:t>
            </a:r>
          </a:p>
        </p:txBody>
      </p:sp>
      <p:sp>
        <p:nvSpPr>
          <p:cNvPr id="3" name="AGENTIC OS  /  MVP TECHNICAL WALKTHROUGH">
            <a:extLst xmlns:a="http://schemas.openxmlformats.org/drawingml/2006/main">
              <a:ext uri="{FF2B5EF4-FFF2-40B4-BE49-F238E27FC236}">
                <a16:creationId xmlns:a16="http://schemas.microsoft.com/office/drawing/2014/main" id="{DE498DE7-7041-493D-A310-ED7802B51AA2}"/>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03">
            <a:extLst xmlns:a="http://schemas.openxmlformats.org/drawingml/2006/main">
              <a:ext uri="{FF2B5EF4-FFF2-40B4-BE49-F238E27FC236}">
                <a16:creationId xmlns:a16="http://schemas.microsoft.com/office/drawing/2014/main" id="{1D6E06D8-9D96-44CF-97C5-9222C7E0A672}"/>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03</a:t>
            </a:r>
          </a:p>
        </p:txBody>
      </p:sp>
      <p:sp>
        <p:nvSpPr>
          <p:cNvPr id="5" name="Repository foundation">
            <a:extLst xmlns:a="http://schemas.openxmlformats.org/drawingml/2006/main">
              <a:ext uri="{FF2B5EF4-FFF2-40B4-BE49-F238E27FC236}">
                <a16:creationId xmlns:a16="http://schemas.microsoft.com/office/drawing/2014/main" id="{35CE8D67-EE3D-4E1A-A056-52674D9DD812}"/>
              </a:ext>
            </a:extLst>
          </p:cNvPr>
          <p:cNvSpPr>
            <a:spLocks xmlns:a="http://schemas.openxmlformats.org/drawingml/2006/main" noGrp="1"/>
          </p:cNvSpPr>
          <p:nvPr/>
        </p:nvSpPr>
        <p:spPr>
          <a:xfrm xmlns:a="http://schemas.openxmlformats.org/drawingml/2006/main">
            <a:off x="609600" y="21812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400" b="1">
                <a:solidFill>
                  <a:srgbClr val="BE98F6"/>
                </a:solidFill>
                <a:latin typeface="Arial"/>
                <a:ea typeface="Arial"/>
                <a:cs typeface="Arial"/>
              </a:defRPr>
            </a:defPPr>
          </a:lstStyle>
          <a:p xmlns:a="http://schemas.openxmlformats.org/drawingml/2006/main">
            <a:pPr algn="l">
              <a:defRPr sz="2400" b="1">
                <a:solidFill>
                  <a:srgbClr val="BE98F6"/>
                </a:solidFill>
                <a:latin typeface="Arial"/>
                <a:ea typeface="Arial"/>
                <a:cs typeface="Arial"/>
              </a:defRPr>
            </a:pPr>
            <a:r>
              <a:rPr sz="2400" b="1">
                <a:solidFill>
                  <a:srgbClr val="BE98F6"/>
                </a:solidFill>
                <a:latin typeface="Arial"/>
                <a:ea typeface="Arial"/>
                <a:cs typeface="Arial"/>
              </a:rPr>
              <a:t>Repository foundation</a:t>
            </a:r>
          </a:p>
        </p:txBody>
      </p:sp>
      <p:sp>
        <p:nvSpPr>
          <p:cNvPr id="6" name="x86 kernel, RAMFS, shell,&#10;NE2000 and TCP pro">
            <a:extLst xmlns:a="http://schemas.openxmlformats.org/drawingml/2006/main">
              <a:ext uri="{FF2B5EF4-FFF2-40B4-BE49-F238E27FC236}">
                <a16:creationId xmlns:a16="http://schemas.microsoft.com/office/drawing/2014/main" id="{2097B028-D643-40F7-8736-B2D82D246892}"/>
              </a:ext>
            </a:extLst>
          </p:cNvPr>
          <p:cNvSpPr>
            <a:spLocks xmlns:a="http://schemas.openxmlformats.org/drawingml/2006/main" noGrp="1"/>
          </p:cNvSpPr>
          <p:nvPr/>
        </p:nvSpPr>
        <p:spPr>
          <a:xfrm xmlns:a="http://schemas.openxmlformats.org/drawingml/2006/main">
            <a:off x="609600" y="2876550"/>
            <a:ext cx="4857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625" b="0">
                <a:solidFill>
                  <a:srgbClr val="FFFFFF"/>
                </a:solidFill>
                <a:latin typeface="Arial"/>
                <a:ea typeface="Arial"/>
                <a:cs typeface="Arial"/>
              </a:defRPr>
            </a:defPPr>
          </a:lstStyle>
          <a:p xmlns:a="http://schemas.openxmlformats.org/drawingml/2006/main">
            <a:pPr algn="l">
              <a:defRPr sz="2625" b="0">
                <a:solidFill>
                  <a:srgbClr val="FFFFFF"/>
                </a:solidFill>
                <a:latin typeface="Arial"/>
                <a:ea typeface="Arial"/>
                <a:cs typeface="Arial"/>
              </a:defRPr>
            </a:pPr>
            <a:r>
              <a:rPr sz="2625" b="0">
                <a:solidFill>
                  <a:srgbClr val="FFFFFF"/>
                </a:solidFill>
                <a:latin typeface="Arial"/>
                <a:ea typeface="Arial"/>
                <a:cs typeface="Arial"/>
              </a:rPr>
              <a:t>x86 kernel, RAMFS, shell,</a:t>
            </a:r>
          </a:p>
          <a:p xmlns:a="http://schemas.openxmlformats.org/drawingml/2006/main">
            <a:pPr algn="l">
              <a:defRPr sz="2625" b="0">
                <a:solidFill>
                  <a:srgbClr val="FFFFFF"/>
                </a:solidFill>
                <a:latin typeface="Arial"/>
                <a:ea typeface="Arial"/>
                <a:cs typeface="Arial"/>
              </a:defRPr>
            </a:pPr>
            <a:r>
              <a:rPr sz="2625" b="0">
                <a:solidFill>
                  <a:srgbClr val="FFFFFF"/>
                </a:solidFill>
                <a:latin typeface="Arial"/>
                <a:ea typeface="Arial"/>
                <a:cs typeface="Arial"/>
              </a:rPr>
              <a:t>NE2000 and TCP probe</a:t>
            </a:r>
          </a:p>
        </p:txBody>
      </p:sp>
      <p:sp>
        <p:nvSpPr>
          <p:cNvPr id="7" name="Completed-state agent design">
            <a:extLst xmlns:a="http://schemas.openxmlformats.org/drawingml/2006/main">
              <a:ext uri="{FF2B5EF4-FFF2-40B4-BE49-F238E27FC236}">
                <a16:creationId xmlns:a16="http://schemas.microsoft.com/office/drawing/2014/main" id="{E5FB5CA5-2BBF-465E-AEC3-7F26AC2B6D63}"/>
              </a:ext>
            </a:extLst>
          </p:cNvPr>
          <p:cNvSpPr>
            <a:spLocks xmlns:a="http://schemas.openxmlformats.org/drawingml/2006/main" noGrp="1"/>
          </p:cNvSpPr>
          <p:nvPr/>
        </p:nvSpPr>
        <p:spPr>
          <a:xfrm xmlns:a="http://schemas.openxmlformats.org/drawingml/2006/main">
            <a:off x="6477000" y="2181225"/>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400" b="1">
                <a:solidFill>
                  <a:srgbClr val="BE98F6"/>
                </a:solidFill>
                <a:latin typeface="Arial"/>
                <a:ea typeface="Arial"/>
                <a:cs typeface="Arial"/>
              </a:defRPr>
            </a:defPPr>
          </a:lstStyle>
          <a:p xmlns:a="http://schemas.openxmlformats.org/drawingml/2006/main">
            <a:pPr algn="l">
              <a:defRPr sz="2400" b="1">
                <a:solidFill>
                  <a:srgbClr val="BE98F6"/>
                </a:solidFill>
                <a:latin typeface="Arial"/>
                <a:ea typeface="Arial"/>
                <a:cs typeface="Arial"/>
              </a:defRPr>
            </a:pPr>
            <a:r>
              <a:rPr sz="2400" b="1">
                <a:solidFill>
                  <a:srgbClr val="BE98F6"/>
                </a:solidFill>
                <a:latin typeface="Arial"/>
                <a:ea typeface="Arial"/>
                <a:cs typeface="Arial"/>
              </a:rPr>
              <a:t>Completed-state agent design</a:t>
            </a:r>
          </a:p>
        </p:txBody>
      </p:sp>
      <p:sp>
        <p:nvSpPr>
          <p:cNvPr id="8" name="Gemini gateway, agent creation&#10;and a main OS">
            <a:extLst xmlns:a="http://schemas.openxmlformats.org/drawingml/2006/main">
              <a:ext uri="{FF2B5EF4-FFF2-40B4-BE49-F238E27FC236}">
                <a16:creationId xmlns:a16="http://schemas.microsoft.com/office/drawing/2014/main" id="{CF28EA32-47DF-49F9-A652-A6526170E1BD}"/>
              </a:ext>
            </a:extLst>
          </p:cNvPr>
          <p:cNvSpPr>
            <a:spLocks xmlns:a="http://schemas.openxmlformats.org/drawingml/2006/main" noGrp="1"/>
          </p:cNvSpPr>
          <p:nvPr/>
        </p:nvSpPr>
        <p:spPr>
          <a:xfrm xmlns:a="http://schemas.openxmlformats.org/drawingml/2006/main">
            <a:off x="6477000" y="2876550"/>
            <a:ext cx="50958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625" b="0">
                <a:solidFill>
                  <a:srgbClr val="FFFFFF"/>
                </a:solidFill>
                <a:latin typeface="Arial"/>
                <a:ea typeface="Arial"/>
                <a:cs typeface="Arial"/>
              </a:defRPr>
            </a:defPPr>
          </a:lstStyle>
          <a:p xmlns:a="http://schemas.openxmlformats.org/drawingml/2006/main">
            <a:pPr algn="l">
              <a:defRPr sz="2625" b="0">
                <a:solidFill>
                  <a:srgbClr val="FFFFFF"/>
                </a:solidFill>
                <a:latin typeface="Arial"/>
                <a:ea typeface="Arial"/>
                <a:cs typeface="Arial"/>
              </a:defRPr>
            </a:pPr>
            <a:r>
              <a:rPr sz="2625" b="0">
                <a:solidFill>
                  <a:srgbClr val="FFFFFF"/>
                </a:solidFill>
                <a:latin typeface="Arial"/>
                <a:ea typeface="Arial"/>
                <a:cs typeface="Arial"/>
              </a:rPr>
              <a:t>Gemini gateway, agent creation</a:t>
            </a:r>
          </a:p>
          <a:p xmlns:a="http://schemas.openxmlformats.org/drawingml/2006/main">
            <a:pPr algn="l">
              <a:defRPr sz="2625" b="0">
                <a:solidFill>
                  <a:srgbClr val="FFFFFF"/>
                </a:solidFill>
                <a:latin typeface="Arial"/>
                <a:ea typeface="Arial"/>
                <a:cs typeface="Arial"/>
              </a:defRPr>
            </a:pPr>
            <a:r>
              <a:rPr sz="2625" b="0">
                <a:solidFill>
                  <a:srgbClr val="FFFFFF"/>
                </a:solidFill>
                <a:latin typeface="Arial"/>
                <a:ea typeface="Arial"/>
                <a:cs typeface="Arial"/>
              </a:rPr>
              <a:t>and a main OS file agent</a:t>
            </a:r>
          </a:p>
        </p:txBody>
      </p:sp>
      <p:sp>
        <p:nvSpPr>
          <p:cNvPr id="9" name="Agent features use the requested completed-s">
            <a:extLst xmlns:a="http://schemas.openxmlformats.org/drawingml/2006/main">
              <a:ext uri="{FF2B5EF4-FFF2-40B4-BE49-F238E27FC236}">
                <a16:creationId xmlns:a16="http://schemas.microsoft.com/office/drawing/2014/main" id="{EBDB3543-C143-4462-A623-47D69099EDF2}"/>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Agent features use the requested completed-state design assumption; they are not runtime-verified.</a:t>
            </a:r>
          </a:p>
        </p:txBody>
      </p:sp>
    </p:spTree>
    <p:extLst>
      <p:ext uri="{BB962C8B-B14F-4D97-AF65-F5344CB8AC3E}">
        <p14:creationId xmlns:p14="http://schemas.microsoft.com/office/powerpoint/2010/main" val="1535411538"/>
      </p:ext>
    </p:extLst>
  </p:cSld>
</p:sld>
</file>

<file path=ppt/slides/slide4.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7" name="OVERVIEW">
            <a:extLst xmlns:a="http://schemas.openxmlformats.org/drawingml/2006/main">
              <a:ext uri="{FF2B5EF4-FFF2-40B4-BE49-F238E27FC236}">
                <a16:creationId xmlns:a16="http://schemas.microsoft.com/office/drawing/2014/main" id="{7C8C59B9-3CD8-415B-A2E6-ED98E7BCEF45}"/>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OVERVIEW</a:t>
            </a:r>
          </a:p>
        </p:txBody>
      </p:sp>
      <p:sp>
        <p:nvSpPr>
          <p:cNvPr id="2" name="A request becomes an OS operation">
            <a:extLst xmlns:a="http://schemas.openxmlformats.org/drawingml/2006/main">
              <a:ext uri="{FF2B5EF4-FFF2-40B4-BE49-F238E27FC236}">
                <a16:creationId xmlns:a16="http://schemas.microsoft.com/office/drawing/2014/main" id="{84212E80-E8A2-45CB-B366-120C97ECB87A}"/>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 request becomes an OS operation</a:t>
            </a:r>
          </a:p>
        </p:txBody>
      </p:sp>
      <p:sp>
        <p:nvSpPr>
          <p:cNvPr id="3" name="AGENTIC OS  /  MVP TECHNICAL WALKTHROUGH">
            <a:extLst xmlns:a="http://schemas.openxmlformats.org/drawingml/2006/main">
              <a:ext uri="{FF2B5EF4-FFF2-40B4-BE49-F238E27FC236}">
                <a16:creationId xmlns:a16="http://schemas.microsoft.com/office/drawing/2014/main" id="{914D28EA-9BB6-47C7-BBF5-046DD5503AE4}"/>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04">
            <a:extLst xmlns:a="http://schemas.openxmlformats.org/drawingml/2006/main">
              <a:ext uri="{FF2B5EF4-FFF2-40B4-BE49-F238E27FC236}">
                <a16:creationId xmlns:a16="http://schemas.microsoft.com/office/drawing/2014/main" id="{A3A7C155-721A-4099-B3CB-793E9EB3B801}"/>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8A570D4B-A608-4288-96CE-5CDB927570AD}"/>
              </a:ext>
            </a:extLst>
          </p:cNvPr>
          <p:cNvSpPr>
            <a:spLocks xmlns:a="http://schemas.openxmlformats.org/drawingml/2006/main" noGrp="1"/>
          </p:cNvSpPr>
          <p:nvPr/>
        </p:nvSpPr>
        <p:spPr>
          <a:xfrm xmlns:a="http://schemas.openxmlformats.org/drawingml/2006/main">
            <a:off x="609600"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User request">
            <a:extLst xmlns:a="http://schemas.openxmlformats.org/drawingml/2006/main">
              <a:ext uri="{FF2B5EF4-FFF2-40B4-BE49-F238E27FC236}">
                <a16:creationId xmlns:a16="http://schemas.microsoft.com/office/drawing/2014/main" id="{40682A99-7615-4E53-B44F-071C037255F2}"/>
              </a:ext>
            </a:extLst>
          </p:cNvPr>
          <p:cNvSpPr>
            <a:spLocks xmlns:a="http://schemas.openxmlformats.org/drawingml/2006/main" noGrp="1"/>
          </p:cNvSpPr>
          <p:nvPr/>
        </p:nvSpPr>
        <p:spPr>
          <a:xfrm xmlns:a="http://schemas.openxmlformats.org/drawingml/2006/main">
            <a:off x="752475"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User request</a:t>
            </a:r>
          </a:p>
        </p:txBody>
      </p:sp>
      <p:cxnSp>
        <p:nvCxnSpPr>
          <p:cNvPr id="7" name="">
            <a:extLst xmlns:a="http://schemas.openxmlformats.org/drawingml/2006/main">
              <a:ext uri="{FF2B5EF4-FFF2-40B4-BE49-F238E27FC236}">
                <a16:creationId xmlns:a16="http://schemas.microsoft.com/office/drawing/2014/main" id="{2D8AB1BA-C144-4EE6-AA2D-E45750ACC35E}"/>
              </a:ext>
            </a:extLst>
          </p:cNvPr>
          <p:cNvCxnSpPr/>
          <p:nvPr/>
        </p:nvCxnSpPr>
        <p:spPr>
          <a:xfrm xmlns:a="http://schemas.openxmlformats.org/drawingml/2006/main" flipH="0" flipV="0">
            <a:off x="3081338"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8" name="">
            <a:extLst xmlns:a="http://schemas.openxmlformats.org/drawingml/2006/main">
              <a:ext uri="{FF2B5EF4-FFF2-40B4-BE49-F238E27FC236}">
                <a16:creationId xmlns:a16="http://schemas.microsoft.com/office/drawing/2014/main" id="{D6DD6F9F-B14D-40C9-BEC0-DB0240EE9714}"/>
              </a:ext>
            </a:extLst>
          </p:cNvPr>
          <p:cNvSpPr>
            <a:spLocks xmlns:a="http://schemas.openxmlformats.org/drawingml/2006/main" noGrp="1"/>
          </p:cNvSpPr>
          <p:nvPr/>
        </p:nvSpPr>
        <p:spPr>
          <a:xfrm xmlns:a="http://schemas.openxmlformats.org/drawingml/2006/main">
            <a:off x="3443288"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Agent decision">
            <a:extLst xmlns:a="http://schemas.openxmlformats.org/drawingml/2006/main">
              <a:ext uri="{FF2B5EF4-FFF2-40B4-BE49-F238E27FC236}">
                <a16:creationId xmlns:a16="http://schemas.microsoft.com/office/drawing/2014/main" id="{944C8615-FF03-447E-839E-32BA6744EC84}"/>
              </a:ext>
            </a:extLst>
          </p:cNvPr>
          <p:cNvSpPr>
            <a:spLocks xmlns:a="http://schemas.openxmlformats.org/drawingml/2006/main" noGrp="1"/>
          </p:cNvSpPr>
          <p:nvPr/>
        </p:nvSpPr>
        <p:spPr>
          <a:xfrm xmlns:a="http://schemas.openxmlformats.org/drawingml/2006/main">
            <a:off x="3586163"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Agent decision</a:t>
            </a:r>
          </a:p>
        </p:txBody>
      </p:sp>
      <p:cxnSp>
        <p:nvCxnSpPr>
          <p:cNvPr id="10" name="">
            <a:extLst xmlns:a="http://schemas.openxmlformats.org/drawingml/2006/main">
              <a:ext uri="{FF2B5EF4-FFF2-40B4-BE49-F238E27FC236}">
                <a16:creationId xmlns:a16="http://schemas.microsoft.com/office/drawing/2014/main" id="{EA21716D-B8EE-4670-8889-E62FACB9EF57}"/>
              </a:ext>
            </a:extLst>
          </p:cNvPr>
          <p:cNvCxnSpPr/>
          <p:nvPr/>
        </p:nvCxnSpPr>
        <p:spPr>
          <a:xfrm xmlns:a="http://schemas.openxmlformats.org/drawingml/2006/main" flipH="0" flipV="0">
            <a:off x="5915025"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1" name="">
            <a:extLst xmlns:a="http://schemas.openxmlformats.org/drawingml/2006/main">
              <a:ext uri="{FF2B5EF4-FFF2-40B4-BE49-F238E27FC236}">
                <a16:creationId xmlns:a16="http://schemas.microsoft.com/office/drawing/2014/main" id="{AF98AD01-5A5C-4A2D-A04A-1DF9C576A976}"/>
              </a:ext>
            </a:extLst>
          </p:cNvPr>
          <p:cNvSpPr>
            <a:spLocks xmlns:a="http://schemas.openxmlformats.org/drawingml/2006/main" noGrp="1"/>
          </p:cNvSpPr>
          <p:nvPr/>
        </p:nvSpPr>
        <p:spPr>
          <a:xfrm xmlns:a="http://schemas.openxmlformats.org/drawingml/2006/main">
            <a:off x="6276975"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Validated tool">
            <a:extLst xmlns:a="http://schemas.openxmlformats.org/drawingml/2006/main">
              <a:ext uri="{FF2B5EF4-FFF2-40B4-BE49-F238E27FC236}">
                <a16:creationId xmlns:a16="http://schemas.microsoft.com/office/drawing/2014/main" id="{96321CC1-3B1D-4009-9C90-72CA011837B3}"/>
              </a:ext>
            </a:extLst>
          </p:cNvPr>
          <p:cNvSpPr>
            <a:spLocks xmlns:a="http://schemas.openxmlformats.org/drawingml/2006/main" noGrp="1"/>
          </p:cNvSpPr>
          <p:nvPr/>
        </p:nvSpPr>
        <p:spPr>
          <a:xfrm xmlns:a="http://schemas.openxmlformats.org/drawingml/2006/main">
            <a:off x="6419850"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Validated tool</a:t>
            </a:r>
          </a:p>
        </p:txBody>
      </p:sp>
      <p:cxnSp>
        <p:nvCxnSpPr>
          <p:cNvPr id="13" name="">
            <a:extLst xmlns:a="http://schemas.openxmlformats.org/drawingml/2006/main">
              <a:ext uri="{FF2B5EF4-FFF2-40B4-BE49-F238E27FC236}">
                <a16:creationId xmlns:a16="http://schemas.microsoft.com/office/drawing/2014/main" id="{89C0A425-B8F4-47B0-89EF-9F9A18459BB8}"/>
              </a:ext>
            </a:extLst>
          </p:cNvPr>
          <p:cNvCxnSpPr/>
          <p:nvPr/>
        </p:nvCxnSpPr>
        <p:spPr>
          <a:xfrm xmlns:a="http://schemas.openxmlformats.org/drawingml/2006/main" flipH="0" flipV="0">
            <a:off x="8748713"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C499A6DF-FD43-44FE-86DE-83287081C070}"/>
              </a:ext>
            </a:extLst>
          </p:cNvPr>
          <p:cNvSpPr>
            <a:spLocks xmlns:a="http://schemas.openxmlformats.org/drawingml/2006/main" noGrp="1"/>
          </p:cNvSpPr>
          <p:nvPr/>
        </p:nvSpPr>
        <p:spPr>
          <a:xfrm xmlns:a="http://schemas.openxmlformats.org/drawingml/2006/main">
            <a:off x="9110663"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RAM filesystem">
            <a:extLst xmlns:a="http://schemas.openxmlformats.org/drawingml/2006/main">
              <a:ext uri="{FF2B5EF4-FFF2-40B4-BE49-F238E27FC236}">
                <a16:creationId xmlns:a16="http://schemas.microsoft.com/office/drawing/2014/main" id="{4836C09C-F1E7-4AC9-89E8-170C0646177D}"/>
              </a:ext>
            </a:extLst>
          </p:cNvPr>
          <p:cNvSpPr>
            <a:spLocks xmlns:a="http://schemas.openxmlformats.org/drawingml/2006/main" noGrp="1"/>
          </p:cNvSpPr>
          <p:nvPr/>
        </p:nvSpPr>
        <p:spPr>
          <a:xfrm xmlns:a="http://schemas.openxmlformats.org/drawingml/2006/main">
            <a:off x="9253538"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RAM filesystem</a:t>
            </a:r>
          </a:p>
        </p:txBody>
      </p:sp>
      <p:sp>
        <p:nvSpPr>
          <p:cNvPr id="16" name="Example: “Create /notes/demo.txt with a shor">
            <a:extLst xmlns:a="http://schemas.openxmlformats.org/drawingml/2006/main">
              <a:ext uri="{FF2B5EF4-FFF2-40B4-BE49-F238E27FC236}">
                <a16:creationId xmlns:a16="http://schemas.microsoft.com/office/drawing/2014/main" id="{4713B996-AB1E-4EC4-B7EB-A2FC408E7DD9}"/>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Example: “Create /notes/demo.txt with a short project summary.”</a:t>
            </a:r>
          </a:p>
        </p:txBody>
      </p:sp>
    </p:spTree>
    <p:extLst>
      <p:ext uri="{BB962C8B-B14F-4D97-AF65-F5344CB8AC3E}">
        <p14:creationId xmlns:p14="http://schemas.microsoft.com/office/powerpoint/2010/main" val="719563183"/>
      </p:ext>
    </p:extLst>
  </p:cSld>
</p:sld>
</file>

<file path=ppt/slides/slide5.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21" name="FOUNDATIONS">
            <a:extLst xmlns:a="http://schemas.openxmlformats.org/drawingml/2006/main">
              <a:ext uri="{FF2B5EF4-FFF2-40B4-BE49-F238E27FC236}">
                <a16:creationId xmlns:a16="http://schemas.microsoft.com/office/drawing/2014/main" id="{FD176AF4-7426-4727-A5D5-F449A8A8E32A}"/>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FOUNDATIONS</a:t>
            </a:r>
          </a:p>
        </p:txBody>
      </p:sp>
      <p:sp>
        <p:nvSpPr>
          <p:cNvPr id="2" name="System architecture">
            <a:extLst xmlns:a="http://schemas.openxmlformats.org/drawingml/2006/main">
              <a:ext uri="{FF2B5EF4-FFF2-40B4-BE49-F238E27FC236}">
                <a16:creationId xmlns:a16="http://schemas.microsoft.com/office/drawing/2014/main" id="{F108B84C-FC44-4D26-9322-6A708BBAB407}"/>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System architecture</a:t>
            </a:r>
          </a:p>
        </p:txBody>
      </p:sp>
      <p:sp>
        <p:nvSpPr>
          <p:cNvPr id="3" name="AGENTIC OS  /  MVP TECHNICAL WALKTHROUGH">
            <a:extLst xmlns:a="http://schemas.openxmlformats.org/drawingml/2006/main">
              <a:ext uri="{FF2B5EF4-FFF2-40B4-BE49-F238E27FC236}">
                <a16:creationId xmlns:a16="http://schemas.microsoft.com/office/drawing/2014/main" id="{CB6AEDF9-1EAC-4117-B0DB-8EFA47E6A2F9}"/>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05">
            <a:extLst xmlns:a="http://schemas.openxmlformats.org/drawingml/2006/main">
              <a:ext uri="{FF2B5EF4-FFF2-40B4-BE49-F238E27FC236}">
                <a16:creationId xmlns:a16="http://schemas.microsoft.com/office/drawing/2014/main" id="{D80BEE4B-012E-4D9E-9F1B-62B13BED5F57}"/>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FE044E62-6F6E-481F-A0E7-C13CC224BB00}"/>
              </a:ext>
            </a:extLst>
          </p:cNvPr>
          <p:cNvSpPr>
            <a:spLocks xmlns:a="http://schemas.openxmlformats.org/drawingml/2006/main" noGrp="1"/>
          </p:cNvSpPr>
          <p:nvPr/>
        </p:nvSpPr>
        <p:spPr>
          <a:xfrm xmlns:a="http://schemas.openxmlformats.org/drawingml/2006/main">
            <a:off x="609600" y="2190750"/>
            <a:ext cx="3238500" cy="8572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Shell and user request">
            <a:extLst xmlns:a="http://schemas.openxmlformats.org/drawingml/2006/main">
              <a:ext uri="{FF2B5EF4-FFF2-40B4-BE49-F238E27FC236}">
                <a16:creationId xmlns:a16="http://schemas.microsoft.com/office/drawing/2014/main" id="{B9091F3B-1979-4A97-A448-F83E1ACD5533}"/>
              </a:ext>
            </a:extLst>
          </p:cNvPr>
          <p:cNvSpPr>
            <a:spLocks xmlns:a="http://schemas.openxmlformats.org/drawingml/2006/main" noGrp="1"/>
          </p:cNvSpPr>
          <p:nvPr/>
        </p:nvSpPr>
        <p:spPr>
          <a:xfrm xmlns:a="http://schemas.openxmlformats.org/drawingml/2006/main">
            <a:off x="752475" y="2276475"/>
            <a:ext cx="295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Shell and user request</a:t>
            </a:r>
          </a:p>
        </p:txBody>
      </p:sp>
      <p:sp>
        <p:nvSpPr>
          <p:cNvPr id="7" name="">
            <a:extLst xmlns:a="http://schemas.openxmlformats.org/drawingml/2006/main">
              <a:ext uri="{FF2B5EF4-FFF2-40B4-BE49-F238E27FC236}">
                <a16:creationId xmlns:a16="http://schemas.microsoft.com/office/drawing/2014/main" id="{71498282-9879-4C4F-ABCE-596AFAA6D0DB}"/>
              </a:ext>
            </a:extLst>
          </p:cNvPr>
          <p:cNvSpPr>
            <a:spLocks xmlns:a="http://schemas.openxmlformats.org/drawingml/2006/main" noGrp="1"/>
          </p:cNvSpPr>
          <p:nvPr/>
        </p:nvSpPr>
        <p:spPr>
          <a:xfrm xmlns:a="http://schemas.openxmlformats.org/drawingml/2006/main">
            <a:off x="4476750" y="2190750"/>
            <a:ext cx="3238500" cy="8572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8" name="Main OS agent">
            <a:extLst xmlns:a="http://schemas.openxmlformats.org/drawingml/2006/main">
              <a:ext uri="{FF2B5EF4-FFF2-40B4-BE49-F238E27FC236}">
                <a16:creationId xmlns:a16="http://schemas.microsoft.com/office/drawing/2014/main" id="{532F7C7C-EBA9-4208-8E31-321A2D52C040}"/>
              </a:ext>
            </a:extLst>
          </p:cNvPr>
          <p:cNvSpPr>
            <a:spLocks xmlns:a="http://schemas.openxmlformats.org/drawingml/2006/main" noGrp="1"/>
          </p:cNvSpPr>
          <p:nvPr/>
        </p:nvSpPr>
        <p:spPr>
          <a:xfrm xmlns:a="http://schemas.openxmlformats.org/drawingml/2006/main">
            <a:off x="4619625" y="2276475"/>
            <a:ext cx="295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Main OS agent</a:t>
            </a:r>
          </a:p>
        </p:txBody>
      </p:sp>
      <p:sp>
        <p:nvSpPr>
          <p:cNvPr id="9" name="">
            <a:extLst xmlns:a="http://schemas.openxmlformats.org/drawingml/2006/main">
              <a:ext uri="{FF2B5EF4-FFF2-40B4-BE49-F238E27FC236}">
                <a16:creationId xmlns:a16="http://schemas.microsoft.com/office/drawing/2014/main" id="{2C9B3F48-BB1D-46EC-9D0D-2B17CA6C216D}"/>
              </a:ext>
            </a:extLst>
          </p:cNvPr>
          <p:cNvSpPr>
            <a:spLocks xmlns:a="http://schemas.openxmlformats.org/drawingml/2006/main" noGrp="1"/>
          </p:cNvSpPr>
          <p:nvPr/>
        </p:nvSpPr>
        <p:spPr>
          <a:xfrm xmlns:a="http://schemas.openxmlformats.org/drawingml/2006/main">
            <a:off x="8343900" y="2190750"/>
            <a:ext cx="3238500" cy="8572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0" name="Host Gemini gateway">
            <a:extLst xmlns:a="http://schemas.openxmlformats.org/drawingml/2006/main">
              <a:ext uri="{FF2B5EF4-FFF2-40B4-BE49-F238E27FC236}">
                <a16:creationId xmlns:a16="http://schemas.microsoft.com/office/drawing/2014/main" id="{AB3130AC-BE03-4764-8E14-9A1067077D1B}"/>
              </a:ext>
            </a:extLst>
          </p:cNvPr>
          <p:cNvSpPr>
            <a:spLocks xmlns:a="http://schemas.openxmlformats.org/drawingml/2006/main" noGrp="1"/>
          </p:cNvSpPr>
          <p:nvPr/>
        </p:nvSpPr>
        <p:spPr>
          <a:xfrm xmlns:a="http://schemas.openxmlformats.org/drawingml/2006/main">
            <a:off x="8486775" y="2276475"/>
            <a:ext cx="295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Host Gemini gateway</a:t>
            </a:r>
          </a:p>
        </p:txBody>
      </p:sp>
      <p:cxnSp>
        <p:nvCxnSpPr>
          <p:cNvPr id="11" name="">
            <a:extLst xmlns:a="http://schemas.openxmlformats.org/drawingml/2006/main">
              <a:ext uri="{FF2B5EF4-FFF2-40B4-BE49-F238E27FC236}">
                <a16:creationId xmlns:a16="http://schemas.microsoft.com/office/drawing/2014/main" id="{B1A8BAA2-2E39-4B40-94FF-2BFAE69ECE4C}"/>
              </a:ext>
            </a:extLst>
          </p:cNvPr>
          <p:cNvCxnSpPr/>
          <p:nvPr/>
        </p:nvCxnSpPr>
        <p:spPr>
          <a:xfrm xmlns:a="http://schemas.openxmlformats.org/drawingml/2006/main" flipH="0" flipV="0">
            <a:off x="3848100" y="2619375"/>
            <a:ext cx="55245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F8E248BC-4FC9-4ED6-88D8-50DC3536DBEC}"/>
              </a:ext>
            </a:extLst>
          </p:cNvPr>
          <p:cNvCxnSpPr/>
          <p:nvPr/>
        </p:nvCxnSpPr>
        <p:spPr>
          <a:xfrm xmlns:a="http://schemas.openxmlformats.org/drawingml/2006/main" flipH="0" flipV="0">
            <a:off x="7715250" y="2619375"/>
            <a:ext cx="55245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3" name="">
            <a:extLst xmlns:a="http://schemas.openxmlformats.org/drawingml/2006/main">
              <a:ext uri="{FF2B5EF4-FFF2-40B4-BE49-F238E27FC236}">
                <a16:creationId xmlns:a16="http://schemas.microsoft.com/office/drawing/2014/main" id="{AABCCF7D-3CD5-45BD-ADEF-3C910573DA3E}"/>
              </a:ext>
            </a:extLst>
          </p:cNvPr>
          <p:cNvSpPr>
            <a:spLocks xmlns:a="http://schemas.openxmlformats.org/drawingml/2006/main" noGrp="1"/>
          </p:cNvSpPr>
          <p:nvPr/>
        </p:nvSpPr>
        <p:spPr>
          <a:xfrm xmlns:a="http://schemas.openxmlformats.org/drawingml/2006/main">
            <a:off x="4476750" y="3714750"/>
            <a:ext cx="3238500" cy="809625"/>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4" name="RAMFS tool executor">
            <a:extLst xmlns:a="http://schemas.openxmlformats.org/drawingml/2006/main">
              <a:ext uri="{FF2B5EF4-FFF2-40B4-BE49-F238E27FC236}">
                <a16:creationId xmlns:a16="http://schemas.microsoft.com/office/drawing/2014/main" id="{114B90B3-46A3-4A5D-AD40-9414E1D9CEB8}"/>
              </a:ext>
            </a:extLst>
          </p:cNvPr>
          <p:cNvSpPr>
            <a:spLocks xmlns:a="http://schemas.openxmlformats.org/drawingml/2006/main" noGrp="1"/>
          </p:cNvSpPr>
          <p:nvPr/>
        </p:nvSpPr>
        <p:spPr>
          <a:xfrm xmlns:a="http://schemas.openxmlformats.org/drawingml/2006/main">
            <a:off x="4619625" y="3800475"/>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RAMFS tool executor</a:t>
            </a:r>
          </a:p>
        </p:txBody>
      </p:sp>
      <p:cxnSp>
        <p:nvCxnSpPr>
          <p:cNvPr id="15" name="">
            <a:extLst xmlns:a="http://schemas.openxmlformats.org/drawingml/2006/main">
              <a:ext uri="{FF2B5EF4-FFF2-40B4-BE49-F238E27FC236}">
                <a16:creationId xmlns:a16="http://schemas.microsoft.com/office/drawing/2014/main" id="{38416DB2-DFD1-4815-9879-CF6E51D53AD6}"/>
              </a:ext>
            </a:extLst>
          </p:cNvPr>
          <p:cNvCxnSpPr/>
          <p:nvPr/>
        </p:nvCxnSpPr>
        <p:spPr>
          <a:xfrm xmlns:a="http://schemas.openxmlformats.org/drawingml/2006/main" flipH="0" flipV="0">
            <a:off x="6096000" y="3048000"/>
            <a:ext cx="0" cy="59055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6" name="">
            <a:extLst xmlns:a="http://schemas.openxmlformats.org/drawingml/2006/main">
              <a:ext uri="{FF2B5EF4-FFF2-40B4-BE49-F238E27FC236}">
                <a16:creationId xmlns:a16="http://schemas.microsoft.com/office/drawing/2014/main" id="{EC540FE3-7772-40EA-859D-CCB55165C704}"/>
              </a:ext>
            </a:extLst>
          </p:cNvPr>
          <p:cNvSpPr>
            <a:spLocks xmlns:a="http://schemas.openxmlformats.org/drawingml/2006/main" noGrp="1"/>
          </p:cNvSpPr>
          <p:nvPr/>
        </p:nvSpPr>
        <p:spPr>
          <a:xfrm xmlns:a="http://schemas.openxmlformats.org/drawingml/2006/main">
            <a:off x="609600" y="5029200"/>
            <a:ext cx="10972800" cy="5715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7" name="C kernel + x86 assembly">
            <a:extLst xmlns:a="http://schemas.openxmlformats.org/drawingml/2006/main">
              <a:ext uri="{FF2B5EF4-FFF2-40B4-BE49-F238E27FC236}">
                <a16:creationId xmlns:a16="http://schemas.microsoft.com/office/drawing/2014/main" id="{955026DF-63BA-492D-8C94-22CBF01B6AB1}"/>
              </a:ext>
            </a:extLst>
          </p:cNvPr>
          <p:cNvSpPr>
            <a:spLocks xmlns:a="http://schemas.openxmlformats.org/drawingml/2006/main" noGrp="1"/>
          </p:cNvSpPr>
          <p:nvPr/>
        </p:nvSpPr>
        <p:spPr>
          <a:xfrm xmlns:a="http://schemas.openxmlformats.org/drawingml/2006/main">
            <a:off x="752475" y="5114925"/>
            <a:ext cx="10687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C kernel + x86 assembly</a:t>
            </a:r>
          </a:p>
        </p:txBody>
      </p:sp>
      <p:cxnSp>
        <p:nvCxnSpPr>
          <p:cNvPr id="18" name="">
            <a:extLst xmlns:a="http://schemas.openxmlformats.org/drawingml/2006/main">
              <a:ext uri="{FF2B5EF4-FFF2-40B4-BE49-F238E27FC236}">
                <a16:creationId xmlns:a16="http://schemas.microsoft.com/office/drawing/2014/main" id="{FC50EAE9-1CB7-4565-90D8-8D9DFADB1D83}"/>
              </a:ext>
            </a:extLst>
          </p:cNvPr>
          <p:cNvCxnSpPr/>
          <p:nvPr/>
        </p:nvCxnSpPr>
        <p:spPr>
          <a:xfrm xmlns:a="http://schemas.openxmlformats.org/drawingml/2006/main" flipH="0" flipV="0">
            <a:off x="6096000" y="4524375"/>
            <a:ext cx="0" cy="428625"/>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9" name="Guest">
            <a:extLst xmlns:a="http://schemas.openxmlformats.org/drawingml/2006/main">
              <a:ext uri="{FF2B5EF4-FFF2-40B4-BE49-F238E27FC236}">
                <a16:creationId xmlns:a16="http://schemas.microsoft.com/office/drawing/2014/main" id="{D0D9DBB5-CF87-432D-B2B3-3CA6D2795365}"/>
              </a:ext>
            </a:extLst>
          </p:cNvPr>
          <p:cNvSpPr>
            <a:spLocks xmlns:a="http://schemas.openxmlformats.org/drawingml/2006/main" noGrp="1"/>
          </p:cNvSpPr>
          <p:nvPr/>
        </p:nvSpPr>
        <p:spPr>
          <a:xfrm xmlns:a="http://schemas.openxmlformats.org/drawingml/2006/main">
            <a:off x="609600" y="3448050"/>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1">
                <a:solidFill>
                  <a:srgbClr val="BE98F6"/>
                </a:solidFill>
                <a:latin typeface="Arial"/>
                <a:ea typeface="Arial"/>
                <a:cs typeface="Arial"/>
              </a:defRPr>
            </a:defPPr>
          </a:lstStyle>
          <a:p xmlns:a="http://schemas.openxmlformats.org/drawingml/2006/main">
            <a:pPr algn="l">
              <a:defRPr sz="2025" b="1">
                <a:solidFill>
                  <a:srgbClr val="BE98F6"/>
                </a:solidFill>
                <a:latin typeface="Arial"/>
                <a:ea typeface="Arial"/>
                <a:cs typeface="Arial"/>
              </a:defRPr>
            </a:pPr>
            <a:r>
              <a:rPr sz="2025" b="1">
                <a:solidFill>
                  <a:srgbClr val="BE98F6"/>
                </a:solidFill>
                <a:latin typeface="Arial"/>
                <a:ea typeface="Arial"/>
                <a:cs typeface="Arial"/>
              </a:rPr>
              <a:t>Guest</a:t>
            </a:r>
          </a:p>
        </p:txBody>
      </p:sp>
      <p:sp>
        <p:nvSpPr>
          <p:cNvPr id="20" name="Host owns HTTPS&#10;and model credentials">
            <a:extLst xmlns:a="http://schemas.openxmlformats.org/drawingml/2006/main">
              <a:ext uri="{FF2B5EF4-FFF2-40B4-BE49-F238E27FC236}">
                <a16:creationId xmlns:a16="http://schemas.microsoft.com/office/drawing/2014/main" id="{C22F53F0-6EE8-4055-ACCC-22ED42C0EECA}"/>
              </a:ext>
            </a:extLst>
          </p:cNvPr>
          <p:cNvSpPr>
            <a:spLocks xmlns:a="http://schemas.openxmlformats.org/drawingml/2006/main" noGrp="1"/>
          </p:cNvSpPr>
          <p:nvPr/>
        </p:nvSpPr>
        <p:spPr>
          <a:xfrm xmlns:a="http://schemas.openxmlformats.org/drawingml/2006/main">
            <a:off x="8496300" y="3457575"/>
            <a:ext cx="3028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D5C9E6"/>
                </a:solidFill>
                <a:latin typeface="Arial"/>
                <a:ea typeface="Arial"/>
                <a:cs typeface="Arial"/>
              </a:defRPr>
            </a:defPPr>
          </a:lstStyle>
          <a:p xmlns:a="http://schemas.openxmlformats.org/drawingml/2006/main">
            <a:pPr algn="l">
              <a:defRPr sz="1875" b="0">
                <a:solidFill>
                  <a:srgbClr val="D5C9E6"/>
                </a:solidFill>
                <a:latin typeface="Arial"/>
                <a:ea typeface="Arial"/>
                <a:cs typeface="Arial"/>
              </a:defRPr>
            </a:pPr>
            <a:r>
              <a:rPr sz="1875" b="0">
                <a:solidFill>
                  <a:srgbClr val="D5C9E6"/>
                </a:solidFill>
                <a:latin typeface="Arial"/>
                <a:ea typeface="Arial"/>
                <a:cs typeface="Arial"/>
              </a:rPr>
              <a:t>Host owns HTTPS</a:t>
            </a:r>
          </a:p>
          <a:p xmlns:a="http://schemas.openxmlformats.org/drawingml/2006/main">
            <a:pPr algn="l">
              <a:defRPr sz="1875" b="0">
                <a:solidFill>
                  <a:srgbClr val="D5C9E6"/>
                </a:solidFill>
                <a:latin typeface="Arial"/>
                <a:ea typeface="Arial"/>
                <a:cs typeface="Arial"/>
              </a:defRPr>
            </a:pPr>
            <a:r>
              <a:rPr sz="1875" b="0">
                <a:solidFill>
                  <a:srgbClr val="D5C9E6"/>
                </a:solidFill>
                <a:latin typeface="Arial"/>
                <a:ea typeface="Arial"/>
                <a:cs typeface="Arial"/>
              </a:rPr>
              <a:t>and model credentials</a:t>
            </a:r>
          </a:p>
        </p:txBody>
      </p:sp>
    </p:spTree>
    <p:extLst>
      <p:ext uri="{BB962C8B-B14F-4D97-AF65-F5344CB8AC3E}">
        <p14:creationId xmlns:p14="http://schemas.microsoft.com/office/powerpoint/2010/main" val="187778182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OUNDATIONS">
            <a:extLst xmlns:a="http://schemas.openxmlformats.org/drawingml/2006/main">
              <a:ext uri="{FF2B5EF4-FFF2-40B4-BE49-F238E27FC236}">
                <a16:creationId xmlns:a16="http://schemas.microsoft.com/office/drawing/2014/main" id="{84570E34-80E4-423B-9CB2-1E64F68A43AD}"/>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7D43D5"/>
                </a:solidFill>
                <a:latin typeface="Arial"/>
                <a:ea typeface="Arial"/>
                <a:cs typeface="Arial"/>
              </a:defRPr>
            </a:defPPr>
          </a:lstStyle>
          <a:p xmlns:a="http://schemas.openxmlformats.org/drawingml/2006/main">
            <a:pPr algn="l">
              <a:defRPr sz="1200" b="1">
                <a:solidFill>
                  <a:srgbClr val="7D43D5"/>
                </a:solidFill>
                <a:latin typeface="Arial"/>
                <a:ea typeface="Arial"/>
                <a:cs typeface="Arial"/>
              </a:defRPr>
            </a:pPr>
            <a:r>
              <a:rPr sz="1200" b="1">
                <a:solidFill>
                  <a:srgbClr val="7D43D5"/>
                </a:solidFill>
                <a:latin typeface="Arial"/>
                <a:ea typeface="Arial"/>
                <a:cs typeface="Arial"/>
              </a:rPr>
              <a:t>FOUNDATIONS</a:t>
            </a:r>
          </a:p>
        </p:txBody>
      </p:sp>
      <p:sp>
        <p:nvSpPr>
          <p:cNvPr id="2" name="Repository map">
            <a:extLst xmlns:a="http://schemas.openxmlformats.org/drawingml/2006/main">
              <a:ext uri="{FF2B5EF4-FFF2-40B4-BE49-F238E27FC236}">
                <a16:creationId xmlns:a16="http://schemas.microsoft.com/office/drawing/2014/main" id="{F60661A8-2B43-4006-B69E-4555AFD3BC8F}"/>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51139"/>
                </a:solidFill>
                <a:latin typeface="Arial"/>
                <a:ea typeface="Arial"/>
                <a:cs typeface="Arial"/>
              </a:defRPr>
            </a:defPPr>
          </a:lstStyle>
          <a:p xmlns:a="http://schemas.openxmlformats.org/drawingml/2006/main">
            <a:pPr algn="l">
              <a:defRPr sz="3300" b="1">
                <a:solidFill>
                  <a:srgbClr val="251139"/>
                </a:solidFill>
                <a:latin typeface="Arial"/>
                <a:ea typeface="Arial"/>
                <a:cs typeface="Arial"/>
              </a:defRPr>
            </a:pPr>
            <a:r>
              <a:rPr sz="3300" b="1">
                <a:solidFill>
                  <a:srgbClr val="251139"/>
                </a:solidFill>
                <a:latin typeface="Arial"/>
                <a:ea typeface="Arial"/>
                <a:cs typeface="Arial"/>
              </a:rPr>
              <a:t>Repository map</a:t>
            </a:r>
          </a:p>
        </p:txBody>
      </p:sp>
      <p:sp>
        <p:nvSpPr>
          <p:cNvPr id="3" name="AGENTIC OS  /  MVP TECHNICAL WALKTHROUGH">
            <a:extLst xmlns:a="http://schemas.openxmlformats.org/drawingml/2006/main">
              <a:ext uri="{FF2B5EF4-FFF2-40B4-BE49-F238E27FC236}">
                <a16:creationId xmlns:a16="http://schemas.microsoft.com/office/drawing/2014/main" id="{F2C4B6C6-BA55-4227-93E1-AFFC45F37E5C}"/>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7D43D5"/>
                </a:solidFill>
                <a:latin typeface="Arial"/>
                <a:ea typeface="Arial"/>
                <a:cs typeface="Arial"/>
              </a:defRPr>
            </a:defPPr>
          </a:lstStyle>
          <a:p xmlns:a="http://schemas.openxmlformats.org/drawingml/2006/main">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06">
            <a:extLst xmlns:a="http://schemas.openxmlformats.org/drawingml/2006/main">
              <a:ext uri="{FF2B5EF4-FFF2-40B4-BE49-F238E27FC236}">
                <a16:creationId xmlns:a16="http://schemas.microsoft.com/office/drawing/2014/main" id="{1090AA46-7F96-447A-89EA-D6789D580F8C}"/>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7D43D5"/>
                </a:solidFill>
                <a:latin typeface="Arial"/>
                <a:ea typeface="Arial"/>
                <a:cs typeface="Arial"/>
              </a:defRPr>
            </a:defPPr>
          </a:lstStyle>
          <a:p xmlns:a="http://schemas.openxmlformats.org/drawingml/2006/main">
            <a:pPr algn="r">
              <a:defRPr sz="1275" b="0">
                <a:solidFill>
                  <a:srgbClr val="7D43D5"/>
                </a:solidFill>
                <a:latin typeface="Arial"/>
                <a:ea typeface="Arial"/>
                <a:cs typeface="Arial"/>
              </a:defRPr>
            </a:pPr>
            <a:r>
              <a:rPr sz="1275" b="0">
                <a:solidFill>
                  <a:srgbClr val="7D43D5"/>
                </a:solidFill>
                <a:latin typeface="Arial"/>
                <a:ea typeface="Arial"/>
                <a:cs typeface="Arial"/>
              </a:rPr>
              <a:t>06</a:t>
            </a:r>
          </a:p>
        </p:txBody>
      </p:sp>
      <p:sp>
        <p:nvSpPr>
          <p:cNvPr id="5" name="Boot and build">
            <a:extLst xmlns:a="http://schemas.openxmlformats.org/drawingml/2006/main">
              <a:ext uri="{FF2B5EF4-FFF2-40B4-BE49-F238E27FC236}">
                <a16:creationId xmlns:a16="http://schemas.microsoft.com/office/drawing/2014/main" id="{65EC09AD-B0BA-454A-80BF-77A270C6565D}"/>
              </a:ext>
            </a:extLst>
          </p:cNvPr>
          <p:cNvSpPr>
            <a:spLocks xmlns:a="http://schemas.openxmlformats.org/drawingml/2006/main" noGrp="1"/>
          </p:cNvSpPr>
          <p:nvPr/>
        </p:nvSpPr>
        <p:spPr>
          <a:xfrm xmlns:a="http://schemas.openxmlformats.org/drawingml/2006/main">
            <a:off x="609600" y="19907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Boot and build</a:t>
            </a:r>
          </a:p>
        </p:txBody>
      </p:sp>
      <p:sp>
        <p:nvSpPr>
          <p:cNvPr id="6" name="boot.asm, kernel/entry.asm, build.sh, linker">
            <a:extLst xmlns:a="http://schemas.openxmlformats.org/drawingml/2006/main">
              <a:ext uri="{FF2B5EF4-FFF2-40B4-BE49-F238E27FC236}">
                <a16:creationId xmlns:a16="http://schemas.microsoft.com/office/drawing/2014/main" id="{7302EF7A-AE88-4D6C-A3F4-C4BA55901849}"/>
              </a:ext>
            </a:extLst>
          </p:cNvPr>
          <p:cNvSpPr>
            <a:spLocks xmlns:a="http://schemas.openxmlformats.org/drawingml/2006/main" noGrp="1"/>
          </p:cNvSpPr>
          <p:nvPr/>
        </p:nvSpPr>
        <p:spPr>
          <a:xfrm xmlns:a="http://schemas.openxmlformats.org/drawingml/2006/main">
            <a:off x="3943350" y="199072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boot.asm, kernel/entry.asm, build.sh, linker.ld</a:t>
            </a:r>
          </a:p>
        </p:txBody>
      </p:sp>
      <p:sp>
        <p:nvSpPr>
          <p:cNvPr id="7" name="Kernel services">
            <a:extLst xmlns:a="http://schemas.openxmlformats.org/drawingml/2006/main">
              <a:ext uri="{FF2B5EF4-FFF2-40B4-BE49-F238E27FC236}">
                <a16:creationId xmlns:a16="http://schemas.microsoft.com/office/drawing/2014/main" id="{C8FE3208-7403-4A4D-86FC-92123B1C4466}"/>
              </a:ext>
            </a:extLst>
          </p:cNvPr>
          <p:cNvSpPr>
            <a:spLocks xmlns:a="http://schemas.openxmlformats.org/drawingml/2006/main" noGrp="1"/>
          </p:cNvSpPr>
          <p:nvPr/>
        </p:nvSpPr>
        <p:spPr>
          <a:xfrm xmlns:a="http://schemas.openxmlformats.org/drawingml/2006/main">
            <a:off x="609600" y="28860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Kernel services</a:t>
            </a:r>
          </a:p>
        </p:txBody>
      </p:sp>
      <p:sp>
        <p:nvSpPr>
          <p:cNvPr id="8" name="memory/, interrupts/, drivers/, scheduler/, ">
            <a:extLst xmlns:a="http://schemas.openxmlformats.org/drawingml/2006/main">
              <a:ext uri="{FF2B5EF4-FFF2-40B4-BE49-F238E27FC236}">
                <a16:creationId xmlns:a16="http://schemas.microsoft.com/office/drawing/2014/main" id="{E5ED0375-9D23-4BD9-8840-70DE47B61586}"/>
              </a:ext>
            </a:extLst>
          </p:cNvPr>
          <p:cNvSpPr>
            <a:spLocks xmlns:a="http://schemas.openxmlformats.org/drawingml/2006/main" noGrp="1"/>
          </p:cNvSpPr>
          <p:nvPr/>
        </p:nvSpPr>
        <p:spPr>
          <a:xfrm xmlns:a="http://schemas.openxmlformats.org/drawingml/2006/main">
            <a:off x="3943350" y="28860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memory/, interrupts/, drivers/, scheduler/, syscalls/</a:t>
            </a:r>
          </a:p>
        </p:txBody>
      </p:sp>
      <p:sp>
        <p:nvSpPr>
          <p:cNvPr id="9" name="User-facing features">
            <a:extLst xmlns:a="http://schemas.openxmlformats.org/drawingml/2006/main">
              <a:ext uri="{FF2B5EF4-FFF2-40B4-BE49-F238E27FC236}">
                <a16:creationId xmlns:a16="http://schemas.microsoft.com/office/drawing/2014/main" id="{F6844E46-A387-4A8D-905A-3189809FEAED}"/>
              </a:ext>
            </a:extLst>
          </p:cNvPr>
          <p:cNvSpPr>
            <a:spLocks xmlns:a="http://schemas.openxmlformats.org/drawingml/2006/main" noGrp="1"/>
          </p:cNvSpPr>
          <p:nvPr/>
        </p:nvSpPr>
        <p:spPr>
          <a:xfrm xmlns:a="http://schemas.openxmlformats.org/drawingml/2006/main">
            <a:off x="609600" y="37814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User-facing features</a:t>
            </a:r>
          </a:p>
        </p:txBody>
      </p:sp>
      <p:sp>
        <p:nvSpPr>
          <p:cNvPr id="10" name="auth/, io/, shell/, fs/ramfs/">
            <a:extLst xmlns:a="http://schemas.openxmlformats.org/drawingml/2006/main">
              <a:ext uri="{FF2B5EF4-FFF2-40B4-BE49-F238E27FC236}">
                <a16:creationId xmlns:a16="http://schemas.microsoft.com/office/drawing/2014/main" id="{4107DE4B-DC9F-4C39-BC45-9FBB7C6038FB}"/>
              </a:ext>
            </a:extLst>
          </p:cNvPr>
          <p:cNvSpPr>
            <a:spLocks xmlns:a="http://schemas.openxmlformats.org/drawingml/2006/main" noGrp="1"/>
          </p:cNvSpPr>
          <p:nvPr/>
        </p:nvSpPr>
        <p:spPr>
          <a:xfrm xmlns:a="http://schemas.openxmlformats.org/drawingml/2006/main">
            <a:off x="3943350" y="378142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auth/, io/, shell/, fs/ramfs/</a:t>
            </a:r>
          </a:p>
        </p:txBody>
      </p:sp>
      <p:sp>
        <p:nvSpPr>
          <p:cNvPr id="11" name="Networking">
            <a:extLst xmlns:a="http://schemas.openxmlformats.org/drawingml/2006/main">
              <a:ext uri="{FF2B5EF4-FFF2-40B4-BE49-F238E27FC236}">
                <a16:creationId xmlns:a16="http://schemas.microsoft.com/office/drawing/2014/main" id="{28C4887C-17F8-46BB-BA90-367EC72424B9}"/>
              </a:ext>
            </a:extLst>
          </p:cNvPr>
          <p:cNvSpPr>
            <a:spLocks xmlns:a="http://schemas.openxmlformats.org/drawingml/2006/main" noGrp="1"/>
          </p:cNvSpPr>
          <p:nvPr/>
        </p:nvSpPr>
        <p:spPr>
          <a:xfrm xmlns:a="http://schemas.openxmlformats.org/drawingml/2006/main">
            <a:off x="609600" y="46767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Networking</a:t>
            </a:r>
          </a:p>
        </p:txBody>
      </p:sp>
      <p:sp>
        <p:nvSpPr>
          <p:cNvPr id="12" name="kernel/net/ and host_tools/tcp_ping/">
            <a:extLst xmlns:a="http://schemas.openxmlformats.org/drawingml/2006/main">
              <a:ext uri="{FF2B5EF4-FFF2-40B4-BE49-F238E27FC236}">
                <a16:creationId xmlns:a16="http://schemas.microsoft.com/office/drawing/2014/main" id="{56107824-104D-42F0-93A0-AB9F21D9470D}"/>
              </a:ext>
            </a:extLst>
          </p:cNvPr>
          <p:cNvSpPr>
            <a:spLocks xmlns:a="http://schemas.openxmlformats.org/drawingml/2006/main" noGrp="1"/>
          </p:cNvSpPr>
          <p:nvPr/>
        </p:nvSpPr>
        <p:spPr>
          <a:xfrm xmlns:a="http://schemas.openxmlformats.org/drawingml/2006/main">
            <a:off x="3943350" y="46767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kernel/net/ and host_tools/tcp_ping/</a:t>
            </a:r>
          </a:p>
        </p:txBody>
      </p:sp>
    </p:spTree>
    <p:extLst>
      <p:ext uri="{BB962C8B-B14F-4D97-AF65-F5344CB8AC3E}">
        <p14:creationId xmlns:p14="http://schemas.microsoft.com/office/powerpoint/2010/main" val="652390855"/>
      </p:ext>
    </p:extLst>
  </p:cSld>
</p:sld>
</file>

<file path=ppt/slides/slide7.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7" name="FOUNDATIONS">
            <a:extLst xmlns:a="http://schemas.openxmlformats.org/drawingml/2006/main">
              <a:ext uri="{FF2B5EF4-FFF2-40B4-BE49-F238E27FC236}">
                <a16:creationId xmlns:a16="http://schemas.microsoft.com/office/drawing/2014/main" id="{1C608178-0307-4EDB-B888-CEF692B03F4F}"/>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FOUNDATIONS</a:t>
            </a:r>
          </a:p>
        </p:txBody>
      </p:sp>
      <p:sp>
        <p:nvSpPr>
          <p:cNvPr id="2" name="Build pipeline">
            <a:extLst xmlns:a="http://schemas.openxmlformats.org/drawingml/2006/main">
              <a:ext uri="{FF2B5EF4-FFF2-40B4-BE49-F238E27FC236}">
                <a16:creationId xmlns:a16="http://schemas.microsoft.com/office/drawing/2014/main" id="{DFCEC62B-0710-4FA6-97BF-1260FF9F22E0}"/>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Build pipeline</a:t>
            </a:r>
          </a:p>
        </p:txBody>
      </p:sp>
      <p:sp>
        <p:nvSpPr>
          <p:cNvPr id="3" name="AGENTIC OS  /  MVP TECHNICAL WALKTHROUGH">
            <a:extLst xmlns:a="http://schemas.openxmlformats.org/drawingml/2006/main">
              <a:ext uri="{FF2B5EF4-FFF2-40B4-BE49-F238E27FC236}">
                <a16:creationId xmlns:a16="http://schemas.microsoft.com/office/drawing/2014/main" id="{BA5DF676-E909-4D8D-B6E6-D6EBDBD8A4CD}"/>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07">
            <a:extLst xmlns:a="http://schemas.openxmlformats.org/drawingml/2006/main">
              <a:ext uri="{FF2B5EF4-FFF2-40B4-BE49-F238E27FC236}">
                <a16:creationId xmlns:a16="http://schemas.microsoft.com/office/drawing/2014/main" id="{69BFF9D1-3565-4252-BE30-C48C9A629D71}"/>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87033A66-9CA5-41B6-B22D-E3B9A7A029D1}"/>
              </a:ext>
            </a:extLst>
          </p:cNvPr>
          <p:cNvSpPr>
            <a:spLocks xmlns:a="http://schemas.openxmlformats.org/drawingml/2006/main" noGrp="1"/>
          </p:cNvSpPr>
          <p:nvPr/>
        </p:nvSpPr>
        <p:spPr>
          <a:xfrm xmlns:a="http://schemas.openxmlformats.org/drawingml/2006/main">
            <a:off x="609600"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NASM +&#10;C sources">
            <a:extLst xmlns:a="http://schemas.openxmlformats.org/drawingml/2006/main">
              <a:ext uri="{FF2B5EF4-FFF2-40B4-BE49-F238E27FC236}">
                <a16:creationId xmlns:a16="http://schemas.microsoft.com/office/drawing/2014/main" id="{BECA1A97-09FF-4B61-A095-C56EC67453ED}"/>
              </a:ext>
            </a:extLst>
          </p:cNvPr>
          <p:cNvSpPr>
            <a:spLocks xmlns:a="http://schemas.openxmlformats.org/drawingml/2006/main" noGrp="1"/>
          </p:cNvSpPr>
          <p:nvPr/>
        </p:nvSpPr>
        <p:spPr>
          <a:xfrm xmlns:a="http://schemas.openxmlformats.org/drawingml/2006/main">
            <a:off x="752475"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NASM +</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C sources</a:t>
            </a:r>
          </a:p>
        </p:txBody>
      </p:sp>
      <p:cxnSp>
        <p:nvCxnSpPr>
          <p:cNvPr id="7" name="">
            <a:extLst xmlns:a="http://schemas.openxmlformats.org/drawingml/2006/main">
              <a:ext uri="{FF2B5EF4-FFF2-40B4-BE49-F238E27FC236}">
                <a16:creationId xmlns:a16="http://schemas.microsoft.com/office/drawing/2014/main" id="{A752613B-F451-4E02-8931-BCA9316461C7}"/>
              </a:ext>
            </a:extLst>
          </p:cNvPr>
          <p:cNvCxnSpPr/>
          <p:nvPr/>
        </p:nvCxnSpPr>
        <p:spPr>
          <a:xfrm xmlns:a="http://schemas.openxmlformats.org/drawingml/2006/main" flipH="0" flipV="0">
            <a:off x="3081338"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8" name="">
            <a:extLst xmlns:a="http://schemas.openxmlformats.org/drawingml/2006/main">
              <a:ext uri="{FF2B5EF4-FFF2-40B4-BE49-F238E27FC236}">
                <a16:creationId xmlns:a16="http://schemas.microsoft.com/office/drawing/2014/main" id="{7291A90F-08FB-4826-9DBA-2F0F12D05459}"/>
              </a:ext>
            </a:extLst>
          </p:cNvPr>
          <p:cNvSpPr>
            <a:spLocks xmlns:a="http://schemas.openxmlformats.org/drawingml/2006/main" noGrp="1"/>
          </p:cNvSpPr>
          <p:nvPr/>
        </p:nvSpPr>
        <p:spPr>
          <a:xfrm xmlns:a="http://schemas.openxmlformats.org/drawingml/2006/main">
            <a:off x="3443288"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ELF32&#10;kernel.elf">
            <a:extLst xmlns:a="http://schemas.openxmlformats.org/drawingml/2006/main">
              <a:ext uri="{FF2B5EF4-FFF2-40B4-BE49-F238E27FC236}">
                <a16:creationId xmlns:a16="http://schemas.microsoft.com/office/drawing/2014/main" id="{F3D2C300-79E1-4D99-8B6E-6333D09DC0C0}"/>
              </a:ext>
            </a:extLst>
          </p:cNvPr>
          <p:cNvSpPr>
            <a:spLocks xmlns:a="http://schemas.openxmlformats.org/drawingml/2006/main" noGrp="1"/>
          </p:cNvSpPr>
          <p:nvPr/>
        </p:nvSpPr>
        <p:spPr>
          <a:xfrm xmlns:a="http://schemas.openxmlformats.org/drawingml/2006/main">
            <a:off x="3586163"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ELF32</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kernel.elf</a:t>
            </a:r>
          </a:p>
        </p:txBody>
      </p:sp>
      <p:cxnSp>
        <p:nvCxnSpPr>
          <p:cNvPr id="10" name="">
            <a:extLst xmlns:a="http://schemas.openxmlformats.org/drawingml/2006/main">
              <a:ext uri="{FF2B5EF4-FFF2-40B4-BE49-F238E27FC236}">
                <a16:creationId xmlns:a16="http://schemas.microsoft.com/office/drawing/2014/main" id="{A12C206F-2ED1-45EF-B3B7-5461F61F4D13}"/>
              </a:ext>
            </a:extLst>
          </p:cNvPr>
          <p:cNvCxnSpPr/>
          <p:nvPr/>
        </p:nvCxnSpPr>
        <p:spPr>
          <a:xfrm xmlns:a="http://schemas.openxmlformats.org/drawingml/2006/main" flipH="0" flipV="0">
            <a:off x="5915025"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1" name="">
            <a:extLst xmlns:a="http://schemas.openxmlformats.org/drawingml/2006/main">
              <a:ext uri="{FF2B5EF4-FFF2-40B4-BE49-F238E27FC236}">
                <a16:creationId xmlns:a16="http://schemas.microsoft.com/office/drawing/2014/main" id="{7A8A4182-63A3-4000-B237-CA2D82513050}"/>
              </a:ext>
            </a:extLst>
          </p:cNvPr>
          <p:cNvSpPr>
            <a:spLocks xmlns:a="http://schemas.openxmlformats.org/drawingml/2006/main" noGrp="1"/>
          </p:cNvSpPr>
          <p:nvPr/>
        </p:nvSpPr>
        <p:spPr>
          <a:xfrm xmlns:a="http://schemas.openxmlformats.org/drawingml/2006/main">
            <a:off x="6276975"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Raw bytes&#10;kernel.bin">
            <a:extLst xmlns:a="http://schemas.openxmlformats.org/drawingml/2006/main">
              <a:ext uri="{FF2B5EF4-FFF2-40B4-BE49-F238E27FC236}">
                <a16:creationId xmlns:a16="http://schemas.microsoft.com/office/drawing/2014/main" id="{5BD07FAF-015F-4130-89BB-6762136987A6}"/>
              </a:ext>
            </a:extLst>
          </p:cNvPr>
          <p:cNvSpPr>
            <a:spLocks xmlns:a="http://schemas.openxmlformats.org/drawingml/2006/main" noGrp="1"/>
          </p:cNvSpPr>
          <p:nvPr/>
        </p:nvSpPr>
        <p:spPr>
          <a:xfrm xmlns:a="http://schemas.openxmlformats.org/drawingml/2006/main">
            <a:off x="6419850"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Raw bytes</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kernel.bin</a:t>
            </a:r>
          </a:p>
        </p:txBody>
      </p:sp>
      <p:cxnSp>
        <p:nvCxnSpPr>
          <p:cNvPr id="13" name="">
            <a:extLst xmlns:a="http://schemas.openxmlformats.org/drawingml/2006/main">
              <a:ext uri="{FF2B5EF4-FFF2-40B4-BE49-F238E27FC236}">
                <a16:creationId xmlns:a16="http://schemas.microsoft.com/office/drawing/2014/main" id="{C4EF83C0-EDD8-4292-89CD-92CB6597E7B2}"/>
              </a:ext>
            </a:extLst>
          </p:cNvPr>
          <p:cNvCxnSpPr/>
          <p:nvPr/>
        </p:nvCxnSpPr>
        <p:spPr>
          <a:xfrm xmlns:a="http://schemas.openxmlformats.org/drawingml/2006/main" flipH="0" flipV="0">
            <a:off x="8748713"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F3019ECD-8C19-42C5-BAE7-26DC599D2848}"/>
              </a:ext>
            </a:extLst>
          </p:cNvPr>
          <p:cNvSpPr>
            <a:spLocks xmlns:a="http://schemas.openxmlformats.org/drawingml/2006/main" noGrp="1"/>
          </p:cNvSpPr>
          <p:nvPr/>
        </p:nvSpPr>
        <p:spPr>
          <a:xfrm xmlns:a="http://schemas.openxmlformats.org/drawingml/2006/main">
            <a:off x="9110663"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Disk image&#10;boot.img">
            <a:extLst xmlns:a="http://schemas.openxmlformats.org/drawingml/2006/main">
              <a:ext uri="{FF2B5EF4-FFF2-40B4-BE49-F238E27FC236}">
                <a16:creationId xmlns:a16="http://schemas.microsoft.com/office/drawing/2014/main" id="{97B4D4FD-BA2D-4C1E-B72E-B69011D03D30}"/>
              </a:ext>
            </a:extLst>
          </p:cNvPr>
          <p:cNvSpPr>
            <a:spLocks xmlns:a="http://schemas.openxmlformats.org/drawingml/2006/main" noGrp="1"/>
          </p:cNvSpPr>
          <p:nvPr/>
        </p:nvSpPr>
        <p:spPr>
          <a:xfrm xmlns:a="http://schemas.openxmlformats.org/drawingml/2006/main">
            <a:off x="9253538"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Disk image</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boot.img</a:t>
            </a:r>
          </a:p>
        </p:txBody>
      </p:sp>
      <p:sp>
        <p:nvSpPr>
          <p:cNvPr id="16" name="The BIOS loader needs the flat kernel bytes,">
            <a:extLst xmlns:a="http://schemas.openxmlformats.org/drawingml/2006/main">
              <a:ext uri="{FF2B5EF4-FFF2-40B4-BE49-F238E27FC236}">
                <a16:creationId xmlns:a16="http://schemas.microsoft.com/office/drawing/2014/main" id="{61DDE18F-2F4C-4FF7-AEAC-606046B2313B}"/>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The BIOS loader needs the flat kernel bytes, not an ELF header.</a:t>
            </a:r>
          </a:p>
        </p:txBody>
      </p:sp>
    </p:spTree>
    <p:extLst>
      <p:ext uri="{BB962C8B-B14F-4D97-AF65-F5344CB8AC3E}">
        <p14:creationId xmlns:p14="http://schemas.microsoft.com/office/powerpoint/2010/main" val="982449638"/>
      </p:ext>
    </p:extLst>
  </p:cSld>
</p:sld>
</file>

<file path=ppt/slides/slide8.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24" name="FOUNDATIONS">
            <a:extLst xmlns:a="http://schemas.openxmlformats.org/drawingml/2006/main">
              <a:ext uri="{FF2B5EF4-FFF2-40B4-BE49-F238E27FC236}">
                <a16:creationId xmlns:a16="http://schemas.microsoft.com/office/drawing/2014/main" id="{BFBF5D0B-0569-4D86-8839-C93B847A2833}"/>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FOUNDATIONS</a:t>
            </a:r>
          </a:p>
        </p:txBody>
      </p:sp>
      <p:sp>
        <p:nvSpPr>
          <p:cNvPr id="2" name="Boot sequence">
            <a:extLst xmlns:a="http://schemas.openxmlformats.org/drawingml/2006/main">
              <a:ext uri="{FF2B5EF4-FFF2-40B4-BE49-F238E27FC236}">
                <a16:creationId xmlns:a16="http://schemas.microsoft.com/office/drawing/2014/main" id="{F5FF642F-2313-43D9-9195-36FBAA128D76}"/>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Boot sequence</a:t>
            </a:r>
          </a:p>
        </p:txBody>
      </p:sp>
      <p:sp>
        <p:nvSpPr>
          <p:cNvPr id="3" name="AGENTIC OS  /  MVP TECHNICAL WALKTHROUGH">
            <a:extLst xmlns:a="http://schemas.openxmlformats.org/drawingml/2006/main">
              <a:ext uri="{FF2B5EF4-FFF2-40B4-BE49-F238E27FC236}">
                <a16:creationId xmlns:a16="http://schemas.microsoft.com/office/drawing/2014/main" id="{01DB6ADF-8BC7-49C0-AB38-7E0048FBF52E}"/>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08">
            <a:extLst xmlns:a="http://schemas.openxmlformats.org/drawingml/2006/main">
              <a:ext uri="{FF2B5EF4-FFF2-40B4-BE49-F238E27FC236}">
                <a16:creationId xmlns:a16="http://schemas.microsoft.com/office/drawing/2014/main" id="{C0520D36-4350-497B-A6BE-0C9C1C0B7A3D}"/>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2D55F207-F9F8-40B4-9211-CE8750610AC7}"/>
              </a:ext>
            </a:extLst>
          </p:cNvPr>
          <p:cNvSpPr>
            <a:spLocks xmlns:a="http://schemas.openxmlformats.org/drawingml/2006/main" noGrp="1"/>
          </p:cNvSpPr>
          <p:nvPr/>
        </p:nvSpPr>
        <p:spPr>
          <a:xfrm xmlns:a="http://schemas.openxmlformats.org/drawingml/2006/main">
            <a:off x="33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BIOS">
            <a:extLst xmlns:a="http://schemas.openxmlformats.org/drawingml/2006/main">
              <a:ext uri="{FF2B5EF4-FFF2-40B4-BE49-F238E27FC236}">
                <a16:creationId xmlns:a16="http://schemas.microsoft.com/office/drawing/2014/main" id="{48C4B702-966B-4D4A-A23C-7FB1E67302B1}"/>
              </a:ext>
            </a:extLst>
          </p:cNvPr>
          <p:cNvSpPr>
            <a:spLocks xmlns:a="http://schemas.openxmlformats.org/drawingml/2006/main" noGrp="1"/>
          </p:cNvSpPr>
          <p:nvPr/>
        </p:nvSpPr>
        <p:spPr>
          <a:xfrm xmlns:a="http://schemas.openxmlformats.org/drawingml/2006/main">
            <a:off x="47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BIOS</a:t>
            </a:r>
          </a:p>
        </p:txBody>
      </p:sp>
      <p:cxnSp>
        <p:nvCxnSpPr>
          <p:cNvPr id="7" name="">
            <a:extLst xmlns:a="http://schemas.openxmlformats.org/drawingml/2006/main">
              <a:ext uri="{FF2B5EF4-FFF2-40B4-BE49-F238E27FC236}">
                <a16:creationId xmlns:a16="http://schemas.microsoft.com/office/drawing/2014/main" id="{F613BB24-8CEF-44D4-9C4B-BFE607C8F8B2}"/>
              </a:ext>
            </a:extLst>
          </p:cNvPr>
          <p:cNvCxnSpPr/>
          <p:nvPr/>
        </p:nvCxnSpPr>
        <p:spPr>
          <a:xfrm xmlns:a="http://schemas.openxmlformats.org/drawingml/2006/main" flipH="0" flipV="0">
            <a:off x="133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8" name="">
            <a:extLst xmlns:a="http://schemas.openxmlformats.org/drawingml/2006/main">
              <a:ext uri="{FF2B5EF4-FFF2-40B4-BE49-F238E27FC236}">
                <a16:creationId xmlns:a16="http://schemas.microsoft.com/office/drawing/2014/main" id="{D7EFF577-D906-44AE-A43D-C2B4EDE19B42}"/>
              </a:ext>
            </a:extLst>
          </p:cNvPr>
          <p:cNvSpPr>
            <a:spLocks xmlns:a="http://schemas.openxmlformats.org/drawingml/2006/main" noGrp="1"/>
          </p:cNvSpPr>
          <p:nvPr/>
        </p:nvSpPr>
        <p:spPr>
          <a:xfrm xmlns:a="http://schemas.openxmlformats.org/drawingml/2006/main">
            <a:off x="350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Boot sector">
            <a:extLst xmlns:a="http://schemas.openxmlformats.org/drawingml/2006/main">
              <a:ext uri="{FF2B5EF4-FFF2-40B4-BE49-F238E27FC236}">
                <a16:creationId xmlns:a16="http://schemas.microsoft.com/office/drawing/2014/main" id="{DB13DC14-F5A3-4674-8634-55018D0487EF}"/>
              </a:ext>
            </a:extLst>
          </p:cNvPr>
          <p:cNvSpPr>
            <a:spLocks xmlns:a="http://schemas.openxmlformats.org/drawingml/2006/main" noGrp="1"/>
          </p:cNvSpPr>
          <p:nvPr/>
        </p:nvSpPr>
        <p:spPr>
          <a:xfrm xmlns:a="http://schemas.openxmlformats.org/drawingml/2006/main">
            <a:off x="365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Boot sector</a:t>
            </a:r>
          </a:p>
        </p:txBody>
      </p:sp>
      <p:cxnSp>
        <p:nvCxnSpPr>
          <p:cNvPr id="10" name="">
            <a:extLst xmlns:a="http://schemas.openxmlformats.org/drawingml/2006/main">
              <a:ext uri="{FF2B5EF4-FFF2-40B4-BE49-F238E27FC236}">
                <a16:creationId xmlns:a16="http://schemas.microsoft.com/office/drawing/2014/main" id="{26AFD1A8-7098-46A8-8F9B-0F2DE4C9E666}"/>
              </a:ext>
            </a:extLst>
          </p:cNvPr>
          <p:cNvCxnSpPr/>
          <p:nvPr/>
        </p:nvCxnSpPr>
        <p:spPr>
          <a:xfrm xmlns:a="http://schemas.openxmlformats.org/drawingml/2006/main" flipH="0" flipV="0">
            <a:off x="450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1" name="">
            <a:extLst xmlns:a="http://schemas.openxmlformats.org/drawingml/2006/main">
              <a:ext uri="{FF2B5EF4-FFF2-40B4-BE49-F238E27FC236}">
                <a16:creationId xmlns:a16="http://schemas.microsoft.com/office/drawing/2014/main" id="{AF59BB15-CA0F-4E46-A6F1-41C8B9071623}"/>
              </a:ext>
            </a:extLst>
          </p:cNvPr>
          <p:cNvSpPr>
            <a:spLocks xmlns:a="http://schemas.openxmlformats.org/drawingml/2006/main" noGrp="1"/>
          </p:cNvSpPr>
          <p:nvPr/>
        </p:nvSpPr>
        <p:spPr>
          <a:xfrm xmlns:a="http://schemas.openxmlformats.org/drawingml/2006/main">
            <a:off x="668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Kernel entry">
            <a:extLst xmlns:a="http://schemas.openxmlformats.org/drawingml/2006/main">
              <a:ext uri="{FF2B5EF4-FFF2-40B4-BE49-F238E27FC236}">
                <a16:creationId xmlns:a16="http://schemas.microsoft.com/office/drawing/2014/main" id="{9670ABB9-6774-454C-B204-1FD70FCE9868}"/>
              </a:ext>
            </a:extLst>
          </p:cNvPr>
          <p:cNvSpPr>
            <a:spLocks xmlns:a="http://schemas.openxmlformats.org/drawingml/2006/main" noGrp="1"/>
          </p:cNvSpPr>
          <p:nvPr/>
        </p:nvSpPr>
        <p:spPr>
          <a:xfrm xmlns:a="http://schemas.openxmlformats.org/drawingml/2006/main">
            <a:off x="682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Kernel entry</a:t>
            </a:r>
          </a:p>
        </p:txBody>
      </p:sp>
      <p:cxnSp>
        <p:nvCxnSpPr>
          <p:cNvPr id="13" name="">
            <a:extLst xmlns:a="http://schemas.openxmlformats.org/drawingml/2006/main">
              <a:ext uri="{FF2B5EF4-FFF2-40B4-BE49-F238E27FC236}">
                <a16:creationId xmlns:a16="http://schemas.microsoft.com/office/drawing/2014/main" id="{DB74BA11-16E1-4F59-81F8-CBB02A9EBC16}"/>
              </a:ext>
            </a:extLst>
          </p:cNvPr>
          <p:cNvCxnSpPr/>
          <p:nvPr/>
        </p:nvCxnSpPr>
        <p:spPr>
          <a:xfrm xmlns:a="http://schemas.openxmlformats.org/drawingml/2006/main" flipH="0" flipV="0">
            <a:off x="768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4" name="">
            <a:extLst xmlns:a="http://schemas.openxmlformats.org/drawingml/2006/main">
              <a:ext uri="{FF2B5EF4-FFF2-40B4-BE49-F238E27FC236}">
                <a16:creationId xmlns:a16="http://schemas.microsoft.com/office/drawing/2014/main" id="{FD777A3D-9EE4-400E-922C-CFA898E49C63}"/>
              </a:ext>
            </a:extLst>
          </p:cNvPr>
          <p:cNvSpPr>
            <a:spLocks xmlns:a="http://schemas.openxmlformats.org/drawingml/2006/main" noGrp="1"/>
          </p:cNvSpPr>
          <p:nvPr/>
        </p:nvSpPr>
        <p:spPr>
          <a:xfrm xmlns:a="http://schemas.openxmlformats.org/drawingml/2006/main">
            <a:off x="985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C kernel">
            <a:extLst xmlns:a="http://schemas.openxmlformats.org/drawingml/2006/main">
              <a:ext uri="{FF2B5EF4-FFF2-40B4-BE49-F238E27FC236}">
                <a16:creationId xmlns:a16="http://schemas.microsoft.com/office/drawing/2014/main" id="{91E48FCA-44F6-49F7-85CC-38EC408DB049}"/>
              </a:ext>
            </a:extLst>
          </p:cNvPr>
          <p:cNvSpPr>
            <a:spLocks xmlns:a="http://schemas.openxmlformats.org/drawingml/2006/main" noGrp="1"/>
          </p:cNvSpPr>
          <p:nvPr/>
        </p:nvSpPr>
        <p:spPr>
          <a:xfrm xmlns:a="http://schemas.openxmlformats.org/drawingml/2006/main">
            <a:off x="1000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C kernel</a:t>
            </a:r>
          </a:p>
        </p:txBody>
      </p:sp>
      <p:cxnSp>
        <p:nvCxnSpPr>
          <p:cNvPr id="16" name="">
            <a:extLst xmlns:a="http://schemas.openxmlformats.org/drawingml/2006/main">
              <a:ext uri="{FF2B5EF4-FFF2-40B4-BE49-F238E27FC236}">
                <a16:creationId xmlns:a16="http://schemas.microsoft.com/office/drawing/2014/main" id="{30C78CBA-470E-490A-A0AD-763D47D120A4}"/>
              </a:ext>
            </a:extLst>
          </p:cNvPr>
          <p:cNvCxnSpPr/>
          <p:nvPr/>
        </p:nvCxnSpPr>
        <p:spPr>
          <a:xfrm xmlns:a="http://schemas.openxmlformats.org/drawingml/2006/main" flipH="0" flipV="0">
            <a:off x="1085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cxnSp>
        <p:nvCxnSpPr>
          <p:cNvPr id="17" name="">
            <a:extLst xmlns:a="http://schemas.openxmlformats.org/drawingml/2006/main">
              <a:ext uri="{FF2B5EF4-FFF2-40B4-BE49-F238E27FC236}">
                <a16:creationId xmlns:a16="http://schemas.microsoft.com/office/drawing/2014/main" id="{695C559E-DF5C-4ADF-8305-3B9BA8D18799}"/>
              </a:ext>
            </a:extLst>
          </p:cNvPr>
          <p:cNvCxnSpPr/>
          <p:nvPr/>
        </p:nvCxnSpPr>
        <p:spPr>
          <a:xfrm xmlns:a="http://schemas.openxmlformats.org/drawingml/2006/main" flipH="0" flipV="0">
            <a:off x="1333500" y="302895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8" name="Load boot sector at 0x7C00">
            <a:extLst xmlns:a="http://schemas.openxmlformats.org/drawingml/2006/main">
              <a:ext uri="{FF2B5EF4-FFF2-40B4-BE49-F238E27FC236}">
                <a16:creationId xmlns:a16="http://schemas.microsoft.com/office/drawing/2014/main" id="{C2666DEE-8B6E-41AE-87CB-C13F5FC5F893}"/>
              </a:ext>
            </a:extLst>
          </p:cNvPr>
          <p:cNvSpPr>
            <a:spLocks xmlns:a="http://schemas.openxmlformats.org/drawingml/2006/main" noGrp="1"/>
          </p:cNvSpPr>
          <p:nvPr/>
        </p:nvSpPr>
        <p:spPr>
          <a:xfrm xmlns:a="http://schemas.openxmlformats.org/drawingml/2006/main">
            <a:off x="1457325" y="275272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Load boot sector at 0x7C00</a:t>
            </a:r>
          </a:p>
        </p:txBody>
      </p:sp>
      <p:cxnSp>
        <p:nvCxnSpPr>
          <p:cNvPr id="19" name="">
            <a:extLst xmlns:a="http://schemas.openxmlformats.org/drawingml/2006/main">
              <a:ext uri="{FF2B5EF4-FFF2-40B4-BE49-F238E27FC236}">
                <a16:creationId xmlns:a16="http://schemas.microsoft.com/office/drawing/2014/main" id="{6FBB5EE9-7493-4AD1-BB15-CA2C8286F215}"/>
              </a:ext>
            </a:extLst>
          </p:cNvPr>
          <p:cNvCxnSpPr/>
          <p:nvPr/>
        </p:nvCxnSpPr>
        <p:spPr>
          <a:xfrm xmlns:a="http://schemas.openxmlformats.org/drawingml/2006/main" flipH="0" flipV="0">
            <a:off x="4508500" y="354330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0" name="Read kernel and enter protected mode">
            <a:extLst xmlns:a="http://schemas.openxmlformats.org/drawingml/2006/main">
              <a:ext uri="{FF2B5EF4-FFF2-40B4-BE49-F238E27FC236}">
                <a16:creationId xmlns:a16="http://schemas.microsoft.com/office/drawing/2014/main" id="{B6FE01FB-17A9-4C12-AA18-33E83B13C3BA}"/>
              </a:ext>
            </a:extLst>
          </p:cNvPr>
          <p:cNvSpPr>
            <a:spLocks xmlns:a="http://schemas.openxmlformats.org/drawingml/2006/main" noGrp="1"/>
          </p:cNvSpPr>
          <p:nvPr/>
        </p:nvSpPr>
        <p:spPr>
          <a:xfrm xmlns:a="http://schemas.openxmlformats.org/drawingml/2006/main">
            <a:off x="4632325" y="326707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Read kernel and enter protected mode</a:t>
            </a:r>
          </a:p>
        </p:txBody>
      </p:sp>
      <p:cxnSp>
        <p:nvCxnSpPr>
          <p:cNvPr id="21" name="">
            <a:extLst xmlns:a="http://schemas.openxmlformats.org/drawingml/2006/main">
              <a:ext uri="{FF2B5EF4-FFF2-40B4-BE49-F238E27FC236}">
                <a16:creationId xmlns:a16="http://schemas.microsoft.com/office/drawing/2014/main" id="{0BABA2F6-1F4B-47C1-B4B4-321455614024}"/>
              </a:ext>
            </a:extLst>
          </p:cNvPr>
          <p:cNvCxnSpPr/>
          <p:nvPr/>
        </p:nvCxnSpPr>
        <p:spPr>
          <a:xfrm xmlns:a="http://schemas.openxmlformats.org/drawingml/2006/main" flipH="0" flipV="0">
            <a:off x="7683500" y="405765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2" name="Clear BSS, then call kmain()">
            <a:extLst xmlns:a="http://schemas.openxmlformats.org/drawingml/2006/main">
              <a:ext uri="{FF2B5EF4-FFF2-40B4-BE49-F238E27FC236}">
                <a16:creationId xmlns:a16="http://schemas.microsoft.com/office/drawing/2014/main" id="{F6D6BE5F-341B-47E4-97EC-4716309A514D}"/>
              </a:ext>
            </a:extLst>
          </p:cNvPr>
          <p:cNvSpPr>
            <a:spLocks xmlns:a="http://schemas.openxmlformats.org/drawingml/2006/main" noGrp="1"/>
          </p:cNvSpPr>
          <p:nvPr/>
        </p:nvSpPr>
        <p:spPr>
          <a:xfrm xmlns:a="http://schemas.openxmlformats.org/drawingml/2006/main">
            <a:off x="7807325" y="378142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Clear BSS, then call kmain()</a:t>
            </a:r>
          </a:p>
        </p:txBody>
      </p:sp>
      <p:sp>
        <p:nvSpPr>
          <p:cNvPr id="23" name="Execution moves from 16-bit BIOS code to the">
            <a:extLst xmlns:a="http://schemas.openxmlformats.org/drawingml/2006/main">
              <a:ext uri="{FF2B5EF4-FFF2-40B4-BE49-F238E27FC236}">
                <a16:creationId xmlns:a16="http://schemas.microsoft.com/office/drawing/2014/main" id="{2FF82903-9223-4AAA-9399-1414392F8153}"/>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Execution moves from 16-bit BIOS code to the 32-bit C kernel.</a:t>
            </a:r>
          </a:p>
        </p:txBody>
      </p:sp>
    </p:spTree>
    <p:extLst>
      <p:ext uri="{BB962C8B-B14F-4D97-AF65-F5344CB8AC3E}">
        <p14:creationId xmlns:p14="http://schemas.microsoft.com/office/powerpoint/2010/main" val="1751779815"/>
      </p:ext>
    </p:extLst>
  </p:cSld>
</p:sld>
</file>

<file path=ppt/slides/slide9.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7" name="FOUNDATIONS">
            <a:extLst xmlns:a="http://schemas.openxmlformats.org/drawingml/2006/main">
              <a:ext uri="{FF2B5EF4-FFF2-40B4-BE49-F238E27FC236}">
                <a16:creationId xmlns:a16="http://schemas.microsoft.com/office/drawing/2014/main" id="{93C578FE-A5B5-43F2-9161-C6968FBFD8A1}"/>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FOUNDATIONS</a:t>
            </a:r>
          </a:p>
        </p:txBody>
      </p:sp>
      <p:sp>
        <p:nvSpPr>
          <p:cNvPr id="2" name="Kernel initialization order">
            <a:extLst xmlns:a="http://schemas.openxmlformats.org/drawingml/2006/main">
              <a:ext uri="{FF2B5EF4-FFF2-40B4-BE49-F238E27FC236}">
                <a16:creationId xmlns:a16="http://schemas.microsoft.com/office/drawing/2014/main" id="{7289E743-5DC6-47CB-94B1-D2A40F8D62AE}"/>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Kernel initialization order</a:t>
            </a:r>
          </a:p>
        </p:txBody>
      </p:sp>
      <p:sp>
        <p:nvSpPr>
          <p:cNvPr id="3" name="AGENTIC OS  /  MVP TECHNICAL WALKTHROUGH">
            <a:extLst xmlns:a="http://schemas.openxmlformats.org/drawingml/2006/main">
              <a:ext uri="{FF2B5EF4-FFF2-40B4-BE49-F238E27FC236}">
                <a16:creationId xmlns:a16="http://schemas.microsoft.com/office/drawing/2014/main" id="{2D1E2911-BE4E-457C-837B-E4240CF53B78}"/>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09">
            <a:extLst xmlns:a="http://schemas.openxmlformats.org/drawingml/2006/main">
              <a:ext uri="{FF2B5EF4-FFF2-40B4-BE49-F238E27FC236}">
                <a16:creationId xmlns:a16="http://schemas.microsoft.com/office/drawing/2014/main" id="{7194B1AF-67CE-43B5-8F92-AA9A6535D8B7}"/>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EA3DDC41-2ACB-407C-B273-730DAEFCE4BE}"/>
              </a:ext>
            </a:extLst>
          </p:cNvPr>
          <p:cNvSpPr>
            <a:spLocks xmlns:a="http://schemas.openxmlformats.org/drawingml/2006/main" noGrp="1"/>
          </p:cNvSpPr>
          <p:nvPr/>
        </p:nvSpPr>
        <p:spPr>
          <a:xfrm xmlns:a="http://schemas.openxmlformats.org/drawingml/2006/main">
            <a:off x="609600"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Hardware&#10;VGA + keys">
            <a:extLst xmlns:a="http://schemas.openxmlformats.org/drawingml/2006/main">
              <a:ext uri="{FF2B5EF4-FFF2-40B4-BE49-F238E27FC236}">
                <a16:creationId xmlns:a16="http://schemas.microsoft.com/office/drawing/2014/main" id="{99FC8B52-ED66-443A-8A36-FFAB2FBA7543}"/>
              </a:ext>
            </a:extLst>
          </p:cNvPr>
          <p:cNvSpPr>
            <a:spLocks xmlns:a="http://schemas.openxmlformats.org/drawingml/2006/main" noGrp="1"/>
          </p:cNvSpPr>
          <p:nvPr/>
        </p:nvSpPr>
        <p:spPr>
          <a:xfrm xmlns:a="http://schemas.openxmlformats.org/drawingml/2006/main">
            <a:off x="752475"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Hardware</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VGA + keys</a:t>
            </a:r>
          </a:p>
        </p:txBody>
      </p:sp>
      <p:cxnSp>
        <p:nvCxnSpPr>
          <p:cNvPr id="7" name="">
            <a:extLst xmlns:a="http://schemas.openxmlformats.org/drawingml/2006/main">
              <a:ext uri="{FF2B5EF4-FFF2-40B4-BE49-F238E27FC236}">
                <a16:creationId xmlns:a16="http://schemas.microsoft.com/office/drawing/2014/main" id="{4D18BCAC-3073-450B-8234-FBF2EF139C25}"/>
              </a:ext>
            </a:extLst>
          </p:cNvPr>
          <p:cNvCxnSpPr/>
          <p:nvPr/>
        </p:nvCxnSpPr>
        <p:spPr>
          <a:xfrm xmlns:a="http://schemas.openxmlformats.org/drawingml/2006/main" flipH="0" flipV="0">
            <a:off x="3081338"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8" name="">
            <a:extLst xmlns:a="http://schemas.openxmlformats.org/drawingml/2006/main">
              <a:ext uri="{FF2B5EF4-FFF2-40B4-BE49-F238E27FC236}">
                <a16:creationId xmlns:a16="http://schemas.microsoft.com/office/drawing/2014/main" id="{C25A1D5B-E637-412C-8E49-F943D94D1FE9}"/>
              </a:ext>
            </a:extLst>
          </p:cNvPr>
          <p:cNvSpPr>
            <a:spLocks xmlns:a="http://schemas.openxmlformats.org/drawingml/2006/main" noGrp="1"/>
          </p:cNvSpPr>
          <p:nvPr/>
        </p:nvSpPr>
        <p:spPr>
          <a:xfrm xmlns:a="http://schemas.openxmlformats.org/drawingml/2006/main">
            <a:off x="3443288"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Memory&#10;heap + pages">
            <a:extLst xmlns:a="http://schemas.openxmlformats.org/drawingml/2006/main">
              <a:ext uri="{FF2B5EF4-FFF2-40B4-BE49-F238E27FC236}">
                <a16:creationId xmlns:a16="http://schemas.microsoft.com/office/drawing/2014/main" id="{CDD7CF86-464F-4A35-9B22-8B03C639CEA7}"/>
              </a:ext>
            </a:extLst>
          </p:cNvPr>
          <p:cNvSpPr>
            <a:spLocks xmlns:a="http://schemas.openxmlformats.org/drawingml/2006/main" noGrp="1"/>
          </p:cNvSpPr>
          <p:nvPr/>
        </p:nvSpPr>
        <p:spPr>
          <a:xfrm xmlns:a="http://schemas.openxmlformats.org/drawingml/2006/main">
            <a:off x="3586163"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Memory</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heap + pages</a:t>
            </a:r>
          </a:p>
        </p:txBody>
      </p:sp>
      <p:cxnSp>
        <p:nvCxnSpPr>
          <p:cNvPr id="10" name="">
            <a:extLst xmlns:a="http://schemas.openxmlformats.org/drawingml/2006/main">
              <a:ext uri="{FF2B5EF4-FFF2-40B4-BE49-F238E27FC236}">
                <a16:creationId xmlns:a16="http://schemas.microsoft.com/office/drawing/2014/main" id="{EF60F27F-A089-4367-AB0D-6A2AC60F9727}"/>
              </a:ext>
            </a:extLst>
          </p:cNvPr>
          <p:cNvCxnSpPr/>
          <p:nvPr/>
        </p:nvCxnSpPr>
        <p:spPr>
          <a:xfrm xmlns:a="http://schemas.openxmlformats.org/drawingml/2006/main" flipH="0" flipV="0">
            <a:off x="5915025"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1" name="">
            <a:extLst xmlns:a="http://schemas.openxmlformats.org/drawingml/2006/main">
              <a:ext uri="{FF2B5EF4-FFF2-40B4-BE49-F238E27FC236}">
                <a16:creationId xmlns:a16="http://schemas.microsoft.com/office/drawing/2014/main" id="{45A92DC0-4C19-4E78-806A-959E7B3CB22A}"/>
              </a:ext>
            </a:extLst>
          </p:cNvPr>
          <p:cNvSpPr>
            <a:spLocks xmlns:a="http://schemas.openxmlformats.org/drawingml/2006/main" noGrp="1"/>
          </p:cNvSpPr>
          <p:nvPr/>
        </p:nvSpPr>
        <p:spPr>
          <a:xfrm xmlns:a="http://schemas.openxmlformats.org/drawingml/2006/main">
            <a:off x="6276975"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Interrupts&#10;GDT + IDT">
            <a:extLst xmlns:a="http://schemas.openxmlformats.org/drawingml/2006/main">
              <a:ext uri="{FF2B5EF4-FFF2-40B4-BE49-F238E27FC236}">
                <a16:creationId xmlns:a16="http://schemas.microsoft.com/office/drawing/2014/main" id="{14471E28-3626-4D90-8873-F66E449F0E6F}"/>
              </a:ext>
            </a:extLst>
          </p:cNvPr>
          <p:cNvSpPr>
            <a:spLocks xmlns:a="http://schemas.openxmlformats.org/drawingml/2006/main" noGrp="1"/>
          </p:cNvSpPr>
          <p:nvPr/>
        </p:nvSpPr>
        <p:spPr>
          <a:xfrm xmlns:a="http://schemas.openxmlformats.org/drawingml/2006/main">
            <a:off x="6419850"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Interrupts</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GDT + IDT</a:t>
            </a:r>
          </a:p>
        </p:txBody>
      </p:sp>
      <p:cxnSp>
        <p:nvCxnSpPr>
          <p:cNvPr id="13" name="">
            <a:extLst xmlns:a="http://schemas.openxmlformats.org/drawingml/2006/main">
              <a:ext uri="{FF2B5EF4-FFF2-40B4-BE49-F238E27FC236}">
                <a16:creationId xmlns:a16="http://schemas.microsoft.com/office/drawing/2014/main" id="{D7C53579-1A76-42FB-888C-2345E7AC617F}"/>
              </a:ext>
            </a:extLst>
          </p:cNvPr>
          <p:cNvCxnSpPr/>
          <p:nvPr/>
        </p:nvCxnSpPr>
        <p:spPr>
          <a:xfrm xmlns:a="http://schemas.openxmlformats.org/drawingml/2006/main" flipH="0" flipV="0">
            <a:off x="8748713"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0A880F12-A930-4A02-95DB-51785963FBDB}"/>
              </a:ext>
            </a:extLst>
          </p:cNvPr>
          <p:cNvSpPr>
            <a:spLocks xmlns:a="http://schemas.openxmlformats.org/drawingml/2006/main" noGrp="1"/>
          </p:cNvSpPr>
          <p:nvPr/>
        </p:nvSpPr>
        <p:spPr>
          <a:xfrm xmlns:a="http://schemas.openxmlformats.org/drawingml/2006/main">
            <a:off x="9110663"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Scheduler&#10;state setup">
            <a:extLst xmlns:a="http://schemas.openxmlformats.org/drawingml/2006/main">
              <a:ext uri="{FF2B5EF4-FFF2-40B4-BE49-F238E27FC236}">
                <a16:creationId xmlns:a16="http://schemas.microsoft.com/office/drawing/2014/main" id="{81FE4551-53CC-49AF-9A31-52B5E0054247}"/>
              </a:ext>
            </a:extLst>
          </p:cNvPr>
          <p:cNvSpPr>
            <a:spLocks xmlns:a="http://schemas.openxmlformats.org/drawingml/2006/main" noGrp="1"/>
          </p:cNvSpPr>
          <p:nvPr/>
        </p:nvSpPr>
        <p:spPr>
          <a:xfrm xmlns:a="http://schemas.openxmlformats.org/drawingml/2006/main">
            <a:off x="9253538"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Scheduler</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state setup</a:t>
            </a:r>
          </a:p>
        </p:txBody>
      </p:sp>
      <p:sp>
        <p:nvSpPr>
          <p:cNvPr id="16" name="Then: login, network initialization, RAMFS i">
            <a:extLst xmlns:a="http://schemas.openxmlformats.org/drawingml/2006/main">
              <a:ext uri="{FF2B5EF4-FFF2-40B4-BE49-F238E27FC236}">
                <a16:creationId xmlns:a16="http://schemas.microsoft.com/office/drawing/2014/main" id="{CD91CAA5-F5B6-4501-BFB1-F45A92BBEB4E}"/>
              </a:ext>
            </a:extLst>
          </p:cNvPr>
          <p:cNvSpPr>
            <a:spLocks xmlns:a="http://schemas.openxmlformats.org/drawingml/2006/main" noGrp="1"/>
          </p:cNvSpPr>
          <p:nvPr/>
        </p:nvSpPr>
        <p:spPr>
          <a:xfrm xmlns:a="http://schemas.openxmlformats.org/drawingml/2006/main">
            <a:off x="857250" y="449580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1">
                <a:solidFill>
                  <a:srgbClr val="BE98F6"/>
                </a:solidFill>
                <a:latin typeface="Arial"/>
                <a:ea typeface="Arial"/>
                <a:cs typeface="Arial"/>
              </a:defRPr>
            </a:defPPr>
          </a:lstStyle>
          <a:p xmlns:a="http://schemas.openxmlformats.org/drawingml/2006/main">
            <a:pPr algn="l">
              <a:defRPr sz="2250" b="1">
                <a:solidFill>
                  <a:srgbClr val="BE98F6"/>
                </a:solidFill>
                <a:latin typeface="Arial"/>
                <a:ea typeface="Arial"/>
                <a:cs typeface="Arial"/>
              </a:defRPr>
            </a:pPr>
            <a:r>
              <a:rPr sz="2250" b="1">
                <a:solidFill>
                  <a:srgbClr val="BE98F6"/>
                </a:solidFill>
                <a:latin typeface="Arial"/>
                <a:ea typeface="Arial"/>
                <a:cs typeface="Arial"/>
              </a:rPr>
              <a:t>Then: login, network initialization, RAMFS initialization and shell</a:t>
            </a:r>
          </a:p>
        </p:txBody>
      </p:sp>
    </p:spTree>
    <p:extLst>
      <p:ext uri="{BB962C8B-B14F-4D97-AF65-F5344CB8AC3E}">
        <p14:creationId xmlns:p14="http://schemas.microsoft.com/office/powerpoint/2010/main" val="56018839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FOUNDATIONS">
            <a:extLst xmlns:a="http://schemas.openxmlformats.org/drawingml/2006/main">
              <a:ext uri="{FF2B5EF4-FFF2-40B4-BE49-F238E27FC236}">
                <a16:creationId xmlns:a16="http://schemas.microsoft.com/office/drawing/2014/main" id="{D08B2AED-0BCF-4263-ACA9-C849D1B95DB9}"/>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7D43D5"/>
                </a:solidFill>
                <a:latin typeface="Arial"/>
                <a:ea typeface="Arial"/>
                <a:cs typeface="Arial"/>
              </a:defRPr>
            </a:defPPr>
          </a:lstStyle>
          <a:p xmlns:a="http://schemas.openxmlformats.org/drawingml/2006/main">
            <a:pPr algn="l">
              <a:defRPr sz="1200" b="1">
                <a:solidFill>
                  <a:srgbClr val="7D43D5"/>
                </a:solidFill>
                <a:latin typeface="Arial"/>
                <a:ea typeface="Arial"/>
                <a:cs typeface="Arial"/>
              </a:defRPr>
            </a:pPr>
            <a:r>
              <a:rPr sz="1200" b="1">
                <a:solidFill>
                  <a:srgbClr val="7D43D5"/>
                </a:solidFill>
                <a:latin typeface="Arial"/>
                <a:ea typeface="Arial"/>
                <a:cs typeface="Arial"/>
              </a:rPr>
              <a:t>FOUNDATIONS</a:t>
            </a:r>
          </a:p>
        </p:txBody>
      </p:sp>
      <p:sp>
        <p:nvSpPr>
          <p:cNvPr id="2" name="Memory layout">
            <a:extLst xmlns:a="http://schemas.openxmlformats.org/drawingml/2006/main">
              <a:ext uri="{FF2B5EF4-FFF2-40B4-BE49-F238E27FC236}">
                <a16:creationId xmlns:a16="http://schemas.microsoft.com/office/drawing/2014/main" id="{F22330F8-D9CC-421B-A86F-D6AB36AD7704}"/>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51139"/>
                </a:solidFill>
                <a:latin typeface="Arial"/>
                <a:ea typeface="Arial"/>
                <a:cs typeface="Arial"/>
              </a:defRPr>
            </a:defPPr>
          </a:lstStyle>
          <a:p xmlns:a="http://schemas.openxmlformats.org/drawingml/2006/main">
            <a:pPr algn="l">
              <a:defRPr sz="3300" b="1">
                <a:solidFill>
                  <a:srgbClr val="251139"/>
                </a:solidFill>
                <a:latin typeface="Arial"/>
                <a:ea typeface="Arial"/>
                <a:cs typeface="Arial"/>
              </a:defRPr>
            </a:pPr>
            <a:r>
              <a:rPr sz="3300" b="1">
                <a:solidFill>
                  <a:srgbClr val="251139"/>
                </a:solidFill>
                <a:latin typeface="Arial"/>
                <a:ea typeface="Arial"/>
                <a:cs typeface="Arial"/>
              </a:rPr>
              <a:t>Memory layout</a:t>
            </a:r>
          </a:p>
        </p:txBody>
      </p:sp>
      <p:sp>
        <p:nvSpPr>
          <p:cNvPr id="3" name="AGENTIC OS  /  MVP TECHNICAL WALKTHROUGH">
            <a:extLst xmlns:a="http://schemas.openxmlformats.org/drawingml/2006/main">
              <a:ext uri="{FF2B5EF4-FFF2-40B4-BE49-F238E27FC236}">
                <a16:creationId xmlns:a16="http://schemas.microsoft.com/office/drawing/2014/main" id="{E876B8E6-264A-4B2F-9169-D036BDB4F923}"/>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7D43D5"/>
                </a:solidFill>
                <a:latin typeface="Arial"/>
                <a:ea typeface="Arial"/>
                <a:cs typeface="Arial"/>
              </a:defRPr>
            </a:defPPr>
          </a:lstStyle>
          <a:p xmlns:a="http://schemas.openxmlformats.org/drawingml/2006/main">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10">
            <a:extLst xmlns:a="http://schemas.openxmlformats.org/drawingml/2006/main">
              <a:ext uri="{FF2B5EF4-FFF2-40B4-BE49-F238E27FC236}">
                <a16:creationId xmlns:a16="http://schemas.microsoft.com/office/drawing/2014/main" id="{D63E088B-F3C1-4529-9880-1EC1034239EA}"/>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7D43D5"/>
                </a:solidFill>
                <a:latin typeface="Arial"/>
                <a:ea typeface="Arial"/>
                <a:cs typeface="Arial"/>
              </a:defRPr>
            </a:defPPr>
          </a:lstStyle>
          <a:p xmlns:a="http://schemas.openxmlformats.org/drawingml/2006/main">
            <a:pPr algn="r">
              <a:defRPr sz="1275" b="0">
                <a:solidFill>
                  <a:srgbClr val="7D43D5"/>
                </a:solidFill>
                <a:latin typeface="Arial"/>
                <a:ea typeface="Arial"/>
                <a:cs typeface="Arial"/>
              </a:defRPr>
            </a:pPr>
            <a:r>
              <a:rPr sz="1275" b="0">
                <a:solidFill>
                  <a:srgbClr val="7D43D5"/>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40A68FC8-E647-4362-9C70-BB6D1A842A8D}"/>
              </a:ext>
            </a:extLst>
          </p:cNvPr>
          <p:cNvSpPr>
            <a:spLocks xmlns:a="http://schemas.openxmlformats.org/drawingml/2006/main" noGrp="1"/>
          </p:cNvSpPr>
          <p:nvPr/>
        </p:nvSpPr>
        <p:spPr>
          <a:xfrm xmlns:a="http://schemas.openxmlformats.org/drawingml/2006/main">
            <a:off x="609600" y="2057400"/>
            <a:ext cx="2667000" cy="619125"/>
          </a:xfrm>
          <a:prstGeom xmlns:a="http://schemas.openxmlformats.org/drawingml/2006/main" prst="rect">
            <a:avLst/>
          </a:prstGeom>
          <a:solidFill xmlns:a="http://schemas.openxmlformats.org/drawingml/2006/main">
            <a:srgbClr val="F2EBFC"/>
          </a:solidFill>
          <a:ln xmlns:a="http://schemas.openxmlformats.org/drawingml/2006/main" w="13335">
            <a:solidFill>
              <a:srgbClr val="7D43D5"/>
            </a:solidFill>
          </a:ln>
        </p:spPr>
      </p:sp>
      <p:sp>
        <p:nvSpPr>
          <p:cNvPr id="6" name="0x00010000">
            <a:extLst xmlns:a="http://schemas.openxmlformats.org/drawingml/2006/main">
              <a:ext uri="{FF2B5EF4-FFF2-40B4-BE49-F238E27FC236}">
                <a16:creationId xmlns:a16="http://schemas.microsoft.com/office/drawing/2014/main" id="{E5449F5B-A99E-48D8-A66C-A5E02DB1269C}"/>
              </a:ext>
            </a:extLst>
          </p:cNvPr>
          <p:cNvSpPr>
            <a:spLocks xmlns:a="http://schemas.openxmlformats.org/drawingml/2006/main" noGrp="1"/>
          </p:cNvSpPr>
          <p:nvPr/>
        </p:nvSpPr>
        <p:spPr>
          <a:xfrm xmlns:a="http://schemas.openxmlformats.org/drawingml/2006/main">
            <a:off x="752475" y="2143125"/>
            <a:ext cx="238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251139"/>
                </a:solidFill>
                <a:latin typeface="Arial"/>
                <a:ea typeface="Arial"/>
                <a:cs typeface="Arial"/>
              </a:defRPr>
            </a:defPPr>
          </a:lstStyle>
          <a:p xmlns:a="http://schemas.openxmlformats.org/drawingml/2006/main">
            <a:pPr algn="ctr">
              <a:defRPr sz="1800" b="1">
                <a:solidFill>
                  <a:srgbClr val="251139"/>
                </a:solidFill>
                <a:latin typeface="Arial"/>
                <a:ea typeface="Arial"/>
                <a:cs typeface="Arial"/>
              </a:defRPr>
            </a:pPr>
            <a:r>
              <a:rPr sz="1800" b="1">
                <a:solidFill>
                  <a:srgbClr val="251139"/>
                </a:solidFill>
                <a:latin typeface="Arial"/>
                <a:ea typeface="Arial"/>
                <a:cs typeface="Arial"/>
              </a:rPr>
              <a:t>0x00010000</a:t>
            </a:r>
          </a:p>
        </p:txBody>
      </p:sp>
      <p:sp>
        <p:nvSpPr>
          <p:cNvPr id="7" name="Kernel code, data and BSS">
            <a:extLst xmlns:a="http://schemas.openxmlformats.org/drawingml/2006/main">
              <a:ext uri="{FF2B5EF4-FFF2-40B4-BE49-F238E27FC236}">
                <a16:creationId xmlns:a16="http://schemas.microsoft.com/office/drawing/2014/main" id="{7678C188-22DB-4185-B54D-1A41D53EF009}"/>
              </a:ext>
            </a:extLst>
          </p:cNvPr>
          <p:cNvSpPr>
            <a:spLocks xmlns:a="http://schemas.openxmlformats.org/drawingml/2006/main" noGrp="1"/>
          </p:cNvSpPr>
          <p:nvPr/>
        </p:nvSpPr>
        <p:spPr>
          <a:xfrm xmlns:a="http://schemas.openxmlformats.org/drawingml/2006/main">
            <a:off x="3676650" y="2057400"/>
            <a:ext cx="7572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b="0">
                <a:solidFill>
                  <a:srgbClr val="251139"/>
                </a:solidFill>
                <a:latin typeface="Arial"/>
                <a:ea typeface="Arial"/>
                <a:cs typeface="Arial"/>
              </a:defRPr>
            </a:defPPr>
          </a:lstStyle>
          <a:p xmlns:a="http://schemas.openxmlformats.org/drawingml/2006/main">
            <a:pPr algn="l">
              <a:defRPr sz="2175" b="0">
                <a:solidFill>
                  <a:srgbClr val="251139"/>
                </a:solidFill>
                <a:latin typeface="Arial"/>
                <a:ea typeface="Arial"/>
                <a:cs typeface="Arial"/>
              </a:defRPr>
            </a:pPr>
            <a:r>
              <a:rPr sz="2175" b="0">
                <a:solidFill>
                  <a:srgbClr val="251139"/>
                </a:solidFill>
                <a:latin typeface="Arial"/>
                <a:ea typeface="Arial"/>
                <a:cs typeface="Arial"/>
              </a:rPr>
              <a:t>Kernel code, data and BSS</a:t>
            </a:r>
          </a:p>
        </p:txBody>
      </p:sp>
      <p:sp>
        <p:nvSpPr>
          <p:cNvPr id="8" name="">
            <a:extLst xmlns:a="http://schemas.openxmlformats.org/drawingml/2006/main">
              <a:ext uri="{FF2B5EF4-FFF2-40B4-BE49-F238E27FC236}">
                <a16:creationId xmlns:a16="http://schemas.microsoft.com/office/drawing/2014/main" id="{4B0A9338-29E0-4D94-9471-3AE11F4E950D}"/>
              </a:ext>
            </a:extLst>
          </p:cNvPr>
          <p:cNvSpPr>
            <a:spLocks xmlns:a="http://schemas.openxmlformats.org/drawingml/2006/main" noGrp="1"/>
          </p:cNvSpPr>
          <p:nvPr/>
        </p:nvSpPr>
        <p:spPr>
          <a:xfrm xmlns:a="http://schemas.openxmlformats.org/drawingml/2006/main">
            <a:off x="609600" y="2876550"/>
            <a:ext cx="2667000" cy="619125"/>
          </a:xfrm>
          <a:prstGeom xmlns:a="http://schemas.openxmlformats.org/drawingml/2006/main" prst="rect">
            <a:avLst/>
          </a:prstGeom>
          <a:solidFill xmlns:a="http://schemas.openxmlformats.org/drawingml/2006/main">
            <a:srgbClr val="F2EBFC"/>
          </a:solidFill>
          <a:ln xmlns:a="http://schemas.openxmlformats.org/drawingml/2006/main" w="13335">
            <a:solidFill>
              <a:srgbClr val="7D43D5"/>
            </a:solidFill>
          </a:ln>
        </p:spPr>
      </p:sp>
      <p:sp>
        <p:nvSpPr>
          <p:cNvPr id="9" name="0x000B8000">
            <a:extLst xmlns:a="http://schemas.openxmlformats.org/drawingml/2006/main">
              <a:ext uri="{FF2B5EF4-FFF2-40B4-BE49-F238E27FC236}">
                <a16:creationId xmlns:a16="http://schemas.microsoft.com/office/drawing/2014/main" id="{B8F40C7A-DEAE-4927-8906-53F52F47BB5F}"/>
              </a:ext>
            </a:extLst>
          </p:cNvPr>
          <p:cNvSpPr>
            <a:spLocks xmlns:a="http://schemas.openxmlformats.org/drawingml/2006/main" noGrp="1"/>
          </p:cNvSpPr>
          <p:nvPr/>
        </p:nvSpPr>
        <p:spPr>
          <a:xfrm xmlns:a="http://schemas.openxmlformats.org/drawingml/2006/main">
            <a:off x="752475" y="2962275"/>
            <a:ext cx="238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251139"/>
                </a:solidFill>
                <a:latin typeface="Arial"/>
                <a:ea typeface="Arial"/>
                <a:cs typeface="Arial"/>
              </a:defRPr>
            </a:defPPr>
          </a:lstStyle>
          <a:p xmlns:a="http://schemas.openxmlformats.org/drawingml/2006/main">
            <a:pPr algn="ctr">
              <a:defRPr sz="1800" b="1">
                <a:solidFill>
                  <a:srgbClr val="251139"/>
                </a:solidFill>
                <a:latin typeface="Arial"/>
                <a:ea typeface="Arial"/>
                <a:cs typeface="Arial"/>
              </a:defRPr>
            </a:pPr>
            <a:r>
              <a:rPr sz="1800" b="1">
                <a:solidFill>
                  <a:srgbClr val="251139"/>
                </a:solidFill>
                <a:latin typeface="Arial"/>
                <a:ea typeface="Arial"/>
                <a:cs typeface="Arial"/>
              </a:rPr>
              <a:t>0x000B8000</a:t>
            </a:r>
          </a:p>
        </p:txBody>
      </p:sp>
      <p:sp>
        <p:nvSpPr>
          <p:cNvPr id="10" name="VGA text memory">
            <a:extLst xmlns:a="http://schemas.openxmlformats.org/drawingml/2006/main">
              <a:ext uri="{FF2B5EF4-FFF2-40B4-BE49-F238E27FC236}">
                <a16:creationId xmlns:a16="http://schemas.microsoft.com/office/drawing/2014/main" id="{4127DBB5-E655-476D-9ACC-6462A64581FA}"/>
              </a:ext>
            </a:extLst>
          </p:cNvPr>
          <p:cNvSpPr>
            <a:spLocks xmlns:a="http://schemas.openxmlformats.org/drawingml/2006/main" noGrp="1"/>
          </p:cNvSpPr>
          <p:nvPr/>
        </p:nvSpPr>
        <p:spPr>
          <a:xfrm xmlns:a="http://schemas.openxmlformats.org/drawingml/2006/main">
            <a:off x="3676650" y="2876550"/>
            <a:ext cx="7572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b="0">
                <a:solidFill>
                  <a:srgbClr val="251139"/>
                </a:solidFill>
                <a:latin typeface="Arial"/>
                <a:ea typeface="Arial"/>
                <a:cs typeface="Arial"/>
              </a:defRPr>
            </a:defPPr>
          </a:lstStyle>
          <a:p xmlns:a="http://schemas.openxmlformats.org/drawingml/2006/main">
            <a:pPr algn="l">
              <a:defRPr sz="2175" b="0">
                <a:solidFill>
                  <a:srgbClr val="251139"/>
                </a:solidFill>
                <a:latin typeface="Arial"/>
                <a:ea typeface="Arial"/>
                <a:cs typeface="Arial"/>
              </a:defRPr>
            </a:pPr>
            <a:r>
              <a:rPr sz="2175" b="0">
                <a:solidFill>
                  <a:srgbClr val="251139"/>
                </a:solidFill>
                <a:latin typeface="Arial"/>
                <a:ea typeface="Arial"/>
                <a:cs typeface="Arial"/>
              </a:rPr>
              <a:t>VGA text memory</a:t>
            </a:r>
          </a:p>
        </p:txBody>
      </p:sp>
      <p:sp>
        <p:nvSpPr>
          <p:cNvPr id="11" name="">
            <a:extLst xmlns:a="http://schemas.openxmlformats.org/drawingml/2006/main">
              <a:ext uri="{FF2B5EF4-FFF2-40B4-BE49-F238E27FC236}">
                <a16:creationId xmlns:a16="http://schemas.microsoft.com/office/drawing/2014/main" id="{D150F82D-0DC6-4586-B396-29751453C392}"/>
              </a:ext>
            </a:extLst>
          </p:cNvPr>
          <p:cNvSpPr>
            <a:spLocks xmlns:a="http://schemas.openxmlformats.org/drawingml/2006/main" noGrp="1"/>
          </p:cNvSpPr>
          <p:nvPr/>
        </p:nvSpPr>
        <p:spPr>
          <a:xfrm xmlns:a="http://schemas.openxmlformats.org/drawingml/2006/main">
            <a:off x="609600" y="3695700"/>
            <a:ext cx="2667000" cy="619125"/>
          </a:xfrm>
          <a:prstGeom xmlns:a="http://schemas.openxmlformats.org/drawingml/2006/main" prst="rect">
            <a:avLst/>
          </a:prstGeom>
          <a:solidFill xmlns:a="http://schemas.openxmlformats.org/drawingml/2006/main">
            <a:srgbClr val="F2EBFC"/>
          </a:solidFill>
          <a:ln xmlns:a="http://schemas.openxmlformats.org/drawingml/2006/main" w="13335">
            <a:solidFill>
              <a:srgbClr val="7D43D5"/>
            </a:solidFill>
          </a:ln>
        </p:spPr>
      </p:sp>
      <p:sp>
        <p:nvSpPr>
          <p:cNvPr id="12" name="0x00400000">
            <a:extLst xmlns:a="http://schemas.openxmlformats.org/drawingml/2006/main">
              <a:ext uri="{FF2B5EF4-FFF2-40B4-BE49-F238E27FC236}">
                <a16:creationId xmlns:a16="http://schemas.microsoft.com/office/drawing/2014/main" id="{FDE31D58-2B61-4E0F-81E2-E9063080D80F}"/>
              </a:ext>
            </a:extLst>
          </p:cNvPr>
          <p:cNvSpPr>
            <a:spLocks xmlns:a="http://schemas.openxmlformats.org/drawingml/2006/main" noGrp="1"/>
          </p:cNvSpPr>
          <p:nvPr/>
        </p:nvSpPr>
        <p:spPr>
          <a:xfrm xmlns:a="http://schemas.openxmlformats.org/drawingml/2006/main">
            <a:off x="752475" y="3781425"/>
            <a:ext cx="238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251139"/>
                </a:solidFill>
                <a:latin typeface="Arial"/>
                <a:ea typeface="Arial"/>
                <a:cs typeface="Arial"/>
              </a:defRPr>
            </a:defPPr>
          </a:lstStyle>
          <a:p xmlns:a="http://schemas.openxmlformats.org/drawingml/2006/main">
            <a:pPr algn="ctr">
              <a:defRPr sz="1800" b="1">
                <a:solidFill>
                  <a:srgbClr val="251139"/>
                </a:solidFill>
                <a:latin typeface="Arial"/>
                <a:ea typeface="Arial"/>
                <a:cs typeface="Arial"/>
              </a:defRPr>
            </a:pPr>
            <a:r>
              <a:rPr sz="1800" b="1">
                <a:solidFill>
                  <a:srgbClr val="251139"/>
                </a:solidFill>
                <a:latin typeface="Arial"/>
                <a:ea typeface="Arial"/>
                <a:cs typeface="Arial"/>
              </a:rPr>
              <a:t>0x00400000</a:t>
            </a:r>
          </a:p>
        </p:txBody>
      </p:sp>
      <p:sp>
        <p:nvSpPr>
          <p:cNvPr id="13" name="Heap starts at 4 MiB">
            <a:extLst xmlns:a="http://schemas.openxmlformats.org/drawingml/2006/main">
              <a:ext uri="{FF2B5EF4-FFF2-40B4-BE49-F238E27FC236}">
                <a16:creationId xmlns:a16="http://schemas.microsoft.com/office/drawing/2014/main" id="{C4A5D6FF-A21B-4C67-8E29-DFC2A59FB082}"/>
              </a:ext>
            </a:extLst>
          </p:cNvPr>
          <p:cNvSpPr>
            <a:spLocks xmlns:a="http://schemas.openxmlformats.org/drawingml/2006/main" noGrp="1"/>
          </p:cNvSpPr>
          <p:nvPr/>
        </p:nvSpPr>
        <p:spPr>
          <a:xfrm xmlns:a="http://schemas.openxmlformats.org/drawingml/2006/main">
            <a:off x="3676650" y="3695700"/>
            <a:ext cx="7572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b="0">
                <a:solidFill>
                  <a:srgbClr val="251139"/>
                </a:solidFill>
                <a:latin typeface="Arial"/>
                <a:ea typeface="Arial"/>
                <a:cs typeface="Arial"/>
              </a:defRPr>
            </a:defPPr>
          </a:lstStyle>
          <a:p xmlns:a="http://schemas.openxmlformats.org/drawingml/2006/main">
            <a:pPr algn="l">
              <a:defRPr sz="2175" b="0">
                <a:solidFill>
                  <a:srgbClr val="251139"/>
                </a:solidFill>
                <a:latin typeface="Arial"/>
                <a:ea typeface="Arial"/>
                <a:cs typeface="Arial"/>
              </a:defRPr>
            </a:pPr>
            <a:r>
              <a:rPr sz="2175" b="0">
                <a:solidFill>
                  <a:srgbClr val="251139"/>
                </a:solidFill>
                <a:latin typeface="Arial"/>
                <a:ea typeface="Arial"/>
                <a:cs typeface="Arial"/>
              </a:rPr>
              <a:t>Heap starts at 4 MiB</a:t>
            </a:r>
          </a:p>
        </p:txBody>
      </p:sp>
      <p:sp>
        <p:nvSpPr>
          <p:cNvPr id="14" name="">
            <a:extLst xmlns:a="http://schemas.openxmlformats.org/drawingml/2006/main">
              <a:ext uri="{FF2B5EF4-FFF2-40B4-BE49-F238E27FC236}">
                <a16:creationId xmlns:a16="http://schemas.microsoft.com/office/drawing/2014/main" id="{DA6900FB-80C0-45A7-8F71-18B335E122D9}"/>
              </a:ext>
            </a:extLst>
          </p:cNvPr>
          <p:cNvSpPr>
            <a:spLocks xmlns:a="http://schemas.openxmlformats.org/drawingml/2006/main" noGrp="1"/>
          </p:cNvSpPr>
          <p:nvPr/>
        </p:nvSpPr>
        <p:spPr>
          <a:xfrm xmlns:a="http://schemas.openxmlformats.org/drawingml/2006/main">
            <a:off x="609600" y="4514850"/>
            <a:ext cx="2667000" cy="619125"/>
          </a:xfrm>
          <a:prstGeom xmlns:a="http://schemas.openxmlformats.org/drawingml/2006/main" prst="rect">
            <a:avLst/>
          </a:prstGeom>
          <a:solidFill xmlns:a="http://schemas.openxmlformats.org/drawingml/2006/main">
            <a:srgbClr val="F2EBFC"/>
          </a:solidFill>
          <a:ln xmlns:a="http://schemas.openxmlformats.org/drawingml/2006/main" w="13335">
            <a:solidFill>
              <a:srgbClr val="7D43D5"/>
            </a:solidFill>
          </a:ln>
        </p:spPr>
      </p:sp>
      <p:sp>
        <p:nvSpPr>
          <p:cNvPr id="15" name="0x00800000">
            <a:extLst xmlns:a="http://schemas.openxmlformats.org/drawingml/2006/main">
              <a:ext uri="{FF2B5EF4-FFF2-40B4-BE49-F238E27FC236}">
                <a16:creationId xmlns:a16="http://schemas.microsoft.com/office/drawing/2014/main" id="{1F598818-7536-42BC-9E1C-70AA8D38FA0C}"/>
              </a:ext>
            </a:extLst>
          </p:cNvPr>
          <p:cNvSpPr>
            <a:spLocks xmlns:a="http://schemas.openxmlformats.org/drawingml/2006/main" noGrp="1"/>
          </p:cNvSpPr>
          <p:nvPr/>
        </p:nvSpPr>
        <p:spPr>
          <a:xfrm xmlns:a="http://schemas.openxmlformats.org/drawingml/2006/main">
            <a:off x="752475" y="4600575"/>
            <a:ext cx="238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251139"/>
                </a:solidFill>
                <a:latin typeface="Arial"/>
                <a:ea typeface="Arial"/>
                <a:cs typeface="Arial"/>
              </a:defRPr>
            </a:defPPr>
          </a:lstStyle>
          <a:p xmlns:a="http://schemas.openxmlformats.org/drawingml/2006/main">
            <a:pPr algn="ctr">
              <a:defRPr sz="1800" b="1">
                <a:solidFill>
                  <a:srgbClr val="251139"/>
                </a:solidFill>
                <a:latin typeface="Arial"/>
                <a:ea typeface="Arial"/>
                <a:cs typeface="Arial"/>
              </a:defRPr>
            </a:pPr>
            <a:r>
              <a:rPr sz="1800" b="1">
                <a:solidFill>
                  <a:srgbClr val="251139"/>
                </a:solidFill>
                <a:latin typeface="Arial"/>
                <a:ea typeface="Arial"/>
                <a:cs typeface="Arial"/>
              </a:rPr>
              <a:t>0x00800000</a:t>
            </a:r>
          </a:p>
        </p:txBody>
      </p:sp>
      <p:sp>
        <p:nvSpPr>
          <p:cNvPr id="16" name="Heap ends at 8 MiB">
            <a:extLst xmlns:a="http://schemas.openxmlformats.org/drawingml/2006/main">
              <a:ext uri="{FF2B5EF4-FFF2-40B4-BE49-F238E27FC236}">
                <a16:creationId xmlns:a16="http://schemas.microsoft.com/office/drawing/2014/main" id="{76B9F121-6EFD-49BC-8DA6-61BD3EFC6E9E}"/>
              </a:ext>
            </a:extLst>
          </p:cNvPr>
          <p:cNvSpPr>
            <a:spLocks xmlns:a="http://schemas.openxmlformats.org/drawingml/2006/main" noGrp="1"/>
          </p:cNvSpPr>
          <p:nvPr/>
        </p:nvSpPr>
        <p:spPr>
          <a:xfrm xmlns:a="http://schemas.openxmlformats.org/drawingml/2006/main">
            <a:off x="3676650" y="4514850"/>
            <a:ext cx="7572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b="0">
                <a:solidFill>
                  <a:srgbClr val="251139"/>
                </a:solidFill>
                <a:latin typeface="Arial"/>
                <a:ea typeface="Arial"/>
                <a:cs typeface="Arial"/>
              </a:defRPr>
            </a:defPPr>
          </a:lstStyle>
          <a:p xmlns:a="http://schemas.openxmlformats.org/drawingml/2006/main">
            <a:pPr algn="l">
              <a:defRPr sz="2175" b="0">
                <a:solidFill>
                  <a:srgbClr val="251139"/>
                </a:solidFill>
                <a:latin typeface="Arial"/>
                <a:ea typeface="Arial"/>
                <a:cs typeface="Arial"/>
              </a:defRPr>
            </a:pPr>
            <a:r>
              <a:rPr sz="2175" b="0">
                <a:solidFill>
                  <a:srgbClr val="251139"/>
                </a:solidFill>
                <a:latin typeface="Arial"/>
                <a:ea typeface="Arial"/>
                <a:cs typeface="Arial"/>
              </a:rPr>
              <a:t>Heap ends at 8 MiB</a:t>
            </a:r>
          </a:p>
        </p:txBody>
      </p:sp>
      <p:sp>
        <p:nvSpPr>
          <p:cNvPr id="17" name="4 KiB pages. A 16 KiB kernel stack. Files al">
            <a:extLst xmlns:a="http://schemas.openxmlformats.org/drawingml/2006/main">
              <a:ext uri="{FF2B5EF4-FFF2-40B4-BE49-F238E27FC236}">
                <a16:creationId xmlns:a16="http://schemas.microsoft.com/office/drawing/2014/main" id="{691D4FD2-64BD-4224-8BCB-BD408DE89E20}"/>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7D43D5"/>
                </a:solidFill>
                <a:latin typeface="Arial"/>
                <a:ea typeface="Arial"/>
                <a:cs typeface="Arial"/>
              </a:defRPr>
            </a:defPPr>
          </a:lstStyle>
          <a:p xmlns:a="http://schemas.openxmlformats.org/drawingml/2006/main">
            <a:pPr algn="l">
              <a:defRPr sz="1725" b="0">
                <a:solidFill>
                  <a:srgbClr val="7D43D5"/>
                </a:solidFill>
                <a:latin typeface="Arial"/>
                <a:ea typeface="Arial"/>
                <a:cs typeface="Arial"/>
              </a:defRPr>
            </a:pPr>
            <a:r>
              <a:rPr sz="1725" b="0">
                <a:solidFill>
                  <a:srgbClr val="7D43D5"/>
                </a:solidFill>
                <a:latin typeface="Arial"/>
                <a:ea typeface="Arial"/>
                <a:cs typeface="Arial"/>
              </a:rPr>
              <a:t>4 KiB pages. A 16 KiB kernel stack. Files allocate their contents from the heap.</a:t>
            </a:r>
          </a:p>
        </p:txBody>
      </p:sp>
    </p:spTree>
    <p:extLst>
      <p:ext uri="{BB962C8B-B14F-4D97-AF65-F5344CB8AC3E}">
        <p14:creationId xmlns:p14="http://schemas.microsoft.com/office/powerpoint/2010/main" val="2073911908"/>
      </p:ext>
    </p:extLst>
  </p:cSld>
</p:sld>
</file>

<file path=ppt/slides/slide11.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7" name="FOUNDATIONS">
            <a:extLst xmlns:a="http://schemas.openxmlformats.org/drawingml/2006/main">
              <a:ext uri="{FF2B5EF4-FFF2-40B4-BE49-F238E27FC236}">
                <a16:creationId xmlns:a16="http://schemas.microsoft.com/office/drawing/2014/main" id="{C1764A65-BAC0-460A-A168-410A567111FD}"/>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FOUNDATIONS</a:t>
            </a:r>
          </a:p>
        </p:txBody>
      </p:sp>
      <p:sp>
        <p:nvSpPr>
          <p:cNvPr id="2" name="Keyboard input and screen output">
            <a:extLst xmlns:a="http://schemas.openxmlformats.org/drawingml/2006/main">
              <a:ext uri="{FF2B5EF4-FFF2-40B4-BE49-F238E27FC236}">
                <a16:creationId xmlns:a16="http://schemas.microsoft.com/office/drawing/2014/main" id="{9DB03A8E-5763-4B32-A1E3-31F40DBAFB74}"/>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Keyboard input and screen output</a:t>
            </a:r>
          </a:p>
        </p:txBody>
      </p:sp>
      <p:sp>
        <p:nvSpPr>
          <p:cNvPr id="3" name="AGENTIC OS  /  MVP TECHNICAL WALKTHROUGH">
            <a:extLst xmlns:a="http://schemas.openxmlformats.org/drawingml/2006/main">
              <a:ext uri="{FF2B5EF4-FFF2-40B4-BE49-F238E27FC236}">
                <a16:creationId xmlns:a16="http://schemas.microsoft.com/office/drawing/2014/main" id="{0D4E35B5-69B7-45D9-B49A-BB1E5528B435}"/>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11">
            <a:extLst xmlns:a="http://schemas.openxmlformats.org/drawingml/2006/main">
              <a:ext uri="{FF2B5EF4-FFF2-40B4-BE49-F238E27FC236}">
                <a16:creationId xmlns:a16="http://schemas.microsoft.com/office/drawing/2014/main" id="{1BC0AB7C-E64F-4138-BE20-42D4999B4C56}"/>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795C7501-6A3D-468D-97D1-B88A500C6D18}"/>
              </a:ext>
            </a:extLst>
          </p:cNvPr>
          <p:cNvSpPr>
            <a:spLocks xmlns:a="http://schemas.openxmlformats.org/drawingml/2006/main" noGrp="1"/>
          </p:cNvSpPr>
          <p:nvPr/>
        </p:nvSpPr>
        <p:spPr>
          <a:xfrm xmlns:a="http://schemas.openxmlformats.org/drawingml/2006/main">
            <a:off x="609600"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PS/2&#10;keyboard">
            <a:extLst xmlns:a="http://schemas.openxmlformats.org/drawingml/2006/main">
              <a:ext uri="{FF2B5EF4-FFF2-40B4-BE49-F238E27FC236}">
                <a16:creationId xmlns:a16="http://schemas.microsoft.com/office/drawing/2014/main" id="{F442B85E-8F22-4998-974C-F3C7C2A01C6F}"/>
              </a:ext>
            </a:extLst>
          </p:cNvPr>
          <p:cNvSpPr>
            <a:spLocks xmlns:a="http://schemas.openxmlformats.org/drawingml/2006/main" noGrp="1"/>
          </p:cNvSpPr>
          <p:nvPr/>
        </p:nvSpPr>
        <p:spPr>
          <a:xfrm xmlns:a="http://schemas.openxmlformats.org/drawingml/2006/main">
            <a:off x="752475"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PS/2</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keyboard</a:t>
            </a:r>
          </a:p>
        </p:txBody>
      </p:sp>
      <p:cxnSp>
        <p:nvCxnSpPr>
          <p:cNvPr id="7" name="">
            <a:extLst xmlns:a="http://schemas.openxmlformats.org/drawingml/2006/main">
              <a:ext uri="{FF2B5EF4-FFF2-40B4-BE49-F238E27FC236}">
                <a16:creationId xmlns:a16="http://schemas.microsoft.com/office/drawing/2014/main" id="{F76E23B9-9612-4911-BC56-69AC19CC180C}"/>
              </a:ext>
            </a:extLst>
          </p:cNvPr>
          <p:cNvCxnSpPr/>
          <p:nvPr/>
        </p:nvCxnSpPr>
        <p:spPr>
          <a:xfrm xmlns:a="http://schemas.openxmlformats.org/drawingml/2006/main" flipH="0" flipV="0">
            <a:off x="3081338"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8" name="">
            <a:extLst xmlns:a="http://schemas.openxmlformats.org/drawingml/2006/main">
              <a:ext uri="{FF2B5EF4-FFF2-40B4-BE49-F238E27FC236}">
                <a16:creationId xmlns:a16="http://schemas.microsoft.com/office/drawing/2014/main" id="{DD48B52B-AA73-4AFD-BDEF-4BB7FAB7C830}"/>
              </a:ext>
            </a:extLst>
          </p:cNvPr>
          <p:cNvSpPr>
            <a:spLocks xmlns:a="http://schemas.openxmlformats.org/drawingml/2006/main" noGrp="1"/>
          </p:cNvSpPr>
          <p:nvPr/>
        </p:nvSpPr>
        <p:spPr>
          <a:xfrm xmlns:a="http://schemas.openxmlformats.org/drawingml/2006/main">
            <a:off x="3443288"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IRQ1&#10;handler">
            <a:extLst xmlns:a="http://schemas.openxmlformats.org/drawingml/2006/main">
              <a:ext uri="{FF2B5EF4-FFF2-40B4-BE49-F238E27FC236}">
                <a16:creationId xmlns:a16="http://schemas.microsoft.com/office/drawing/2014/main" id="{D4534F19-1B75-40F1-A50B-ED6AE94868E9}"/>
              </a:ext>
            </a:extLst>
          </p:cNvPr>
          <p:cNvSpPr>
            <a:spLocks xmlns:a="http://schemas.openxmlformats.org/drawingml/2006/main" noGrp="1"/>
          </p:cNvSpPr>
          <p:nvPr/>
        </p:nvSpPr>
        <p:spPr>
          <a:xfrm xmlns:a="http://schemas.openxmlformats.org/drawingml/2006/main">
            <a:off x="3586163"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IRQ1</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handler</a:t>
            </a:r>
          </a:p>
        </p:txBody>
      </p:sp>
      <p:cxnSp>
        <p:nvCxnSpPr>
          <p:cNvPr id="10" name="">
            <a:extLst xmlns:a="http://schemas.openxmlformats.org/drawingml/2006/main">
              <a:ext uri="{FF2B5EF4-FFF2-40B4-BE49-F238E27FC236}">
                <a16:creationId xmlns:a16="http://schemas.microsoft.com/office/drawing/2014/main" id="{A4083E29-1B2D-42FD-8DD4-6476BA029EB3}"/>
              </a:ext>
            </a:extLst>
          </p:cNvPr>
          <p:cNvCxnSpPr/>
          <p:nvPr/>
        </p:nvCxnSpPr>
        <p:spPr>
          <a:xfrm xmlns:a="http://schemas.openxmlformats.org/drawingml/2006/main" flipH="0" flipV="0">
            <a:off x="5915025"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1" name="">
            <a:extLst xmlns:a="http://schemas.openxmlformats.org/drawingml/2006/main">
              <a:ext uri="{FF2B5EF4-FFF2-40B4-BE49-F238E27FC236}">
                <a16:creationId xmlns:a16="http://schemas.microsoft.com/office/drawing/2014/main" id="{3FFAB2EB-E73C-4AC0-9E61-BD2F124CE285}"/>
              </a:ext>
            </a:extLst>
          </p:cNvPr>
          <p:cNvSpPr>
            <a:spLocks xmlns:a="http://schemas.openxmlformats.org/drawingml/2006/main" noGrp="1"/>
          </p:cNvSpPr>
          <p:nvPr/>
        </p:nvSpPr>
        <p:spPr>
          <a:xfrm xmlns:a="http://schemas.openxmlformats.org/drawingml/2006/main">
            <a:off x="6276975"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Line input&#10;buffer">
            <a:extLst xmlns:a="http://schemas.openxmlformats.org/drawingml/2006/main">
              <a:ext uri="{FF2B5EF4-FFF2-40B4-BE49-F238E27FC236}">
                <a16:creationId xmlns:a16="http://schemas.microsoft.com/office/drawing/2014/main" id="{DA87082B-F8CE-46AC-B665-0F044A7E9651}"/>
              </a:ext>
            </a:extLst>
          </p:cNvPr>
          <p:cNvSpPr>
            <a:spLocks xmlns:a="http://schemas.openxmlformats.org/drawingml/2006/main" noGrp="1"/>
          </p:cNvSpPr>
          <p:nvPr/>
        </p:nvSpPr>
        <p:spPr>
          <a:xfrm xmlns:a="http://schemas.openxmlformats.org/drawingml/2006/main">
            <a:off x="6419850"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Line input</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buffer</a:t>
            </a:r>
          </a:p>
        </p:txBody>
      </p:sp>
      <p:cxnSp>
        <p:nvCxnSpPr>
          <p:cNvPr id="13" name="">
            <a:extLst xmlns:a="http://schemas.openxmlformats.org/drawingml/2006/main">
              <a:ext uri="{FF2B5EF4-FFF2-40B4-BE49-F238E27FC236}">
                <a16:creationId xmlns:a16="http://schemas.microsoft.com/office/drawing/2014/main" id="{FC8CC3B0-62B0-41E7-8CC7-1EEFFD91566C}"/>
              </a:ext>
            </a:extLst>
          </p:cNvPr>
          <p:cNvCxnSpPr/>
          <p:nvPr/>
        </p:nvCxnSpPr>
        <p:spPr>
          <a:xfrm xmlns:a="http://schemas.openxmlformats.org/drawingml/2006/main" flipH="0" flipV="0">
            <a:off x="8748713"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6F0D3C95-CC49-44D0-872D-F81D00451BF7}"/>
              </a:ext>
            </a:extLst>
          </p:cNvPr>
          <p:cNvSpPr>
            <a:spLocks xmlns:a="http://schemas.openxmlformats.org/drawingml/2006/main" noGrp="1"/>
          </p:cNvSpPr>
          <p:nvPr/>
        </p:nvSpPr>
        <p:spPr>
          <a:xfrm xmlns:a="http://schemas.openxmlformats.org/drawingml/2006/main">
            <a:off x="9110663"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Shell&#10;dispatch">
            <a:extLst xmlns:a="http://schemas.openxmlformats.org/drawingml/2006/main">
              <a:ext uri="{FF2B5EF4-FFF2-40B4-BE49-F238E27FC236}">
                <a16:creationId xmlns:a16="http://schemas.microsoft.com/office/drawing/2014/main" id="{0A12CC53-3705-4D1B-88AE-577203434A1B}"/>
              </a:ext>
            </a:extLst>
          </p:cNvPr>
          <p:cNvSpPr>
            <a:spLocks xmlns:a="http://schemas.openxmlformats.org/drawingml/2006/main" noGrp="1"/>
          </p:cNvSpPr>
          <p:nvPr/>
        </p:nvSpPr>
        <p:spPr>
          <a:xfrm xmlns:a="http://schemas.openxmlformats.org/drawingml/2006/main">
            <a:off x="9253538"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Shell</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dispatch</a:t>
            </a:r>
          </a:p>
        </p:txBody>
      </p:sp>
      <p:sp>
        <p:nvSpPr>
          <p:cNvPr id="16" name="VGA text output displays the prompt, command">
            <a:extLst xmlns:a="http://schemas.openxmlformats.org/drawingml/2006/main">
              <a:ext uri="{FF2B5EF4-FFF2-40B4-BE49-F238E27FC236}">
                <a16:creationId xmlns:a16="http://schemas.microsoft.com/office/drawing/2014/main" id="{5F74C791-32F9-41DA-99D5-5A4ED083CED4}"/>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VGA text output displays the prompt, command results and errors.</a:t>
            </a:r>
          </a:p>
        </p:txBody>
      </p:sp>
    </p:spTree>
    <p:extLst>
      <p:ext uri="{BB962C8B-B14F-4D97-AF65-F5344CB8AC3E}">
        <p14:creationId xmlns:p14="http://schemas.microsoft.com/office/powerpoint/2010/main" val="131433322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ILESYSTEM">
            <a:extLst xmlns:a="http://schemas.openxmlformats.org/drawingml/2006/main">
              <a:ext uri="{FF2B5EF4-FFF2-40B4-BE49-F238E27FC236}">
                <a16:creationId xmlns:a16="http://schemas.microsoft.com/office/drawing/2014/main" id="{5ECE5E80-234B-4440-8B44-9093248FB33F}"/>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7D43D5"/>
                </a:solidFill>
                <a:latin typeface="Arial"/>
                <a:ea typeface="Arial"/>
                <a:cs typeface="Arial"/>
              </a:defRPr>
            </a:defPPr>
          </a:lstStyle>
          <a:p xmlns:a="http://schemas.openxmlformats.org/drawingml/2006/main">
            <a:pPr algn="l">
              <a:defRPr sz="1200" b="1">
                <a:solidFill>
                  <a:srgbClr val="7D43D5"/>
                </a:solidFill>
                <a:latin typeface="Arial"/>
                <a:ea typeface="Arial"/>
                <a:cs typeface="Arial"/>
              </a:defRPr>
            </a:pPr>
            <a:r>
              <a:rPr sz="1200" b="1">
                <a:solidFill>
                  <a:srgbClr val="7D43D5"/>
                </a:solidFill>
                <a:latin typeface="Arial"/>
                <a:ea typeface="Arial"/>
                <a:cs typeface="Arial"/>
              </a:rPr>
              <a:t>FILESYSTEM</a:t>
            </a:r>
          </a:p>
        </p:txBody>
      </p:sp>
      <p:sp>
        <p:nvSpPr>
          <p:cNvPr id="2" name="Shell command surface">
            <a:extLst xmlns:a="http://schemas.openxmlformats.org/drawingml/2006/main">
              <a:ext uri="{FF2B5EF4-FFF2-40B4-BE49-F238E27FC236}">
                <a16:creationId xmlns:a16="http://schemas.microsoft.com/office/drawing/2014/main" id="{2C07F523-B525-4F7F-ACDF-6C68EB12462A}"/>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51139"/>
                </a:solidFill>
                <a:latin typeface="Arial"/>
                <a:ea typeface="Arial"/>
                <a:cs typeface="Arial"/>
              </a:defRPr>
            </a:defPPr>
          </a:lstStyle>
          <a:p xmlns:a="http://schemas.openxmlformats.org/drawingml/2006/main">
            <a:pPr algn="l">
              <a:defRPr sz="3300" b="1">
                <a:solidFill>
                  <a:srgbClr val="251139"/>
                </a:solidFill>
                <a:latin typeface="Arial"/>
                <a:ea typeface="Arial"/>
                <a:cs typeface="Arial"/>
              </a:defRPr>
            </a:pPr>
            <a:r>
              <a:rPr sz="3300" b="1">
                <a:solidFill>
                  <a:srgbClr val="251139"/>
                </a:solidFill>
                <a:latin typeface="Arial"/>
                <a:ea typeface="Arial"/>
                <a:cs typeface="Arial"/>
              </a:rPr>
              <a:t>Shell command surface</a:t>
            </a:r>
          </a:p>
        </p:txBody>
      </p:sp>
      <p:sp>
        <p:nvSpPr>
          <p:cNvPr id="3" name="AGENTIC OS  /  MVP TECHNICAL WALKTHROUGH">
            <a:extLst xmlns:a="http://schemas.openxmlformats.org/drawingml/2006/main">
              <a:ext uri="{FF2B5EF4-FFF2-40B4-BE49-F238E27FC236}">
                <a16:creationId xmlns:a16="http://schemas.microsoft.com/office/drawing/2014/main" id="{1E1D8955-7E16-40CF-9ABD-E1B58F94F70C}"/>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7D43D5"/>
                </a:solidFill>
                <a:latin typeface="Arial"/>
                <a:ea typeface="Arial"/>
                <a:cs typeface="Arial"/>
              </a:defRPr>
            </a:defPPr>
          </a:lstStyle>
          <a:p xmlns:a="http://schemas.openxmlformats.org/drawingml/2006/main">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12">
            <a:extLst xmlns:a="http://schemas.openxmlformats.org/drawingml/2006/main">
              <a:ext uri="{FF2B5EF4-FFF2-40B4-BE49-F238E27FC236}">
                <a16:creationId xmlns:a16="http://schemas.microsoft.com/office/drawing/2014/main" id="{FD166F34-086B-4FC1-92CA-B4B6D4059F99}"/>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7D43D5"/>
                </a:solidFill>
                <a:latin typeface="Arial"/>
                <a:ea typeface="Arial"/>
                <a:cs typeface="Arial"/>
              </a:defRPr>
            </a:defPPr>
          </a:lstStyle>
          <a:p xmlns:a="http://schemas.openxmlformats.org/drawingml/2006/main">
            <a:pPr algn="r">
              <a:defRPr sz="1275" b="0">
                <a:solidFill>
                  <a:srgbClr val="7D43D5"/>
                </a:solidFill>
                <a:latin typeface="Arial"/>
                <a:ea typeface="Arial"/>
                <a:cs typeface="Arial"/>
              </a:defRPr>
            </a:pPr>
            <a:r>
              <a:rPr sz="1275" b="0">
                <a:solidFill>
                  <a:srgbClr val="7D43D5"/>
                </a:solidFill>
                <a:latin typeface="Arial"/>
                <a:ea typeface="Arial"/>
                <a:cs typeface="Arial"/>
              </a:rPr>
              <a:t>12</a:t>
            </a:r>
          </a:p>
        </p:txBody>
      </p:sp>
      <p:sp>
        <p:nvSpPr>
          <p:cNvPr id="5" name="Navigate">
            <a:extLst xmlns:a="http://schemas.openxmlformats.org/drawingml/2006/main">
              <a:ext uri="{FF2B5EF4-FFF2-40B4-BE49-F238E27FC236}">
                <a16:creationId xmlns:a16="http://schemas.microsoft.com/office/drawing/2014/main" id="{9B993BD9-4410-485B-A7B2-DEC566AE2311}"/>
              </a:ext>
            </a:extLst>
          </p:cNvPr>
          <p:cNvSpPr>
            <a:spLocks xmlns:a="http://schemas.openxmlformats.org/drawingml/2006/main" noGrp="1"/>
          </p:cNvSpPr>
          <p:nvPr/>
        </p:nvSpPr>
        <p:spPr>
          <a:xfrm xmlns:a="http://schemas.openxmlformats.org/drawingml/2006/main">
            <a:off x="609600" y="20002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Navigate</a:t>
            </a:r>
          </a:p>
        </p:txBody>
      </p:sp>
      <p:sp>
        <p:nvSpPr>
          <p:cNvPr id="6" name="help    pwd    cd    ls">
            <a:extLst xmlns:a="http://schemas.openxmlformats.org/drawingml/2006/main">
              <a:ext uri="{FF2B5EF4-FFF2-40B4-BE49-F238E27FC236}">
                <a16:creationId xmlns:a16="http://schemas.microsoft.com/office/drawing/2014/main" id="{B3393682-9488-430A-8D84-DCF0602C77DE}"/>
              </a:ext>
            </a:extLst>
          </p:cNvPr>
          <p:cNvSpPr>
            <a:spLocks xmlns:a="http://schemas.openxmlformats.org/drawingml/2006/main" noGrp="1"/>
          </p:cNvSpPr>
          <p:nvPr/>
        </p:nvSpPr>
        <p:spPr>
          <a:xfrm xmlns:a="http://schemas.openxmlformats.org/drawingml/2006/main">
            <a:off x="3943350" y="200025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help    pwd    cd    ls</a:t>
            </a:r>
          </a:p>
        </p:txBody>
      </p:sp>
      <p:sp>
        <p:nvSpPr>
          <p:cNvPr id="7" name="Create and read">
            <a:extLst xmlns:a="http://schemas.openxmlformats.org/drawingml/2006/main">
              <a:ext uri="{FF2B5EF4-FFF2-40B4-BE49-F238E27FC236}">
                <a16:creationId xmlns:a16="http://schemas.microsoft.com/office/drawing/2014/main" id="{72902CE2-D258-4E33-8B45-FA9D2FA70E29}"/>
              </a:ext>
            </a:extLst>
          </p:cNvPr>
          <p:cNvSpPr>
            <a:spLocks xmlns:a="http://schemas.openxmlformats.org/drawingml/2006/main" noGrp="1"/>
          </p:cNvSpPr>
          <p:nvPr/>
        </p:nvSpPr>
        <p:spPr>
          <a:xfrm xmlns:a="http://schemas.openxmlformats.org/drawingml/2006/main">
            <a:off x="609600" y="28956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Create and read</a:t>
            </a:r>
          </a:p>
        </p:txBody>
      </p:sp>
      <p:sp>
        <p:nvSpPr>
          <p:cNvPr id="8" name="mkdir    touch    cat">
            <a:extLst xmlns:a="http://schemas.openxmlformats.org/drawingml/2006/main">
              <a:ext uri="{FF2B5EF4-FFF2-40B4-BE49-F238E27FC236}">
                <a16:creationId xmlns:a16="http://schemas.microsoft.com/office/drawing/2014/main" id="{BAD8E67C-EBA2-4EEE-B0D6-1577B76D9992}"/>
              </a:ext>
            </a:extLst>
          </p:cNvPr>
          <p:cNvSpPr>
            <a:spLocks xmlns:a="http://schemas.openxmlformats.org/drawingml/2006/main" noGrp="1"/>
          </p:cNvSpPr>
          <p:nvPr/>
        </p:nvSpPr>
        <p:spPr>
          <a:xfrm xmlns:a="http://schemas.openxmlformats.org/drawingml/2006/main">
            <a:off x="3943350" y="289560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mkdir    touch    cat</a:t>
            </a:r>
          </a:p>
        </p:txBody>
      </p:sp>
      <p:sp>
        <p:nvSpPr>
          <p:cNvPr id="9" name="Update and delete">
            <a:extLst xmlns:a="http://schemas.openxmlformats.org/drawingml/2006/main">
              <a:ext uri="{FF2B5EF4-FFF2-40B4-BE49-F238E27FC236}">
                <a16:creationId xmlns:a16="http://schemas.microsoft.com/office/drawing/2014/main" id="{8E8A99F5-2C51-4145-9302-A356EC187EBA}"/>
              </a:ext>
            </a:extLst>
          </p:cNvPr>
          <p:cNvSpPr>
            <a:spLocks xmlns:a="http://schemas.openxmlformats.org/drawingml/2006/main" noGrp="1"/>
          </p:cNvSpPr>
          <p:nvPr/>
        </p:nvSpPr>
        <p:spPr>
          <a:xfrm xmlns:a="http://schemas.openxmlformats.org/drawingml/2006/main">
            <a:off x="609600" y="37909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Update and delete</a:t>
            </a:r>
          </a:p>
        </p:txBody>
      </p:sp>
      <p:sp>
        <p:nvSpPr>
          <p:cNvPr id="10" name="write    rm">
            <a:extLst xmlns:a="http://schemas.openxmlformats.org/drawingml/2006/main">
              <a:ext uri="{FF2B5EF4-FFF2-40B4-BE49-F238E27FC236}">
                <a16:creationId xmlns:a16="http://schemas.microsoft.com/office/drawing/2014/main" id="{903BCCA7-79C8-4C23-8D54-D053FB6A22FE}"/>
              </a:ext>
            </a:extLst>
          </p:cNvPr>
          <p:cNvSpPr>
            <a:spLocks xmlns:a="http://schemas.openxmlformats.org/drawingml/2006/main" noGrp="1"/>
          </p:cNvSpPr>
          <p:nvPr/>
        </p:nvSpPr>
        <p:spPr>
          <a:xfrm xmlns:a="http://schemas.openxmlformats.org/drawingml/2006/main">
            <a:off x="3943350" y="379095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write    rm</a:t>
            </a:r>
          </a:p>
        </p:txBody>
      </p:sp>
      <p:sp>
        <p:nvSpPr>
          <p:cNvPr id="11" name="Network probe">
            <a:extLst xmlns:a="http://schemas.openxmlformats.org/drawingml/2006/main">
              <a:ext uri="{FF2B5EF4-FFF2-40B4-BE49-F238E27FC236}">
                <a16:creationId xmlns:a16="http://schemas.microsoft.com/office/drawing/2014/main" id="{30E7425F-B3F9-41A5-8F61-F7FE0A769244}"/>
              </a:ext>
            </a:extLst>
          </p:cNvPr>
          <p:cNvSpPr>
            <a:spLocks xmlns:a="http://schemas.openxmlformats.org/drawingml/2006/main" noGrp="1"/>
          </p:cNvSpPr>
          <p:nvPr/>
        </p:nvSpPr>
        <p:spPr>
          <a:xfrm xmlns:a="http://schemas.openxmlformats.org/drawingml/2006/main">
            <a:off x="609600" y="46863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Network probe</a:t>
            </a:r>
          </a:p>
        </p:txBody>
      </p:sp>
      <p:sp>
        <p:nvSpPr>
          <p:cNvPr id="12" name="tcpping &lt;ipv4&gt; [port]">
            <a:extLst xmlns:a="http://schemas.openxmlformats.org/drawingml/2006/main">
              <a:ext uri="{FF2B5EF4-FFF2-40B4-BE49-F238E27FC236}">
                <a16:creationId xmlns:a16="http://schemas.microsoft.com/office/drawing/2014/main" id="{F8D7EE34-279A-46D2-91BC-C2A74B065E9D}"/>
              </a:ext>
            </a:extLst>
          </p:cNvPr>
          <p:cNvSpPr>
            <a:spLocks xmlns:a="http://schemas.openxmlformats.org/drawingml/2006/main" noGrp="1"/>
          </p:cNvSpPr>
          <p:nvPr/>
        </p:nvSpPr>
        <p:spPr>
          <a:xfrm xmlns:a="http://schemas.openxmlformats.org/drawingml/2006/main">
            <a:off x="3943350" y="468630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tcpping &lt;ipv4&gt; [port]</a:t>
            </a:r>
          </a:p>
        </p:txBody>
      </p:sp>
    </p:spTree>
    <p:extLst>
      <p:ext uri="{BB962C8B-B14F-4D97-AF65-F5344CB8AC3E}">
        <p14:creationId xmlns:p14="http://schemas.microsoft.com/office/powerpoint/2010/main" val="72127075"/>
      </p:ext>
    </p:extLst>
  </p:cSld>
</p:sld>
</file>

<file path=ppt/slides/slide13.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9" name="FILESYSTEM">
            <a:extLst xmlns:a="http://schemas.openxmlformats.org/drawingml/2006/main">
              <a:ext uri="{FF2B5EF4-FFF2-40B4-BE49-F238E27FC236}">
                <a16:creationId xmlns:a16="http://schemas.microsoft.com/office/drawing/2014/main" id="{03DAF3D2-DB0C-48DF-B8F8-ACCD7A0E55DD}"/>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FILESYSTEM</a:t>
            </a:r>
          </a:p>
        </p:txBody>
      </p:sp>
      <p:sp>
        <p:nvSpPr>
          <p:cNvPr id="2" name="RAM filesystem model">
            <a:extLst xmlns:a="http://schemas.openxmlformats.org/drawingml/2006/main">
              <a:ext uri="{FF2B5EF4-FFF2-40B4-BE49-F238E27FC236}">
                <a16:creationId xmlns:a16="http://schemas.microsoft.com/office/drawing/2014/main" id="{483083DA-3253-4903-8F7D-3D13EB78AF44}"/>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RAM filesystem model</a:t>
            </a:r>
          </a:p>
        </p:txBody>
      </p:sp>
      <p:sp>
        <p:nvSpPr>
          <p:cNvPr id="3" name="AGENTIC OS  /  MVP TECHNICAL WALKTHROUGH">
            <a:extLst xmlns:a="http://schemas.openxmlformats.org/drawingml/2006/main">
              <a:ext uri="{FF2B5EF4-FFF2-40B4-BE49-F238E27FC236}">
                <a16:creationId xmlns:a16="http://schemas.microsoft.com/office/drawing/2014/main" id="{1C3D472B-B910-4736-928A-1E7EA65894AA}"/>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13">
            <a:extLst xmlns:a="http://schemas.openxmlformats.org/drawingml/2006/main">
              <a:ext uri="{FF2B5EF4-FFF2-40B4-BE49-F238E27FC236}">
                <a16:creationId xmlns:a16="http://schemas.microsoft.com/office/drawing/2014/main" id="{87C10ABA-7778-4C14-B9C5-C25526F14519}"/>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47C43E56-B6CD-4E5E-8A14-1B686B250642}"/>
              </a:ext>
            </a:extLst>
          </p:cNvPr>
          <p:cNvSpPr>
            <a:spLocks xmlns:a="http://schemas.openxmlformats.org/drawingml/2006/main" noGrp="1"/>
          </p:cNvSpPr>
          <p:nvPr/>
        </p:nvSpPr>
        <p:spPr>
          <a:xfrm xmlns:a="http://schemas.openxmlformats.org/drawingml/2006/main">
            <a:off x="781050" y="2533650"/>
            <a:ext cx="1428750" cy="714375"/>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
            <a:extLst xmlns:a="http://schemas.openxmlformats.org/drawingml/2006/main">
              <a:ext uri="{FF2B5EF4-FFF2-40B4-BE49-F238E27FC236}">
                <a16:creationId xmlns:a16="http://schemas.microsoft.com/office/drawing/2014/main" id="{DFD7F757-EFCA-4B1D-AD9B-0873F26A472D}"/>
              </a:ext>
            </a:extLst>
          </p:cNvPr>
          <p:cNvSpPr>
            <a:spLocks xmlns:a="http://schemas.openxmlformats.org/drawingml/2006/main" noGrp="1"/>
          </p:cNvSpPr>
          <p:nvPr/>
        </p:nvSpPr>
        <p:spPr>
          <a:xfrm xmlns:a="http://schemas.openxmlformats.org/drawingml/2006/main">
            <a:off x="923925" y="2619375"/>
            <a:ext cx="1143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B51606E1-ED2C-4F71-A206-0411F976D494}"/>
              </a:ext>
            </a:extLst>
          </p:cNvPr>
          <p:cNvSpPr>
            <a:spLocks xmlns:a="http://schemas.openxmlformats.org/drawingml/2006/main" noGrp="1"/>
          </p:cNvSpPr>
          <p:nvPr/>
        </p:nvSpPr>
        <p:spPr>
          <a:xfrm xmlns:a="http://schemas.openxmlformats.org/drawingml/2006/main">
            <a:off x="3286125" y="2533650"/>
            <a:ext cx="2333625" cy="714375"/>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8" name="/notes">
            <a:extLst xmlns:a="http://schemas.openxmlformats.org/drawingml/2006/main">
              <a:ext uri="{FF2B5EF4-FFF2-40B4-BE49-F238E27FC236}">
                <a16:creationId xmlns:a16="http://schemas.microsoft.com/office/drawing/2014/main" id="{8175E6BB-37C7-41AB-8743-CFD0CDCA32FE}"/>
              </a:ext>
            </a:extLst>
          </p:cNvPr>
          <p:cNvSpPr>
            <a:spLocks xmlns:a="http://schemas.openxmlformats.org/drawingml/2006/main" noGrp="1"/>
          </p:cNvSpPr>
          <p:nvPr/>
        </p:nvSpPr>
        <p:spPr>
          <a:xfrm xmlns:a="http://schemas.openxmlformats.org/drawingml/2006/main">
            <a:off x="3429000" y="2619375"/>
            <a:ext cx="2047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/notes</a:t>
            </a:r>
          </a:p>
        </p:txBody>
      </p:sp>
      <p:sp>
        <p:nvSpPr>
          <p:cNvPr id="9" name="">
            <a:extLst xmlns:a="http://schemas.openxmlformats.org/drawingml/2006/main">
              <a:ext uri="{FF2B5EF4-FFF2-40B4-BE49-F238E27FC236}">
                <a16:creationId xmlns:a16="http://schemas.microsoft.com/office/drawing/2014/main" id="{373E4A53-6934-4331-9BE2-08A692B7AD01}"/>
              </a:ext>
            </a:extLst>
          </p:cNvPr>
          <p:cNvSpPr>
            <a:spLocks xmlns:a="http://schemas.openxmlformats.org/drawingml/2006/main" noGrp="1"/>
          </p:cNvSpPr>
          <p:nvPr/>
        </p:nvSpPr>
        <p:spPr>
          <a:xfrm xmlns:a="http://schemas.openxmlformats.org/drawingml/2006/main">
            <a:off x="6934200" y="2171700"/>
            <a:ext cx="3429000" cy="714375"/>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0" name="demo.txt">
            <a:extLst xmlns:a="http://schemas.openxmlformats.org/drawingml/2006/main">
              <a:ext uri="{FF2B5EF4-FFF2-40B4-BE49-F238E27FC236}">
                <a16:creationId xmlns:a16="http://schemas.microsoft.com/office/drawing/2014/main" id="{3E2A72C5-5E6D-44EF-8EC3-76A567385EAC}"/>
              </a:ext>
            </a:extLst>
          </p:cNvPr>
          <p:cNvSpPr>
            <a:spLocks xmlns:a="http://schemas.openxmlformats.org/drawingml/2006/main" noGrp="1"/>
          </p:cNvSpPr>
          <p:nvPr/>
        </p:nvSpPr>
        <p:spPr>
          <a:xfrm xmlns:a="http://schemas.openxmlformats.org/drawingml/2006/main">
            <a:off x="7077075" y="2257425"/>
            <a:ext cx="3143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demo.txt</a:t>
            </a:r>
          </a:p>
        </p:txBody>
      </p:sp>
      <p:sp>
        <p:nvSpPr>
          <p:cNvPr id="11" name="">
            <a:extLst xmlns:a="http://schemas.openxmlformats.org/drawingml/2006/main">
              <a:ext uri="{FF2B5EF4-FFF2-40B4-BE49-F238E27FC236}">
                <a16:creationId xmlns:a16="http://schemas.microsoft.com/office/drawing/2014/main" id="{DBCDDEEE-F2A4-407F-A978-E0699B97E06F}"/>
              </a:ext>
            </a:extLst>
          </p:cNvPr>
          <p:cNvSpPr>
            <a:spLocks xmlns:a="http://schemas.openxmlformats.org/drawingml/2006/main" noGrp="1"/>
          </p:cNvSpPr>
          <p:nvPr/>
        </p:nvSpPr>
        <p:spPr>
          <a:xfrm xmlns:a="http://schemas.openxmlformats.org/drawingml/2006/main">
            <a:off x="6934200" y="3524250"/>
            <a:ext cx="3429000" cy="714375"/>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ideas.txt">
            <a:extLst xmlns:a="http://schemas.openxmlformats.org/drawingml/2006/main">
              <a:ext uri="{FF2B5EF4-FFF2-40B4-BE49-F238E27FC236}">
                <a16:creationId xmlns:a16="http://schemas.microsoft.com/office/drawing/2014/main" id="{428959B7-9655-4FF1-87C1-A5D52CAA8707}"/>
              </a:ext>
            </a:extLst>
          </p:cNvPr>
          <p:cNvSpPr>
            <a:spLocks xmlns:a="http://schemas.openxmlformats.org/drawingml/2006/main" noGrp="1"/>
          </p:cNvSpPr>
          <p:nvPr/>
        </p:nvSpPr>
        <p:spPr>
          <a:xfrm xmlns:a="http://schemas.openxmlformats.org/drawingml/2006/main">
            <a:off x="7077075" y="3609975"/>
            <a:ext cx="3143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ideas.txt</a:t>
            </a:r>
          </a:p>
        </p:txBody>
      </p:sp>
      <p:cxnSp>
        <p:nvCxnSpPr>
          <p:cNvPr id="13" name="">
            <a:extLst xmlns:a="http://schemas.openxmlformats.org/drawingml/2006/main">
              <a:ext uri="{FF2B5EF4-FFF2-40B4-BE49-F238E27FC236}">
                <a16:creationId xmlns:a16="http://schemas.microsoft.com/office/drawing/2014/main" id="{A952E7DA-4914-4EFF-9361-A426ACFE3A41}"/>
              </a:ext>
            </a:extLst>
          </p:cNvPr>
          <p:cNvCxnSpPr/>
          <p:nvPr/>
        </p:nvCxnSpPr>
        <p:spPr>
          <a:xfrm xmlns:a="http://schemas.openxmlformats.org/drawingml/2006/main" flipH="0" flipV="0">
            <a:off x="2209800" y="2895600"/>
            <a:ext cx="100012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cxnSp>
        <p:nvCxnSpPr>
          <p:cNvPr id="14" name="">
            <a:extLst xmlns:a="http://schemas.openxmlformats.org/drawingml/2006/main">
              <a:ext uri="{FF2B5EF4-FFF2-40B4-BE49-F238E27FC236}">
                <a16:creationId xmlns:a16="http://schemas.microsoft.com/office/drawing/2014/main" id="{796EF176-9012-4E4A-8627-F6BC44E92071}"/>
              </a:ext>
            </a:extLst>
          </p:cNvPr>
          <p:cNvCxnSpPr/>
          <p:nvPr/>
        </p:nvCxnSpPr>
        <p:spPr>
          <a:xfrm xmlns:a="http://schemas.openxmlformats.org/drawingml/2006/main" flipH="0" flipV="1">
            <a:off x="5619750" y="2543175"/>
            <a:ext cx="1219200" cy="352425"/>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cxnSp>
        <p:nvCxnSpPr>
          <p:cNvPr id="15" name="">
            <a:extLst xmlns:a="http://schemas.openxmlformats.org/drawingml/2006/main">
              <a:ext uri="{FF2B5EF4-FFF2-40B4-BE49-F238E27FC236}">
                <a16:creationId xmlns:a16="http://schemas.microsoft.com/office/drawing/2014/main" id="{B73D8F2C-2EFB-491E-818A-BC76F71000AD}"/>
              </a:ext>
            </a:extLst>
          </p:cNvPr>
          <p:cNvCxnSpPr/>
          <p:nvPr/>
        </p:nvCxnSpPr>
        <p:spPr>
          <a:xfrm xmlns:a="http://schemas.openxmlformats.org/drawingml/2006/main" flipH="0" flipV="0">
            <a:off x="5619750" y="2895600"/>
            <a:ext cx="1219200" cy="981075"/>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6" name="96 entry slots">
            <a:extLst xmlns:a="http://schemas.openxmlformats.org/drawingml/2006/main">
              <a:ext uri="{FF2B5EF4-FFF2-40B4-BE49-F238E27FC236}">
                <a16:creationId xmlns:a16="http://schemas.microsoft.com/office/drawing/2014/main" id="{54C3D33A-B100-4E64-8E9A-6587BF638F60}"/>
              </a:ext>
            </a:extLst>
          </p:cNvPr>
          <p:cNvSpPr>
            <a:spLocks xmlns:a="http://schemas.openxmlformats.org/drawingml/2006/main" noGrp="1"/>
          </p:cNvSpPr>
          <p:nvPr/>
        </p:nvSpPr>
        <p:spPr>
          <a:xfrm xmlns:a="http://schemas.openxmlformats.org/drawingml/2006/main">
            <a:off x="685800" y="4505325"/>
            <a:ext cx="371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b="1">
                <a:solidFill>
                  <a:srgbClr val="BE98F6"/>
                </a:solidFill>
                <a:latin typeface="Arial"/>
                <a:ea typeface="Arial"/>
                <a:cs typeface="Arial"/>
              </a:defRPr>
            </a:defPPr>
          </a:lstStyle>
          <a:p xmlns:a="http://schemas.openxmlformats.org/drawingml/2006/main">
            <a:pPr algn="l">
              <a:defRPr sz="3000" b="1">
                <a:solidFill>
                  <a:srgbClr val="BE98F6"/>
                </a:solidFill>
                <a:latin typeface="Arial"/>
                <a:ea typeface="Arial"/>
                <a:cs typeface="Arial"/>
              </a:defRPr>
            </a:pPr>
            <a:r>
              <a:rPr sz="3000" b="1">
                <a:solidFill>
                  <a:srgbClr val="BE98F6"/>
                </a:solidFill>
                <a:latin typeface="Arial"/>
                <a:ea typeface="Arial"/>
                <a:cs typeface="Arial"/>
              </a:rPr>
              <a:t>96 entry slots</a:t>
            </a:r>
          </a:p>
        </p:txBody>
      </p:sp>
      <p:sp>
        <p:nvSpPr>
          <p:cNvPr id="17" name="RAM-backed data&#10;Cleared on restart">
            <a:extLst xmlns:a="http://schemas.openxmlformats.org/drawingml/2006/main">
              <a:ext uri="{FF2B5EF4-FFF2-40B4-BE49-F238E27FC236}">
                <a16:creationId xmlns:a16="http://schemas.microsoft.com/office/drawing/2014/main" id="{541E7866-25FC-453B-9F7E-A1DB1715C4AE}"/>
              </a:ext>
            </a:extLst>
          </p:cNvPr>
          <p:cNvSpPr>
            <a:spLocks xmlns:a="http://schemas.openxmlformats.org/drawingml/2006/main" noGrp="1"/>
          </p:cNvSpPr>
          <p:nvPr/>
        </p:nvSpPr>
        <p:spPr>
          <a:xfrm xmlns:a="http://schemas.openxmlformats.org/drawingml/2006/main">
            <a:off x="6477000" y="4562475"/>
            <a:ext cx="4857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0">
                <a:solidFill>
                  <a:srgbClr val="FFFFFF"/>
                </a:solidFill>
                <a:latin typeface="Arial"/>
                <a:ea typeface="Arial"/>
                <a:cs typeface="Arial"/>
              </a:defRPr>
            </a:def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RAM-backed data</a:t>
            </a:r>
          </a:p>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Cleared on restart</a:t>
            </a:r>
          </a:p>
        </p:txBody>
      </p:sp>
      <p:sp>
        <p:nvSpPr>
          <p:cNvPr id="18" name="Each file stores a normalized path, byte len">
            <a:extLst xmlns:a="http://schemas.openxmlformats.org/drawingml/2006/main">
              <a:ext uri="{FF2B5EF4-FFF2-40B4-BE49-F238E27FC236}">
                <a16:creationId xmlns:a16="http://schemas.microsoft.com/office/drawing/2014/main" id="{9FF769F3-11AA-42B4-891C-7766D3D75B20}"/>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Each file stores a normalized path, byte length and pointer to its contents.</a:t>
            </a:r>
          </a:p>
        </p:txBody>
      </p:sp>
    </p:spTree>
    <p:extLst>
      <p:ext uri="{BB962C8B-B14F-4D97-AF65-F5344CB8AC3E}">
        <p14:creationId xmlns:p14="http://schemas.microsoft.com/office/powerpoint/2010/main" val="369924280"/>
      </p:ext>
    </p:extLst>
  </p:cSld>
</p:sld>
</file>

<file path=ppt/slides/slide14.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3" name="FILESYSTEM">
            <a:extLst xmlns:a="http://schemas.openxmlformats.org/drawingml/2006/main">
              <a:ext uri="{FF2B5EF4-FFF2-40B4-BE49-F238E27FC236}">
                <a16:creationId xmlns:a16="http://schemas.microsoft.com/office/drawing/2014/main" id="{59062725-EFCA-409A-846A-01FED04CE6A9}"/>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FILESYSTEM</a:t>
            </a:r>
          </a:p>
        </p:txBody>
      </p:sp>
      <p:sp>
        <p:nvSpPr>
          <p:cNvPr id="2" name="File CRUD maps directly to RAMFS">
            <a:extLst xmlns:a="http://schemas.openxmlformats.org/drawingml/2006/main">
              <a:ext uri="{FF2B5EF4-FFF2-40B4-BE49-F238E27FC236}">
                <a16:creationId xmlns:a16="http://schemas.microsoft.com/office/drawing/2014/main" id="{1621FF9F-6F37-4F18-914C-45E4A208E193}"/>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File CRUD maps directly to RAMFS</a:t>
            </a:r>
          </a:p>
        </p:txBody>
      </p:sp>
      <p:sp>
        <p:nvSpPr>
          <p:cNvPr id="3" name="AGENTIC OS  /  MVP TECHNICAL WALKTHROUGH">
            <a:extLst xmlns:a="http://schemas.openxmlformats.org/drawingml/2006/main">
              <a:ext uri="{FF2B5EF4-FFF2-40B4-BE49-F238E27FC236}">
                <a16:creationId xmlns:a16="http://schemas.microsoft.com/office/drawing/2014/main" id="{554C0751-08B6-4156-97EB-749C0C9B5D32}"/>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14">
            <a:extLst xmlns:a="http://schemas.openxmlformats.org/drawingml/2006/main">
              <a:ext uri="{FF2B5EF4-FFF2-40B4-BE49-F238E27FC236}">
                <a16:creationId xmlns:a16="http://schemas.microsoft.com/office/drawing/2014/main" id="{0B5C634E-90D3-4D1B-B681-57DB3AD413C1}"/>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14</a:t>
            </a:r>
          </a:p>
        </p:txBody>
      </p:sp>
      <p:sp>
        <p:nvSpPr>
          <p:cNvPr id="5" name="CREATE">
            <a:extLst xmlns:a="http://schemas.openxmlformats.org/drawingml/2006/main">
              <a:ext uri="{FF2B5EF4-FFF2-40B4-BE49-F238E27FC236}">
                <a16:creationId xmlns:a16="http://schemas.microsoft.com/office/drawing/2014/main" id="{69F9C39A-88E3-4F4F-A0C4-FC7059356A5C}"/>
              </a:ext>
            </a:extLst>
          </p:cNvPr>
          <p:cNvSpPr>
            <a:spLocks xmlns:a="http://schemas.openxmlformats.org/drawingml/2006/main" noGrp="1"/>
          </p:cNvSpPr>
          <p:nvPr/>
        </p:nvSpPr>
        <p:spPr>
          <a:xfrm xmlns:a="http://schemas.openxmlformats.org/drawingml/2006/main">
            <a:off x="609600" y="19907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BE98F6"/>
                </a:solidFill>
                <a:latin typeface="Arial"/>
                <a:ea typeface="Arial"/>
                <a:cs typeface="Arial"/>
              </a:defRPr>
            </a:defPPr>
          </a:lstStyle>
          <a:p xmlns:a="http://schemas.openxmlformats.org/drawingml/2006/main">
            <a:pPr algn="l">
              <a:defRPr sz="2100" b="1">
                <a:solidFill>
                  <a:srgbClr val="BE98F6"/>
                </a:solidFill>
                <a:latin typeface="Arial"/>
                <a:ea typeface="Arial"/>
                <a:cs typeface="Arial"/>
              </a:defRPr>
            </a:pPr>
            <a:r>
              <a:rPr sz="2100" b="1">
                <a:solidFill>
                  <a:srgbClr val="BE98F6"/>
                </a:solidFill>
                <a:latin typeface="Arial"/>
                <a:ea typeface="Arial"/>
                <a:cs typeface="Arial"/>
              </a:rPr>
              <a:t>CREATE</a:t>
            </a:r>
          </a:p>
        </p:txBody>
      </p:sp>
      <p:sp>
        <p:nvSpPr>
          <p:cNvPr id="6" name="touch  /  ramfs_create_empty_file()">
            <a:extLst xmlns:a="http://schemas.openxmlformats.org/drawingml/2006/main">
              <a:ext uri="{FF2B5EF4-FFF2-40B4-BE49-F238E27FC236}">
                <a16:creationId xmlns:a16="http://schemas.microsoft.com/office/drawing/2014/main" id="{267BFCA2-2457-4818-8C2C-5F153D1B09B4}"/>
              </a:ext>
            </a:extLst>
          </p:cNvPr>
          <p:cNvSpPr>
            <a:spLocks xmlns:a="http://schemas.openxmlformats.org/drawingml/2006/main" noGrp="1"/>
          </p:cNvSpPr>
          <p:nvPr/>
        </p:nvSpPr>
        <p:spPr>
          <a:xfrm xmlns:a="http://schemas.openxmlformats.org/drawingml/2006/main">
            <a:off x="3943350" y="199072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touch  /  ramfs_create_empty_file()</a:t>
            </a:r>
          </a:p>
        </p:txBody>
      </p:sp>
      <p:sp>
        <p:nvSpPr>
          <p:cNvPr id="7" name="READ">
            <a:extLst xmlns:a="http://schemas.openxmlformats.org/drawingml/2006/main">
              <a:ext uri="{FF2B5EF4-FFF2-40B4-BE49-F238E27FC236}">
                <a16:creationId xmlns:a16="http://schemas.microsoft.com/office/drawing/2014/main" id="{8C22A53D-9A67-425D-8AF8-73D0D6B94F24}"/>
              </a:ext>
            </a:extLst>
          </p:cNvPr>
          <p:cNvSpPr>
            <a:spLocks xmlns:a="http://schemas.openxmlformats.org/drawingml/2006/main" noGrp="1"/>
          </p:cNvSpPr>
          <p:nvPr/>
        </p:nvSpPr>
        <p:spPr>
          <a:xfrm xmlns:a="http://schemas.openxmlformats.org/drawingml/2006/main">
            <a:off x="609600" y="28860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BE98F6"/>
                </a:solidFill>
                <a:latin typeface="Arial"/>
                <a:ea typeface="Arial"/>
                <a:cs typeface="Arial"/>
              </a:defRPr>
            </a:defPPr>
          </a:lstStyle>
          <a:p xmlns:a="http://schemas.openxmlformats.org/drawingml/2006/main">
            <a:pPr algn="l">
              <a:defRPr sz="2100" b="1">
                <a:solidFill>
                  <a:srgbClr val="BE98F6"/>
                </a:solidFill>
                <a:latin typeface="Arial"/>
                <a:ea typeface="Arial"/>
                <a:cs typeface="Arial"/>
              </a:defRPr>
            </a:pPr>
            <a:r>
              <a:rPr sz="2100" b="1">
                <a:solidFill>
                  <a:srgbClr val="BE98F6"/>
                </a:solidFill>
                <a:latin typeface="Arial"/>
                <a:ea typeface="Arial"/>
                <a:cs typeface="Arial"/>
              </a:rPr>
              <a:t>READ</a:t>
            </a:r>
          </a:p>
        </p:txBody>
      </p:sp>
      <p:sp>
        <p:nvSpPr>
          <p:cNvPr id="8" name="cat  /  ramfs_read_file()">
            <a:extLst xmlns:a="http://schemas.openxmlformats.org/drawingml/2006/main">
              <a:ext uri="{FF2B5EF4-FFF2-40B4-BE49-F238E27FC236}">
                <a16:creationId xmlns:a16="http://schemas.microsoft.com/office/drawing/2014/main" id="{9EF34985-A566-4199-A5F9-7955E8193169}"/>
              </a:ext>
            </a:extLst>
          </p:cNvPr>
          <p:cNvSpPr>
            <a:spLocks xmlns:a="http://schemas.openxmlformats.org/drawingml/2006/main" noGrp="1"/>
          </p:cNvSpPr>
          <p:nvPr/>
        </p:nvSpPr>
        <p:spPr>
          <a:xfrm xmlns:a="http://schemas.openxmlformats.org/drawingml/2006/main">
            <a:off x="3943350" y="28860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cat  /  ramfs_read_file()</a:t>
            </a:r>
          </a:p>
        </p:txBody>
      </p:sp>
      <p:sp>
        <p:nvSpPr>
          <p:cNvPr id="9" name="UPDATE">
            <a:extLst xmlns:a="http://schemas.openxmlformats.org/drawingml/2006/main">
              <a:ext uri="{FF2B5EF4-FFF2-40B4-BE49-F238E27FC236}">
                <a16:creationId xmlns:a16="http://schemas.microsoft.com/office/drawing/2014/main" id="{B09D42DB-C516-44BB-9224-A843A8315CD7}"/>
              </a:ext>
            </a:extLst>
          </p:cNvPr>
          <p:cNvSpPr>
            <a:spLocks xmlns:a="http://schemas.openxmlformats.org/drawingml/2006/main" noGrp="1"/>
          </p:cNvSpPr>
          <p:nvPr/>
        </p:nvSpPr>
        <p:spPr>
          <a:xfrm xmlns:a="http://schemas.openxmlformats.org/drawingml/2006/main">
            <a:off x="609600" y="37814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BE98F6"/>
                </a:solidFill>
                <a:latin typeface="Arial"/>
                <a:ea typeface="Arial"/>
                <a:cs typeface="Arial"/>
              </a:defRPr>
            </a:defPPr>
          </a:lstStyle>
          <a:p xmlns:a="http://schemas.openxmlformats.org/drawingml/2006/main">
            <a:pPr algn="l">
              <a:defRPr sz="2100" b="1">
                <a:solidFill>
                  <a:srgbClr val="BE98F6"/>
                </a:solidFill>
                <a:latin typeface="Arial"/>
                <a:ea typeface="Arial"/>
                <a:cs typeface="Arial"/>
              </a:defRPr>
            </a:pPr>
            <a:r>
              <a:rPr sz="2100" b="1">
                <a:solidFill>
                  <a:srgbClr val="BE98F6"/>
                </a:solidFill>
                <a:latin typeface="Arial"/>
                <a:ea typeface="Arial"/>
                <a:cs typeface="Arial"/>
              </a:rPr>
              <a:t>UPDATE</a:t>
            </a:r>
          </a:p>
        </p:txBody>
      </p:sp>
      <p:sp>
        <p:nvSpPr>
          <p:cNvPr id="10" name="write  /  ramfs_write_file()">
            <a:extLst xmlns:a="http://schemas.openxmlformats.org/drawingml/2006/main">
              <a:ext uri="{FF2B5EF4-FFF2-40B4-BE49-F238E27FC236}">
                <a16:creationId xmlns:a16="http://schemas.microsoft.com/office/drawing/2014/main" id="{018532DC-23FF-4E4E-93F5-2459E09865D1}"/>
              </a:ext>
            </a:extLst>
          </p:cNvPr>
          <p:cNvSpPr>
            <a:spLocks xmlns:a="http://schemas.openxmlformats.org/drawingml/2006/main" noGrp="1"/>
          </p:cNvSpPr>
          <p:nvPr/>
        </p:nvSpPr>
        <p:spPr>
          <a:xfrm xmlns:a="http://schemas.openxmlformats.org/drawingml/2006/main">
            <a:off x="3943350" y="378142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write  /  ramfs_write_file()</a:t>
            </a:r>
          </a:p>
        </p:txBody>
      </p:sp>
      <p:sp>
        <p:nvSpPr>
          <p:cNvPr id="11" name="DELETE">
            <a:extLst xmlns:a="http://schemas.openxmlformats.org/drawingml/2006/main">
              <a:ext uri="{FF2B5EF4-FFF2-40B4-BE49-F238E27FC236}">
                <a16:creationId xmlns:a16="http://schemas.microsoft.com/office/drawing/2014/main" id="{86C3B3AB-6422-46ED-A0C0-0B88DD5AE571}"/>
              </a:ext>
            </a:extLst>
          </p:cNvPr>
          <p:cNvSpPr>
            <a:spLocks xmlns:a="http://schemas.openxmlformats.org/drawingml/2006/main" noGrp="1"/>
          </p:cNvSpPr>
          <p:nvPr/>
        </p:nvSpPr>
        <p:spPr>
          <a:xfrm xmlns:a="http://schemas.openxmlformats.org/drawingml/2006/main">
            <a:off x="609600" y="46767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BE98F6"/>
                </a:solidFill>
                <a:latin typeface="Arial"/>
                <a:ea typeface="Arial"/>
                <a:cs typeface="Arial"/>
              </a:defRPr>
            </a:defPPr>
          </a:lstStyle>
          <a:p xmlns:a="http://schemas.openxmlformats.org/drawingml/2006/main">
            <a:pPr algn="l">
              <a:defRPr sz="2100" b="1">
                <a:solidFill>
                  <a:srgbClr val="BE98F6"/>
                </a:solidFill>
                <a:latin typeface="Arial"/>
                <a:ea typeface="Arial"/>
                <a:cs typeface="Arial"/>
              </a:defRPr>
            </a:pPr>
            <a:r>
              <a:rPr sz="2100" b="1">
                <a:solidFill>
                  <a:srgbClr val="BE98F6"/>
                </a:solidFill>
                <a:latin typeface="Arial"/>
                <a:ea typeface="Arial"/>
                <a:cs typeface="Arial"/>
              </a:rPr>
              <a:t>DELETE</a:t>
            </a:r>
          </a:p>
        </p:txBody>
      </p:sp>
      <p:sp>
        <p:nvSpPr>
          <p:cNvPr id="12" name="rm  /  ramfs_unlink()">
            <a:extLst xmlns:a="http://schemas.openxmlformats.org/drawingml/2006/main">
              <a:ext uri="{FF2B5EF4-FFF2-40B4-BE49-F238E27FC236}">
                <a16:creationId xmlns:a16="http://schemas.microsoft.com/office/drawing/2014/main" id="{934F53DE-1CA2-4B4F-AB33-DAA9AA3A542F}"/>
              </a:ext>
            </a:extLst>
          </p:cNvPr>
          <p:cNvSpPr>
            <a:spLocks xmlns:a="http://schemas.openxmlformats.org/drawingml/2006/main" noGrp="1"/>
          </p:cNvSpPr>
          <p:nvPr/>
        </p:nvSpPr>
        <p:spPr>
          <a:xfrm xmlns:a="http://schemas.openxmlformats.org/drawingml/2006/main">
            <a:off x="3943350" y="46767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rm  /  ramfs_unlink()</a:t>
            </a:r>
          </a:p>
        </p:txBody>
      </p:sp>
    </p:spTree>
    <p:extLst>
      <p:ext uri="{BB962C8B-B14F-4D97-AF65-F5344CB8AC3E}">
        <p14:creationId xmlns:p14="http://schemas.microsoft.com/office/powerpoint/2010/main" val="554379878"/>
      </p:ext>
    </p:extLst>
  </p:cSld>
</p:sld>
</file>

<file path=ppt/slides/slide15.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28" name="FILESYSTEM">
            <a:extLst xmlns:a="http://schemas.openxmlformats.org/drawingml/2006/main">
              <a:ext uri="{FF2B5EF4-FFF2-40B4-BE49-F238E27FC236}">
                <a16:creationId xmlns:a16="http://schemas.microsoft.com/office/drawing/2014/main" id="{1592E01C-8D8A-48E8-AF92-006437361345}"/>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FILESYSTEM</a:t>
            </a:r>
          </a:p>
        </p:txBody>
      </p:sp>
      <p:sp>
        <p:nvSpPr>
          <p:cNvPr id="2" name="File write sequence">
            <a:extLst xmlns:a="http://schemas.openxmlformats.org/drawingml/2006/main">
              <a:ext uri="{FF2B5EF4-FFF2-40B4-BE49-F238E27FC236}">
                <a16:creationId xmlns:a16="http://schemas.microsoft.com/office/drawing/2014/main" id="{4AA6C174-2FF2-44DF-87E0-BD28155ACD47}"/>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File write sequence</a:t>
            </a:r>
          </a:p>
        </p:txBody>
      </p:sp>
      <p:sp>
        <p:nvSpPr>
          <p:cNvPr id="3" name="AGENTIC OS  /  MVP TECHNICAL WALKTHROUGH">
            <a:extLst xmlns:a="http://schemas.openxmlformats.org/drawingml/2006/main">
              <a:ext uri="{FF2B5EF4-FFF2-40B4-BE49-F238E27FC236}">
                <a16:creationId xmlns:a16="http://schemas.microsoft.com/office/drawing/2014/main" id="{44114C8C-1327-4EE9-B6AA-7301D4408C5D}"/>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15">
            <a:extLst xmlns:a="http://schemas.openxmlformats.org/drawingml/2006/main">
              <a:ext uri="{FF2B5EF4-FFF2-40B4-BE49-F238E27FC236}">
                <a16:creationId xmlns:a16="http://schemas.microsoft.com/office/drawing/2014/main" id="{3EA59DDC-E06A-40D2-8750-15041DFA8FA8}"/>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6CA63739-5EBB-4D8C-A80A-EB30AE25ADB5}"/>
              </a:ext>
            </a:extLst>
          </p:cNvPr>
          <p:cNvSpPr>
            <a:spLocks xmlns:a="http://schemas.openxmlformats.org/drawingml/2006/main" noGrp="1"/>
          </p:cNvSpPr>
          <p:nvPr/>
        </p:nvSpPr>
        <p:spPr>
          <a:xfrm xmlns:a="http://schemas.openxmlformats.org/drawingml/2006/main">
            <a:off x="33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User">
            <a:extLst xmlns:a="http://schemas.openxmlformats.org/drawingml/2006/main">
              <a:ext uri="{FF2B5EF4-FFF2-40B4-BE49-F238E27FC236}">
                <a16:creationId xmlns:a16="http://schemas.microsoft.com/office/drawing/2014/main" id="{891BFA82-2FB5-4548-8BE7-0A830BAB5E33}"/>
              </a:ext>
            </a:extLst>
          </p:cNvPr>
          <p:cNvSpPr>
            <a:spLocks xmlns:a="http://schemas.openxmlformats.org/drawingml/2006/main" noGrp="1"/>
          </p:cNvSpPr>
          <p:nvPr/>
        </p:nvSpPr>
        <p:spPr>
          <a:xfrm xmlns:a="http://schemas.openxmlformats.org/drawingml/2006/main">
            <a:off x="47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User</a:t>
            </a:r>
          </a:p>
        </p:txBody>
      </p:sp>
      <p:cxnSp>
        <p:nvCxnSpPr>
          <p:cNvPr id="7" name="">
            <a:extLst xmlns:a="http://schemas.openxmlformats.org/drawingml/2006/main">
              <a:ext uri="{FF2B5EF4-FFF2-40B4-BE49-F238E27FC236}">
                <a16:creationId xmlns:a16="http://schemas.microsoft.com/office/drawing/2014/main" id="{11F403C6-DA5C-457C-9709-563355EAD64D}"/>
              </a:ext>
            </a:extLst>
          </p:cNvPr>
          <p:cNvCxnSpPr/>
          <p:nvPr/>
        </p:nvCxnSpPr>
        <p:spPr>
          <a:xfrm xmlns:a="http://schemas.openxmlformats.org/drawingml/2006/main" flipH="0" flipV="0">
            <a:off x="133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8" name="">
            <a:extLst xmlns:a="http://schemas.openxmlformats.org/drawingml/2006/main">
              <a:ext uri="{FF2B5EF4-FFF2-40B4-BE49-F238E27FC236}">
                <a16:creationId xmlns:a16="http://schemas.microsoft.com/office/drawing/2014/main" id="{4B7866F0-8ECB-4BD8-B65A-E0133005370E}"/>
              </a:ext>
            </a:extLst>
          </p:cNvPr>
          <p:cNvSpPr>
            <a:spLocks xmlns:a="http://schemas.openxmlformats.org/drawingml/2006/main" noGrp="1"/>
          </p:cNvSpPr>
          <p:nvPr/>
        </p:nvSpPr>
        <p:spPr>
          <a:xfrm xmlns:a="http://schemas.openxmlformats.org/drawingml/2006/main">
            <a:off x="350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Shell">
            <a:extLst xmlns:a="http://schemas.openxmlformats.org/drawingml/2006/main">
              <a:ext uri="{FF2B5EF4-FFF2-40B4-BE49-F238E27FC236}">
                <a16:creationId xmlns:a16="http://schemas.microsoft.com/office/drawing/2014/main" id="{7968809F-5A5E-43CC-98FE-D8825117437E}"/>
              </a:ext>
            </a:extLst>
          </p:cNvPr>
          <p:cNvSpPr>
            <a:spLocks xmlns:a="http://schemas.openxmlformats.org/drawingml/2006/main" noGrp="1"/>
          </p:cNvSpPr>
          <p:nvPr/>
        </p:nvSpPr>
        <p:spPr>
          <a:xfrm xmlns:a="http://schemas.openxmlformats.org/drawingml/2006/main">
            <a:off x="365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Shell</a:t>
            </a:r>
          </a:p>
        </p:txBody>
      </p:sp>
      <p:cxnSp>
        <p:nvCxnSpPr>
          <p:cNvPr id="10" name="">
            <a:extLst xmlns:a="http://schemas.openxmlformats.org/drawingml/2006/main">
              <a:ext uri="{FF2B5EF4-FFF2-40B4-BE49-F238E27FC236}">
                <a16:creationId xmlns:a16="http://schemas.microsoft.com/office/drawing/2014/main" id="{35B0BFD6-6E3E-486A-A0D5-7ECECF12EC44}"/>
              </a:ext>
            </a:extLst>
          </p:cNvPr>
          <p:cNvCxnSpPr/>
          <p:nvPr/>
        </p:nvCxnSpPr>
        <p:spPr>
          <a:xfrm xmlns:a="http://schemas.openxmlformats.org/drawingml/2006/main" flipH="0" flipV="0">
            <a:off x="450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1" name="">
            <a:extLst xmlns:a="http://schemas.openxmlformats.org/drawingml/2006/main">
              <a:ext uri="{FF2B5EF4-FFF2-40B4-BE49-F238E27FC236}">
                <a16:creationId xmlns:a16="http://schemas.microsoft.com/office/drawing/2014/main" id="{5969E441-E8AC-4918-9944-326750B0AEE4}"/>
              </a:ext>
            </a:extLst>
          </p:cNvPr>
          <p:cNvSpPr>
            <a:spLocks xmlns:a="http://schemas.openxmlformats.org/drawingml/2006/main" noGrp="1"/>
          </p:cNvSpPr>
          <p:nvPr/>
        </p:nvSpPr>
        <p:spPr>
          <a:xfrm xmlns:a="http://schemas.openxmlformats.org/drawingml/2006/main">
            <a:off x="668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RAMFS">
            <a:extLst xmlns:a="http://schemas.openxmlformats.org/drawingml/2006/main">
              <a:ext uri="{FF2B5EF4-FFF2-40B4-BE49-F238E27FC236}">
                <a16:creationId xmlns:a16="http://schemas.microsoft.com/office/drawing/2014/main" id="{BADDD4EB-EAB8-43EC-921A-1953425F1E6B}"/>
              </a:ext>
            </a:extLst>
          </p:cNvPr>
          <p:cNvSpPr>
            <a:spLocks xmlns:a="http://schemas.openxmlformats.org/drawingml/2006/main" noGrp="1"/>
          </p:cNvSpPr>
          <p:nvPr/>
        </p:nvSpPr>
        <p:spPr>
          <a:xfrm xmlns:a="http://schemas.openxmlformats.org/drawingml/2006/main">
            <a:off x="682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RAMFS</a:t>
            </a:r>
          </a:p>
        </p:txBody>
      </p:sp>
      <p:cxnSp>
        <p:nvCxnSpPr>
          <p:cNvPr id="13" name="">
            <a:extLst xmlns:a="http://schemas.openxmlformats.org/drawingml/2006/main">
              <a:ext uri="{FF2B5EF4-FFF2-40B4-BE49-F238E27FC236}">
                <a16:creationId xmlns:a16="http://schemas.microsoft.com/office/drawing/2014/main" id="{B26BECB7-90C7-40EE-9542-DBF469DD7424}"/>
              </a:ext>
            </a:extLst>
          </p:cNvPr>
          <p:cNvCxnSpPr/>
          <p:nvPr/>
        </p:nvCxnSpPr>
        <p:spPr>
          <a:xfrm xmlns:a="http://schemas.openxmlformats.org/drawingml/2006/main" flipH="0" flipV="0">
            <a:off x="768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4" name="">
            <a:extLst xmlns:a="http://schemas.openxmlformats.org/drawingml/2006/main">
              <a:ext uri="{FF2B5EF4-FFF2-40B4-BE49-F238E27FC236}">
                <a16:creationId xmlns:a16="http://schemas.microsoft.com/office/drawing/2014/main" id="{CB647CD9-6B1A-4F13-AC79-EAEAE99083E6}"/>
              </a:ext>
            </a:extLst>
          </p:cNvPr>
          <p:cNvSpPr>
            <a:spLocks xmlns:a="http://schemas.openxmlformats.org/drawingml/2006/main" noGrp="1"/>
          </p:cNvSpPr>
          <p:nvPr/>
        </p:nvSpPr>
        <p:spPr>
          <a:xfrm xmlns:a="http://schemas.openxmlformats.org/drawingml/2006/main">
            <a:off x="985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Heap">
            <a:extLst xmlns:a="http://schemas.openxmlformats.org/drawingml/2006/main">
              <a:ext uri="{FF2B5EF4-FFF2-40B4-BE49-F238E27FC236}">
                <a16:creationId xmlns:a16="http://schemas.microsoft.com/office/drawing/2014/main" id="{80A33B8F-CBE3-44F8-AE3A-D7D09B27DE7B}"/>
              </a:ext>
            </a:extLst>
          </p:cNvPr>
          <p:cNvSpPr>
            <a:spLocks xmlns:a="http://schemas.openxmlformats.org/drawingml/2006/main" noGrp="1"/>
          </p:cNvSpPr>
          <p:nvPr/>
        </p:nvSpPr>
        <p:spPr>
          <a:xfrm xmlns:a="http://schemas.openxmlformats.org/drawingml/2006/main">
            <a:off x="1000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Heap</a:t>
            </a:r>
          </a:p>
        </p:txBody>
      </p:sp>
      <p:cxnSp>
        <p:nvCxnSpPr>
          <p:cNvPr id="16" name="">
            <a:extLst xmlns:a="http://schemas.openxmlformats.org/drawingml/2006/main">
              <a:ext uri="{FF2B5EF4-FFF2-40B4-BE49-F238E27FC236}">
                <a16:creationId xmlns:a16="http://schemas.microsoft.com/office/drawing/2014/main" id="{B480F5C3-F07D-4C75-9F02-51FFBA2FE9AF}"/>
              </a:ext>
            </a:extLst>
          </p:cNvPr>
          <p:cNvCxnSpPr/>
          <p:nvPr/>
        </p:nvCxnSpPr>
        <p:spPr>
          <a:xfrm xmlns:a="http://schemas.openxmlformats.org/drawingml/2006/main" flipH="0" flipV="0">
            <a:off x="1085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cxnSp>
        <p:nvCxnSpPr>
          <p:cNvPr id="17" name="">
            <a:extLst xmlns:a="http://schemas.openxmlformats.org/drawingml/2006/main">
              <a:ext uri="{FF2B5EF4-FFF2-40B4-BE49-F238E27FC236}">
                <a16:creationId xmlns:a16="http://schemas.microsoft.com/office/drawing/2014/main" id="{FCEF92E4-82BC-44EF-BDC7-B5D5E80E835C}"/>
              </a:ext>
            </a:extLst>
          </p:cNvPr>
          <p:cNvCxnSpPr/>
          <p:nvPr/>
        </p:nvCxnSpPr>
        <p:spPr>
          <a:xfrm xmlns:a="http://schemas.openxmlformats.org/drawingml/2006/main" flipH="0" flipV="0">
            <a:off x="1333500" y="302895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8" name="write /notes/demo.txt hello">
            <a:extLst xmlns:a="http://schemas.openxmlformats.org/drawingml/2006/main">
              <a:ext uri="{FF2B5EF4-FFF2-40B4-BE49-F238E27FC236}">
                <a16:creationId xmlns:a16="http://schemas.microsoft.com/office/drawing/2014/main" id="{6211E41C-6782-4CE4-A16B-A508D51DD75C}"/>
              </a:ext>
            </a:extLst>
          </p:cNvPr>
          <p:cNvSpPr>
            <a:spLocks xmlns:a="http://schemas.openxmlformats.org/drawingml/2006/main" noGrp="1"/>
          </p:cNvSpPr>
          <p:nvPr/>
        </p:nvSpPr>
        <p:spPr>
          <a:xfrm xmlns:a="http://schemas.openxmlformats.org/drawingml/2006/main">
            <a:off x="1457325" y="275272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write /notes/demo.txt hello</a:t>
            </a:r>
          </a:p>
        </p:txBody>
      </p:sp>
      <p:cxnSp>
        <p:nvCxnSpPr>
          <p:cNvPr id="19" name="">
            <a:extLst xmlns:a="http://schemas.openxmlformats.org/drawingml/2006/main">
              <a:ext uri="{FF2B5EF4-FFF2-40B4-BE49-F238E27FC236}">
                <a16:creationId xmlns:a16="http://schemas.microsoft.com/office/drawing/2014/main" id="{C637BBD9-B840-4385-A137-8151B4C523B1}"/>
              </a:ext>
            </a:extLst>
          </p:cNvPr>
          <p:cNvCxnSpPr/>
          <p:nvPr/>
        </p:nvCxnSpPr>
        <p:spPr>
          <a:xfrm xmlns:a="http://schemas.openxmlformats.org/drawingml/2006/main" flipH="0" flipV="0">
            <a:off x="4508500" y="354330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0" name="Resolve path and call write">
            <a:extLst xmlns:a="http://schemas.openxmlformats.org/drawingml/2006/main">
              <a:ext uri="{FF2B5EF4-FFF2-40B4-BE49-F238E27FC236}">
                <a16:creationId xmlns:a16="http://schemas.microsoft.com/office/drawing/2014/main" id="{BDE149FD-5B59-4EAF-B285-692DC46D5792}"/>
              </a:ext>
            </a:extLst>
          </p:cNvPr>
          <p:cNvSpPr>
            <a:spLocks xmlns:a="http://schemas.openxmlformats.org/drawingml/2006/main" noGrp="1"/>
          </p:cNvSpPr>
          <p:nvPr/>
        </p:nvSpPr>
        <p:spPr>
          <a:xfrm xmlns:a="http://schemas.openxmlformats.org/drawingml/2006/main">
            <a:off x="4632325" y="326707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Resolve path and call write</a:t>
            </a:r>
          </a:p>
        </p:txBody>
      </p:sp>
      <p:cxnSp>
        <p:nvCxnSpPr>
          <p:cNvPr id="21" name="">
            <a:extLst xmlns:a="http://schemas.openxmlformats.org/drawingml/2006/main">
              <a:ext uri="{FF2B5EF4-FFF2-40B4-BE49-F238E27FC236}">
                <a16:creationId xmlns:a16="http://schemas.microsoft.com/office/drawing/2014/main" id="{B4F5AA90-8C13-4321-BB3F-5A01B71A660E}"/>
              </a:ext>
            </a:extLst>
          </p:cNvPr>
          <p:cNvCxnSpPr/>
          <p:nvPr/>
        </p:nvCxnSpPr>
        <p:spPr>
          <a:xfrm xmlns:a="http://schemas.openxmlformats.org/drawingml/2006/main" flipH="0" flipV="0">
            <a:off x="7683500" y="405765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2" name="Allocate and copy new bytes">
            <a:extLst xmlns:a="http://schemas.openxmlformats.org/drawingml/2006/main">
              <a:ext uri="{FF2B5EF4-FFF2-40B4-BE49-F238E27FC236}">
                <a16:creationId xmlns:a16="http://schemas.microsoft.com/office/drawing/2014/main" id="{164A0A05-F9ED-4B34-AA47-B83E1870FEC7}"/>
              </a:ext>
            </a:extLst>
          </p:cNvPr>
          <p:cNvSpPr>
            <a:spLocks xmlns:a="http://schemas.openxmlformats.org/drawingml/2006/main" noGrp="1"/>
          </p:cNvSpPr>
          <p:nvPr/>
        </p:nvSpPr>
        <p:spPr>
          <a:xfrm xmlns:a="http://schemas.openxmlformats.org/drawingml/2006/main">
            <a:off x="7807325" y="378142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Allocate and copy new bytes</a:t>
            </a:r>
          </a:p>
        </p:txBody>
      </p:sp>
      <p:cxnSp>
        <p:nvCxnSpPr>
          <p:cNvPr id="23" name="">
            <a:extLst xmlns:a="http://schemas.openxmlformats.org/drawingml/2006/main">
              <a:ext uri="{FF2B5EF4-FFF2-40B4-BE49-F238E27FC236}">
                <a16:creationId xmlns:a16="http://schemas.microsoft.com/office/drawing/2014/main" id="{20A1AD7A-CADA-4297-80C3-D0174219DFD7}"/>
              </a:ext>
            </a:extLst>
          </p:cNvPr>
          <p:cNvCxnSpPr/>
          <p:nvPr/>
        </p:nvCxnSpPr>
        <p:spPr>
          <a:xfrm xmlns:a="http://schemas.openxmlformats.org/drawingml/2006/main" flipH="1" flipV="0">
            <a:off x="7683500" y="457200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4" name="Return buffer">
            <a:extLst xmlns:a="http://schemas.openxmlformats.org/drawingml/2006/main">
              <a:ext uri="{FF2B5EF4-FFF2-40B4-BE49-F238E27FC236}">
                <a16:creationId xmlns:a16="http://schemas.microsoft.com/office/drawing/2014/main" id="{7EFDD510-046F-422E-8EFF-5F854693C778}"/>
              </a:ext>
            </a:extLst>
          </p:cNvPr>
          <p:cNvSpPr>
            <a:spLocks xmlns:a="http://schemas.openxmlformats.org/drawingml/2006/main" noGrp="1"/>
          </p:cNvSpPr>
          <p:nvPr/>
        </p:nvSpPr>
        <p:spPr>
          <a:xfrm xmlns:a="http://schemas.openxmlformats.org/drawingml/2006/main">
            <a:off x="7807325" y="429577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Return buffer</a:t>
            </a:r>
          </a:p>
        </p:txBody>
      </p:sp>
      <p:cxnSp>
        <p:nvCxnSpPr>
          <p:cNvPr id="25" name="">
            <a:extLst xmlns:a="http://schemas.openxmlformats.org/drawingml/2006/main">
              <a:ext uri="{FF2B5EF4-FFF2-40B4-BE49-F238E27FC236}">
                <a16:creationId xmlns:a16="http://schemas.microsoft.com/office/drawing/2014/main" id="{72FCD124-733C-4267-9941-63235C3FA68D}"/>
              </a:ext>
            </a:extLst>
          </p:cNvPr>
          <p:cNvCxnSpPr/>
          <p:nvPr/>
        </p:nvCxnSpPr>
        <p:spPr>
          <a:xfrm xmlns:a="http://schemas.openxmlformats.org/drawingml/2006/main" flipH="1" flipV="0">
            <a:off x="4508500" y="508635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6" name="Replace entry data, return status">
            <a:extLst xmlns:a="http://schemas.openxmlformats.org/drawingml/2006/main">
              <a:ext uri="{FF2B5EF4-FFF2-40B4-BE49-F238E27FC236}">
                <a16:creationId xmlns:a16="http://schemas.microsoft.com/office/drawing/2014/main" id="{259A7DC1-E58A-40B9-A8F5-610B9C75BE53}"/>
              </a:ext>
            </a:extLst>
          </p:cNvPr>
          <p:cNvSpPr>
            <a:spLocks xmlns:a="http://schemas.openxmlformats.org/drawingml/2006/main" noGrp="1"/>
          </p:cNvSpPr>
          <p:nvPr/>
        </p:nvSpPr>
        <p:spPr>
          <a:xfrm xmlns:a="http://schemas.openxmlformats.org/drawingml/2006/main">
            <a:off x="4632325" y="481012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Replace entry data, return status</a:t>
            </a:r>
          </a:p>
        </p:txBody>
      </p:sp>
      <p:sp>
        <p:nvSpPr>
          <p:cNvPr id="27" name="The shell handles text. RAMFS owns the file ">
            <a:extLst xmlns:a="http://schemas.openxmlformats.org/drawingml/2006/main">
              <a:ext uri="{FF2B5EF4-FFF2-40B4-BE49-F238E27FC236}">
                <a16:creationId xmlns:a16="http://schemas.microsoft.com/office/drawing/2014/main" id="{9833761C-2087-4714-8A9D-39BA59E03498}"/>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The shell handles text. RAMFS owns the file state.</a:t>
            </a:r>
          </a:p>
        </p:txBody>
      </p:sp>
    </p:spTree>
    <p:extLst>
      <p:ext uri="{BB962C8B-B14F-4D97-AF65-F5344CB8AC3E}">
        <p14:creationId xmlns:p14="http://schemas.microsoft.com/office/powerpoint/2010/main" val="76257618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FOUNDATIONS">
            <a:extLst xmlns:a="http://schemas.openxmlformats.org/drawingml/2006/main">
              <a:ext uri="{FF2B5EF4-FFF2-40B4-BE49-F238E27FC236}">
                <a16:creationId xmlns:a16="http://schemas.microsoft.com/office/drawing/2014/main" id="{DD1B8613-6D6C-4AC6-85B9-6ADB84ACE1CB}"/>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7D43D5"/>
                </a:solidFill>
                <a:latin typeface="Arial"/>
                <a:ea typeface="Arial"/>
                <a:cs typeface="Arial"/>
              </a:defRPr>
            </a:defPPr>
          </a:lstStyle>
          <a:p xmlns:a="http://schemas.openxmlformats.org/drawingml/2006/main">
            <a:pPr algn="l">
              <a:defRPr sz="1200" b="1">
                <a:solidFill>
                  <a:srgbClr val="7D43D5"/>
                </a:solidFill>
                <a:latin typeface="Arial"/>
                <a:ea typeface="Arial"/>
                <a:cs typeface="Arial"/>
              </a:defRPr>
            </a:pPr>
            <a:r>
              <a:rPr sz="1200" b="1">
                <a:solidFill>
                  <a:srgbClr val="7D43D5"/>
                </a:solidFill>
                <a:latin typeface="Arial"/>
                <a:ea typeface="Arial"/>
                <a:cs typeface="Arial"/>
              </a:rPr>
              <a:t>FOUNDATIONS</a:t>
            </a:r>
          </a:p>
        </p:txBody>
      </p:sp>
      <p:sp>
        <p:nvSpPr>
          <p:cNvPr id="2" name="Runtime boundaries">
            <a:extLst xmlns:a="http://schemas.openxmlformats.org/drawingml/2006/main">
              <a:ext uri="{FF2B5EF4-FFF2-40B4-BE49-F238E27FC236}">
                <a16:creationId xmlns:a16="http://schemas.microsoft.com/office/drawing/2014/main" id="{D00E038C-7DAA-4629-9950-0CC52C521380}"/>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51139"/>
                </a:solidFill>
                <a:latin typeface="Arial"/>
                <a:ea typeface="Arial"/>
                <a:cs typeface="Arial"/>
              </a:defRPr>
            </a:defPPr>
          </a:lstStyle>
          <a:p xmlns:a="http://schemas.openxmlformats.org/drawingml/2006/main">
            <a:pPr algn="l">
              <a:defRPr sz="3300" b="1">
                <a:solidFill>
                  <a:srgbClr val="251139"/>
                </a:solidFill>
                <a:latin typeface="Arial"/>
                <a:ea typeface="Arial"/>
                <a:cs typeface="Arial"/>
              </a:defRPr>
            </a:pPr>
            <a:r>
              <a:rPr sz="3300" b="1">
                <a:solidFill>
                  <a:srgbClr val="251139"/>
                </a:solidFill>
                <a:latin typeface="Arial"/>
                <a:ea typeface="Arial"/>
                <a:cs typeface="Arial"/>
              </a:rPr>
              <a:t>Runtime boundaries</a:t>
            </a:r>
          </a:p>
        </p:txBody>
      </p:sp>
      <p:sp>
        <p:nvSpPr>
          <p:cNvPr id="3" name="AGENTIC OS  /  MVP TECHNICAL WALKTHROUGH">
            <a:extLst xmlns:a="http://schemas.openxmlformats.org/drawingml/2006/main">
              <a:ext uri="{FF2B5EF4-FFF2-40B4-BE49-F238E27FC236}">
                <a16:creationId xmlns:a16="http://schemas.microsoft.com/office/drawing/2014/main" id="{1FF1700A-270F-469C-BCE6-98C8550B8905}"/>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7D43D5"/>
                </a:solidFill>
                <a:latin typeface="Arial"/>
                <a:ea typeface="Arial"/>
                <a:cs typeface="Arial"/>
              </a:defRPr>
            </a:defPPr>
          </a:lstStyle>
          <a:p xmlns:a="http://schemas.openxmlformats.org/drawingml/2006/main">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16">
            <a:extLst xmlns:a="http://schemas.openxmlformats.org/drawingml/2006/main">
              <a:ext uri="{FF2B5EF4-FFF2-40B4-BE49-F238E27FC236}">
                <a16:creationId xmlns:a16="http://schemas.microsoft.com/office/drawing/2014/main" id="{F4A95AF7-6338-4EB4-9AAC-E34809F193B9}"/>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7D43D5"/>
                </a:solidFill>
                <a:latin typeface="Arial"/>
                <a:ea typeface="Arial"/>
                <a:cs typeface="Arial"/>
              </a:defRPr>
            </a:defPPr>
          </a:lstStyle>
          <a:p xmlns:a="http://schemas.openxmlformats.org/drawingml/2006/main">
            <a:pPr algn="r">
              <a:defRPr sz="1275" b="0">
                <a:solidFill>
                  <a:srgbClr val="7D43D5"/>
                </a:solidFill>
                <a:latin typeface="Arial"/>
                <a:ea typeface="Arial"/>
                <a:cs typeface="Arial"/>
              </a:defRPr>
            </a:pPr>
            <a:r>
              <a:rPr sz="1275" b="0">
                <a:solidFill>
                  <a:srgbClr val="7D43D5"/>
                </a:solidFill>
                <a:latin typeface="Arial"/>
                <a:ea typeface="Arial"/>
                <a:cs typeface="Arial"/>
              </a:rPr>
              <a:t>16</a:t>
            </a:r>
          </a:p>
        </p:txBody>
      </p:sp>
      <p:sp>
        <p:nvSpPr>
          <p:cNvPr id="5" name="Execution">
            <a:extLst xmlns:a="http://schemas.openxmlformats.org/drawingml/2006/main">
              <a:ext uri="{FF2B5EF4-FFF2-40B4-BE49-F238E27FC236}">
                <a16:creationId xmlns:a16="http://schemas.microsoft.com/office/drawing/2014/main" id="{27C8D870-1AE9-46F5-B386-A976D5917652}"/>
              </a:ext>
            </a:extLst>
          </p:cNvPr>
          <p:cNvSpPr>
            <a:spLocks xmlns:a="http://schemas.openxmlformats.org/drawingml/2006/main" noGrp="1"/>
          </p:cNvSpPr>
          <p:nvPr/>
        </p:nvSpPr>
        <p:spPr>
          <a:xfrm xmlns:a="http://schemas.openxmlformats.org/drawingml/2006/main">
            <a:off x="609600" y="21526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Execution</a:t>
            </a:r>
          </a:p>
        </p:txBody>
      </p:sp>
      <p:sp>
        <p:nvSpPr>
          <p:cNvPr id="6" name="The interactive shell runs inside the kernel">
            <a:extLst xmlns:a="http://schemas.openxmlformats.org/drawingml/2006/main">
              <a:ext uri="{FF2B5EF4-FFF2-40B4-BE49-F238E27FC236}">
                <a16:creationId xmlns:a16="http://schemas.microsoft.com/office/drawing/2014/main" id="{303E73F1-069F-43F4-ADF1-CF7120D8C138}"/>
              </a:ext>
            </a:extLst>
          </p:cNvPr>
          <p:cNvSpPr>
            <a:spLocks xmlns:a="http://schemas.openxmlformats.org/drawingml/2006/main" noGrp="1"/>
          </p:cNvSpPr>
          <p:nvPr/>
        </p:nvSpPr>
        <p:spPr>
          <a:xfrm xmlns:a="http://schemas.openxmlformats.org/drawingml/2006/main">
            <a:off x="3943350" y="215265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The interactive shell runs inside the kernel</a:t>
            </a:r>
          </a:p>
        </p:txBody>
      </p:sp>
      <p:sp>
        <p:nvSpPr>
          <p:cNvPr id="7" name="Scheduling">
            <a:extLst xmlns:a="http://schemas.openxmlformats.org/drawingml/2006/main">
              <a:ext uri="{FF2B5EF4-FFF2-40B4-BE49-F238E27FC236}">
                <a16:creationId xmlns:a16="http://schemas.microsoft.com/office/drawing/2014/main" id="{A6D7333F-620B-4094-91C6-95BFD65F2ABC}"/>
              </a:ext>
            </a:extLst>
          </p:cNvPr>
          <p:cNvSpPr>
            <a:spLocks xmlns:a="http://schemas.openxmlformats.org/drawingml/2006/main" noGrp="1"/>
          </p:cNvSpPr>
          <p:nvPr/>
        </p:nvSpPr>
        <p:spPr>
          <a:xfrm xmlns:a="http://schemas.openxmlformats.org/drawingml/2006/main">
            <a:off x="609600" y="32194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Scheduling</a:t>
            </a:r>
          </a:p>
        </p:txBody>
      </p:sp>
      <p:sp>
        <p:nvSpPr>
          <p:cNvPr id="8" name="Task structures exist; agent jobs are logica">
            <a:extLst xmlns:a="http://schemas.openxmlformats.org/drawingml/2006/main">
              <a:ext uri="{FF2B5EF4-FFF2-40B4-BE49-F238E27FC236}">
                <a16:creationId xmlns:a16="http://schemas.microsoft.com/office/drawing/2014/main" id="{D0FAC2E0-0B63-48BB-8C85-A77B5BD06242}"/>
              </a:ext>
            </a:extLst>
          </p:cNvPr>
          <p:cNvSpPr>
            <a:spLocks xmlns:a="http://schemas.openxmlformats.org/drawingml/2006/main" noGrp="1"/>
          </p:cNvSpPr>
          <p:nvPr/>
        </p:nvSpPr>
        <p:spPr>
          <a:xfrm xmlns:a="http://schemas.openxmlformats.org/drawingml/2006/main">
            <a:off x="3943350" y="321945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Task structures exist; agent jobs are logical workflows</a:t>
            </a:r>
          </a:p>
        </p:txBody>
      </p:sp>
      <p:sp>
        <p:nvSpPr>
          <p:cNvPr id="9" name="Storage">
            <a:extLst xmlns:a="http://schemas.openxmlformats.org/drawingml/2006/main">
              <a:ext uri="{FF2B5EF4-FFF2-40B4-BE49-F238E27FC236}">
                <a16:creationId xmlns:a16="http://schemas.microsoft.com/office/drawing/2014/main" id="{DAE32A53-3F74-4281-8C33-31A4B91A5FE9}"/>
              </a:ext>
            </a:extLst>
          </p:cNvPr>
          <p:cNvSpPr>
            <a:spLocks xmlns:a="http://schemas.openxmlformats.org/drawingml/2006/main" noGrp="1"/>
          </p:cNvSpPr>
          <p:nvPr/>
        </p:nvSpPr>
        <p:spPr>
          <a:xfrm xmlns:a="http://schemas.openxmlformats.org/drawingml/2006/main">
            <a:off x="609600" y="42862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Storage</a:t>
            </a:r>
          </a:p>
        </p:txBody>
      </p:sp>
      <p:sp>
        <p:nvSpPr>
          <p:cNvPr id="10" name="Files live in RAM and disappear after restar">
            <a:extLst xmlns:a="http://schemas.openxmlformats.org/drawingml/2006/main">
              <a:ext uri="{FF2B5EF4-FFF2-40B4-BE49-F238E27FC236}">
                <a16:creationId xmlns:a16="http://schemas.microsoft.com/office/drawing/2014/main" id="{851F0B62-88C3-4727-9AB4-F90909C32AD5}"/>
              </a:ext>
            </a:extLst>
          </p:cNvPr>
          <p:cNvSpPr>
            <a:spLocks xmlns:a="http://schemas.openxmlformats.org/drawingml/2006/main" noGrp="1"/>
          </p:cNvSpPr>
          <p:nvPr/>
        </p:nvSpPr>
        <p:spPr>
          <a:xfrm xmlns:a="http://schemas.openxmlformats.org/drawingml/2006/main">
            <a:off x="3943350" y="428625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Files live in RAM and disappear after restart</a:t>
            </a:r>
          </a:p>
        </p:txBody>
      </p:sp>
      <p:sp>
        <p:nvSpPr>
          <p:cNvPr id="11" name="The MVP keeps the execution model small and ">
            <a:extLst xmlns:a="http://schemas.openxmlformats.org/drawingml/2006/main">
              <a:ext uri="{FF2B5EF4-FFF2-40B4-BE49-F238E27FC236}">
                <a16:creationId xmlns:a16="http://schemas.microsoft.com/office/drawing/2014/main" id="{A443195A-D08F-4816-8F30-9D62C47A4577}"/>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7D43D5"/>
                </a:solidFill>
                <a:latin typeface="Arial"/>
                <a:ea typeface="Arial"/>
                <a:cs typeface="Arial"/>
              </a:defRPr>
            </a:defPPr>
          </a:lstStyle>
          <a:p xmlns:a="http://schemas.openxmlformats.org/drawingml/2006/main">
            <a:pPr algn="l">
              <a:defRPr sz="1725" b="0">
                <a:solidFill>
                  <a:srgbClr val="7D43D5"/>
                </a:solidFill>
                <a:latin typeface="Arial"/>
                <a:ea typeface="Arial"/>
                <a:cs typeface="Arial"/>
              </a:defRPr>
            </a:pPr>
            <a:r>
              <a:rPr sz="1725" b="0">
                <a:solidFill>
                  <a:srgbClr val="7D43D5"/>
                </a:solidFill>
                <a:latin typeface="Arial"/>
                <a:ea typeface="Arial"/>
                <a:cs typeface="Arial"/>
              </a:rPr>
              <a:t>The MVP keeps the execution model small and explicit.</a:t>
            </a:r>
          </a:p>
        </p:txBody>
      </p:sp>
    </p:spTree>
    <p:extLst>
      <p:ext uri="{BB962C8B-B14F-4D97-AF65-F5344CB8AC3E}">
        <p14:creationId xmlns:p14="http://schemas.microsoft.com/office/powerpoint/2010/main" val="2015891409"/>
      </p:ext>
    </p:extLst>
  </p:cSld>
</p:sld>
</file>

<file path=ppt/slides/slide17.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7" name="NETWORKING">
            <a:extLst xmlns:a="http://schemas.openxmlformats.org/drawingml/2006/main">
              <a:ext uri="{FF2B5EF4-FFF2-40B4-BE49-F238E27FC236}">
                <a16:creationId xmlns:a16="http://schemas.microsoft.com/office/drawing/2014/main" id="{70576528-22B3-4B10-BA6A-BAA70320111C}"/>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NETWORKING</a:t>
            </a:r>
          </a:p>
        </p:txBody>
      </p:sp>
      <p:sp>
        <p:nvSpPr>
          <p:cNvPr id="2" name="Guest networking stack">
            <a:extLst xmlns:a="http://schemas.openxmlformats.org/drawingml/2006/main">
              <a:ext uri="{FF2B5EF4-FFF2-40B4-BE49-F238E27FC236}">
                <a16:creationId xmlns:a16="http://schemas.microsoft.com/office/drawing/2014/main" id="{75D32A46-19D5-4B04-81E4-52637EC66DB0}"/>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Guest networking stack</a:t>
            </a:r>
          </a:p>
        </p:txBody>
      </p:sp>
      <p:sp>
        <p:nvSpPr>
          <p:cNvPr id="3" name="AGENTIC OS  /  MVP TECHNICAL WALKTHROUGH">
            <a:extLst xmlns:a="http://schemas.openxmlformats.org/drawingml/2006/main">
              <a:ext uri="{FF2B5EF4-FFF2-40B4-BE49-F238E27FC236}">
                <a16:creationId xmlns:a16="http://schemas.microsoft.com/office/drawing/2014/main" id="{74462CCB-9D17-4B07-AC3B-130330668410}"/>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17">
            <a:extLst xmlns:a="http://schemas.openxmlformats.org/drawingml/2006/main">
              <a:ext uri="{FF2B5EF4-FFF2-40B4-BE49-F238E27FC236}">
                <a16:creationId xmlns:a16="http://schemas.microsoft.com/office/drawing/2014/main" id="{C3BC0E71-7248-4C4B-A306-9217B8633DF8}"/>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69F22B99-68E3-4746-8038-856C820AA67D}"/>
              </a:ext>
            </a:extLst>
          </p:cNvPr>
          <p:cNvSpPr>
            <a:spLocks xmlns:a="http://schemas.openxmlformats.org/drawingml/2006/main" noGrp="1"/>
          </p:cNvSpPr>
          <p:nvPr/>
        </p:nvSpPr>
        <p:spPr>
          <a:xfrm xmlns:a="http://schemas.openxmlformats.org/drawingml/2006/main">
            <a:off x="609600"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NE2000&#10;I/O driver">
            <a:extLst xmlns:a="http://schemas.openxmlformats.org/drawingml/2006/main">
              <a:ext uri="{FF2B5EF4-FFF2-40B4-BE49-F238E27FC236}">
                <a16:creationId xmlns:a16="http://schemas.microsoft.com/office/drawing/2014/main" id="{8C888FD7-D332-409E-B759-583EFD494B3F}"/>
              </a:ext>
            </a:extLst>
          </p:cNvPr>
          <p:cNvSpPr>
            <a:spLocks xmlns:a="http://schemas.openxmlformats.org/drawingml/2006/main" noGrp="1"/>
          </p:cNvSpPr>
          <p:nvPr/>
        </p:nvSpPr>
        <p:spPr>
          <a:xfrm xmlns:a="http://schemas.openxmlformats.org/drawingml/2006/main">
            <a:off x="752475"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NE2000</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I/O driver</a:t>
            </a:r>
          </a:p>
        </p:txBody>
      </p:sp>
      <p:cxnSp>
        <p:nvCxnSpPr>
          <p:cNvPr id="7" name="">
            <a:extLst xmlns:a="http://schemas.openxmlformats.org/drawingml/2006/main">
              <a:ext uri="{FF2B5EF4-FFF2-40B4-BE49-F238E27FC236}">
                <a16:creationId xmlns:a16="http://schemas.microsoft.com/office/drawing/2014/main" id="{7BE18F86-9C47-48CF-9DAC-E808DD1F9AAE}"/>
              </a:ext>
            </a:extLst>
          </p:cNvPr>
          <p:cNvCxnSpPr/>
          <p:nvPr/>
        </p:nvCxnSpPr>
        <p:spPr>
          <a:xfrm xmlns:a="http://schemas.openxmlformats.org/drawingml/2006/main" flipH="0" flipV="0">
            <a:off x="3081338"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8" name="">
            <a:extLst xmlns:a="http://schemas.openxmlformats.org/drawingml/2006/main">
              <a:ext uri="{FF2B5EF4-FFF2-40B4-BE49-F238E27FC236}">
                <a16:creationId xmlns:a16="http://schemas.microsoft.com/office/drawing/2014/main" id="{8E686535-9226-4009-B6A7-659A0741B741}"/>
              </a:ext>
            </a:extLst>
          </p:cNvPr>
          <p:cNvSpPr>
            <a:spLocks xmlns:a="http://schemas.openxmlformats.org/drawingml/2006/main" noGrp="1"/>
          </p:cNvSpPr>
          <p:nvPr/>
        </p:nvSpPr>
        <p:spPr>
          <a:xfrm xmlns:a="http://schemas.openxmlformats.org/drawingml/2006/main">
            <a:off x="3443288"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Ethernet&#10;frames">
            <a:extLst xmlns:a="http://schemas.openxmlformats.org/drawingml/2006/main">
              <a:ext uri="{FF2B5EF4-FFF2-40B4-BE49-F238E27FC236}">
                <a16:creationId xmlns:a16="http://schemas.microsoft.com/office/drawing/2014/main" id="{099A3C98-EED1-4AAF-A23D-6BCB9B664AF5}"/>
              </a:ext>
            </a:extLst>
          </p:cNvPr>
          <p:cNvSpPr>
            <a:spLocks xmlns:a="http://schemas.openxmlformats.org/drawingml/2006/main" noGrp="1"/>
          </p:cNvSpPr>
          <p:nvPr/>
        </p:nvSpPr>
        <p:spPr>
          <a:xfrm xmlns:a="http://schemas.openxmlformats.org/drawingml/2006/main">
            <a:off x="3586163"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Ethernet</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frames</a:t>
            </a:r>
          </a:p>
        </p:txBody>
      </p:sp>
      <p:cxnSp>
        <p:nvCxnSpPr>
          <p:cNvPr id="10" name="">
            <a:extLst xmlns:a="http://schemas.openxmlformats.org/drawingml/2006/main">
              <a:ext uri="{FF2B5EF4-FFF2-40B4-BE49-F238E27FC236}">
                <a16:creationId xmlns:a16="http://schemas.microsoft.com/office/drawing/2014/main" id="{A503879D-1E7E-4578-AA73-D091A8D23737}"/>
              </a:ext>
            </a:extLst>
          </p:cNvPr>
          <p:cNvCxnSpPr/>
          <p:nvPr/>
        </p:nvCxnSpPr>
        <p:spPr>
          <a:xfrm xmlns:a="http://schemas.openxmlformats.org/drawingml/2006/main" flipH="0" flipV="0">
            <a:off x="5915025"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1" name="">
            <a:extLst xmlns:a="http://schemas.openxmlformats.org/drawingml/2006/main">
              <a:ext uri="{FF2B5EF4-FFF2-40B4-BE49-F238E27FC236}">
                <a16:creationId xmlns:a16="http://schemas.microsoft.com/office/drawing/2014/main" id="{DCB55F8A-6DFB-4647-847E-D2213355997D}"/>
              </a:ext>
            </a:extLst>
          </p:cNvPr>
          <p:cNvSpPr>
            <a:spLocks xmlns:a="http://schemas.openxmlformats.org/drawingml/2006/main" noGrp="1"/>
          </p:cNvSpPr>
          <p:nvPr/>
        </p:nvSpPr>
        <p:spPr>
          <a:xfrm xmlns:a="http://schemas.openxmlformats.org/drawingml/2006/main">
            <a:off x="6276975"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ARP + IPv4&#10;addressing">
            <a:extLst xmlns:a="http://schemas.openxmlformats.org/drawingml/2006/main">
              <a:ext uri="{FF2B5EF4-FFF2-40B4-BE49-F238E27FC236}">
                <a16:creationId xmlns:a16="http://schemas.microsoft.com/office/drawing/2014/main" id="{DFFF58E1-4C27-4CAF-BAC5-74119556C2DF}"/>
              </a:ext>
            </a:extLst>
          </p:cNvPr>
          <p:cNvSpPr>
            <a:spLocks xmlns:a="http://schemas.openxmlformats.org/drawingml/2006/main" noGrp="1"/>
          </p:cNvSpPr>
          <p:nvPr/>
        </p:nvSpPr>
        <p:spPr>
          <a:xfrm xmlns:a="http://schemas.openxmlformats.org/drawingml/2006/main">
            <a:off x="6419850"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ARP + IPv4</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addressing</a:t>
            </a:r>
          </a:p>
        </p:txBody>
      </p:sp>
      <p:cxnSp>
        <p:nvCxnSpPr>
          <p:cNvPr id="13" name="">
            <a:extLst xmlns:a="http://schemas.openxmlformats.org/drawingml/2006/main">
              <a:ext uri="{FF2B5EF4-FFF2-40B4-BE49-F238E27FC236}">
                <a16:creationId xmlns:a16="http://schemas.microsoft.com/office/drawing/2014/main" id="{C2CF77F9-C03E-4676-8DE9-D4728FC02F7E}"/>
              </a:ext>
            </a:extLst>
          </p:cNvPr>
          <p:cNvCxnSpPr/>
          <p:nvPr/>
        </p:nvCxnSpPr>
        <p:spPr>
          <a:xfrm xmlns:a="http://schemas.openxmlformats.org/drawingml/2006/main" flipH="0" flipV="0">
            <a:off x="8748713"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651EA46F-BD67-4F47-8161-247343FCBDF9}"/>
              </a:ext>
            </a:extLst>
          </p:cNvPr>
          <p:cNvSpPr>
            <a:spLocks xmlns:a="http://schemas.openxmlformats.org/drawingml/2006/main" noGrp="1"/>
          </p:cNvSpPr>
          <p:nvPr/>
        </p:nvSpPr>
        <p:spPr>
          <a:xfrm xmlns:a="http://schemas.openxmlformats.org/drawingml/2006/main">
            <a:off x="9110663"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TCP SYN&#10;probe">
            <a:extLst xmlns:a="http://schemas.openxmlformats.org/drawingml/2006/main">
              <a:ext uri="{FF2B5EF4-FFF2-40B4-BE49-F238E27FC236}">
                <a16:creationId xmlns:a16="http://schemas.microsoft.com/office/drawing/2014/main" id="{D86CE219-23F2-480F-B5A6-38DAFDD62E2B}"/>
              </a:ext>
            </a:extLst>
          </p:cNvPr>
          <p:cNvSpPr>
            <a:spLocks xmlns:a="http://schemas.openxmlformats.org/drawingml/2006/main" noGrp="1"/>
          </p:cNvSpPr>
          <p:nvPr/>
        </p:nvSpPr>
        <p:spPr>
          <a:xfrm xmlns:a="http://schemas.openxmlformats.org/drawingml/2006/main">
            <a:off x="9253538"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TCP SYN</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probe</a:t>
            </a:r>
          </a:p>
        </p:txBody>
      </p:sp>
      <p:sp>
        <p:nvSpPr>
          <p:cNvPr id="16" name="tcpping checks a listening TCP port with a S">
            <a:extLst xmlns:a="http://schemas.openxmlformats.org/drawingml/2006/main">
              <a:ext uri="{FF2B5EF4-FFF2-40B4-BE49-F238E27FC236}">
                <a16:creationId xmlns:a16="http://schemas.microsoft.com/office/drawing/2014/main" id="{E43B7A2F-27FC-4D6E-955A-98442943B8DB}"/>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tcpping checks a listening TCP port with a SYN-ACK response.</a:t>
            </a:r>
          </a:p>
        </p:txBody>
      </p:sp>
    </p:spTree>
    <p:extLst>
      <p:ext uri="{BB962C8B-B14F-4D97-AF65-F5344CB8AC3E}">
        <p14:creationId xmlns:p14="http://schemas.microsoft.com/office/powerpoint/2010/main" val="187032497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NETWORKING">
            <a:extLst xmlns:a="http://schemas.openxmlformats.org/drawingml/2006/main">
              <a:ext uri="{FF2B5EF4-FFF2-40B4-BE49-F238E27FC236}">
                <a16:creationId xmlns:a16="http://schemas.microsoft.com/office/drawing/2014/main" id="{0BF72078-8BBC-460D-98D1-70EF598A6EE6}"/>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7D43D5"/>
                </a:solidFill>
                <a:latin typeface="Arial"/>
                <a:ea typeface="Arial"/>
                <a:cs typeface="Arial"/>
              </a:defRPr>
            </a:defPPr>
          </a:lstStyle>
          <a:p xmlns:a="http://schemas.openxmlformats.org/drawingml/2006/main">
            <a:pPr algn="l">
              <a:defRPr sz="1200" b="1">
                <a:solidFill>
                  <a:srgbClr val="7D43D5"/>
                </a:solidFill>
                <a:latin typeface="Arial"/>
                <a:ea typeface="Arial"/>
                <a:cs typeface="Arial"/>
              </a:defRPr>
            </a:pPr>
            <a:r>
              <a:rPr sz="1200" b="1">
                <a:solidFill>
                  <a:srgbClr val="7D43D5"/>
                </a:solidFill>
                <a:latin typeface="Arial"/>
                <a:ea typeface="Arial"/>
                <a:cs typeface="Arial"/>
              </a:rPr>
              <a:t>NETWORKING</a:t>
            </a:r>
          </a:p>
        </p:txBody>
      </p:sp>
      <p:sp>
        <p:nvSpPr>
          <p:cNvPr id="2" name="Network configuration">
            <a:extLst xmlns:a="http://schemas.openxmlformats.org/drawingml/2006/main">
              <a:ext uri="{FF2B5EF4-FFF2-40B4-BE49-F238E27FC236}">
                <a16:creationId xmlns:a16="http://schemas.microsoft.com/office/drawing/2014/main" id="{867E192C-4E28-4F34-A1D3-DC28B6929255}"/>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51139"/>
                </a:solidFill>
                <a:latin typeface="Arial"/>
                <a:ea typeface="Arial"/>
                <a:cs typeface="Arial"/>
              </a:defRPr>
            </a:defPPr>
          </a:lstStyle>
          <a:p xmlns:a="http://schemas.openxmlformats.org/drawingml/2006/main">
            <a:pPr algn="l">
              <a:defRPr sz="3300" b="1">
                <a:solidFill>
                  <a:srgbClr val="251139"/>
                </a:solidFill>
                <a:latin typeface="Arial"/>
                <a:ea typeface="Arial"/>
                <a:cs typeface="Arial"/>
              </a:defRPr>
            </a:pPr>
            <a:r>
              <a:rPr sz="3300" b="1">
                <a:solidFill>
                  <a:srgbClr val="251139"/>
                </a:solidFill>
                <a:latin typeface="Arial"/>
                <a:ea typeface="Arial"/>
                <a:cs typeface="Arial"/>
              </a:rPr>
              <a:t>Network configuration</a:t>
            </a:r>
          </a:p>
        </p:txBody>
      </p:sp>
      <p:sp>
        <p:nvSpPr>
          <p:cNvPr id="3" name="AGENTIC OS  /  MVP TECHNICAL WALKTHROUGH">
            <a:extLst xmlns:a="http://schemas.openxmlformats.org/drawingml/2006/main">
              <a:ext uri="{FF2B5EF4-FFF2-40B4-BE49-F238E27FC236}">
                <a16:creationId xmlns:a16="http://schemas.microsoft.com/office/drawing/2014/main" id="{15DE1A31-62E6-4C75-B21D-FD40E603FF11}"/>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7D43D5"/>
                </a:solidFill>
                <a:latin typeface="Arial"/>
                <a:ea typeface="Arial"/>
                <a:cs typeface="Arial"/>
              </a:defRPr>
            </a:defPPr>
          </a:lstStyle>
          <a:p xmlns:a="http://schemas.openxmlformats.org/drawingml/2006/main">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18">
            <a:extLst xmlns:a="http://schemas.openxmlformats.org/drawingml/2006/main">
              <a:ext uri="{FF2B5EF4-FFF2-40B4-BE49-F238E27FC236}">
                <a16:creationId xmlns:a16="http://schemas.microsoft.com/office/drawing/2014/main" id="{F7010D8D-E66C-44AE-8DBF-211C164F5D39}"/>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7D43D5"/>
                </a:solidFill>
                <a:latin typeface="Arial"/>
                <a:ea typeface="Arial"/>
                <a:cs typeface="Arial"/>
              </a:defRPr>
            </a:defPPr>
          </a:lstStyle>
          <a:p xmlns:a="http://schemas.openxmlformats.org/drawingml/2006/main">
            <a:pPr algn="r">
              <a:defRPr sz="1275" b="0">
                <a:solidFill>
                  <a:srgbClr val="7D43D5"/>
                </a:solidFill>
                <a:latin typeface="Arial"/>
                <a:ea typeface="Arial"/>
                <a:cs typeface="Arial"/>
              </a:defRPr>
            </a:pPr>
            <a:r>
              <a:rPr sz="1275" b="0">
                <a:solidFill>
                  <a:srgbClr val="7D43D5"/>
                </a:solidFill>
                <a:latin typeface="Arial"/>
                <a:ea typeface="Arial"/>
                <a:cs typeface="Arial"/>
              </a:rPr>
              <a:t>18</a:t>
            </a:r>
          </a:p>
        </p:txBody>
      </p:sp>
      <p:sp>
        <p:nvSpPr>
          <p:cNvPr id="5" name="Device">
            <a:extLst xmlns:a="http://schemas.openxmlformats.org/drawingml/2006/main">
              <a:ext uri="{FF2B5EF4-FFF2-40B4-BE49-F238E27FC236}">
                <a16:creationId xmlns:a16="http://schemas.microsoft.com/office/drawing/2014/main" id="{41C27A03-99B5-4196-80D3-CFD922B8C59E}"/>
              </a:ext>
            </a:extLst>
          </p:cNvPr>
          <p:cNvSpPr>
            <a:spLocks xmlns:a="http://schemas.openxmlformats.org/drawingml/2006/main" noGrp="1"/>
          </p:cNvSpPr>
          <p:nvPr/>
        </p:nvSpPr>
        <p:spPr>
          <a:xfrm xmlns:a="http://schemas.openxmlformats.org/drawingml/2006/main">
            <a:off x="609600" y="19907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Device</a:t>
            </a:r>
          </a:p>
        </p:txBody>
      </p:sp>
      <p:sp>
        <p:nvSpPr>
          <p:cNvPr id="6" name="NE2000 at 0x300, IRQ 11">
            <a:extLst xmlns:a="http://schemas.openxmlformats.org/drawingml/2006/main">
              <a:ext uri="{FF2B5EF4-FFF2-40B4-BE49-F238E27FC236}">
                <a16:creationId xmlns:a16="http://schemas.microsoft.com/office/drawing/2014/main" id="{F2E8BD0F-86ED-4CD3-A78C-06F85169338A}"/>
              </a:ext>
            </a:extLst>
          </p:cNvPr>
          <p:cNvSpPr>
            <a:spLocks xmlns:a="http://schemas.openxmlformats.org/drawingml/2006/main" noGrp="1"/>
          </p:cNvSpPr>
          <p:nvPr/>
        </p:nvSpPr>
        <p:spPr>
          <a:xfrm xmlns:a="http://schemas.openxmlformats.org/drawingml/2006/main">
            <a:off x="3943350" y="199072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NE2000 at 0x300, IRQ 11</a:t>
            </a:r>
          </a:p>
        </p:txBody>
      </p:sp>
      <p:sp>
        <p:nvSpPr>
          <p:cNvPr id="7" name="Guest address">
            <a:extLst xmlns:a="http://schemas.openxmlformats.org/drawingml/2006/main">
              <a:ext uri="{FF2B5EF4-FFF2-40B4-BE49-F238E27FC236}">
                <a16:creationId xmlns:a16="http://schemas.microsoft.com/office/drawing/2014/main" id="{4FADC619-3F11-441D-BC28-A0C371FA01B0}"/>
              </a:ext>
            </a:extLst>
          </p:cNvPr>
          <p:cNvSpPr>
            <a:spLocks xmlns:a="http://schemas.openxmlformats.org/drawingml/2006/main" noGrp="1"/>
          </p:cNvSpPr>
          <p:nvPr/>
        </p:nvSpPr>
        <p:spPr>
          <a:xfrm xmlns:a="http://schemas.openxmlformats.org/drawingml/2006/main">
            <a:off x="609600" y="28860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Guest address</a:t>
            </a:r>
          </a:p>
        </p:txBody>
      </p:sp>
      <p:sp>
        <p:nvSpPr>
          <p:cNvPr id="8" name="10.0.2.15 / 255.255.255.0">
            <a:extLst xmlns:a="http://schemas.openxmlformats.org/drawingml/2006/main">
              <a:ext uri="{FF2B5EF4-FFF2-40B4-BE49-F238E27FC236}">
                <a16:creationId xmlns:a16="http://schemas.microsoft.com/office/drawing/2014/main" id="{BD8E98BE-4DAE-4C42-854B-9031B6E73B9A}"/>
              </a:ext>
            </a:extLst>
          </p:cNvPr>
          <p:cNvSpPr>
            <a:spLocks xmlns:a="http://schemas.openxmlformats.org/drawingml/2006/main" noGrp="1"/>
          </p:cNvSpPr>
          <p:nvPr/>
        </p:nvSpPr>
        <p:spPr>
          <a:xfrm xmlns:a="http://schemas.openxmlformats.org/drawingml/2006/main">
            <a:off x="3943350" y="28860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10.0.2.15 / 255.255.255.0</a:t>
            </a:r>
          </a:p>
        </p:txBody>
      </p:sp>
      <p:sp>
        <p:nvSpPr>
          <p:cNvPr id="9" name="Gateway">
            <a:extLst xmlns:a="http://schemas.openxmlformats.org/drawingml/2006/main">
              <a:ext uri="{FF2B5EF4-FFF2-40B4-BE49-F238E27FC236}">
                <a16:creationId xmlns:a16="http://schemas.microsoft.com/office/drawing/2014/main" id="{DB861CD2-4CAE-4B94-AF3A-178C23F4B53F}"/>
              </a:ext>
            </a:extLst>
          </p:cNvPr>
          <p:cNvSpPr>
            <a:spLocks xmlns:a="http://schemas.openxmlformats.org/drawingml/2006/main" noGrp="1"/>
          </p:cNvSpPr>
          <p:nvPr/>
        </p:nvSpPr>
        <p:spPr>
          <a:xfrm xmlns:a="http://schemas.openxmlformats.org/drawingml/2006/main">
            <a:off x="609600" y="37814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Gateway</a:t>
            </a:r>
          </a:p>
        </p:txBody>
      </p:sp>
      <p:sp>
        <p:nvSpPr>
          <p:cNvPr id="10" name="10.0.2.2">
            <a:extLst xmlns:a="http://schemas.openxmlformats.org/drawingml/2006/main">
              <a:ext uri="{FF2B5EF4-FFF2-40B4-BE49-F238E27FC236}">
                <a16:creationId xmlns:a16="http://schemas.microsoft.com/office/drawing/2014/main" id="{33020C24-ED59-498C-9BE6-FE41239E11A2}"/>
              </a:ext>
            </a:extLst>
          </p:cNvPr>
          <p:cNvSpPr>
            <a:spLocks xmlns:a="http://schemas.openxmlformats.org/drawingml/2006/main" noGrp="1"/>
          </p:cNvSpPr>
          <p:nvPr/>
        </p:nvSpPr>
        <p:spPr>
          <a:xfrm xmlns:a="http://schemas.openxmlformats.org/drawingml/2006/main">
            <a:off x="3943350" y="378142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10.0.2.2</a:t>
            </a:r>
          </a:p>
        </p:txBody>
      </p:sp>
      <p:sp>
        <p:nvSpPr>
          <p:cNvPr id="11" name="MAC address">
            <a:extLst xmlns:a="http://schemas.openxmlformats.org/drawingml/2006/main">
              <a:ext uri="{FF2B5EF4-FFF2-40B4-BE49-F238E27FC236}">
                <a16:creationId xmlns:a16="http://schemas.microsoft.com/office/drawing/2014/main" id="{7922A236-95AF-4A34-BEDA-661916F85C91}"/>
              </a:ext>
            </a:extLst>
          </p:cNvPr>
          <p:cNvSpPr>
            <a:spLocks xmlns:a="http://schemas.openxmlformats.org/drawingml/2006/main" noGrp="1"/>
          </p:cNvSpPr>
          <p:nvPr/>
        </p:nvSpPr>
        <p:spPr>
          <a:xfrm xmlns:a="http://schemas.openxmlformats.org/drawingml/2006/main">
            <a:off x="609600" y="46767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MAC address</a:t>
            </a:r>
          </a:p>
        </p:txBody>
      </p:sp>
      <p:sp>
        <p:nvSpPr>
          <p:cNvPr id="12" name="B0:C4:20:00:00:01">
            <a:extLst xmlns:a="http://schemas.openxmlformats.org/drawingml/2006/main">
              <a:ext uri="{FF2B5EF4-FFF2-40B4-BE49-F238E27FC236}">
                <a16:creationId xmlns:a16="http://schemas.microsoft.com/office/drawing/2014/main" id="{BB219B89-CA0E-4747-894D-E59928D5BB91}"/>
              </a:ext>
            </a:extLst>
          </p:cNvPr>
          <p:cNvSpPr>
            <a:spLocks xmlns:a="http://schemas.openxmlformats.org/drawingml/2006/main" noGrp="1"/>
          </p:cNvSpPr>
          <p:nvPr/>
        </p:nvSpPr>
        <p:spPr>
          <a:xfrm xmlns:a="http://schemas.openxmlformats.org/drawingml/2006/main">
            <a:off x="3943350" y="46767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B0:C4:20:00:00:01</a:t>
            </a:r>
          </a:p>
        </p:txBody>
      </p:sp>
    </p:spTree>
    <p:extLst>
      <p:ext uri="{BB962C8B-B14F-4D97-AF65-F5344CB8AC3E}">
        <p14:creationId xmlns:p14="http://schemas.microsoft.com/office/powerpoint/2010/main" val="495944981"/>
      </p:ext>
    </p:extLst>
  </p:cSld>
</p:sld>
</file>

<file path=ppt/slides/slide19.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30" name="NETWORKING">
            <a:extLst xmlns:a="http://schemas.openxmlformats.org/drawingml/2006/main">
              <a:ext uri="{FF2B5EF4-FFF2-40B4-BE49-F238E27FC236}">
                <a16:creationId xmlns:a16="http://schemas.microsoft.com/office/drawing/2014/main" id="{54515CB1-B42F-47FB-9C73-2F23B97A6A93}"/>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NETWORKING</a:t>
            </a:r>
          </a:p>
        </p:txBody>
      </p:sp>
      <p:sp>
        <p:nvSpPr>
          <p:cNvPr id="2" name="TCP probe sequence">
            <a:extLst xmlns:a="http://schemas.openxmlformats.org/drawingml/2006/main">
              <a:ext uri="{FF2B5EF4-FFF2-40B4-BE49-F238E27FC236}">
                <a16:creationId xmlns:a16="http://schemas.microsoft.com/office/drawing/2014/main" id="{801F240D-9679-4814-981F-9DFB045FD101}"/>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TCP probe sequence</a:t>
            </a:r>
          </a:p>
        </p:txBody>
      </p:sp>
      <p:sp>
        <p:nvSpPr>
          <p:cNvPr id="3" name="AGENTIC OS  /  MVP TECHNICAL WALKTHROUGH">
            <a:extLst xmlns:a="http://schemas.openxmlformats.org/drawingml/2006/main">
              <a:ext uri="{FF2B5EF4-FFF2-40B4-BE49-F238E27FC236}">
                <a16:creationId xmlns:a16="http://schemas.microsoft.com/office/drawing/2014/main" id="{84CB33E7-8E15-403D-9A4F-C5B71124C6DB}"/>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19">
            <a:extLst xmlns:a="http://schemas.openxmlformats.org/drawingml/2006/main">
              <a:ext uri="{FF2B5EF4-FFF2-40B4-BE49-F238E27FC236}">
                <a16:creationId xmlns:a16="http://schemas.microsoft.com/office/drawing/2014/main" id="{87843C27-C4A3-4AD9-A916-810C87861C95}"/>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53F0E90C-93E0-4B9E-BE10-60DA114FA128}"/>
              </a:ext>
            </a:extLst>
          </p:cNvPr>
          <p:cNvSpPr>
            <a:spLocks xmlns:a="http://schemas.openxmlformats.org/drawingml/2006/main" noGrp="1"/>
          </p:cNvSpPr>
          <p:nvPr/>
        </p:nvSpPr>
        <p:spPr>
          <a:xfrm xmlns:a="http://schemas.openxmlformats.org/drawingml/2006/main">
            <a:off x="33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Shell">
            <a:extLst xmlns:a="http://schemas.openxmlformats.org/drawingml/2006/main">
              <a:ext uri="{FF2B5EF4-FFF2-40B4-BE49-F238E27FC236}">
                <a16:creationId xmlns:a16="http://schemas.microsoft.com/office/drawing/2014/main" id="{26B570B7-72DC-4174-8A5D-6BD65BD094C4}"/>
              </a:ext>
            </a:extLst>
          </p:cNvPr>
          <p:cNvSpPr>
            <a:spLocks xmlns:a="http://schemas.openxmlformats.org/drawingml/2006/main" noGrp="1"/>
          </p:cNvSpPr>
          <p:nvPr/>
        </p:nvSpPr>
        <p:spPr>
          <a:xfrm xmlns:a="http://schemas.openxmlformats.org/drawingml/2006/main">
            <a:off x="47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Shell</a:t>
            </a:r>
          </a:p>
        </p:txBody>
      </p:sp>
      <p:cxnSp>
        <p:nvCxnSpPr>
          <p:cNvPr id="7" name="">
            <a:extLst xmlns:a="http://schemas.openxmlformats.org/drawingml/2006/main">
              <a:ext uri="{FF2B5EF4-FFF2-40B4-BE49-F238E27FC236}">
                <a16:creationId xmlns:a16="http://schemas.microsoft.com/office/drawing/2014/main" id="{EDB8399C-81B4-4BFE-98A8-73EDD27187E2}"/>
              </a:ext>
            </a:extLst>
          </p:cNvPr>
          <p:cNvCxnSpPr/>
          <p:nvPr/>
        </p:nvCxnSpPr>
        <p:spPr>
          <a:xfrm xmlns:a="http://schemas.openxmlformats.org/drawingml/2006/main" flipH="0" flipV="0">
            <a:off x="133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8" name="">
            <a:extLst xmlns:a="http://schemas.openxmlformats.org/drawingml/2006/main">
              <a:ext uri="{FF2B5EF4-FFF2-40B4-BE49-F238E27FC236}">
                <a16:creationId xmlns:a16="http://schemas.microsoft.com/office/drawing/2014/main" id="{0CACC0F7-CB49-414D-AA6A-B8B9B9E47BE2}"/>
              </a:ext>
            </a:extLst>
          </p:cNvPr>
          <p:cNvSpPr>
            <a:spLocks xmlns:a="http://schemas.openxmlformats.org/drawingml/2006/main" noGrp="1"/>
          </p:cNvSpPr>
          <p:nvPr/>
        </p:nvSpPr>
        <p:spPr>
          <a:xfrm xmlns:a="http://schemas.openxmlformats.org/drawingml/2006/main">
            <a:off x="350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Guest stack">
            <a:extLst xmlns:a="http://schemas.openxmlformats.org/drawingml/2006/main">
              <a:ext uri="{FF2B5EF4-FFF2-40B4-BE49-F238E27FC236}">
                <a16:creationId xmlns:a16="http://schemas.microsoft.com/office/drawing/2014/main" id="{66455EFF-4F54-4BCA-B63E-E5B528E82C0F}"/>
              </a:ext>
            </a:extLst>
          </p:cNvPr>
          <p:cNvSpPr>
            <a:spLocks xmlns:a="http://schemas.openxmlformats.org/drawingml/2006/main" noGrp="1"/>
          </p:cNvSpPr>
          <p:nvPr/>
        </p:nvSpPr>
        <p:spPr>
          <a:xfrm xmlns:a="http://schemas.openxmlformats.org/drawingml/2006/main">
            <a:off x="365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Guest stack</a:t>
            </a:r>
          </a:p>
        </p:txBody>
      </p:sp>
      <p:cxnSp>
        <p:nvCxnSpPr>
          <p:cNvPr id="10" name="">
            <a:extLst xmlns:a="http://schemas.openxmlformats.org/drawingml/2006/main">
              <a:ext uri="{FF2B5EF4-FFF2-40B4-BE49-F238E27FC236}">
                <a16:creationId xmlns:a16="http://schemas.microsoft.com/office/drawing/2014/main" id="{5160A9A3-651F-4F5F-ACC0-1059D7A6171C}"/>
              </a:ext>
            </a:extLst>
          </p:cNvPr>
          <p:cNvCxnSpPr/>
          <p:nvPr/>
        </p:nvCxnSpPr>
        <p:spPr>
          <a:xfrm xmlns:a="http://schemas.openxmlformats.org/drawingml/2006/main" flipH="0" flipV="0">
            <a:off x="450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1" name="">
            <a:extLst xmlns:a="http://schemas.openxmlformats.org/drawingml/2006/main">
              <a:ext uri="{FF2B5EF4-FFF2-40B4-BE49-F238E27FC236}">
                <a16:creationId xmlns:a16="http://schemas.microsoft.com/office/drawing/2014/main" id="{7FDEBEF9-680F-4F2F-A82F-9400C7959DFB}"/>
              </a:ext>
            </a:extLst>
          </p:cNvPr>
          <p:cNvSpPr>
            <a:spLocks xmlns:a="http://schemas.openxmlformats.org/drawingml/2006/main" noGrp="1"/>
          </p:cNvSpPr>
          <p:nvPr/>
        </p:nvSpPr>
        <p:spPr>
          <a:xfrm xmlns:a="http://schemas.openxmlformats.org/drawingml/2006/main">
            <a:off x="668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Next hop">
            <a:extLst xmlns:a="http://schemas.openxmlformats.org/drawingml/2006/main">
              <a:ext uri="{FF2B5EF4-FFF2-40B4-BE49-F238E27FC236}">
                <a16:creationId xmlns:a16="http://schemas.microsoft.com/office/drawing/2014/main" id="{829612AE-3784-4967-8669-AB0575CFDEF5}"/>
              </a:ext>
            </a:extLst>
          </p:cNvPr>
          <p:cNvSpPr>
            <a:spLocks xmlns:a="http://schemas.openxmlformats.org/drawingml/2006/main" noGrp="1"/>
          </p:cNvSpPr>
          <p:nvPr/>
        </p:nvSpPr>
        <p:spPr>
          <a:xfrm xmlns:a="http://schemas.openxmlformats.org/drawingml/2006/main">
            <a:off x="682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Next hop</a:t>
            </a:r>
          </a:p>
        </p:txBody>
      </p:sp>
      <p:cxnSp>
        <p:nvCxnSpPr>
          <p:cNvPr id="13" name="">
            <a:extLst xmlns:a="http://schemas.openxmlformats.org/drawingml/2006/main">
              <a:ext uri="{FF2B5EF4-FFF2-40B4-BE49-F238E27FC236}">
                <a16:creationId xmlns:a16="http://schemas.microsoft.com/office/drawing/2014/main" id="{2F0DD96A-0888-4FD3-A6C0-3BCC0A882A1D}"/>
              </a:ext>
            </a:extLst>
          </p:cNvPr>
          <p:cNvCxnSpPr/>
          <p:nvPr/>
        </p:nvCxnSpPr>
        <p:spPr>
          <a:xfrm xmlns:a="http://schemas.openxmlformats.org/drawingml/2006/main" flipH="0" flipV="0">
            <a:off x="768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4" name="">
            <a:extLst xmlns:a="http://schemas.openxmlformats.org/drawingml/2006/main">
              <a:ext uri="{FF2B5EF4-FFF2-40B4-BE49-F238E27FC236}">
                <a16:creationId xmlns:a16="http://schemas.microsoft.com/office/drawing/2014/main" id="{C34EC647-B5CC-44C4-A941-337370545B97}"/>
              </a:ext>
            </a:extLst>
          </p:cNvPr>
          <p:cNvSpPr>
            <a:spLocks xmlns:a="http://schemas.openxmlformats.org/drawingml/2006/main" noGrp="1"/>
          </p:cNvSpPr>
          <p:nvPr/>
        </p:nvSpPr>
        <p:spPr>
          <a:xfrm xmlns:a="http://schemas.openxmlformats.org/drawingml/2006/main">
            <a:off x="985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TCP service">
            <a:extLst xmlns:a="http://schemas.openxmlformats.org/drawingml/2006/main">
              <a:ext uri="{FF2B5EF4-FFF2-40B4-BE49-F238E27FC236}">
                <a16:creationId xmlns:a16="http://schemas.microsoft.com/office/drawing/2014/main" id="{91C109C6-D815-4E71-93F7-EB96063502B2}"/>
              </a:ext>
            </a:extLst>
          </p:cNvPr>
          <p:cNvSpPr>
            <a:spLocks xmlns:a="http://schemas.openxmlformats.org/drawingml/2006/main" noGrp="1"/>
          </p:cNvSpPr>
          <p:nvPr/>
        </p:nvSpPr>
        <p:spPr>
          <a:xfrm xmlns:a="http://schemas.openxmlformats.org/drawingml/2006/main">
            <a:off x="1000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TCP service</a:t>
            </a:r>
          </a:p>
        </p:txBody>
      </p:sp>
      <p:cxnSp>
        <p:nvCxnSpPr>
          <p:cNvPr id="16" name="">
            <a:extLst xmlns:a="http://schemas.openxmlformats.org/drawingml/2006/main">
              <a:ext uri="{FF2B5EF4-FFF2-40B4-BE49-F238E27FC236}">
                <a16:creationId xmlns:a16="http://schemas.microsoft.com/office/drawing/2014/main" id="{3AB2FDE2-1A36-41F6-A179-7582298E606A}"/>
              </a:ext>
            </a:extLst>
          </p:cNvPr>
          <p:cNvCxnSpPr/>
          <p:nvPr/>
        </p:nvCxnSpPr>
        <p:spPr>
          <a:xfrm xmlns:a="http://schemas.openxmlformats.org/drawingml/2006/main" flipH="0" flipV="0">
            <a:off x="1085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cxnSp>
        <p:nvCxnSpPr>
          <p:cNvPr id="17" name="">
            <a:extLst xmlns:a="http://schemas.openxmlformats.org/drawingml/2006/main">
              <a:ext uri="{FF2B5EF4-FFF2-40B4-BE49-F238E27FC236}">
                <a16:creationId xmlns:a16="http://schemas.microsoft.com/office/drawing/2014/main" id="{1945938C-EE58-4DA4-A861-17462FB34124}"/>
              </a:ext>
            </a:extLst>
          </p:cNvPr>
          <p:cNvCxnSpPr/>
          <p:nvPr/>
        </p:nvCxnSpPr>
        <p:spPr>
          <a:xfrm xmlns:a="http://schemas.openxmlformats.org/drawingml/2006/main" flipH="0" flipV="0">
            <a:off x="1333500" y="302895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8" name="tcpping &lt;ipv4&gt; &lt;port&gt;">
            <a:extLst xmlns:a="http://schemas.openxmlformats.org/drawingml/2006/main">
              <a:ext uri="{FF2B5EF4-FFF2-40B4-BE49-F238E27FC236}">
                <a16:creationId xmlns:a16="http://schemas.microsoft.com/office/drawing/2014/main" id="{EF5CB981-5ED4-4391-8DC0-B66FFEE50098}"/>
              </a:ext>
            </a:extLst>
          </p:cNvPr>
          <p:cNvSpPr>
            <a:spLocks xmlns:a="http://schemas.openxmlformats.org/drawingml/2006/main" noGrp="1"/>
          </p:cNvSpPr>
          <p:nvPr/>
        </p:nvSpPr>
        <p:spPr>
          <a:xfrm xmlns:a="http://schemas.openxmlformats.org/drawingml/2006/main">
            <a:off x="1457325" y="275272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tcpping &lt;ipv4&gt; &lt;port&gt;</a:t>
            </a:r>
          </a:p>
        </p:txBody>
      </p:sp>
      <p:cxnSp>
        <p:nvCxnSpPr>
          <p:cNvPr id="19" name="">
            <a:extLst xmlns:a="http://schemas.openxmlformats.org/drawingml/2006/main">
              <a:ext uri="{FF2B5EF4-FFF2-40B4-BE49-F238E27FC236}">
                <a16:creationId xmlns:a16="http://schemas.microsoft.com/office/drawing/2014/main" id="{2D606FC8-CEDD-412F-8F6C-D61C24F57499}"/>
              </a:ext>
            </a:extLst>
          </p:cNvPr>
          <p:cNvCxnSpPr/>
          <p:nvPr/>
        </p:nvCxnSpPr>
        <p:spPr>
          <a:xfrm xmlns:a="http://schemas.openxmlformats.org/drawingml/2006/main" flipH="0" flipV="0">
            <a:off x="4508500" y="3457575"/>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0" name="ARP request / reply resolves MAC">
            <a:extLst xmlns:a="http://schemas.openxmlformats.org/drawingml/2006/main">
              <a:ext uri="{FF2B5EF4-FFF2-40B4-BE49-F238E27FC236}">
                <a16:creationId xmlns:a16="http://schemas.microsoft.com/office/drawing/2014/main" id="{85F8020A-4862-40CC-B1AC-82E615727ACA}"/>
              </a:ext>
            </a:extLst>
          </p:cNvPr>
          <p:cNvSpPr>
            <a:spLocks xmlns:a="http://schemas.openxmlformats.org/drawingml/2006/main" noGrp="1"/>
          </p:cNvSpPr>
          <p:nvPr/>
        </p:nvSpPr>
        <p:spPr>
          <a:xfrm xmlns:a="http://schemas.openxmlformats.org/drawingml/2006/main">
            <a:off x="4632325" y="3181350"/>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ARP request / reply resolves MAC</a:t>
            </a:r>
          </a:p>
        </p:txBody>
      </p:sp>
      <p:cxnSp>
        <p:nvCxnSpPr>
          <p:cNvPr id="21" name="">
            <a:extLst xmlns:a="http://schemas.openxmlformats.org/drawingml/2006/main">
              <a:ext uri="{FF2B5EF4-FFF2-40B4-BE49-F238E27FC236}">
                <a16:creationId xmlns:a16="http://schemas.microsoft.com/office/drawing/2014/main" id="{89D55A41-DD42-4739-B8B8-BE9A9DEDB420}"/>
              </a:ext>
            </a:extLst>
          </p:cNvPr>
          <p:cNvCxnSpPr/>
          <p:nvPr/>
        </p:nvCxnSpPr>
        <p:spPr>
          <a:xfrm xmlns:a="http://schemas.openxmlformats.org/drawingml/2006/main" flipH="0" flipV="0">
            <a:off x="4508500" y="3886200"/>
            <a:ext cx="6350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2" name="TCP SYN">
            <a:extLst xmlns:a="http://schemas.openxmlformats.org/drawingml/2006/main">
              <a:ext uri="{FF2B5EF4-FFF2-40B4-BE49-F238E27FC236}">
                <a16:creationId xmlns:a16="http://schemas.microsoft.com/office/drawing/2014/main" id="{BEABCFF6-E781-4ADA-9A61-09A8E440C398}"/>
              </a:ext>
            </a:extLst>
          </p:cNvPr>
          <p:cNvSpPr>
            <a:spLocks xmlns:a="http://schemas.openxmlformats.org/drawingml/2006/main" noGrp="1"/>
          </p:cNvSpPr>
          <p:nvPr/>
        </p:nvSpPr>
        <p:spPr>
          <a:xfrm xmlns:a="http://schemas.openxmlformats.org/drawingml/2006/main">
            <a:off x="4632325" y="3609975"/>
            <a:ext cx="6102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TCP SYN</a:t>
            </a:r>
          </a:p>
        </p:txBody>
      </p:sp>
      <p:cxnSp>
        <p:nvCxnSpPr>
          <p:cNvPr id="23" name="">
            <a:extLst xmlns:a="http://schemas.openxmlformats.org/drawingml/2006/main">
              <a:ext uri="{FF2B5EF4-FFF2-40B4-BE49-F238E27FC236}">
                <a16:creationId xmlns:a16="http://schemas.microsoft.com/office/drawing/2014/main" id="{4D05B609-49BD-41A8-A57D-790A13DE58DB}"/>
              </a:ext>
            </a:extLst>
          </p:cNvPr>
          <p:cNvCxnSpPr/>
          <p:nvPr/>
        </p:nvCxnSpPr>
        <p:spPr>
          <a:xfrm xmlns:a="http://schemas.openxmlformats.org/drawingml/2006/main" flipH="1" flipV="0">
            <a:off x="4508500" y="4314825"/>
            <a:ext cx="6350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4" name="TCP SYN-ACK">
            <a:extLst xmlns:a="http://schemas.openxmlformats.org/drawingml/2006/main">
              <a:ext uri="{FF2B5EF4-FFF2-40B4-BE49-F238E27FC236}">
                <a16:creationId xmlns:a16="http://schemas.microsoft.com/office/drawing/2014/main" id="{8805D756-4756-47F8-B14C-0AD2658FBB53}"/>
              </a:ext>
            </a:extLst>
          </p:cNvPr>
          <p:cNvSpPr>
            <a:spLocks xmlns:a="http://schemas.openxmlformats.org/drawingml/2006/main" noGrp="1"/>
          </p:cNvSpPr>
          <p:nvPr/>
        </p:nvSpPr>
        <p:spPr>
          <a:xfrm xmlns:a="http://schemas.openxmlformats.org/drawingml/2006/main">
            <a:off x="4632325" y="4038600"/>
            <a:ext cx="6102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TCP SYN-ACK</a:t>
            </a:r>
          </a:p>
        </p:txBody>
      </p:sp>
      <p:cxnSp>
        <p:nvCxnSpPr>
          <p:cNvPr id="25" name="">
            <a:extLst xmlns:a="http://schemas.openxmlformats.org/drawingml/2006/main">
              <a:ext uri="{FF2B5EF4-FFF2-40B4-BE49-F238E27FC236}">
                <a16:creationId xmlns:a16="http://schemas.microsoft.com/office/drawing/2014/main" id="{3DA48B1F-703D-41AA-9A4C-A57CBBBB9656}"/>
              </a:ext>
            </a:extLst>
          </p:cNvPr>
          <p:cNvCxnSpPr/>
          <p:nvPr/>
        </p:nvCxnSpPr>
        <p:spPr>
          <a:xfrm xmlns:a="http://schemas.openxmlformats.org/drawingml/2006/main" flipH="0" flipV="0">
            <a:off x="4508500" y="4743450"/>
            <a:ext cx="6350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6" name="TCP RST-ACK">
            <a:extLst xmlns:a="http://schemas.openxmlformats.org/drawingml/2006/main">
              <a:ext uri="{FF2B5EF4-FFF2-40B4-BE49-F238E27FC236}">
                <a16:creationId xmlns:a16="http://schemas.microsoft.com/office/drawing/2014/main" id="{68FEFF99-EC4A-4577-BC44-50BC4862331D}"/>
              </a:ext>
            </a:extLst>
          </p:cNvPr>
          <p:cNvSpPr>
            <a:spLocks xmlns:a="http://schemas.openxmlformats.org/drawingml/2006/main" noGrp="1"/>
          </p:cNvSpPr>
          <p:nvPr/>
        </p:nvSpPr>
        <p:spPr>
          <a:xfrm xmlns:a="http://schemas.openxmlformats.org/drawingml/2006/main">
            <a:off x="4632325" y="4467225"/>
            <a:ext cx="6102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TCP RST-ACK</a:t>
            </a:r>
          </a:p>
        </p:txBody>
      </p:sp>
      <p:cxnSp>
        <p:nvCxnSpPr>
          <p:cNvPr id="27" name="">
            <a:extLst xmlns:a="http://schemas.openxmlformats.org/drawingml/2006/main">
              <a:ext uri="{FF2B5EF4-FFF2-40B4-BE49-F238E27FC236}">
                <a16:creationId xmlns:a16="http://schemas.microsoft.com/office/drawing/2014/main" id="{589CD648-5BFE-4FB6-BD11-30ACB7E1517C}"/>
              </a:ext>
            </a:extLst>
          </p:cNvPr>
          <p:cNvCxnSpPr/>
          <p:nvPr/>
        </p:nvCxnSpPr>
        <p:spPr>
          <a:xfrm xmlns:a="http://schemas.openxmlformats.org/drawingml/2006/main" flipH="1" flipV="0">
            <a:off x="1333500" y="5172075"/>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8" name="ok (SYN-ACK)">
            <a:extLst xmlns:a="http://schemas.openxmlformats.org/drawingml/2006/main">
              <a:ext uri="{FF2B5EF4-FFF2-40B4-BE49-F238E27FC236}">
                <a16:creationId xmlns:a16="http://schemas.microsoft.com/office/drawing/2014/main" id="{B703E143-B8E7-47C6-B646-DCA2C99811CF}"/>
              </a:ext>
            </a:extLst>
          </p:cNvPr>
          <p:cNvSpPr>
            <a:spLocks xmlns:a="http://schemas.openxmlformats.org/drawingml/2006/main" noGrp="1"/>
          </p:cNvSpPr>
          <p:nvPr/>
        </p:nvSpPr>
        <p:spPr>
          <a:xfrm xmlns:a="http://schemas.openxmlformats.org/drawingml/2006/main">
            <a:off x="1457325" y="4895850"/>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ok (SYN-ACK)</a:t>
            </a:r>
          </a:p>
        </p:txBody>
      </p:sp>
      <p:sp>
        <p:nvSpPr>
          <p:cNvPr id="29" name="A successful probe establishes reachability,">
            <a:extLst xmlns:a="http://schemas.openxmlformats.org/drawingml/2006/main">
              <a:ext uri="{FF2B5EF4-FFF2-40B4-BE49-F238E27FC236}">
                <a16:creationId xmlns:a16="http://schemas.microsoft.com/office/drawing/2014/main" id="{022B19B3-C601-4003-8512-9FA70C650001}"/>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A successful probe establishes reachability, not Gemini API access.</a:t>
            </a:r>
          </a:p>
        </p:txBody>
      </p:sp>
    </p:spTree>
    <p:extLst>
      <p:ext uri="{BB962C8B-B14F-4D97-AF65-F5344CB8AC3E}">
        <p14:creationId xmlns:p14="http://schemas.microsoft.com/office/powerpoint/2010/main" val="64127714"/>
      </p:ext>
    </p:extLst>
  </p:cSld>
</p:sld>
</file>

<file path=ppt/slides/slide20.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5" name="NETWORKING">
            <a:extLst xmlns:a="http://schemas.openxmlformats.org/drawingml/2006/main">
              <a:ext uri="{FF2B5EF4-FFF2-40B4-BE49-F238E27FC236}">
                <a16:creationId xmlns:a16="http://schemas.microsoft.com/office/drawing/2014/main" id="{FE347DD0-B26E-4623-91A8-011F107D877B}"/>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NETWORKING</a:t>
            </a:r>
          </a:p>
        </p:txBody>
      </p:sp>
      <p:sp>
        <p:nvSpPr>
          <p:cNvPr id="2" name="Host-side connectivity tools">
            <a:extLst xmlns:a="http://schemas.openxmlformats.org/drawingml/2006/main">
              <a:ext uri="{FF2B5EF4-FFF2-40B4-BE49-F238E27FC236}">
                <a16:creationId xmlns:a16="http://schemas.microsoft.com/office/drawing/2014/main" id="{49EC41EB-5649-477A-AA5A-327B533B1BE7}"/>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Host-side connectivity tools</a:t>
            </a:r>
          </a:p>
        </p:txBody>
      </p:sp>
      <p:sp>
        <p:nvSpPr>
          <p:cNvPr id="3" name="AGENTIC OS  /  MVP TECHNICAL WALKTHROUGH">
            <a:extLst xmlns:a="http://schemas.openxmlformats.org/drawingml/2006/main">
              <a:ext uri="{FF2B5EF4-FFF2-40B4-BE49-F238E27FC236}">
                <a16:creationId xmlns:a16="http://schemas.microsoft.com/office/drawing/2014/main" id="{DF07249C-654E-41C1-AA50-243B948E55A8}"/>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20">
            <a:extLst xmlns:a="http://schemas.openxmlformats.org/drawingml/2006/main">
              <a:ext uri="{FF2B5EF4-FFF2-40B4-BE49-F238E27FC236}">
                <a16:creationId xmlns:a16="http://schemas.microsoft.com/office/drawing/2014/main" id="{556E9A51-C656-4F80-81CD-A3B624F4A8FC}"/>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20</a:t>
            </a:r>
          </a:p>
        </p:txBody>
      </p:sp>
      <p:sp>
        <p:nvSpPr>
          <p:cNvPr id="5" name="">
            <a:extLst xmlns:a="http://schemas.openxmlformats.org/drawingml/2006/main">
              <a:ext uri="{FF2B5EF4-FFF2-40B4-BE49-F238E27FC236}">
                <a16:creationId xmlns:a16="http://schemas.microsoft.com/office/drawing/2014/main" id="{02553503-DE30-4CBD-BFCB-55282CB61DF0}"/>
              </a:ext>
            </a:extLst>
          </p:cNvPr>
          <p:cNvSpPr>
            <a:spLocks xmlns:a="http://schemas.openxmlformats.org/drawingml/2006/main" noGrp="1"/>
          </p:cNvSpPr>
          <p:nvPr/>
        </p:nvSpPr>
        <p:spPr>
          <a:xfrm xmlns:a="http://schemas.openxmlformats.org/drawingml/2006/main">
            <a:off x="609600" y="2676525"/>
            <a:ext cx="2857500" cy="8572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CLI or HTTP client">
            <a:extLst xmlns:a="http://schemas.openxmlformats.org/drawingml/2006/main">
              <a:ext uri="{FF2B5EF4-FFF2-40B4-BE49-F238E27FC236}">
                <a16:creationId xmlns:a16="http://schemas.microsoft.com/office/drawing/2014/main" id="{E163653D-C475-4326-BA7C-9779E268C91E}"/>
              </a:ext>
            </a:extLst>
          </p:cNvPr>
          <p:cNvSpPr>
            <a:spLocks xmlns:a="http://schemas.openxmlformats.org/drawingml/2006/main" noGrp="1"/>
          </p:cNvSpPr>
          <p:nvPr/>
        </p:nvSpPr>
        <p:spPr>
          <a:xfrm xmlns:a="http://schemas.openxmlformats.org/drawingml/2006/main">
            <a:off x="752475" y="2762250"/>
            <a:ext cx="2571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CLI or HTTP client</a:t>
            </a:r>
          </a:p>
        </p:txBody>
      </p:sp>
      <p:sp>
        <p:nvSpPr>
          <p:cNvPr id="7" name="">
            <a:extLst xmlns:a="http://schemas.openxmlformats.org/drawingml/2006/main">
              <a:ext uri="{FF2B5EF4-FFF2-40B4-BE49-F238E27FC236}">
                <a16:creationId xmlns:a16="http://schemas.microsoft.com/office/drawing/2014/main" id="{08B65F1D-3D3D-4E19-9342-518CA94D896F}"/>
              </a:ext>
            </a:extLst>
          </p:cNvPr>
          <p:cNvSpPr>
            <a:spLocks xmlns:a="http://schemas.openxmlformats.org/drawingml/2006/main" noGrp="1"/>
          </p:cNvSpPr>
          <p:nvPr/>
        </p:nvSpPr>
        <p:spPr>
          <a:xfrm xmlns:a="http://schemas.openxmlformats.org/drawingml/2006/main">
            <a:off x="4695825" y="2676525"/>
            <a:ext cx="2857500" cy="8572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8" name="Python TCP probe">
            <a:extLst xmlns:a="http://schemas.openxmlformats.org/drawingml/2006/main">
              <a:ext uri="{FF2B5EF4-FFF2-40B4-BE49-F238E27FC236}">
                <a16:creationId xmlns:a16="http://schemas.microsoft.com/office/drawing/2014/main" id="{54D1111B-5739-4E3D-9EEF-D5647788F985}"/>
              </a:ext>
            </a:extLst>
          </p:cNvPr>
          <p:cNvSpPr>
            <a:spLocks xmlns:a="http://schemas.openxmlformats.org/drawingml/2006/main" noGrp="1"/>
          </p:cNvSpPr>
          <p:nvPr/>
        </p:nvSpPr>
        <p:spPr>
          <a:xfrm xmlns:a="http://schemas.openxmlformats.org/drawingml/2006/main">
            <a:off x="4838700" y="2762250"/>
            <a:ext cx="2571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Python TCP probe</a:t>
            </a:r>
          </a:p>
        </p:txBody>
      </p:sp>
      <p:sp>
        <p:nvSpPr>
          <p:cNvPr id="9" name="">
            <a:extLst xmlns:a="http://schemas.openxmlformats.org/drawingml/2006/main">
              <a:ext uri="{FF2B5EF4-FFF2-40B4-BE49-F238E27FC236}">
                <a16:creationId xmlns:a16="http://schemas.microsoft.com/office/drawing/2014/main" id="{79BB38CE-7713-4B66-B9BB-7FB3D6E7A294}"/>
              </a:ext>
            </a:extLst>
          </p:cNvPr>
          <p:cNvSpPr>
            <a:spLocks xmlns:a="http://schemas.openxmlformats.org/drawingml/2006/main" noGrp="1"/>
          </p:cNvSpPr>
          <p:nvPr/>
        </p:nvSpPr>
        <p:spPr>
          <a:xfrm xmlns:a="http://schemas.openxmlformats.org/drawingml/2006/main">
            <a:off x="8782050" y="2676525"/>
            <a:ext cx="2800350" cy="8572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0" name="Target IPv4:port">
            <a:extLst xmlns:a="http://schemas.openxmlformats.org/drawingml/2006/main">
              <a:ext uri="{FF2B5EF4-FFF2-40B4-BE49-F238E27FC236}">
                <a16:creationId xmlns:a16="http://schemas.microsoft.com/office/drawing/2014/main" id="{F8A749AC-0035-4CCE-9E58-2B8ACBCDD18D}"/>
              </a:ext>
            </a:extLst>
          </p:cNvPr>
          <p:cNvSpPr>
            <a:spLocks xmlns:a="http://schemas.openxmlformats.org/drawingml/2006/main" noGrp="1"/>
          </p:cNvSpPr>
          <p:nvPr/>
        </p:nvSpPr>
        <p:spPr>
          <a:xfrm xmlns:a="http://schemas.openxmlformats.org/drawingml/2006/main">
            <a:off x="8924925" y="2762250"/>
            <a:ext cx="2514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Target IPv4:port</a:t>
            </a:r>
          </a:p>
        </p:txBody>
      </p:sp>
      <p:cxnSp>
        <p:nvCxnSpPr>
          <p:cNvPr id="11" name="">
            <a:extLst xmlns:a="http://schemas.openxmlformats.org/drawingml/2006/main">
              <a:ext uri="{FF2B5EF4-FFF2-40B4-BE49-F238E27FC236}">
                <a16:creationId xmlns:a16="http://schemas.microsoft.com/office/drawing/2014/main" id="{017EDA44-5A8A-41DE-A684-21B1D6EBEDF2}"/>
              </a:ext>
            </a:extLst>
          </p:cNvPr>
          <p:cNvCxnSpPr/>
          <p:nvPr/>
        </p:nvCxnSpPr>
        <p:spPr>
          <a:xfrm xmlns:a="http://schemas.openxmlformats.org/drawingml/2006/main" flipH="0" flipV="0">
            <a:off x="3467100" y="3105150"/>
            <a:ext cx="115252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4FB39BF0-140D-4FF8-9CC8-70B1363C32E9}"/>
              </a:ext>
            </a:extLst>
          </p:cNvPr>
          <p:cNvCxnSpPr/>
          <p:nvPr/>
        </p:nvCxnSpPr>
        <p:spPr>
          <a:xfrm xmlns:a="http://schemas.openxmlformats.org/drawingml/2006/main" flipH="0" flipV="0">
            <a:off x="7553325" y="3105150"/>
            <a:ext cx="115252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3" name="/health     /status     /ping">
            <a:extLst xmlns:a="http://schemas.openxmlformats.org/drawingml/2006/main">
              <a:ext uri="{FF2B5EF4-FFF2-40B4-BE49-F238E27FC236}">
                <a16:creationId xmlns:a16="http://schemas.microsoft.com/office/drawing/2014/main" id="{A581FC09-3909-489D-8C50-F6DA343AFBC5}"/>
              </a:ext>
            </a:extLst>
          </p:cNvPr>
          <p:cNvSpPr>
            <a:spLocks xmlns:a="http://schemas.openxmlformats.org/drawingml/2006/main" noGrp="1"/>
          </p:cNvSpPr>
          <p:nvPr/>
        </p:nvSpPr>
        <p:spPr>
          <a:xfrm xmlns:a="http://schemas.openxmlformats.org/drawingml/2006/main">
            <a:off x="609600" y="4343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550" b="1">
                <a:solidFill>
                  <a:srgbClr val="BE98F6"/>
                </a:solidFill>
                <a:latin typeface="Arial"/>
                <a:ea typeface="Arial"/>
                <a:cs typeface="Arial"/>
              </a:defRPr>
            </a:defPPr>
          </a:lstStyle>
          <a:p xmlns:a="http://schemas.openxmlformats.org/drawingml/2006/main">
            <a:pPr algn="l">
              <a:defRPr sz="2550" b="1">
                <a:solidFill>
                  <a:srgbClr val="BE98F6"/>
                </a:solidFill>
                <a:latin typeface="Arial"/>
                <a:ea typeface="Arial"/>
                <a:cs typeface="Arial"/>
              </a:defRPr>
            </a:pPr>
            <a:r>
              <a:rPr sz="2550" b="1">
                <a:solidFill>
                  <a:srgbClr val="BE98F6"/>
                </a:solidFill>
                <a:latin typeface="Arial"/>
                <a:ea typeface="Arial"/>
                <a:cs typeface="Arial"/>
              </a:rPr>
              <a:t>/health     /status     /ping</a:t>
            </a:r>
          </a:p>
        </p:txBody>
      </p:sp>
      <p:sp>
        <p:nvSpPr>
          <p:cNvPr id="14" name="Host diagnostics provide a separate way to i">
            <a:extLst xmlns:a="http://schemas.openxmlformats.org/drawingml/2006/main">
              <a:ext uri="{FF2B5EF4-FFF2-40B4-BE49-F238E27FC236}">
                <a16:creationId xmlns:a16="http://schemas.microsoft.com/office/drawing/2014/main" id="{6409AE2C-9686-4DBA-B86D-C1DB9C09B457}"/>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Host diagnostics provide a separate way to inspect connectivity.</a:t>
            </a:r>
          </a:p>
        </p:txBody>
      </p:sp>
    </p:spTree>
    <p:extLst>
      <p:ext uri="{BB962C8B-B14F-4D97-AF65-F5344CB8AC3E}">
        <p14:creationId xmlns:p14="http://schemas.microsoft.com/office/powerpoint/2010/main" val="328773915"/>
      </p:ext>
    </p:extLst>
  </p:cSld>
</p:sld>
</file>

<file path=ppt/slides/slide21.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6" name="AGENT ARCHITECTURE">
            <a:extLst xmlns:a="http://schemas.openxmlformats.org/drawingml/2006/main">
              <a:ext uri="{FF2B5EF4-FFF2-40B4-BE49-F238E27FC236}">
                <a16:creationId xmlns:a16="http://schemas.microsoft.com/office/drawing/2014/main" id="{FCB75A64-5585-4EFE-8554-8C166372BF69}"/>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AGENT ARCHITECTURE</a:t>
            </a:r>
          </a:p>
        </p:txBody>
      </p:sp>
      <p:sp>
        <p:nvSpPr>
          <p:cNvPr id="2" name="Gemini networking area">
            <a:extLst xmlns:a="http://schemas.openxmlformats.org/drawingml/2006/main">
              <a:ext uri="{FF2B5EF4-FFF2-40B4-BE49-F238E27FC236}">
                <a16:creationId xmlns:a16="http://schemas.microsoft.com/office/drawing/2014/main" id="{AEFC25B4-78CC-4361-9182-59BEB5312E09}"/>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Gemini networking area</a:t>
            </a:r>
          </a:p>
        </p:txBody>
      </p:sp>
      <p:sp>
        <p:nvSpPr>
          <p:cNvPr id="3" name="AGENTIC OS  /  MVP TECHNICAL WALKTHROUGH">
            <a:extLst xmlns:a="http://schemas.openxmlformats.org/drawingml/2006/main">
              <a:ext uri="{FF2B5EF4-FFF2-40B4-BE49-F238E27FC236}">
                <a16:creationId xmlns:a16="http://schemas.microsoft.com/office/drawing/2014/main" id="{9989772A-E75A-4398-B6B1-8BB4350B1A9B}"/>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21">
            <a:extLst xmlns:a="http://schemas.openxmlformats.org/drawingml/2006/main">
              <a:ext uri="{FF2B5EF4-FFF2-40B4-BE49-F238E27FC236}">
                <a16:creationId xmlns:a16="http://schemas.microsoft.com/office/drawing/2014/main" id="{ECC0D830-5A20-4D9B-AF7D-9220555E9640}"/>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21</a:t>
            </a:r>
          </a:p>
        </p:txBody>
      </p:sp>
      <p:sp>
        <p:nvSpPr>
          <p:cNvPr id="5" name="">
            <a:extLst xmlns:a="http://schemas.openxmlformats.org/drawingml/2006/main">
              <a:ext uri="{FF2B5EF4-FFF2-40B4-BE49-F238E27FC236}">
                <a16:creationId xmlns:a16="http://schemas.microsoft.com/office/drawing/2014/main" id="{8CFE1119-4C02-4997-B057-D3B53121257D}"/>
              </a:ext>
            </a:extLst>
          </p:cNvPr>
          <p:cNvSpPr>
            <a:spLocks xmlns:a="http://schemas.openxmlformats.org/drawingml/2006/main" noGrp="1"/>
          </p:cNvSpPr>
          <p:nvPr/>
        </p:nvSpPr>
        <p:spPr>
          <a:xfrm xmlns:a="http://schemas.openxmlformats.org/drawingml/2006/main">
            <a:off x="609600" y="2762250"/>
            <a:ext cx="2762250" cy="10477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Agentic OS guest">
            <a:extLst xmlns:a="http://schemas.openxmlformats.org/drawingml/2006/main">
              <a:ext uri="{FF2B5EF4-FFF2-40B4-BE49-F238E27FC236}">
                <a16:creationId xmlns:a16="http://schemas.microsoft.com/office/drawing/2014/main" id="{94C65CFC-49D7-4C2D-B6EF-83851D5F95C8}"/>
              </a:ext>
            </a:extLst>
          </p:cNvPr>
          <p:cNvSpPr>
            <a:spLocks xmlns:a="http://schemas.openxmlformats.org/drawingml/2006/main" noGrp="1"/>
          </p:cNvSpPr>
          <p:nvPr/>
        </p:nvSpPr>
        <p:spPr>
          <a:xfrm xmlns:a="http://schemas.openxmlformats.org/drawingml/2006/main">
            <a:off x="752475" y="2847975"/>
            <a:ext cx="2476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Agentic OS guest</a:t>
            </a:r>
          </a:p>
        </p:txBody>
      </p:sp>
      <p:sp>
        <p:nvSpPr>
          <p:cNvPr id="7" name="">
            <a:extLst xmlns:a="http://schemas.openxmlformats.org/drawingml/2006/main">
              <a:ext uri="{FF2B5EF4-FFF2-40B4-BE49-F238E27FC236}">
                <a16:creationId xmlns:a16="http://schemas.microsoft.com/office/drawing/2014/main" id="{0F18AA21-33FB-4234-8724-C27C3F99AF96}"/>
              </a:ext>
            </a:extLst>
          </p:cNvPr>
          <p:cNvSpPr>
            <a:spLocks xmlns:a="http://schemas.openxmlformats.org/drawingml/2006/main" noGrp="1"/>
          </p:cNvSpPr>
          <p:nvPr/>
        </p:nvSpPr>
        <p:spPr>
          <a:xfrm xmlns:a="http://schemas.openxmlformats.org/drawingml/2006/main">
            <a:off x="4714875" y="2762250"/>
            <a:ext cx="2762250" cy="10477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8" name="Host gateway">
            <a:extLst xmlns:a="http://schemas.openxmlformats.org/drawingml/2006/main">
              <a:ext uri="{FF2B5EF4-FFF2-40B4-BE49-F238E27FC236}">
                <a16:creationId xmlns:a16="http://schemas.microsoft.com/office/drawing/2014/main" id="{CA5D4706-2C4D-4D6B-BAB9-45CE56DCAFEF}"/>
              </a:ext>
            </a:extLst>
          </p:cNvPr>
          <p:cNvSpPr>
            <a:spLocks xmlns:a="http://schemas.openxmlformats.org/drawingml/2006/main" noGrp="1"/>
          </p:cNvSpPr>
          <p:nvPr/>
        </p:nvSpPr>
        <p:spPr>
          <a:xfrm xmlns:a="http://schemas.openxmlformats.org/drawingml/2006/main">
            <a:off x="4857750" y="2847975"/>
            <a:ext cx="2476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Host gateway</a:t>
            </a:r>
          </a:p>
        </p:txBody>
      </p:sp>
      <p:sp>
        <p:nvSpPr>
          <p:cNvPr id="9" name="">
            <a:extLst xmlns:a="http://schemas.openxmlformats.org/drawingml/2006/main">
              <a:ext uri="{FF2B5EF4-FFF2-40B4-BE49-F238E27FC236}">
                <a16:creationId xmlns:a16="http://schemas.microsoft.com/office/drawing/2014/main" id="{8E2FEF47-089B-45F3-AE18-9C585AD82901}"/>
              </a:ext>
            </a:extLst>
          </p:cNvPr>
          <p:cNvSpPr>
            <a:spLocks xmlns:a="http://schemas.openxmlformats.org/drawingml/2006/main" noGrp="1"/>
          </p:cNvSpPr>
          <p:nvPr/>
        </p:nvSpPr>
        <p:spPr>
          <a:xfrm xmlns:a="http://schemas.openxmlformats.org/drawingml/2006/main">
            <a:off x="8820150" y="2762250"/>
            <a:ext cx="2762250" cy="10477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0" name="Gemini API">
            <a:extLst xmlns:a="http://schemas.openxmlformats.org/drawingml/2006/main">
              <a:ext uri="{FF2B5EF4-FFF2-40B4-BE49-F238E27FC236}">
                <a16:creationId xmlns:a16="http://schemas.microsoft.com/office/drawing/2014/main" id="{60076D33-0BEE-498E-B9B7-40B05338810B}"/>
              </a:ext>
            </a:extLst>
          </p:cNvPr>
          <p:cNvSpPr>
            <a:spLocks xmlns:a="http://schemas.openxmlformats.org/drawingml/2006/main" noGrp="1"/>
          </p:cNvSpPr>
          <p:nvPr/>
        </p:nvSpPr>
        <p:spPr>
          <a:xfrm xmlns:a="http://schemas.openxmlformats.org/drawingml/2006/main">
            <a:off x="8963025" y="2847975"/>
            <a:ext cx="2476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Gemini API</a:t>
            </a:r>
          </a:p>
        </p:txBody>
      </p:sp>
      <p:cxnSp>
        <p:nvCxnSpPr>
          <p:cNvPr id="11" name="">
            <a:extLst xmlns:a="http://schemas.openxmlformats.org/drawingml/2006/main">
              <a:ext uri="{FF2B5EF4-FFF2-40B4-BE49-F238E27FC236}">
                <a16:creationId xmlns:a16="http://schemas.microsoft.com/office/drawing/2014/main" id="{C5DE364D-4203-4DFB-AF48-8B5553ECEBBB}"/>
              </a:ext>
            </a:extLst>
          </p:cNvPr>
          <p:cNvCxnSpPr/>
          <p:nvPr/>
        </p:nvCxnSpPr>
        <p:spPr>
          <a:xfrm xmlns:a="http://schemas.openxmlformats.org/drawingml/2006/main" flipH="0" flipV="0">
            <a:off x="3371850" y="3286125"/>
            <a:ext cx="126682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BB78DFA6-B34C-4BF6-9DAE-459A42A95C5C}"/>
              </a:ext>
            </a:extLst>
          </p:cNvPr>
          <p:cNvCxnSpPr/>
          <p:nvPr/>
        </p:nvCxnSpPr>
        <p:spPr>
          <a:xfrm xmlns:a="http://schemas.openxmlformats.org/drawingml/2006/main" flipH="0" flipV="0">
            <a:off x="7477125" y="3286125"/>
            <a:ext cx="126682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3" name="Application&#10;messages">
            <a:extLst xmlns:a="http://schemas.openxmlformats.org/drawingml/2006/main">
              <a:ext uri="{FF2B5EF4-FFF2-40B4-BE49-F238E27FC236}">
                <a16:creationId xmlns:a16="http://schemas.microsoft.com/office/drawing/2014/main" id="{7804A58C-BE04-49FC-ACD5-77AC436F6D78}"/>
              </a:ext>
            </a:extLst>
          </p:cNvPr>
          <p:cNvSpPr>
            <a:spLocks xmlns:a="http://schemas.openxmlformats.org/drawingml/2006/main" noGrp="1"/>
          </p:cNvSpPr>
          <p:nvPr/>
        </p:nvSpPr>
        <p:spPr>
          <a:xfrm xmlns:a="http://schemas.openxmlformats.org/drawingml/2006/main">
            <a:off x="3429000" y="2333625"/>
            <a:ext cx="123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D5C9E6"/>
                </a:solidFill>
                <a:latin typeface="Arial"/>
                <a:ea typeface="Arial"/>
                <a:cs typeface="Arial"/>
              </a:defRPr>
            </a:defPPr>
          </a:lstStyle>
          <a:p xmlns:a="http://schemas.openxmlformats.org/drawingml/2006/main">
            <a:pPr algn="l">
              <a:defRPr sz="1425" b="0">
                <a:solidFill>
                  <a:srgbClr val="D5C9E6"/>
                </a:solidFill>
                <a:latin typeface="Arial"/>
                <a:ea typeface="Arial"/>
                <a:cs typeface="Arial"/>
              </a:defRPr>
            </a:pPr>
            <a:r>
              <a:rPr sz="1425" b="0">
                <a:solidFill>
                  <a:srgbClr val="D5C9E6"/>
                </a:solidFill>
                <a:latin typeface="Arial"/>
                <a:ea typeface="Arial"/>
                <a:cs typeface="Arial"/>
              </a:rPr>
              <a:t>Application</a:t>
            </a:r>
          </a:p>
          <a:p xmlns:a="http://schemas.openxmlformats.org/drawingml/2006/main">
            <a:pPr algn="l">
              <a:defRPr sz="1425" b="0">
                <a:solidFill>
                  <a:srgbClr val="D5C9E6"/>
                </a:solidFill>
                <a:latin typeface="Arial"/>
                <a:ea typeface="Arial"/>
                <a:cs typeface="Arial"/>
              </a:defRPr>
            </a:pPr>
            <a:r>
              <a:rPr sz="1425" b="0">
                <a:solidFill>
                  <a:srgbClr val="D5C9E6"/>
                </a:solidFill>
                <a:latin typeface="Arial"/>
                <a:ea typeface="Arial"/>
                <a:cs typeface="Arial"/>
              </a:rPr>
              <a:t>messages</a:t>
            </a:r>
          </a:p>
        </p:txBody>
      </p:sp>
      <p:sp>
        <p:nvSpPr>
          <p:cNvPr id="14" name="HTTPS">
            <a:extLst xmlns:a="http://schemas.openxmlformats.org/drawingml/2006/main">
              <a:ext uri="{FF2B5EF4-FFF2-40B4-BE49-F238E27FC236}">
                <a16:creationId xmlns:a16="http://schemas.microsoft.com/office/drawing/2014/main" id="{FB1A708B-10CF-4797-B7A9-E2655888F974}"/>
              </a:ext>
            </a:extLst>
          </p:cNvPr>
          <p:cNvSpPr>
            <a:spLocks xmlns:a="http://schemas.openxmlformats.org/drawingml/2006/main" noGrp="1"/>
          </p:cNvSpPr>
          <p:nvPr/>
        </p:nvSpPr>
        <p:spPr>
          <a:xfrm xmlns:a="http://schemas.openxmlformats.org/drawingml/2006/main">
            <a:off x="7667625" y="2667000"/>
            <a:ext cx="10096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650" b="1">
                <a:solidFill>
                  <a:srgbClr val="BE98F6"/>
                </a:solidFill>
                <a:latin typeface="Arial"/>
                <a:ea typeface="Arial"/>
                <a:cs typeface="Arial"/>
              </a:defRPr>
            </a:defPPr>
          </a:lstStyle>
          <a:p xmlns:a="http://schemas.openxmlformats.org/drawingml/2006/main">
            <a:pPr algn="l">
              <a:defRPr sz="1650" b="1">
                <a:solidFill>
                  <a:srgbClr val="BE98F6"/>
                </a:solidFill>
                <a:latin typeface="Arial"/>
                <a:ea typeface="Arial"/>
                <a:cs typeface="Arial"/>
              </a:defRPr>
            </a:pPr>
            <a:r>
              <a:rPr sz="1650" b="1">
                <a:solidFill>
                  <a:srgbClr val="BE98F6"/>
                </a:solidFill>
                <a:latin typeface="Arial"/>
                <a:ea typeface="Arial"/>
                <a:cs typeface="Arial"/>
              </a:rPr>
              <a:t>HTTPS</a:t>
            </a:r>
          </a:p>
        </p:txBody>
      </p:sp>
      <p:sp>
        <p:nvSpPr>
          <p:cNvPr id="15" name="The guest owns file operations. The host gat">
            <a:extLst xmlns:a="http://schemas.openxmlformats.org/drawingml/2006/main">
              <a:ext uri="{FF2B5EF4-FFF2-40B4-BE49-F238E27FC236}">
                <a16:creationId xmlns:a16="http://schemas.microsoft.com/office/drawing/2014/main" id="{3BFC2170-E00E-4360-BE90-4556E48A6FA5}"/>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The guest owns file operations. The host gateway owns cloud communication.</a:t>
            </a:r>
          </a:p>
        </p:txBody>
      </p:sp>
    </p:spTree>
    <p:extLst>
      <p:ext uri="{BB962C8B-B14F-4D97-AF65-F5344CB8AC3E}">
        <p14:creationId xmlns:p14="http://schemas.microsoft.com/office/powerpoint/2010/main" val="97269153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GENT ARCHITECTURE">
            <a:extLst xmlns:a="http://schemas.openxmlformats.org/drawingml/2006/main">
              <a:ext uri="{FF2B5EF4-FFF2-40B4-BE49-F238E27FC236}">
                <a16:creationId xmlns:a16="http://schemas.microsoft.com/office/drawing/2014/main" id="{1677994D-2C0F-462B-B33A-BA0E0874501D}"/>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7D43D5"/>
                </a:solidFill>
                <a:latin typeface="Arial"/>
                <a:ea typeface="Arial"/>
                <a:cs typeface="Arial"/>
              </a:defRPr>
            </a:defPPr>
          </a:lstStyle>
          <a:p xmlns:a="http://schemas.openxmlformats.org/drawingml/2006/main">
            <a:pPr algn="l">
              <a:defRPr sz="1200" b="1">
                <a:solidFill>
                  <a:srgbClr val="7D43D5"/>
                </a:solidFill>
                <a:latin typeface="Arial"/>
                <a:ea typeface="Arial"/>
                <a:cs typeface="Arial"/>
              </a:defRPr>
            </a:pPr>
            <a:r>
              <a:rPr sz="1200" b="1">
                <a:solidFill>
                  <a:srgbClr val="7D43D5"/>
                </a:solidFill>
                <a:latin typeface="Arial"/>
                <a:ea typeface="Arial"/>
                <a:cs typeface="Arial"/>
              </a:rPr>
              <a:t>AGENT ARCHITECTURE</a:t>
            </a:r>
          </a:p>
        </p:txBody>
      </p:sp>
      <p:sp>
        <p:nvSpPr>
          <p:cNvPr id="2" name="Gateway responsibilities">
            <a:extLst xmlns:a="http://schemas.openxmlformats.org/drawingml/2006/main">
              <a:ext uri="{FF2B5EF4-FFF2-40B4-BE49-F238E27FC236}">
                <a16:creationId xmlns:a16="http://schemas.microsoft.com/office/drawing/2014/main" id="{EFFE5D7D-9714-412F-A7F5-30A862E55FB6}"/>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51139"/>
                </a:solidFill>
                <a:latin typeface="Arial"/>
                <a:ea typeface="Arial"/>
                <a:cs typeface="Arial"/>
              </a:defRPr>
            </a:defPPr>
          </a:lstStyle>
          <a:p xmlns:a="http://schemas.openxmlformats.org/drawingml/2006/main">
            <a:pPr algn="l">
              <a:defRPr sz="3300" b="1">
                <a:solidFill>
                  <a:srgbClr val="251139"/>
                </a:solidFill>
                <a:latin typeface="Arial"/>
                <a:ea typeface="Arial"/>
                <a:cs typeface="Arial"/>
              </a:defRPr>
            </a:pPr>
            <a:r>
              <a:rPr sz="3300" b="1">
                <a:solidFill>
                  <a:srgbClr val="251139"/>
                </a:solidFill>
                <a:latin typeface="Arial"/>
                <a:ea typeface="Arial"/>
                <a:cs typeface="Arial"/>
              </a:rPr>
              <a:t>Gateway responsibilities</a:t>
            </a:r>
          </a:p>
        </p:txBody>
      </p:sp>
      <p:sp>
        <p:nvSpPr>
          <p:cNvPr id="3" name="AGENTIC OS  /  MVP TECHNICAL WALKTHROUGH">
            <a:extLst xmlns:a="http://schemas.openxmlformats.org/drawingml/2006/main">
              <a:ext uri="{FF2B5EF4-FFF2-40B4-BE49-F238E27FC236}">
                <a16:creationId xmlns:a16="http://schemas.microsoft.com/office/drawing/2014/main" id="{558F8ECB-5019-4571-A065-C33640C586EE}"/>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7D43D5"/>
                </a:solidFill>
                <a:latin typeface="Arial"/>
                <a:ea typeface="Arial"/>
                <a:cs typeface="Arial"/>
              </a:defRPr>
            </a:defPPr>
          </a:lstStyle>
          <a:p xmlns:a="http://schemas.openxmlformats.org/drawingml/2006/main">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22">
            <a:extLst xmlns:a="http://schemas.openxmlformats.org/drawingml/2006/main">
              <a:ext uri="{FF2B5EF4-FFF2-40B4-BE49-F238E27FC236}">
                <a16:creationId xmlns:a16="http://schemas.microsoft.com/office/drawing/2014/main" id="{A20B7580-1041-425E-84D6-D7D8BBA36A61}"/>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7D43D5"/>
                </a:solidFill>
                <a:latin typeface="Arial"/>
                <a:ea typeface="Arial"/>
                <a:cs typeface="Arial"/>
              </a:defRPr>
            </a:defPPr>
          </a:lstStyle>
          <a:p xmlns:a="http://schemas.openxmlformats.org/drawingml/2006/main">
            <a:pPr algn="r">
              <a:defRPr sz="1275" b="0">
                <a:solidFill>
                  <a:srgbClr val="7D43D5"/>
                </a:solidFill>
                <a:latin typeface="Arial"/>
                <a:ea typeface="Arial"/>
                <a:cs typeface="Arial"/>
              </a:defRPr>
            </a:pPr>
            <a:r>
              <a:rPr sz="1275" b="0">
                <a:solidFill>
                  <a:srgbClr val="7D43D5"/>
                </a:solidFill>
                <a:latin typeface="Arial"/>
                <a:ea typeface="Arial"/>
                <a:cs typeface="Arial"/>
              </a:rPr>
              <a:t>22</a:t>
            </a:r>
          </a:p>
        </p:txBody>
      </p:sp>
      <p:sp>
        <p:nvSpPr>
          <p:cNvPr id="5" name="Credentials">
            <a:extLst xmlns:a="http://schemas.openxmlformats.org/drawingml/2006/main">
              <a:ext uri="{FF2B5EF4-FFF2-40B4-BE49-F238E27FC236}">
                <a16:creationId xmlns:a16="http://schemas.microsoft.com/office/drawing/2014/main" id="{2091D1E4-A277-4135-99D9-8A6C827E9BF3}"/>
              </a:ext>
            </a:extLst>
          </p:cNvPr>
          <p:cNvSpPr>
            <a:spLocks xmlns:a="http://schemas.openxmlformats.org/drawingml/2006/main" noGrp="1"/>
          </p:cNvSpPr>
          <p:nvPr/>
        </p:nvSpPr>
        <p:spPr>
          <a:xfrm xmlns:a="http://schemas.openxmlformats.org/drawingml/2006/main">
            <a:off x="609600" y="19907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Credentials</a:t>
            </a:r>
          </a:p>
        </p:txBody>
      </p:sp>
      <p:sp>
        <p:nvSpPr>
          <p:cNvPr id="6" name="GEMINI_API_KEY stays on the host">
            <a:extLst xmlns:a="http://schemas.openxmlformats.org/drawingml/2006/main">
              <a:ext uri="{FF2B5EF4-FFF2-40B4-BE49-F238E27FC236}">
                <a16:creationId xmlns:a16="http://schemas.microsoft.com/office/drawing/2014/main" id="{176F7148-4DDF-4F59-AF74-139E9F8332E6}"/>
              </a:ext>
            </a:extLst>
          </p:cNvPr>
          <p:cNvSpPr>
            <a:spLocks xmlns:a="http://schemas.openxmlformats.org/drawingml/2006/main" noGrp="1"/>
          </p:cNvSpPr>
          <p:nvPr/>
        </p:nvSpPr>
        <p:spPr>
          <a:xfrm xmlns:a="http://schemas.openxmlformats.org/drawingml/2006/main">
            <a:off x="3943350" y="199072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GEMINI_API_KEY stays on the host</a:t>
            </a:r>
          </a:p>
        </p:txBody>
      </p:sp>
      <p:sp>
        <p:nvSpPr>
          <p:cNvPr id="7" name="Model requests">
            <a:extLst xmlns:a="http://schemas.openxmlformats.org/drawingml/2006/main">
              <a:ext uri="{FF2B5EF4-FFF2-40B4-BE49-F238E27FC236}">
                <a16:creationId xmlns:a16="http://schemas.microsoft.com/office/drawing/2014/main" id="{4D0A3012-FE23-42BE-AA1B-81DC930023B5}"/>
              </a:ext>
            </a:extLst>
          </p:cNvPr>
          <p:cNvSpPr>
            <a:spLocks xmlns:a="http://schemas.openxmlformats.org/drawingml/2006/main" noGrp="1"/>
          </p:cNvSpPr>
          <p:nvPr/>
        </p:nvSpPr>
        <p:spPr>
          <a:xfrm xmlns:a="http://schemas.openxmlformats.org/drawingml/2006/main">
            <a:off x="609600" y="28860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Model requests</a:t>
            </a:r>
          </a:p>
        </p:txBody>
      </p:sp>
      <p:sp>
        <p:nvSpPr>
          <p:cNvPr id="8" name="Prompt, allowed tools and bounded context">
            <a:extLst xmlns:a="http://schemas.openxmlformats.org/drawingml/2006/main">
              <a:ext uri="{FF2B5EF4-FFF2-40B4-BE49-F238E27FC236}">
                <a16:creationId xmlns:a16="http://schemas.microsoft.com/office/drawing/2014/main" id="{444C5568-0FC7-4784-93AA-60FCF948F0EC}"/>
              </a:ext>
            </a:extLst>
          </p:cNvPr>
          <p:cNvSpPr>
            <a:spLocks xmlns:a="http://schemas.openxmlformats.org/drawingml/2006/main" noGrp="1"/>
          </p:cNvSpPr>
          <p:nvPr/>
        </p:nvSpPr>
        <p:spPr>
          <a:xfrm xmlns:a="http://schemas.openxmlformats.org/drawingml/2006/main">
            <a:off x="3943350" y="28860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Prompt, allowed tools and bounded context</a:t>
            </a:r>
          </a:p>
        </p:txBody>
      </p:sp>
      <p:sp>
        <p:nvSpPr>
          <p:cNvPr id="9" name="Transport">
            <a:extLst xmlns:a="http://schemas.openxmlformats.org/drawingml/2006/main">
              <a:ext uri="{FF2B5EF4-FFF2-40B4-BE49-F238E27FC236}">
                <a16:creationId xmlns:a16="http://schemas.microsoft.com/office/drawing/2014/main" id="{C2D73F6D-0BE3-4B10-9576-0C9C23B80917}"/>
              </a:ext>
            </a:extLst>
          </p:cNvPr>
          <p:cNvSpPr>
            <a:spLocks xmlns:a="http://schemas.openxmlformats.org/drawingml/2006/main" noGrp="1"/>
          </p:cNvSpPr>
          <p:nvPr/>
        </p:nvSpPr>
        <p:spPr>
          <a:xfrm xmlns:a="http://schemas.openxmlformats.org/drawingml/2006/main">
            <a:off x="609600" y="37814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Transport</a:t>
            </a:r>
          </a:p>
        </p:txBody>
      </p:sp>
      <p:sp>
        <p:nvSpPr>
          <p:cNvPr id="10" name="HTTPS, timeout handling and response parsing">
            <a:extLst xmlns:a="http://schemas.openxmlformats.org/drawingml/2006/main">
              <a:ext uri="{FF2B5EF4-FFF2-40B4-BE49-F238E27FC236}">
                <a16:creationId xmlns:a16="http://schemas.microsoft.com/office/drawing/2014/main" id="{859AC9AD-F3D9-42D7-9E62-05647A7DFB0D}"/>
              </a:ext>
            </a:extLst>
          </p:cNvPr>
          <p:cNvSpPr>
            <a:spLocks xmlns:a="http://schemas.openxmlformats.org/drawingml/2006/main" noGrp="1"/>
          </p:cNvSpPr>
          <p:nvPr/>
        </p:nvSpPr>
        <p:spPr>
          <a:xfrm xmlns:a="http://schemas.openxmlformats.org/drawingml/2006/main">
            <a:off x="3943350" y="378142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HTTPS, timeout handling and response parsing</a:t>
            </a:r>
          </a:p>
        </p:txBody>
      </p:sp>
      <p:sp>
        <p:nvSpPr>
          <p:cNvPr id="11" name="Execution boundary">
            <a:extLst xmlns:a="http://schemas.openxmlformats.org/drawingml/2006/main">
              <a:ext uri="{FF2B5EF4-FFF2-40B4-BE49-F238E27FC236}">
                <a16:creationId xmlns:a16="http://schemas.microsoft.com/office/drawing/2014/main" id="{F89EE811-E841-4EF4-9480-C3D4B1777D62}"/>
              </a:ext>
            </a:extLst>
          </p:cNvPr>
          <p:cNvSpPr>
            <a:spLocks xmlns:a="http://schemas.openxmlformats.org/drawingml/2006/main" noGrp="1"/>
          </p:cNvSpPr>
          <p:nvPr/>
        </p:nvSpPr>
        <p:spPr>
          <a:xfrm xmlns:a="http://schemas.openxmlformats.org/drawingml/2006/main">
            <a:off x="609600" y="46767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Execution boundary</a:t>
            </a:r>
          </a:p>
        </p:txBody>
      </p:sp>
      <p:sp>
        <p:nvSpPr>
          <p:cNvPr id="12" name="Validated tool requests return to the OS">
            <a:extLst xmlns:a="http://schemas.openxmlformats.org/drawingml/2006/main">
              <a:ext uri="{FF2B5EF4-FFF2-40B4-BE49-F238E27FC236}">
                <a16:creationId xmlns:a16="http://schemas.microsoft.com/office/drawing/2014/main" id="{FD26C5A1-2932-445E-8509-0421FB1A834D}"/>
              </a:ext>
            </a:extLst>
          </p:cNvPr>
          <p:cNvSpPr>
            <a:spLocks xmlns:a="http://schemas.openxmlformats.org/drawingml/2006/main" noGrp="1"/>
          </p:cNvSpPr>
          <p:nvPr/>
        </p:nvSpPr>
        <p:spPr>
          <a:xfrm xmlns:a="http://schemas.openxmlformats.org/drawingml/2006/main">
            <a:off x="3943350" y="46767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Validated tool requests return to the OS</a:t>
            </a:r>
          </a:p>
        </p:txBody>
      </p:sp>
    </p:spTree>
    <p:extLst>
      <p:ext uri="{BB962C8B-B14F-4D97-AF65-F5344CB8AC3E}">
        <p14:creationId xmlns:p14="http://schemas.microsoft.com/office/powerpoint/2010/main" val="1231591621"/>
      </p:ext>
    </p:extLst>
  </p:cSld>
</p:sld>
</file>

<file path=ppt/slides/slide23.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34" name="AGENT ARCHITECTURE">
            <a:extLst xmlns:a="http://schemas.openxmlformats.org/drawingml/2006/main">
              <a:ext uri="{FF2B5EF4-FFF2-40B4-BE49-F238E27FC236}">
                <a16:creationId xmlns:a16="http://schemas.microsoft.com/office/drawing/2014/main" id="{F542AEFF-94A2-44D6-93CA-F6B8D28E0080}"/>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AGENT ARCHITECTURE</a:t>
            </a:r>
          </a:p>
        </p:txBody>
      </p:sp>
      <p:sp>
        <p:nvSpPr>
          <p:cNvPr id="2" name="Gemini tool-call sequence">
            <a:extLst xmlns:a="http://schemas.openxmlformats.org/drawingml/2006/main">
              <a:ext uri="{FF2B5EF4-FFF2-40B4-BE49-F238E27FC236}">
                <a16:creationId xmlns:a16="http://schemas.microsoft.com/office/drawing/2014/main" id="{B5925F40-668E-4184-9BF5-5C0E0A71C8DB}"/>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Gemini tool-call sequence</a:t>
            </a:r>
          </a:p>
        </p:txBody>
      </p:sp>
      <p:sp>
        <p:nvSpPr>
          <p:cNvPr id="3" name="AGENTIC OS  /  MVP TECHNICAL WALKTHROUGH">
            <a:extLst xmlns:a="http://schemas.openxmlformats.org/drawingml/2006/main">
              <a:ext uri="{FF2B5EF4-FFF2-40B4-BE49-F238E27FC236}">
                <a16:creationId xmlns:a16="http://schemas.microsoft.com/office/drawing/2014/main" id="{23027C19-D466-47FD-82B4-8C7EFFC728EE}"/>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23">
            <a:extLst xmlns:a="http://schemas.openxmlformats.org/drawingml/2006/main">
              <a:ext uri="{FF2B5EF4-FFF2-40B4-BE49-F238E27FC236}">
                <a16:creationId xmlns:a16="http://schemas.microsoft.com/office/drawing/2014/main" id="{8421566E-0380-4408-BC51-6A475AF10282}"/>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23</a:t>
            </a:r>
          </a:p>
        </p:txBody>
      </p:sp>
      <p:sp>
        <p:nvSpPr>
          <p:cNvPr id="5" name="">
            <a:extLst xmlns:a="http://schemas.openxmlformats.org/drawingml/2006/main">
              <a:ext uri="{FF2B5EF4-FFF2-40B4-BE49-F238E27FC236}">
                <a16:creationId xmlns:a16="http://schemas.microsoft.com/office/drawing/2014/main" id="{B132A96D-60BD-4280-81E6-E2ECE0344293}"/>
              </a:ext>
            </a:extLst>
          </p:cNvPr>
          <p:cNvSpPr>
            <a:spLocks xmlns:a="http://schemas.openxmlformats.org/drawingml/2006/main" noGrp="1"/>
          </p:cNvSpPr>
          <p:nvPr/>
        </p:nvSpPr>
        <p:spPr>
          <a:xfrm xmlns:a="http://schemas.openxmlformats.org/drawingml/2006/main">
            <a:off x="33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OS agent">
            <a:extLst xmlns:a="http://schemas.openxmlformats.org/drawingml/2006/main">
              <a:ext uri="{FF2B5EF4-FFF2-40B4-BE49-F238E27FC236}">
                <a16:creationId xmlns:a16="http://schemas.microsoft.com/office/drawing/2014/main" id="{3835F032-90A7-4689-A096-EA68658B4A1B}"/>
              </a:ext>
            </a:extLst>
          </p:cNvPr>
          <p:cNvSpPr>
            <a:spLocks xmlns:a="http://schemas.openxmlformats.org/drawingml/2006/main" noGrp="1"/>
          </p:cNvSpPr>
          <p:nvPr/>
        </p:nvSpPr>
        <p:spPr>
          <a:xfrm xmlns:a="http://schemas.openxmlformats.org/drawingml/2006/main">
            <a:off x="47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OS agent</a:t>
            </a:r>
          </a:p>
        </p:txBody>
      </p:sp>
      <p:cxnSp>
        <p:nvCxnSpPr>
          <p:cNvPr id="7" name="">
            <a:extLst xmlns:a="http://schemas.openxmlformats.org/drawingml/2006/main">
              <a:ext uri="{FF2B5EF4-FFF2-40B4-BE49-F238E27FC236}">
                <a16:creationId xmlns:a16="http://schemas.microsoft.com/office/drawing/2014/main" id="{6EE27D3A-40D0-4F0C-9682-26F7B4B5A5D3}"/>
              </a:ext>
            </a:extLst>
          </p:cNvPr>
          <p:cNvCxnSpPr/>
          <p:nvPr/>
        </p:nvCxnSpPr>
        <p:spPr>
          <a:xfrm xmlns:a="http://schemas.openxmlformats.org/drawingml/2006/main" flipH="0" flipV="0">
            <a:off x="133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8" name="">
            <a:extLst xmlns:a="http://schemas.openxmlformats.org/drawingml/2006/main">
              <a:ext uri="{FF2B5EF4-FFF2-40B4-BE49-F238E27FC236}">
                <a16:creationId xmlns:a16="http://schemas.microsoft.com/office/drawing/2014/main" id="{6415C6D2-C0C3-46CB-A551-2AA9C2285F5B}"/>
              </a:ext>
            </a:extLst>
          </p:cNvPr>
          <p:cNvSpPr>
            <a:spLocks xmlns:a="http://schemas.openxmlformats.org/drawingml/2006/main" noGrp="1"/>
          </p:cNvSpPr>
          <p:nvPr/>
        </p:nvSpPr>
        <p:spPr>
          <a:xfrm xmlns:a="http://schemas.openxmlformats.org/drawingml/2006/main">
            <a:off x="350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Gateway">
            <a:extLst xmlns:a="http://schemas.openxmlformats.org/drawingml/2006/main">
              <a:ext uri="{FF2B5EF4-FFF2-40B4-BE49-F238E27FC236}">
                <a16:creationId xmlns:a16="http://schemas.microsoft.com/office/drawing/2014/main" id="{2C2914E5-5CA5-44A8-BB68-B7833B1D70BD}"/>
              </a:ext>
            </a:extLst>
          </p:cNvPr>
          <p:cNvSpPr>
            <a:spLocks xmlns:a="http://schemas.openxmlformats.org/drawingml/2006/main" noGrp="1"/>
          </p:cNvSpPr>
          <p:nvPr/>
        </p:nvSpPr>
        <p:spPr>
          <a:xfrm xmlns:a="http://schemas.openxmlformats.org/drawingml/2006/main">
            <a:off x="365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Gateway</a:t>
            </a:r>
          </a:p>
        </p:txBody>
      </p:sp>
      <p:cxnSp>
        <p:nvCxnSpPr>
          <p:cNvPr id="10" name="">
            <a:extLst xmlns:a="http://schemas.openxmlformats.org/drawingml/2006/main">
              <a:ext uri="{FF2B5EF4-FFF2-40B4-BE49-F238E27FC236}">
                <a16:creationId xmlns:a16="http://schemas.microsoft.com/office/drawing/2014/main" id="{F66F1505-0D0D-4C23-B3C3-C16AC9D7574D}"/>
              </a:ext>
            </a:extLst>
          </p:cNvPr>
          <p:cNvCxnSpPr/>
          <p:nvPr/>
        </p:nvCxnSpPr>
        <p:spPr>
          <a:xfrm xmlns:a="http://schemas.openxmlformats.org/drawingml/2006/main" flipH="0" flipV="0">
            <a:off x="450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1" name="">
            <a:extLst xmlns:a="http://schemas.openxmlformats.org/drawingml/2006/main">
              <a:ext uri="{FF2B5EF4-FFF2-40B4-BE49-F238E27FC236}">
                <a16:creationId xmlns:a16="http://schemas.microsoft.com/office/drawing/2014/main" id="{C88C970E-F318-4519-9DE4-747B1803C3F2}"/>
              </a:ext>
            </a:extLst>
          </p:cNvPr>
          <p:cNvSpPr>
            <a:spLocks xmlns:a="http://schemas.openxmlformats.org/drawingml/2006/main" noGrp="1"/>
          </p:cNvSpPr>
          <p:nvPr/>
        </p:nvSpPr>
        <p:spPr>
          <a:xfrm xmlns:a="http://schemas.openxmlformats.org/drawingml/2006/main">
            <a:off x="668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Gemini">
            <a:extLst xmlns:a="http://schemas.openxmlformats.org/drawingml/2006/main">
              <a:ext uri="{FF2B5EF4-FFF2-40B4-BE49-F238E27FC236}">
                <a16:creationId xmlns:a16="http://schemas.microsoft.com/office/drawing/2014/main" id="{7A061C93-BE56-4649-B327-2C6179499E0B}"/>
              </a:ext>
            </a:extLst>
          </p:cNvPr>
          <p:cNvSpPr>
            <a:spLocks xmlns:a="http://schemas.openxmlformats.org/drawingml/2006/main" noGrp="1"/>
          </p:cNvSpPr>
          <p:nvPr/>
        </p:nvSpPr>
        <p:spPr>
          <a:xfrm xmlns:a="http://schemas.openxmlformats.org/drawingml/2006/main">
            <a:off x="682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Gemini</a:t>
            </a:r>
          </a:p>
        </p:txBody>
      </p:sp>
      <p:cxnSp>
        <p:nvCxnSpPr>
          <p:cNvPr id="13" name="">
            <a:extLst xmlns:a="http://schemas.openxmlformats.org/drawingml/2006/main">
              <a:ext uri="{FF2B5EF4-FFF2-40B4-BE49-F238E27FC236}">
                <a16:creationId xmlns:a16="http://schemas.microsoft.com/office/drawing/2014/main" id="{E5FE024E-A6EA-4216-A4EA-9B7C2DF398AB}"/>
              </a:ext>
            </a:extLst>
          </p:cNvPr>
          <p:cNvCxnSpPr/>
          <p:nvPr/>
        </p:nvCxnSpPr>
        <p:spPr>
          <a:xfrm xmlns:a="http://schemas.openxmlformats.org/drawingml/2006/main" flipH="0" flipV="0">
            <a:off x="768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4" name="">
            <a:extLst xmlns:a="http://schemas.openxmlformats.org/drawingml/2006/main">
              <a:ext uri="{FF2B5EF4-FFF2-40B4-BE49-F238E27FC236}">
                <a16:creationId xmlns:a16="http://schemas.microsoft.com/office/drawing/2014/main" id="{C4BF32E8-7AF1-4FDD-93CF-CFB926C4E6B2}"/>
              </a:ext>
            </a:extLst>
          </p:cNvPr>
          <p:cNvSpPr>
            <a:spLocks xmlns:a="http://schemas.openxmlformats.org/drawingml/2006/main" noGrp="1"/>
          </p:cNvSpPr>
          <p:nvPr/>
        </p:nvSpPr>
        <p:spPr>
          <a:xfrm xmlns:a="http://schemas.openxmlformats.org/drawingml/2006/main">
            <a:off x="985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File tools">
            <a:extLst xmlns:a="http://schemas.openxmlformats.org/drawingml/2006/main">
              <a:ext uri="{FF2B5EF4-FFF2-40B4-BE49-F238E27FC236}">
                <a16:creationId xmlns:a16="http://schemas.microsoft.com/office/drawing/2014/main" id="{42EB7023-F7A3-4C1D-A7C3-C2D8714322C2}"/>
              </a:ext>
            </a:extLst>
          </p:cNvPr>
          <p:cNvSpPr>
            <a:spLocks xmlns:a="http://schemas.openxmlformats.org/drawingml/2006/main" noGrp="1"/>
          </p:cNvSpPr>
          <p:nvPr/>
        </p:nvSpPr>
        <p:spPr>
          <a:xfrm xmlns:a="http://schemas.openxmlformats.org/drawingml/2006/main">
            <a:off x="1000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File tools</a:t>
            </a:r>
          </a:p>
        </p:txBody>
      </p:sp>
      <p:cxnSp>
        <p:nvCxnSpPr>
          <p:cNvPr id="16" name="">
            <a:extLst xmlns:a="http://schemas.openxmlformats.org/drawingml/2006/main">
              <a:ext uri="{FF2B5EF4-FFF2-40B4-BE49-F238E27FC236}">
                <a16:creationId xmlns:a16="http://schemas.microsoft.com/office/drawing/2014/main" id="{834DB739-5D43-4895-8767-7B78C7174844}"/>
              </a:ext>
            </a:extLst>
          </p:cNvPr>
          <p:cNvCxnSpPr/>
          <p:nvPr/>
        </p:nvCxnSpPr>
        <p:spPr>
          <a:xfrm xmlns:a="http://schemas.openxmlformats.org/drawingml/2006/main" flipH="0" flipV="0">
            <a:off x="1085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cxnSp>
        <p:nvCxnSpPr>
          <p:cNvPr id="17" name="">
            <a:extLst xmlns:a="http://schemas.openxmlformats.org/drawingml/2006/main">
              <a:ext uri="{FF2B5EF4-FFF2-40B4-BE49-F238E27FC236}">
                <a16:creationId xmlns:a16="http://schemas.microsoft.com/office/drawing/2014/main" id="{44EB54D7-E630-433E-8F6B-83BDD5BEEA81}"/>
              </a:ext>
            </a:extLst>
          </p:cNvPr>
          <p:cNvCxnSpPr/>
          <p:nvPr/>
        </p:nvCxnSpPr>
        <p:spPr>
          <a:xfrm xmlns:a="http://schemas.openxmlformats.org/drawingml/2006/main" flipH="0" flipV="0">
            <a:off x="1333500" y="302895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8" name="Request + allowed tool schema">
            <a:extLst xmlns:a="http://schemas.openxmlformats.org/drawingml/2006/main">
              <a:ext uri="{FF2B5EF4-FFF2-40B4-BE49-F238E27FC236}">
                <a16:creationId xmlns:a16="http://schemas.microsoft.com/office/drawing/2014/main" id="{856CF514-9AC2-40E3-AE03-A5573817DA66}"/>
              </a:ext>
            </a:extLst>
          </p:cNvPr>
          <p:cNvSpPr>
            <a:spLocks xmlns:a="http://schemas.openxmlformats.org/drawingml/2006/main" noGrp="1"/>
          </p:cNvSpPr>
          <p:nvPr/>
        </p:nvSpPr>
        <p:spPr>
          <a:xfrm xmlns:a="http://schemas.openxmlformats.org/drawingml/2006/main">
            <a:off x="1457325" y="275272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Request + allowed tool schema</a:t>
            </a:r>
          </a:p>
        </p:txBody>
      </p:sp>
      <p:cxnSp>
        <p:nvCxnSpPr>
          <p:cNvPr id="19" name="">
            <a:extLst xmlns:a="http://schemas.openxmlformats.org/drawingml/2006/main">
              <a:ext uri="{FF2B5EF4-FFF2-40B4-BE49-F238E27FC236}">
                <a16:creationId xmlns:a16="http://schemas.microsoft.com/office/drawing/2014/main" id="{75632D5D-90A7-43C7-BDB1-F32DEFA4EF4F}"/>
              </a:ext>
            </a:extLst>
          </p:cNvPr>
          <p:cNvCxnSpPr/>
          <p:nvPr/>
        </p:nvCxnSpPr>
        <p:spPr>
          <a:xfrm xmlns:a="http://schemas.openxmlformats.org/drawingml/2006/main" flipH="0" flipV="0">
            <a:off x="4508500" y="3350419"/>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0" name="Send model request">
            <a:extLst xmlns:a="http://schemas.openxmlformats.org/drawingml/2006/main">
              <a:ext uri="{FF2B5EF4-FFF2-40B4-BE49-F238E27FC236}">
                <a16:creationId xmlns:a16="http://schemas.microsoft.com/office/drawing/2014/main" id="{88D008EF-D304-468F-92ED-91FA0E2F2FE6}"/>
              </a:ext>
            </a:extLst>
          </p:cNvPr>
          <p:cNvSpPr>
            <a:spLocks xmlns:a="http://schemas.openxmlformats.org/drawingml/2006/main" noGrp="1"/>
          </p:cNvSpPr>
          <p:nvPr/>
        </p:nvSpPr>
        <p:spPr>
          <a:xfrm xmlns:a="http://schemas.openxmlformats.org/drawingml/2006/main">
            <a:off x="4632325" y="3074194"/>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Send model request</a:t>
            </a:r>
          </a:p>
        </p:txBody>
      </p:sp>
      <p:cxnSp>
        <p:nvCxnSpPr>
          <p:cNvPr id="21" name="">
            <a:extLst xmlns:a="http://schemas.openxmlformats.org/drawingml/2006/main">
              <a:ext uri="{FF2B5EF4-FFF2-40B4-BE49-F238E27FC236}">
                <a16:creationId xmlns:a16="http://schemas.microsoft.com/office/drawing/2014/main" id="{86122FF4-259F-4320-BF0A-842B542B8E2B}"/>
              </a:ext>
            </a:extLst>
          </p:cNvPr>
          <p:cNvCxnSpPr/>
          <p:nvPr/>
        </p:nvCxnSpPr>
        <p:spPr>
          <a:xfrm xmlns:a="http://schemas.openxmlformats.org/drawingml/2006/main" flipH="1" flipV="0">
            <a:off x="4508500" y="3671888"/>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2" name="Function name + arguments">
            <a:extLst xmlns:a="http://schemas.openxmlformats.org/drawingml/2006/main">
              <a:ext uri="{FF2B5EF4-FFF2-40B4-BE49-F238E27FC236}">
                <a16:creationId xmlns:a16="http://schemas.microsoft.com/office/drawing/2014/main" id="{8D4F0118-C742-48E2-9D73-CC6876136A03}"/>
              </a:ext>
            </a:extLst>
          </p:cNvPr>
          <p:cNvSpPr>
            <a:spLocks xmlns:a="http://schemas.openxmlformats.org/drawingml/2006/main" noGrp="1"/>
          </p:cNvSpPr>
          <p:nvPr/>
        </p:nvSpPr>
        <p:spPr>
          <a:xfrm xmlns:a="http://schemas.openxmlformats.org/drawingml/2006/main">
            <a:off x="4632325" y="3395663"/>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Function name + arguments</a:t>
            </a:r>
          </a:p>
        </p:txBody>
      </p:sp>
      <p:cxnSp>
        <p:nvCxnSpPr>
          <p:cNvPr id="23" name="">
            <a:extLst xmlns:a="http://schemas.openxmlformats.org/drawingml/2006/main">
              <a:ext uri="{FF2B5EF4-FFF2-40B4-BE49-F238E27FC236}">
                <a16:creationId xmlns:a16="http://schemas.microsoft.com/office/drawing/2014/main" id="{96B82DB9-0197-4328-A36C-33A98C67896B}"/>
              </a:ext>
            </a:extLst>
          </p:cNvPr>
          <p:cNvCxnSpPr/>
          <p:nvPr/>
        </p:nvCxnSpPr>
        <p:spPr>
          <a:xfrm xmlns:a="http://schemas.openxmlformats.org/drawingml/2006/main" flipH="0" flipV="0">
            <a:off x="4508500" y="3993356"/>
            <a:ext cx="6350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4" name="Validate and execute through OS">
            <a:extLst xmlns:a="http://schemas.openxmlformats.org/drawingml/2006/main">
              <a:ext uri="{FF2B5EF4-FFF2-40B4-BE49-F238E27FC236}">
                <a16:creationId xmlns:a16="http://schemas.microsoft.com/office/drawing/2014/main" id="{E7F222B6-51C9-4DB7-829A-08F707F5254D}"/>
              </a:ext>
            </a:extLst>
          </p:cNvPr>
          <p:cNvSpPr>
            <a:spLocks xmlns:a="http://schemas.openxmlformats.org/drawingml/2006/main" noGrp="1"/>
          </p:cNvSpPr>
          <p:nvPr/>
        </p:nvSpPr>
        <p:spPr>
          <a:xfrm xmlns:a="http://schemas.openxmlformats.org/drawingml/2006/main">
            <a:off x="4632325" y="3717131"/>
            <a:ext cx="6102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Validate and execute through OS</a:t>
            </a:r>
          </a:p>
        </p:txBody>
      </p:sp>
      <p:cxnSp>
        <p:nvCxnSpPr>
          <p:cNvPr id="25" name="">
            <a:extLst xmlns:a="http://schemas.openxmlformats.org/drawingml/2006/main">
              <a:ext uri="{FF2B5EF4-FFF2-40B4-BE49-F238E27FC236}">
                <a16:creationId xmlns:a16="http://schemas.microsoft.com/office/drawing/2014/main" id="{B149D04D-FC33-44E7-8D62-6781031362F9}"/>
              </a:ext>
            </a:extLst>
          </p:cNvPr>
          <p:cNvCxnSpPr/>
          <p:nvPr/>
        </p:nvCxnSpPr>
        <p:spPr>
          <a:xfrm xmlns:a="http://schemas.openxmlformats.org/drawingml/2006/main" flipH="1" flipV="0">
            <a:off x="4508500" y="4314825"/>
            <a:ext cx="6350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6" name="Structured tool result">
            <a:extLst xmlns:a="http://schemas.openxmlformats.org/drawingml/2006/main">
              <a:ext uri="{FF2B5EF4-FFF2-40B4-BE49-F238E27FC236}">
                <a16:creationId xmlns:a16="http://schemas.microsoft.com/office/drawing/2014/main" id="{1193D51B-D655-48D8-B36F-1597467A1B59}"/>
              </a:ext>
            </a:extLst>
          </p:cNvPr>
          <p:cNvSpPr>
            <a:spLocks xmlns:a="http://schemas.openxmlformats.org/drawingml/2006/main" noGrp="1"/>
          </p:cNvSpPr>
          <p:nvPr/>
        </p:nvSpPr>
        <p:spPr>
          <a:xfrm xmlns:a="http://schemas.openxmlformats.org/drawingml/2006/main">
            <a:off x="4632325" y="4038600"/>
            <a:ext cx="6102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Structured tool result</a:t>
            </a:r>
          </a:p>
        </p:txBody>
      </p:sp>
      <p:cxnSp>
        <p:nvCxnSpPr>
          <p:cNvPr id="27" name="">
            <a:extLst xmlns:a="http://schemas.openxmlformats.org/drawingml/2006/main">
              <a:ext uri="{FF2B5EF4-FFF2-40B4-BE49-F238E27FC236}">
                <a16:creationId xmlns:a16="http://schemas.microsoft.com/office/drawing/2014/main" id="{D25A6D06-5E62-49F2-A23C-848B3D834A56}"/>
              </a:ext>
            </a:extLst>
          </p:cNvPr>
          <p:cNvCxnSpPr/>
          <p:nvPr/>
        </p:nvCxnSpPr>
        <p:spPr>
          <a:xfrm xmlns:a="http://schemas.openxmlformats.org/drawingml/2006/main" flipH="0" flipV="0">
            <a:off x="4508500" y="4636294"/>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8" name="Submit tool result">
            <a:extLst xmlns:a="http://schemas.openxmlformats.org/drawingml/2006/main">
              <a:ext uri="{FF2B5EF4-FFF2-40B4-BE49-F238E27FC236}">
                <a16:creationId xmlns:a16="http://schemas.microsoft.com/office/drawing/2014/main" id="{4864E819-DC89-4E46-BF41-2A89CF8877E4}"/>
              </a:ext>
            </a:extLst>
          </p:cNvPr>
          <p:cNvSpPr>
            <a:spLocks xmlns:a="http://schemas.openxmlformats.org/drawingml/2006/main" noGrp="1"/>
          </p:cNvSpPr>
          <p:nvPr/>
        </p:nvSpPr>
        <p:spPr>
          <a:xfrm xmlns:a="http://schemas.openxmlformats.org/drawingml/2006/main">
            <a:off x="4632325" y="4360069"/>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Submit tool result</a:t>
            </a:r>
          </a:p>
        </p:txBody>
      </p:sp>
      <p:cxnSp>
        <p:nvCxnSpPr>
          <p:cNvPr id="29" name="">
            <a:extLst xmlns:a="http://schemas.openxmlformats.org/drawingml/2006/main">
              <a:ext uri="{FF2B5EF4-FFF2-40B4-BE49-F238E27FC236}">
                <a16:creationId xmlns:a16="http://schemas.microsoft.com/office/drawing/2014/main" id="{9101FC26-9764-42D6-8069-E111C96314E6}"/>
              </a:ext>
            </a:extLst>
          </p:cNvPr>
          <p:cNvCxnSpPr/>
          <p:nvPr/>
        </p:nvCxnSpPr>
        <p:spPr>
          <a:xfrm xmlns:a="http://schemas.openxmlformats.org/drawingml/2006/main" flipH="1" flipV="0">
            <a:off x="4508500" y="4957763"/>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30" name="Final response">
            <a:extLst xmlns:a="http://schemas.openxmlformats.org/drawingml/2006/main">
              <a:ext uri="{FF2B5EF4-FFF2-40B4-BE49-F238E27FC236}">
                <a16:creationId xmlns:a16="http://schemas.microsoft.com/office/drawing/2014/main" id="{402CFCD0-CD91-40B5-A4F8-B9543591007B}"/>
              </a:ext>
            </a:extLst>
          </p:cNvPr>
          <p:cNvSpPr>
            <a:spLocks xmlns:a="http://schemas.openxmlformats.org/drawingml/2006/main" noGrp="1"/>
          </p:cNvSpPr>
          <p:nvPr/>
        </p:nvSpPr>
        <p:spPr>
          <a:xfrm xmlns:a="http://schemas.openxmlformats.org/drawingml/2006/main">
            <a:off x="4632325" y="4681538"/>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Final response</a:t>
            </a:r>
          </a:p>
        </p:txBody>
      </p:sp>
      <p:cxnSp>
        <p:nvCxnSpPr>
          <p:cNvPr id="31" name="">
            <a:extLst xmlns:a="http://schemas.openxmlformats.org/drawingml/2006/main">
              <a:ext uri="{FF2B5EF4-FFF2-40B4-BE49-F238E27FC236}">
                <a16:creationId xmlns:a16="http://schemas.microsoft.com/office/drawing/2014/main" id="{BC73AB45-E4CD-4B9F-B806-82309695AD8E}"/>
              </a:ext>
            </a:extLst>
          </p:cNvPr>
          <p:cNvCxnSpPr/>
          <p:nvPr/>
        </p:nvCxnSpPr>
        <p:spPr>
          <a:xfrm xmlns:a="http://schemas.openxmlformats.org/drawingml/2006/main" flipH="1" flipV="0">
            <a:off x="1333500" y="5279231"/>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32" name="Return final result">
            <a:extLst xmlns:a="http://schemas.openxmlformats.org/drawingml/2006/main">
              <a:ext uri="{FF2B5EF4-FFF2-40B4-BE49-F238E27FC236}">
                <a16:creationId xmlns:a16="http://schemas.microsoft.com/office/drawing/2014/main" id="{622D75CF-2A33-4F8E-95E9-0ADBD020E865}"/>
              </a:ext>
            </a:extLst>
          </p:cNvPr>
          <p:cNvSpPr>
            <a:spLocks xmlns:a="http://schemas.openxmlformats.org/drawingml/2006/main" noGrp="1"/>
          </p:cNvSpPr>
          <p:nvPr/>
        </p:nvSpPr>
        <p:spPr>
          <a:xfrm xmlns:a="http://schemas.openxmlformats.org/drawingml/2006/main">
            <a:off x="1457325" y="5003006"/>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Return final result</a:t>
            </a:r>
          </a:p>
        </p:txBody>
      </p:sp>
      <p:sp>
        <p:nvSpPr>
          <p:cNvPr id="33" name="The model proposes a tool call. The runtime ">
            <a:extLst xmlns:a="http://schemas.openxmlformats.org/drawingml/2006/main">
              <a:ext uri="{FF2B5EF4-FFF2-40B4-BE49-F238E27FC236}">
                <a16:creationId xmlns:a16="http://schemas.microsoft.com/office/drawing/2014/main" id="{E7B2A1F2-9A89-46F6-B573-9196856F5658}"/>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The model proposes a tool call. The runtime decides whether to execute it.</a:t>
            </a:r>
          </a:p>
        </p:txBody>
      </p:sp>
    </p:spTree>
    <p:extLst>
      <p:ext uri="{BB962C8B-B14F-4D97-AF65-F5344CB8AC3E}">
        <p14:creationId xmlns:p14="http://schemas.microsoft.com/office/powerpoint/2010/main" val="1220771696"/>
      </p:ext>
    </p:extLst>
  </p:cSld>
</p:sld>
</file>

<file path=ppt/slides/slide24.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9" name="AGENT ARCHITECTURE">
            <a:extLst xmlns:a="http://schemas.openxmlformats.org/drawingml/2006/main">
              <a:ext uri="{FF2B5EF4-FFF2-40B4-BE49-F238E27FC236}">
                <a16:creationId xmlns:a16="http://schemas.microsoft.com/office/drawing/2014/main" id="{51AE5D8E-EEEA-4B94-B840-A6CA79B96205}"/>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AGENT ARCHITECTURE</a:t>
            </a:r>
          </a:p>
        </p:txBody>
      </p:sp>
      <p:sp>
        <p:nvSpPr>
          <p:cNvPr id="2" name="A simple agent is a configuration">
            <a:extLst xmlns:a="http://schemas.openxmlformats.org/drawingml/2006/main">
              <a:ext uri="{FF2B5EF4-FFF2-40B4-BE49-F238E27FC236}">
                <a16:creationId xmlns:a16="http://schemas.microsoft.com/office/drawing/2014/main" id="{A372A99B-34B1-49F9-A59F-A0B79C428685}"/>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 simple agent is a configuration</a:t>
            </a:r>
          </a:p>
        </p:txBody>
      </p:sp>
      <p:sp>
        <p:nvSpPr>
          <p:cNvPr id="3" name="AGENTIC OS  /  MVP TECHNICAL WALKTHROUGH">
            <a:extLst xmlns:a="http://schemas.openxmlformats.org/drawingml/2006/main">
              <a:ext uri="{FF2B5EF4-FFF2-40B4-BE49-F238E27FC236}">
                <a16:creationId xmlns:a16="http://schemas.microsoft.com/office/drawing/2014/main" id="{6E56AED6-F662-4AE5-B7AE-F02E3FFF28B3}"/>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24">
            <a:extLst xmlns:a="http://schemas.openxmlformats.org/drawingml/2006/main">
              <a:ext uri="{FF2B5EF4-FFF2-40B4-BE49-F238E27FC236}">
                <a16:creationId xmlns:a16="http://schemas.microsoft.com/office/drawing/2014/main" id="{F75953B2-17F8-4D26-9C8B-9BB6E6FF0834}"/>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D4E56765-D42F-4F16-BCF5-9F3DB10B182C}"/>
              </a:ext>
            </a:extLst>
          </p:cNvPr>
          <p:cNvSpPr>
            <a:spLocks xmlns:a="http://schemas.openxmlformats.org/drawingml/2006/main" noGrp="1"/>
          </p:cNvSpPr>
          <p:nvPr/>
        </p:nvSpPr>
        <p:spPr>
          <a:xfrm xmlns:a="http://schemas.openxmlformats.org/drawingml/2006/main">
            <a:off x="609600" y="2105025"/>
            <a:ext cx="6800850" cy="3105150"/>
          </a:xfrm>
          <a:prstGeom xmlns:a="http://schemas.openxmlformats.org/drawingml/2006/main" prst="rect">
            <a:avLst/>
          </a:prstGeom>
          <a:solidFill xmlns:a="http://schemas.openxmlformats.org/drawingml/2006/main">
            <a:srgbClr val="10071D"/>
          </a:solidFill>
          <a:ln xmlns:a="http://schemas.openxmlformats.org/drawingml/2006/main" w="13335">
            <a:solidFill>
              <a:srgbClr val="5D377E"/>
            </a:solidFill>
          </a:ln>
        </p:spPr>
      </p:sp>
      <p:sp>
        <p:nvSpPr>
          <p:cNvPr id="6" name="name: notes-helper&#10;purpose: maintain short p">
            <a:extLst xmlns:a="http://schemas.openxmlformats.org/drawingml/2006/main">
              <a:ext uri="{FF2B5EF4-FFF2-40B4-BE49-F238E27FC236}">
                <a16:creationId xmlns:a16="http://schemas.microsoft.com/office/drawing/2014/main" id="{6358FF89-42C0-4EE0-9DD8-356601E127B1}"/>
              </a:ext>
            </a:extLst>
          </p:cNvPr>
          <p:cNvSpPr>
            <a:spLocks xmlns:a="http://schemas.openxmlformats.org/drawingml/2006/main" noGrp="1"/>
          </p:cNvSpPr>
          <p:nvPr/>
        </p:nvSpPr>
        <p:spPr>
          <a:xfrm xmlns:a="http://schemas.openxmlformats.org/drawingml/2006/main">
            <a:off x="857250" y="2276475"/>
            <a:ext cx="63055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FFFFFF"/>
                </a:solidFill>
                <a:latin typeface="Courier New"/>
                <a:ea typeface="Courier New"/>
                <a:cs typeface="Courier New"/>
              </a:defRPr>
            </a:defPPr>
          </a:lstStyle>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name: notes-helper</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purpose: maintain short project notes</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tools: file.read, file.update, file.list</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root: /notes</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max_steps: 4</a:t>
            </a:r>
          </a:p>
        </p:txBody>
      </p:sp>
      <p:sp>
        <p:nvSpPr>
          <p:cNvPr id="7" name="One purpose&#10;A small tool set&#10;An explicit fil">
            <a:extLst xmlns:a="http://schemas.openxmlformats.org/drawingml/2006/main">
              <a:ext uri="{FF2B5EF4-FFF2-40B4-BE49-F238E27FC236}">
                <a16:creationId xmlns:a16="http://schemas.microsoft.com/office/drawing/2014/main" id="{B0E32C5D-7729-4D54-9241-A55A3B58F0E4}"/>
              </a:ext>
            </a:extLst>
          </p:cNvPr>
          <p:cNvSpPr>
            <a:spLocks xmlns:a="http://schemas.openxmlformats.org/drawingml/2006/main" noGrp="1"/>
          </p:cNvSpPr>
          <p:nvPr/>
        </p:nvSpPr>
        <p:spPr>
          <a:xfrm xmlns:a="http://schemas.openxmlformats.org/drawingml/2006/main">
            <a:off x="8067675" y="2466975"/>
            <a:ext cx="3476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1">
                <a:solidFill>
                  <a:srgbClr val="BE98F6"/>
                </a:solidFill>
                <a:latin typeface="Arial"/>
                <a:ea typeface="Arial"/>
                <a:cs typeface="Arial"/>
              </a:defRPr>
            </a:defPPr>
          </a:lstStyle>
          <a:p xmlns:a="http://schemas.openxmlformats.org/drawingml/2006/main">
            <a:pPr algn="l">
              <a:defRPr sz="2250" b="1">
                <a:solidFill>
                  <a:srgbClr val="BE98F6"/>
                </a:solidFill>
                <a:latin typeface="Arial"/>
                <a:ea typeface="Arial"/>
                <a:cs typeface="Arial"/>
              </a:defRPr>
            </a:pPr>
            <a:r>
              <a:rPr sz="2250" b="1">
                <a:solidFill>
                  <a:srgbClr val="BE98F6"/>
                </a:solidFill>
                <a:latin typeface="Arial"/>
                <a:ea typeface="Arial"/>
                <a:cs typeface="Arial"/>
              </a:rPr>
              <a:t>One purpose</a:t>
            </a:r>
          </a:p>
          <a:p xmlns:a="http://schemas.openxmlformats.org/drawingml/2006/main">
            <a:pPr algn="l">
              <a:defRPr sz="2250" b="1">
                <a:solidFill>
                  <a:srgbClr val="BE98F6"/>
                </a:solidFill>
                <a:latin typeface="Arial"/>
                <a:ea typeface="Arial"/>
                <a:cs typeface="Arial"/>
              </a:defRPr>
            </a:pPr>
            <a:r>
              <a:rPr sz="2250" b="1">
                <a:solidFill>
                  <a:srgbClr val="BE98F6"/>
                </a:solidFill>
                <a:latin typeface="Arial"/>
                <a:ea typeface="Arial"/>
                <a:cs typeface="Arial"/>
              </a:rPr>
              <a:t>A small tool set</a:t>
            </a:r>
          </a:p>
          <a:p xmlns:a="http://schemas.openxmlformats.org/drawingml/2006/main">
            <a:pPr algn="l">
              <a:defRPr sz="2250" b="1">
                <a:solidFill>
                  <a:srgbClr val="BE98F6"/>
                </a:solidFill>
                <a:latin typeface="Arial"/>
                <a:ea typeface="Arial"/>
                <a:cs typeface="Arial"/>
              </a:defRPr>
            </a:pPr>
            <a:r>
              <a:rPr sz="2250" b="1">
                <a:solidFill>
                  <a:srgbClr val="BE98F6"/>
                </a:solidFill>
                <a:latin typeface="Arial"/>
                <a:ea typeface="Arial"/>
                <a:cs typeface="Arial"/>
              </a:rPr>
              <a:t>An explicit file scope</a:t>
            </a:r>
          </a:p>
        </p:txBody>
      </p:sp>
      <p:sp>
        <p:nvSpPr>
          <p:cNvPr id="8" name="The main OS agent registers and runs each co">
            <a:extLst xmlns:a="http://schemas.openxmlformats.org/drawingml/2006/main">
              <a:ext uri="{FF2B5EF4-FFF2-40B4-BE49-F238E27FC236}">
                <a16:creationId xmlns:a16="http://schemas.microsoft.com/office/drawing/2014/main" id="{44C7F2CA-86BA-4DD0-983D-D67E80891565}"/>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The main OS agent registers and runs each configuration.</a:t>
            </a:r>
          </a:p>
        </p:txBody>
      </p:sp>
    </p:spTree>
    <p:extLst>
      <p:ext uri="{BB962C8B-B14F-4D97-AF65-F5344CB8AC3E}">
        <p14:creationId xmlns:p14="http://schemas.microsoft.com/office/powerpoint/2010/main" val="1728624588"/>
      </p:ext>
    </p:extLst>
  </p:cSld>
</p:sld>
</file>

<file path=ppt/slides/slide25.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30" name="AGENT ARCHITECTURE">
            <a:extLst xmlns:a="http://schemas.openxmlformats.org/drawingml/2006/main">
              <a:ext uri="{FF2B5EF4-FFF2-40B4-BE49-F238E27FC236}">
                <a16:creationId xmlns:a16="http://schemas.microsoft.com/office/drawing/2014/main" id="{345D5ADB-810E-4ECA-A5DC-1FFB68FADDA8}"/>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AGENT ARCHITECTURE</a:t>
            </a:r>
          </a:p>
        </p:txBody>
      </p:sp>
      <p:sp>
        <p:nvSpPr>
          <p:cNvPr id="2" name="Agent creation sequence">
            <a:extLst xmlns:a="http://schemas.openxmlformats.org/drawingml/2006/main">
              <a:ext uri="{FF2B5EF4-FFF2-40B4-BE49-F238E27FC236}">
                <a16:creationId xmlns:a16="http://schemas.microsoft.com/office/drawing/2014/main" id="{5086F5EC-82EC-4C6A-9DB1-31A575BB5738}"/>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Agent creation sequence</a:t>
            </a:r>
          </a:p>
        </p:txBody>
      </p:sp>
      <p:sp>
        <p:nvSpPr>
          <p:cNvPr id="3" name="AGENTIC OS  /  MVP TECHNICAL WALKTHROUGH">
            <a:extLst xmlns:a="http://schemas.openxmlformats.org/drawingml/2006/main">
              <a:ext uri="{FF2B5EF4-FFF2-40B4-BE49-F238E27FC236}">
                <a16:creationId xmlns:a16="http://schemas.microsoft.com/office/drawing/2014/main" id="{3EB340D2-7929-4E4A-9578-A02FD8FA9C6E}"/>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25">
            <a:extLst xmlns:a="http://schemas.openxmlformats.org/drawingml/2006/main">
              <a:ext uri="{FF2B5EF4-FFF2-40B4-BE49-F238E27FC236}">
                <a16:creationId xmlns:a16="http://schemas.microsoft.com/office/drawing/2014/main" id="{2ECF9ED3-3D71-4FA8-830D-0C13E143784D}"/>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25</a:t>
            </a:r>
          </a:p>
        </p:txBody>
      </p:sp>
      <p:sp>
        <p:nvSpPr>
          <p:cNvPr id="5" name="">
            <a:extLst xmlns:a="http://schemas.openxmlformats.org/drawingml/2006/main">
              <a:ext uri="{FF2B5EF4-FFF2-40B4-BE49-F238E27FC236}">
                <a16:creationId xmlns:a16="http://schemas.microsoft.com/office/drawing/2014/main" id="{1AD2A9EE-7594-4171-817A-A02276B7CB53}"/>
              </a:ext>
            </a:extLst>
          </p:cNvPr>
          <p:cNvSpPr>
            <a:spLocks xmlns:a="http://schemas.openxmlformats.org/drawingml/2006/main" noGrp="1"/>
          </p:cNvSpPr>
          <p:nvPr/>
        </p:nvSpPr>
        <p:spPr>
          <a:xfrm xmlns:a="http://schemas.openxmlformats.org/drawingml/2006/main">
            <a:off x="33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User">
            <a:extLst xmlns:a="http://schemas.openxmlformats.org/drawingml/2006/main">
              <a:ext uri="{FF2B5EF4-FFF2-40B4-BE49-F238E27FC236}">
                <a16:creationId xmlns:a16="http://schemas.microsoft.com/office/drawing/2014/main" id="{B469EE74-88DC-4F84-8033-443962464545}"/>
              </a:ext>
            </a:extLst>
          </p:cNvPr>
          <p:cNvSpPr>
            <a:spLocks xmlns:a="http://schemas.openxmlformats.org/drawingml/2006/main" noGrp="1"/>
          </p:cNvSpPr>
          <p:nvPr/>
        </p:nvSpPr>
        <p:spPr>
          <a:xfrm xmlns:a="http://schemas.openxmlformats.org/drawingml/2006/main">
            <a:off x="47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User</a:t>
            </a:r>
          </a:p>
        </p:txBody>
      </p:sp>
      <p:cxnSp>
        <p:nvCxnSpPr>
          <p:cNvPr id="7" name="">
            <a:extLst xmlns:a="http://schemas.openxmlformats.org/drawingml/2006/main">
              <a:ext uri="{FF2B5EF4-FFF2-40B4-BE49-F238E27FC236}">
                <a16:creationId xmlns:a16="http://schemas.microsoft.com/office/drawing/2014/main" id="{DA881E9D-F222-4555-A3C3-C8ED5962C3AE}"/>
              </a:ext>
            </a:extLst>
          </p:cNvPr>
          <p:cNvCxnSpPr/>
          <p:nvPr/>
        </p:nvCxnSpPr>
        <p:spPr>
          <a:xfrm xmlns:a="http://schemas.openxmlformats.org/drawingml/2006/main" flipH="0" flipV="0">
            <a:off x="133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8" name="">
            <a:extLst xmlns:a="http://schemas.openxmlformats.org/drawingml/2006/main">
              <a:ext uri="{FF2B5EF4-FFF2-40B4-BE49-F238E27FC236}">
                <a16:creationId xmlns:a16="http://schemas.microsoft.com/office/drawing/2014/main" id="{15795AAD-F90A-409F-9D0F-FD10ABB7F5B9}"/>
              </a:ext>
            </a:extLst>
          </p:cNvPr>
          <p:cNvSpPr>
            <a:spLocks xmlns:a="http://schemas.openxmlformats.org/drawingml/2006/main" noGrp="1"/>
          </p:cNvSpPr>
          <p:nvPr/>
        </p:nvSpPr>
        <p:spPr>
          <a:xfrm xmlns:a="http://schemas.openxmlformats.org/drawingml/2006/main">
            <a:off x="350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Main OS agent">
            <a:extLst xmlns:a="http://schemas.openxmlformats.org/drawingml/2006/main">
              <a:ext uri="{FF2B5EF4-FFF2-40B4-BE49-F238E27FC236}">
                <a16:creationId xmlns:a16="http://schemas.microsoft.com/office/drawing/2014/main" id="{DD7CE958-89C3-49AB-ACAE-073A5E61963F}"/>
              </a:ext>
            </a:extLst>
          </p:cNvPr>
          <p:cNvSpPr>
            <a:spLocks xmlns:a="http://schemas.openxmlformats.org/drawingml/2006/main" noGrp="1"/>
          </p:cNvSpPr>
          <p:nvPr/>
        </p:nvSpPr>
        <p:spPr>
          <a:xfrm xmlns:a="http://schemas.openxmlformats.org/drawingml/2006/main">
            <a:off x="365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Main OS agent</a:t>
            </a:r>
          </a:p>
        </p:txBody>
      </p:sp>
      <p:cxnSp>
        <p:nvCxnSpPr>
          <p:cNvPr id="10" name="">
            <a:extLst xmlns:a="http://schemas.openxmlformats.org/drawingml/2006/main">
              <a:ext uri="{FF2B5EF4-FFF2-40B4-BE49-F238E27FC236}">
                <a16:creationId xmlns:a16="http://schemas.microsoft.com/office/drawing/2014/main" id="{3073AFB0-EB18-40C3-9EA6-35F896B91046}"/>
              </a:ext>
            </a:extLst>
          </p:cNvPr>
          <p:cNvCxnSpPr/>
          <p:nvPr/>
        </p:nvCxnSpPr>
        <p:spPr>
          <a:xfrm xmlns:a="http://schemas.openxmlformats.org/drawingml/2006/main" flipH="0" flipV="0">
            <a:off x="450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1" name="">
            <a:extLst xmlns:a="http://schemas.openxmlformats.org/drawingml/2006/main">
              <a:ext uri="{FF2B5EF4-FFF2-40B4-BE49-F238E27FC236}">
                <a16:creationId xmlns:a16="http://schemas.microsoft.com/office/drawing/2014/main" id="{31400EF7-9FD2-405F-A849-081DE71F5A81}"/>
              </a:ext>
            </a:extLst>
          </p:cNvPr>
          <p:cNvSpPr>
            <a:spLocks xmlns:a="http://schemas.openxmlformats.org/drawingml/2006/main" noGrp="1"/>
          </p:cNvSpPr>
          <p:nvPr/>
        </p:nvSpPr>
        <p:spPr>
          <a:xfrm xmlns:a="http://schemas.openxmlformats.org/drawingml/2006/main">
            <a:off x="668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Policy">
            <a:extLst xmlns:a="http://schemas.openxmlformats.org/drawingml/2006/main">
              <a:ext uri="{FF2B5EF4-FFF2-40B4-BE49-F238E27FC236}">
                <a16:creationId xmlns:a16="http://schemas.microsoft.com/office/drawing/2014/main" id="{D0DDAF8F-EFBC-4EB6-8BA2-ED8E426C3BE2}"/>
              </a:ext>
            </a:extLst>
          </p:cNvPr>
          <p:cNvSpPr>
            <a:spLocks xmlns:a="http://schemas.openxmlformats.org/drawingml/2006/main" noGrp="1"/>
          </p:cNvSpPr>
          <p:nvPr/>
        </p:nvSpPr>
        <p:spPr>
          <a:xfrm xmlns:a="http://schemas.openxmlformats.org/drawingml/2006/main">
            <a:off x="682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Policy</a:t>
            </a:r>
          </a:p>
        </p:txBody>
      </p:sp>
      <p:cxnSp>
        <p:nvCxnSpPr>
          <p:cNvPr id="13" name="">
            <a:extLst xmlns:a="http://schemas.openxmlformats.org/drawingml/2006/main">
              <a:ext uri="{FF2B5EF4-FFF2-40B4-BE49-F238E27FC236}">
                <a16:creationId xmlns:a16="http://schemas.microsoft.com/office/drawing/2014/main" id="{88AA34BE-5C86-4DA0-8AA3-6BB5F52DA2D8}"/>
              </a:ext>
            </a:extLst>
          </p:cNvPr>
          <p:cNvCxnSpPr/>
          <p:nvPr/>
        </p:nvCxnSpPr>
        <p:spPr>
          <a:xfrm xmlns:a="http://schemas.openxmlformats.org/drawingml/2006/main" flipH="0" flipV="0">
            <a:off x="768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4" name="">
            <a:extLst xmlns:a="http://schemas.openxmlformats.org/drawingml/2006/main">
              <a:ext uri="{FF2B5EF4-FFF2-40B4-BE49-F238E27FC236}">
                <a16:creationId xmlns:a16="http://schemas.microsoft.com/office/drawing/2014/main" id="{E5FDA2D8-FC37-4320-9613-E1A98B15EA31}"/>
              </a:ext>
            </a:extLst>
          </p:cNvPr>
          <p:cNvSpPr>
            <a:spLocks xmlns:a="http://schemas.openxmlformats.org/drawingml/2006/main" noGrp="1"/>
          </p:cNvSpPr>
          <p:nvPr/>
        </p:nvSpPr>
        <p:spPr>
          <a:xfrm xmlns:a="http://schemas.openxmlformats.org/drawingml/2006/main">
            <a:off x="985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Registry">
            <a:extLst xmlns:a="http://schemas.openxmlformats.org/drawingml/2006/main">
              <a:ext uri="{FF2B5EF4-FFF2-40B4-BE49-F238E27FC236}">
                <a16:creationId xmlns:a16="http://schemas.microsoft.com/office/drawing/2014/main" id="{324E0B4B-EBBD-4966-959F-5EB93EF85FBE}"/>
              </a:ext>
            </a:extLst>
          </p:cNvPr>
          <p:cNvSpPr>
            <a:spLocks xmlns:a="http://schemas.openxmlformats.org/drawingml/2006/main" noGrp="1"/>
          </p:cNvSpPr>
          <p:nvPr/>
        </p:nvSpPr>
        <p:spPr>
          <a:xfrm xmlns:a="http://schemas.openxmlformats.org/drawingml/2006/main">
            <a:off x="1000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Registry</a:t>
            </a:r>
          </a:p>
        </p:txBody>
      </p:sp>
      <p:cxnSp>
        <p:nvCxnSpPr>
          <p:cNvPr id="16" name="">
            <a:extLst xmlns:a="http://schemas.openxmlformats.org/drawingml/2006/main">
              <a:ext uri="{FF2B5EF4-FFF2-40B4-BE49-F238E27FC236}">
                <a16:creationId xmlns:a16="http://schemas.microsoft.com/office/drawing/2014/main" id="{EB313225-417D-4E8E-B9A1-91E40F47F976}"/>
              </a:ext>
            </a:extLst>
          </p:cNvPr>
          <p:cNvCxnSpPr/>
          <p:nvPr/>
        </p:nvCxnSpPr>
        <p:spPr>
          <a:xfrm xmlns:a="http://schemas.openxmlformats.org/drawingml/2006/main" flipH="0" flipV="0">
            <a:off x="1085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cxnSp>
        <p:nvCxnSpPr>
          <p:cNvPr id="17" name="">
            <a:extLst xmlns:a="http://schemas.openxmlformats.org/drawingml/2006/main">
              <a:ext uri="{FF2B5EF4-FFF2-40B4-BE49-F238E27FC236}">
                <a16:creationId xmlns:a16="http://schemas.microsoft.com/office/drawing/2014/main" id="{E5FABB33-F987-4816-ABE4-405AE6079EE9}"/>
              </a:ext>
            </a:extLst>
          </p:cNvPr>
          <p:cNvCxnSpPr/>
          <p:nvPr/>
        </p:nvCxnSpPr>
        <p:spPr>
          <a:xfrm xmlns:a="http://schemas.openxmlformats.org/drawingml/2006/main" flipH="0" flipV="0">
            <a:off x="1333500" y="302895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8" name="Create a notes helper">
            <a:extLst xmlns:a="http://schemas.openxmlformats.org/drawingml/2006/main">
              <a:ext uri="{FF2B5EF4-FFF2-40B4-BE49-F238E27FC236}">
                <a16:creationId xmlns:a16="http://schemas.microsoft.com/office/drawing/2014/main" id="{4012B2FE-39B5-4D56-94F5-C328A21CC695}"/>
              </a:ext>
            </a:extLst>
          </p:cNvPr>
          <p:cNvSpPr>
            <a:spLocks xmlns:a="http://schemas.openxmlformats.org/drawingml/2006/main" noGrp="1"/>
          </p:cNvSpPr>
          <p:nvPr/>
        </p:nvSpPr>
        <p:spPr>
          <a:xfrm xmlns:a="http://schemas.openxmlformats.org/drawingml/2006/main">
            <a:off x="1457325" y="275272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Create a notes helper</a:t>
            </a:r>
          </a:p>
        </p:txBody>
      </p:sp>
      <p:cxnSp>
        <p:nvCxnSpPr>
          <p:cNvPr id="19" name="">
            <a:extLst xmlns:a="http://schemas.openxmlformats.org/drawingml/2006/main">
              <a:ext uri="{FF2B5EF4-FFF2-40B4-BE49-F238E27FC236}">
                <a16:creationId xmlns:a16="http://schemas.microsoft.com/office/drawing/2014/main" id="{295F9E88-B3F7-4418-B74B-25FBB7C61828}"/>
              </a:ext>
            </a:extLst>
          </p:cNvPr>
          <p:cNvCxnSpPr/>
          <p:nvPr/>
        </p:nvCxnSpPr>
        <p:spPr>
          <a:xfrm xmlns:a="http://schemas.openxmlformats.org/drawingml/2006/main" flipH="0" flipV="0">
            <a:off x="4508500" y="3457575"/>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0" name="Check purpose, tools and file scope">
            <a:extLst xmlns:a="http://schemas.openxmlformats.org/drawingml/2006/main">
              <a:ext uri="{FF2B5EF4-FFF2-40B4-BE49-F238E27FC236}">
                <a16:creationId xmlns:a16="http://schemas.microsoft.com/office/drawing/2014/main" id="{322B59B7-598A-464D-A35B-9D1AD106D592}"/>
              </a:ext>
            </a:extLst>
          </p:cNvPr>
          <p:cNvSpPr>
            <a:spLocks xmlns:a="http://schemas.openxmlformats.org/drawingml/2006/main" noGrp="1"/>
          </p:cNvSpPr>
          <p:nvPr/>
        </p:nvSpPr>
        <p:spPr>
          <a:xfrm xmlns:a="http://schemas.openxmlformats.org/drawingml/2006/main">
            <a:off x="4632325" y="3181350"/>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Check purpose, tools and file scope</a:t>
            </a:r>
          </a:p>
        </p:txBody>
      </p:sp>
      <p:cxnSp>
        <p:nvCxnSpPr>
          <p:cNvPr id="21" name="">
            <a:extLst xmlns:a="http://schemas.openxmlformats.org/drawingml/2006/main">
              <a:ext uri="{FF2B5EF4-FFF2-40B4-BE49-F238E27FC236}">
                <a16:creationId xmlns:a16="http://schemas.microsoft.com/office/drawing/2014/main" id="{F138F6DA-4255-4DC4-AA67-1BEB1159C149}"/>
              </a:ext>
            </a:extLst>
          </p:cNvPr>
          <p:cNvCxnSpPr/>
          <p:nvPr/>
        </p:nvCxnSpPr>
        <p:spPr>
          <a:xfrm xmlns:a="http://schemas.openxmlformats.org/drawingml/2006/main" flipH="1" flipV="0">
            <a:off x="4508500" y="388620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2" name="Accept constrained configuration">
            <a:extLst xmlns:a="http://schemas.openxmlformats.org/drawingml/2006/main">
              <a:ext uri="{FF2B5EF4-FFF2-40B4-BE49-F238E27FC236}">
                <a16:creationId xmlns:a16="http://schemas.microsoft.com/office/drawing/2014/main" id="{AA2C3E0E-5EC3-4EB9-9FA9-0950F018779D}"/>
              </a:ext>
            </a:extLst>
          </p:cNvPr>
          <p:cNvSpPr>
            <a:spLocks xmlns:a="http://schemas.openxmlformats.org/drawingml/2006/main" noGrp="1"/>
          </p:cNvSpPr>
          <p:nvPr/>
        </p:nvSpPr>
        <p:spPr>
          <a:xfrm xmlns:a="http://schemas.openxmlformats.org/drawingml/2006/main">
            <a:off x="4632325" y="360997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Accept constrained configuration</a:t>
            </a:r>
          </a:p>
        </p:txBody>
      </p:sp>
      <p:cxnSp>
        <p:nvCxnSpPr>
          <p:cNvPr id="23" name="">
            <a:extLst xmlns:a="http://schemas.openxmlformats.org/drawingml/2006/main">
              <a:ext uri="{FF2B5EF4-FFF2-40B4-BE49-F238E27FC236}">
                <a16:creationId xmlns:a16="http://schemas.microsoft.com/office/drawing/2014/main" id="{48374CC9-C80E-4EFF-900C-237A97A79537}"/>
              </a:ext>
            </a:extLst>
          </p:cNvPr>
          <p:cNvCxnSpPr/>
          <p:nvPr/>
        </p:nvCxnSpPr>
        <p:spPr>
          <a:xfrm xmlns:a="http://schemas.openxmlformats.org/drawingml/2006/main" flipH="0" flipV="0">
            <a:off x="4508500" y="4314825"/>
            <a:ext cx="6350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4" name="Store agent definition">
            <a:extLst xmlns:a="http://schemas.openxmlformats.org/drawingml/2006/main">
              <a:ext uri="{FF2B5EF4-FFF2-40B4-BE49-F238E27FC236}">
                <a16:creationId xmlns:a16="http://schemas.microsoft.com/office/drawing/2014/main" id="{64763F9D-BA50-422B-AE9B-4A80D83EF257}"/>
              </a:ext>
            </a:extLst>
          </p:cNvPr>
          <p:cNvSpPr>
            <a:spLocks xmlns:a="http://schemas.openxmlformats.org/drawingml/2006/main" noGrp="1"/>
          </p:cNvSpPr>
          <p:nvPr/>
        </p:nvSpPr>
        <p:spPr>
          <a:xfrm xmlns:a="http://schemas.openxmlformats.org/drawingml/2006/main">
            <a:off x="4632325" y="4038600"/>
            <a:ext cx="6102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Store agent definition</a:t>
            </a:r>
          </a:p>
        </p:txBody>
      </p:sp>
      <p:cxnSp>
        <p:nvCxnSpPr>
          <p:cNvPr id="25" name="">
            <a:extLst xmlns:a="http://schemas.openxmlformats.org/drawingml/2006/main">
              <a:ext uri="{FF2B5EF4-FFF2-40B4-BE49-F238E27FC236}">
                <a16:creationId xmlns:a16="http://schemas.microsoft.com/office/drawing/2014/main" id="{0A0E557D-34D4-4A6F-94A9-F32A5ECEB38D}"/>
              </a:ext>
            </a:extLst>
          </p:cNvPr>
          <p:cNvCxnSpPr/>
          <p:nvPr/>
        </p:nvCxnSpPr>
        <p:spPr>
          <a:xfrm xmlns:a="http://schemas.openxmlformats.org/drawingml/2006/main" flipH="1" flipV="0">
            <a:off x="4508500" y="4743450"/>
            <a:ext cx="6350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6" name="Return agent ID">
            <a:extLst xmlns:a="http://schemas.openxmlformats.org/drawingml/2006/main">
              <a:ext uri="{FF2B5EF4-FFF2-40B4-BE49-F238E27FC236}">
                <a16:creationId xmlns:a16="http://schemas.microsoft.com/office/drawing/2014/main" id="{6EEC99AE-D47C-4E9A-85AB-99FF162E4C86}"/>
              </a:ext>
            </a:extLst>
          </p:cNvPr>
          <p:cNvSpPr>
            <a:spLocks xmlns:a="http://schemas.openxmlformats.org/drawingml/2006/main" noGrp="1"/>
          </p:cNvSpPr>
          <p:nvPr/>
        </p:nvSpPr>
        <p:spPr>
          <a:xfrm xmlns:a="http://schemas.openxmlformats.org/drawingml/2006/main">
            <a:off x="4632325" y="4467225"/>
            <a:ext cx="6102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Return agent ID</a:t>
            </a:r>
          </a:p>
        </p:txBody>
      </p:sp>
      <p:cxnSp>
        <p:nvCxnSpPr>
          <p:cNvPr id="27" name="">
            <a:extLst xmlns:a="http://schemas.openxmlformats.org/drawingml/2006/main">
              <a:ext uri="{FF2B5EF4-FFF2-40B4-BE49-F238E27FC236}">
                <a16:creationId xmlns:a16="http://schemas.microsoft.com/office/drawing/2014/main" id="{374B254A-5CE2-450B-910A-1265016E27D6}"/>
              </a:ext>
            </a:extLst>
          </p:cNvPr>
          <p:cNvCxnSpPr/>
          <p:nvPr/>
        </p:nvCxnSpPr>
        <p:spPr>
          <a:xfrm xmlns:a="http://schemas.openxmlformats.org/drawingml/2006/main" flipH="1" flipV="0">
            <a:off x="1333500" y="5172075"/>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8" name="Agent ready to receive a task">
            <a:extLst xmlns:a="http://schemas.openxmlformats.org/drawingml/2006/main">
              <a:ext uri="{FF2B5EF4-FFF2-40B4-BE49-F238E27FC236}">
                <a16:creationId xmlns:a16="http://schemas.microsoft.com/office/drawing/2014/main" id="{10B43A0D-E7B5-428D-A409-5CB2BF3A7876}"/>
              </a:ext>
            </a:extLst>
          </p:cNvPr>
          <p:cNvSpPr>
            <a:spLocks xmlns:a="http://schemas.openxmlformats.org/drawingml/2006/main" noGrp="1"/>
          </p:cNvSpPr>
          <p:nvPr/>
        </p:nvSpPr>
        <p:spPr>
          <a:xfrm xmlns:a="http://schemas.openxmlformats.org/drawingml/2006/main">
            <a:off x="1457325" y="4895850"/>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Agent ready to receive a task</a:t>
            </a:r>
          </a:p>
        </p:txBody>
      </p:sp>
      <p:sp>
        <p:nvSpPr>
          <p:cNvPr id="29" name="Agent creation defines a reusable workflow w">
            <a:extLst xmlns:a="http://schemas.openxmlformats.org/drawingml/2006/main">
              <a:ext uri="{FF2B5EF4-FFF2-40B4-BE49-F238E27FC236}">
                <a16:creationId xmlns:a16="http://schemas.microsoft.com/office/drawing/2014/main" id="{E57DBCF0-0923-49B3-B4D5-D560F4E272E0}"/>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Agent creation defines a reusable workflow with limited permissions.</a:t>
            </a:r>
          </a:p>
        </p:txBody>
      </p:sp>
    </p:spTree>
    <p:extLst>
      <p:ext uri="{BB962C8B-B14F-4D97-AF65-F5344CB8AC3E}">
        <p14:creationId xmlns:p14="http://schemas.microsoft.com/office/powerpoint/2010/main" val="1268674248"/>
      </p:ext>
    </p:extLst>
  </p:cSld>
</p:sld>
</file>

<file path=ppt/slides/slide26.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22" name="AGENT ARCHITECTURE">
            <a:extLst xmlns:a="http://schemas.openxmlformats.org/drawingml/2006/main">
              <a:ext uri="{FF2B5EF4-FFF2-40B4-BE49-F238E27FC236}">
                <a16:creationId xmlns:a16="http://schemas.microsoft.com/office/drawing/2014/main" id="{B8F2E994-2FC1-4CAB-8B61-CADD9FC2FE6B}"/>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AGENT ARCHITECTURE</a:t>
            </a:r>
          </a:p>
        </p:txBody>
      </p:sp>
      <p:sp>
        <p:nvSpPr>
          <p:cNvPr id="2" name="Main OS agent">
            <a:extLst xmlns:a="http://schemas.openxmlformats.org/drawingml/2006/main">
              <a:ext uri="{FF2B5EF4-FFF2-40B4-BE49-F238E27FC236}">
                <a16:creationId xmlns:a16="http://schemas.microsoft.com/office/drawing/2014/main" id="{D007605B-746A-470D-803E-86FBBC4ED425}"/>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Main OS agent</a:t>
            </a:r>
          </a:p>
        </p:txBody>
      </p:sp>
      <p:sp>
        <p:nvSpPr>
          <p:cNvPr id="3" name="AGENTIC OS  /  MVP TECHNICAL WALKTHROUGH">
            <a:extLst xmlns:a="http://schemas.openxmlformats.org/drawingml/2006/main">
              <a:ext uri="{FF2B5EF4-FFF2-40B4-BE49-F238E27FC236}">
                <a16:creationId xmlns:a16="http://schemas.microsoft.com/office/drawing/2014/main" id="{142F3C0E-12B1-4536-8A11-64D9FC9FB9EA}"/>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26">
            <a:extLst xmlns:a="http://schemas.openxmlformats.org/drawingml/2006/main">
              <a:ext uri="{FF2B5EF4-FFF2-40B4-BE49-F238E27FC236}">
                <a16:creationId xmlns:a16="http://schemas.microsoft.com/office/drawing/2014/main" id="{9C4FB8F6-2927-4573-931C-8F67BAAC1422}"/>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26</a:t>
            </a:r>
          </a:p>
        </p:txBody>
      </p:sp>
      <p:sp>
        <p:nvSpPr>
          <p:cNvPr id="5" name="">
            <a:extLst xmlns:a="http://schemas.openxmlformats.org/drawingml/2006/main">
              <a:ext uri="{FF2B5EF4-FFF2-40B4-BE49-F238E27FC236}">
                <a16:creationId xmlns:a16="http://schemas.microsoft.com/office/drawing/2014/main" id="{041E07C7-18C7-4C30-9B91-F908EDF681AF}"/>
              </a:ext>
            </a:extLst>
          </p:cNvPr>
          <p:cNvSpPr>
            <a:spLocks xmlns:a="http://schemas.openxmlformats.org/drawingml/2006/main" noGrp="1"/>
          </p:cNvSpPr>
          <p:nvPr/>
        </p:nvSpPr>
        <p:spPr>
          <a:xfrm xmlns:a="http://schemas.openxmlformats.org/drawingml/2006/main">
            <a:off x="609600" y="2286000"/>
            <a:ext cx="2571750" cy="809625"/>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User task">
            <a:extLst xmlns:a="http://schemas.openxmlformats.org/drawingml/2006/main">
              <a:ext uri="{FF2B5EF4-FFF2-40B4-BE49-F238E27FC236}">
                <a16:creationId xmlns:a16="http://schemas.microsoft.com/office/drawing/2014/main" id="{3BB966FA-0E70-407A-84CD-DBAD32C5F29E}"/>
              </a:ext>
            </a:extLst>
          </p:cNvPr>
          <p:cNvSpPr>
            <a:spLocks xmlns:a="http://schemas.openxmlformats.org/drawingml/2006/main" noGrp="1"/>
          </p:cNvSpPr>
          <p:nvPr/>
        </p:nvSpPr>
        <p:spPr>
          <a:xfrm xmlns:a="http://schemas.openxmlformats.org/drawingml/2006/main">
            <a:off x="752475" y="2371725"/>
            <a:ext cx="228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User task</a:t>
            </a:r>
          </a:p>
        </p:txBody>
      </p:sp>
      <p:sp>
        <p:nvSpPr>
          <p:cNvPr id="7" name="">
            <a:extLst xmlns:a="http://schemas.openxmlformats.org/drawingml/2006/main">
              <a:ext uri="{FF2B5EF4-FFF2-40B4-BE49-F238E27FC236}">
                <a16:creationId xmlns:a16="http://schemas.microsoft.com/office/drawing/2014/main" id="{E0E7F5EE-15F4-472B-AC6E-1E18DF13011B}"/>
              </a:ext>
            </a:extLst>
          </p:cNvPr>
          <p:cNvSpPr>
            <a:spLocks xmlns:a="http://schemas.openxmlformats.org/drawingml/2006/main" noGrp="1"/>
          </p:cNvSpPr>
          <p:nvPr/>
        </p:nvSpPr>
        <p:spPr>
          <a:xfrm xmlns:a="http://schemas.openxmlformats.org/drawingml/2006/main">
            <a:off x="4533900" y="2286000"/>
            <a:ext cx="3190875" cy="809625"/>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8" name="Main OS agent">
            <a:extLst xmlns:a="http://schemas.openxmlformats.org/drawingml/2006/main">
              <a:ext uri="{FF2B5EF4-FFF2-40B4-BE49-F238E27FC236}">
                <a16:creationId xmlns:a16="http://schemas.microsoft.com/office/drawing/2014/main" id="{34634D3F-E2A4-4DC4-975D-4B311E2602BA}"/>
              </a:ext>
            </a:extLst>
          </p:cNvPr>
          <p:cNvSpPr>
            <a:spLocks xmlns:a="http://schemas.openxmlformats.org/drawingml/2006/main" noGrp="1"/>
          </p:cNvSpPr>
          <p:nvPr/>
        </p:nvSpPr>
        <p:spPr>
          <a:xfrm xmlns:a="http://schemas.openxmlformats.org/drawingml/2006/main">
            <a:off x="4676775" y="2371725"/>
            <a:ext cx="290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Main OS agent</a:t>
            </a:r>
          </a:p>
        </p:txBody>
      </p:sp>
      <p:sp>
        <p:nvSpPr>
          <p:cNvPr id="9" name="">
            <a:extLst xmlns:a="http://schemas.openxmlformats.org/drawingml/2006/main">
              <a:ext uri="{FF2B5EF4-FFF2-40B4-BE49-F238E27FC236}">
                <a16:creationId xmlns:a16="http://schemas.microsoft.com/office/drawing/2014/main" id="{6BB90133-A16A-4E65-B0C9-4285FF257F96}"/>
              </a:ext>
            </a:extLst>
          </p:cNvPr>
          <p:cNvSpPr>
            <a:spLocks xmlns:a="http://schemas.openxmlformats.org/drawingml/2006/main" noGrp="1"/>
          </p:cNvSpPr>
          <p:nvPr/>
        </p:nvSpPr>
        <p:spPr>
          <a:xfrm xmlns:a="http://schemas.openxmlformats.org/drawingml/2006/main">
            <a:off x="8858250" y="2286000"/>
            <a:ext cx="2714625" cy="809625"/>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0" name="Gemini gateway">
            <a:extLst xmlns:a="http://schemas.openxmlformats.org/drawingml/2006/main">
              <a:ext uri="{FF2B5EF4-FFF2-40B4-BE49-F238E27FC236}">
                <a16:creationId xmlns:a16="http://schemas.microsoft.com/office/drawing/2014/main" id="{B5893DC1-F88F-4583-8F3F-5FC69B7B8DC1}"/>
              </a:ext>
            </a:extLst>
          </p:cNvPr>
          <p:cNvSpPr>
            <a:spLocks xmlns:a="http://schemas.openxmlformats.org/drawingml/2006/main" noGrp="1"/>
          </p:cNvSpPr>
          <p:nvPr/>
        </p:nvSpPr>
        <p:spPr>
          <a:xfrm xmlns:a="http://schemas.openxmlformats.org/drawingml/2006/main">
            <a:off x="9001125" y="2371725"/>
            <a:ext cx="2428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Gemini gateway</a:t>
            </a:r>
          </a:p>
        </p:txBody>
      </p:sp>
      <p:cxnSp>
        <p:nvCxnSpPr>
          <p:cNvPr id="11" name="">
            <a:extLst xmlns:a="http://schemas.openxmlformats.org/drawingml/2006/main">
              <a:ext uri="{FF2B5EF4-FFF2-40B4-BE49-F238E27FC236}">
                <a16:creationId xmlns:a16="http://schemas.microsoft.com/office/drawing/2014/main" id="{5BFEE497-DC11-44B3-BAD9-80F4C1D7A2FF}"/>
              </a:ext>
            </a:extLst>
          </p:cNvPr>
          <p:cNvCxnSpPr/>
          <p:nvPr/>
        </p:nvCxnSpPr>
        <p:spPr>
          <a:xfrm xmlns:a="http://schemas.openxmlformats.org/drawingml/2006/main" flipH="0" flipV="0">
            <a:off x="3181350" y="2686050"/>
            <a:ext cx="127635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D4885F4D-E7A4-4B11-BF7C-4F1C5CAB3766}"/>
              </a:ext>
            </a:extLst>
          </p:cNvPr>
          <p:cNvCxnSpPr/>
          <p:nvPr/>
        </p:nvCxnSpPr>
        <p:spPr>
          <a:xfrm xmlns:a="http://schemas.openxmlformats.org/drawingml/2006/main" flipH="0" flipV="0">
            <a:off x="7724775" y="2686050"/>
            <a:ext cx="1057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3" name="">
            <a:extLst xmlns:a="http://schemas.openxmlformats.org/drawingml/2006/main">
              <a:ext uri="{FF2B5EF4-FFF2-40B4-BE49-F238E27FC236}">
                <a16:creationId xmlns:a16="http://schemas.microsoft.com/office/drawing/2014/main" id="{10E699CD-A021-4D36-ADEA-1B5DA225923D}"/>
              </a:ext>
            </a:extLst>
          </p:cNvPr>
          <p:cNvSpPr>
            <a:spLocks xmlns:a="http://schemas.openxmlformats.org/drawingml/2006/main" noGrp="1"/>
          </p:cNvSpPr>
          <p:nvPr/>
        </p:nvSpPr>
        <p:spPr>
          <a:xfrm xmlns:a="http://schemas.openxmlformats.org/drawingml/2006/main">
            <a:off x="609600" y="4419600"/>
            <a:ext cx="2571750" cy="809625"/>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4" name="Agent registry">
            <a:extLst xmlns:a="http://schemas.openxmlformats.org/drawingml/2006/main">
              <a:ext uri="{FF2B5EF4-FFF2-40B4-BE49-F238E27FC236}">
                <a16:creationId xmlns:a16="http://schemas.microsoft.com/office/drawing/2014/main" id="{412F54A2-F891-4CA5-8C89-D37DE6C1A068}"/>
              </a:ext>
            </a:extLst>
          </p:cNvPr>
          <p:cNvSpPr>
            <a:spLocks xmlns:a="http://schemas.openxmlformats.org/drawingml/2006/main" noGrp="1"/>
          </p:cNvSpPr>
          <p:nvPr/>
        </p:nvSpPr>
        <p:spPr>
          <a:xfrm xmlns:a="http://schemas.openxmlformats.org/drawingml/2006/main">
            <a:off x="752475" y="4505325"/>
            <a:ext cx="228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Agent registry</a:t>
            </a:r>
          </a:p>
        </p:txBody>
      </p:sp>
      <p:sp>
        <p:nvSpPr>
          <p:cNvPr id="15" name="">
            <a:extLst xmlns:a="http://schemas.openxmlformats.org/drawingml/2006/main">
              <a:ext uri="{FF2B5EF4-FFF2-40B4-BE49-F238E27FC236}">
                <a16:creationId xmlns:a16="http://schemas.microsoft.com/office/drawing/2014/main" id="{A8CA2E3B-ADF1-4CBA-BF13-884A7FD2F809}"/>
              </a:ext>
            </a:extLst>
          </p:cNvPr>
          <p:cNvSpPr>
            <a:spLocks xmlns:a="http://schemas.openxmlformats.org/drawingml/2006/main" noGrp="1"/>
          </p:cNvSpPr>
          <p:nvPr/>
        </p:nvSpPr>
        <p:spPr>
          <a:xfrm xmlns:a="http://schemas.openxmlformats.org/drawingml/2006/main">
            <a:off x="4533900" y="4419600"/>
            <a:ext cx="3190875" cy="809625"/>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6" name="Policy + executor">
            <a:extLst xmlns:a="http://schemas.openxmlformats.org/drawingml/2006/main">
              <a:ext uri="{FF2B5EF4-FFF2-40B4-BE49-F238E27FC236}">
                <a16:creationId xmlns:a16="http://schemas.microsoft.com/office/drawing/2014/main" id="{87EC6B53-4014-41BA-986B-709CE4935ECC}"/>
              </a:ext>
            </a:extLst>
          </p:cNvPr>
          <p:cNvSpPr>
            <a:spLocks xmlns:a="http://schemas.openxmlformats.org/drawingml/2006/main" noGrp="1"/>
          </p:cNvSpPr>
          <p:nvPr/>
        </p:nvSpPr>
        <p:spPr>
          <a:xfrm xmlns:a="http://schemas.openxmlformats.org/drawingml/2006/main">
            <a:off x="4676775" y="4505325"/>
            <a:ext cx="290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Policy + executor</a:t>
            </a:r>
          </a:p>
        </p:txBody>
      </p:sp>
      <p:sp>
        <p:nvSpPr>
          <p:cNvPr id="17" name="">
            <a:extLst xmlns:a="http://schemas.openxmlformats.org/drawingml/2006/main">
              <a:ext uri="{FF2B5EF4-FFF2-40B4-BE49-F238E27FC236}">
                <a16:creationId xmlns:a16="http://schemas.microsoft.com/office/drawing/2014/main" id="{3BB4D290-660D-4BFE-9BE5-1E4A273CA0A1}"/>
              </a:ext>
            </a:extLst>
          </p:cNvPr>
          <p:cNvSpPr>
            <a:spLocks xmlns:a="http://schemas.openxmlformats.org/drawingml/2006/main" noGrp="1"/>
          </p:cNvSpPr>
          <p:nvPr/>
        </p:nvSpPr>
        <p:spPr>
          <a:xfrm xmlns:a="http://schemas.openxmlformats.org/drawingml/2006/main">
            <a:off x="8858250" y="4419600"/>
            <a:ext cx="2714625" cy="809625"/>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8" name="RAMFS">
            <a:extLst xmlns:a="http://schemas.openxmlformats.org/drawingml/2006/main">
              <a:ext uri="{FF2B5EF4-FFF2-40B4-BE49-F238E27FC236}">
                <a16:creationId xmlns:a16="http://schemas.microsoft.com/office/drawing/2014/main" id="{57A388BD-7AA3-4E06-938A-290387E6A714}"/>
              </a:ext>
            </a:extLst>
          </p:cNvPr>
          <p:cNvSpPr>
            <a:spLocks xmlns:a="http://schemas.openxmlformats.org/drawingml/2006/main" noGrp="1"/>
          </p:cNvSpPr>
          <p:nvPr/>
        </p:nvSpPr>
        <p:spPr>
          <a:xfrm xmlns:a="http://schemas.openxmlformats.org/drawingml/2006/main">
            <a:off x="9001125" y="4505325"/>
            <a:ext cx="2428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RAMFS</a:t>
            </a:r>
          </a:p>
        </p:txBody>
      </p:sp>
      <p:cxnSp>
        <p:nvCxnSpPr>
          <p:cNvPr id="19" name="">
            <a:extLst xmlns:a="http://schemas.openxmlformats.org/drawingml/2006/main">
              <a:ext uri="{FF2B5EF4-FFF2-40B4-BE49-F238E27FC236}">
                <a16:creationId xmlns:a16="http://schemas.microsoft.com/office/drawing/2014/main" id="{7D2FF1B3-05B5-4A41-A50D-E27E297C40AF}"/>
              </a:ext>
            </a:extLst>
          </p:cNvPr>
          <p:cNvCxnSpPr/>
          <p:nvPr/>
        </p:nvCxnSpPr>
        <p:spPr>
          <a:xfrm xmlns:a="http://schemas.openxmlformats.org/drawingml/2006/main" flipH="0" flipV="0">
            <a:off x="6115050" y="3095625"/>
            <a:ext cx="0" cy="1247775"/>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cxnSp>
        <p:nvCxnSpPr>
          <p:cNvPr id="20" name="">
            <a:extLst xmlns:a="http://schemas.openxmlformats.org/drawingml/2006/main">
              <a:ext uri="{FF2B5EF4-FFF2-40B4-BE49-F238E27FC236}">
                <a16:creationId xmlns:a16="http://schemas.microsoft.com/office/drawing/2014/main" id="{0389484A-0832-4ABD-8C83-AE705715F4A0}"/>
              </a:ext>
            </a:extLst>
          </p:cNvPr>
          <p:cNvCxnSpPr/>
          <p:nvPr/>
        </p:nvCxnSpPr>
        <p:spPr>
          <a:xfrm xmlns:a="http://schemas.openxmlformats.org/drawingml/2006/main" flipH="0" flipV="0">
            <a:off x="3181350" y="4810125"/>
            <a:ext cx="127635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cxnSp>
        <p:nvCxnSpPr>
          <p:cNvPr id="21" name="">
            <a:extLst xmlns:a="http://schemas.openxmlformats.org/drawingml/2006/main">
              <a:ext uri="{FF2B5EF4-FFF2-40B4-BE49-F238E27FC236}">
                <a16:creationId xmlns:a16="http://schemas.microsoft.com/office/drawing/2014/main" id="{034AADE7-D4C2-49F4-8AE9-BA7A5453B255}"/>
              </a:ext>
            </a:extLst>
          </p:cNvPr>
          <p:cNvCxnSpPr/>
          <p:nvPr/>
        </p:nvCxnSpPr>
        <p:spPr>
          <a:xfrm xmlns:a="http://schemas.openxmlformats.org/drawingml/2006/main" flipH="0" flipV="0">
            <a:off x="7724775" y="4810125"/>
            <a:ext cx="1057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Tree>
    <p:extLst>
      <p:ext uri="{BB962C8B-B14F-4D97-AF65-F5344CB8AC3E}">
        <p14:creationId xmlns:p14="http://schemas.microsoft.com/office/powerpoint/2010/main" val="203401335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GENT ARCHITECTURE">
            <a:extLst xmlns:a="http://schemas.openxmlformats.org/drawingml/2006/main">
              <a:ext uri="{FF2B5EF4-FFF2-40B4-BE49-F238E27FC236}">
                <a16:creationId xmlns:a16="http://schemas.microsoft.com/office/drawing/2014/main" id="{FDD7BA6E-E04C-40D4-A488-40C2AFF64DC2}"/>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7D43D5"/>
                </a:solidFill>
                <a:latin typeface="Arial"/>
                <a:ea typeface="Arial"/>
                <a:cs typeface="Arial"/>
              </a:defRPr>
            </a:defPPr>
          </a:lstStyle>
          <a:p xmlns:a="http://schemas.openxmlformats.org/drawingml/2006/main">
            <a:pPr algn="l">
              <a:defRPr sz="1200" b="1">
                <a:solidFill>
                  <a:srgbClr val="7D43D5"/>
                </a:solidFill>
                <a:latin typeface="Arial"/>
                <a:ea typeface="Arial"/>
                <a:cs typeface="Arial"/>
              </a:defRPr>
            </a:pPr>
            <a:r>
              <a:rPr sz="1200" b="1">
                <a:solidFill>
                  <a:srgbClr val="7D43D5"/>
                </a:solidFill>
                <a:latin typeface="Arial"/>
                <a:ea typeface="Arial"/>
                <a:cs typeface="Arial"/>
              </a:rPr>
              <a:t>AGENT ARCHITECTURE</a:t>
            </a:r>
          </a:p>
        </p:txBody>
      </p:sp>
      <p:sp>
        <p:nvSpPr>
          <p:cNvPr id="2" name="File tool contract">
            <a:extLst xmlns:a="http://schemas.openxmlformats.org/drawingml/2006/main">
              <a:ext uri="{FF2B5EF4-FFF2-40B4-BE49-F238E27FC236}">
                <a16:creationId xmlns:a16="http://schemas.microsoft.com/office/drawing/2014/main" id="{C80B48CC-82B4-4F34-99C6-DCFD78248741}"/>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51139"/>
                </a:solidFill>
                <a:latin typeface="Arial"/>
                <a:ea typeface="Arial"/>
                <a:cs typeface="Arial"/>
              </a:defRPr>
            </a:defPPr>
          </a:lstStyle>
          <a:p xmlns:a="http://schemas.openxmlformats.org/drawingml/2006/main">
            <a:pPr algn="l">
              <a:defRPr sz="3300" b="1">
                <a:solidFill>
                  <a:srgbClr val="251139"/>
                </a:solidFill>
                <a:latin typeface="Arial"/>
                <a:ea typeface="Arial"/>
                <a:cs typeface="Arial"/>
              </a:defRPr>
            </a:pPr>
            <a:r>
              <a:rPr sz="3300" b="1">
                <a:solidFill>
                  <a:srgbClr val="251139"/>
                </a:solidFill>
                <a:latin typeface="Arial"/>
                <a:ea typeface="Arial"/>
                <a:cs typeface="Arial"/>
              </a:rPr>
              <a:t>File tool contract</a:t>
            </a:r>
          </a:p>
        </p:txBody>
      </p:sp>
      <p:sp>
        <p:nvSpPr>
          <p:cNvPr id="3" name="AGENTIC OS  /  MVP TECHNICAL WALKTHROUGH">
            <a:extLst xmlns:a="http://schemas.openxmlformats.org/drawingml/2006/main">
              <a:ext uri="{FF2B5EF4-FFF2-40B4-BE49-F238E27FC236}">
                <a16:creationId xmlns:a16="http://schemas.microsoft.com/office/drawing/2014/main" id="{220CC7D0-12B3-4064-ABF3-1276919A3556}"/>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7D43D5"/>
                </a:solidFill>
                <a:latin typeface="Arial"/>
                <a:ea typeface="Arial"/>
                <a:cs typeface="Arial"/>
              </a:defRPr>
            </a:defPPr>
          </a:lstStyle>
          <a:p xmlns:a="http://schemas.openxmlformats.org/drawingml/2006/main">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27">
            <a:extLst xmlns:a="http://schemas.openxmlformats.org/drawingml/2006/main">
              <a:ext uri="{FF2B5EF4-FFF2-40B4-BE49-F238E27FC236}">
                <a16:creationId xmlns:a16="http://schemas.microsoft.com/office/drawing/2014/main" id="{27FD73DA-C90C-48F0-A82F-6B3546DDAB07}"/>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7D43D5"/>
                </a:solidFill>
                <a:latin typeface="Arial"/>
                <a:ea typeface="Arial"/>
                <a:cs typeface="Arial"/>
              </a:defRPr>
            </a:defPPr>
          </a:lstStyle>
          <a:p xmlns:a="http://schemas.openxmlformats.org/drawingml/2006/main">
            <a:pPr algn="r">
              <a:defRPr sz="1275" b="0">
                <a:solidFill>
                  <a:srgbClr val="7D43D5"/>
                </a:solidFill>
                <a:latin typeface="Arial"/>
                <a:ea typeface="Arial"/>
                <a:cs typeface="Arial"/>
              </a:defRPr>
            </a:pPr>
            <a:r>
              <a:rPr sz="1275" b="0">
                <a:solidFill>
                  <a:srgbClr val="7D43D5"/>
                </a:solidFill>
                <a:latin typeface="Arial"/>
                <a:ea typeface="Arial"/>
                <a:cs typeface="Arial"/>
              </a:rPr>
              <a:t>27</a:t>
            </a:r>
          </a:p>
        </p:txBody>
      </p:sp>
      <p:sp>
        <p:nvSpPr>
          <p:cNvPr id="5" name="file.create">
            <a:extLst xmlns:a="http://schemas.openxmlformats.org/drawingml/2006/main">
              <a:ext uri="{FF2B5EF4-FFF2-40B4-BE49-F238E27FC236}">
                <a16:creationId xmlns:a16="http://schemas.microsoft.com/office/drawing/2014/main" id="{04D7CCDD-B5FF-43A7-AADA-E35844591E8E}"/>
              </a:ext>
            </a:extLst>
          </p:cNvPr>
          <p:cNvSpPr>
            <a:spLocks xmlns:a="http://schemas.openxmlformats.org/drawingml/2006/main" noGrp="1"/>
          </p:cNvSpPr>
          <p:nvPr/>
        </p:nvSpPr>
        <p:spPr>
          <a:xfrm xmlns:a="http://schemas.openxmlformats.org/drawingml/2006/main">
            <a:off x="609600" y="19907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file.create</a:t>
            </a:r>
          </a:p>
        </p:txBody>
      </p:sp>
      <p:sp>
        <p:nvSpPr>
          <p:cNvPr id="6" name="path, content  /  create a new file">
            <a:extLst xmlns:a="http://schemas.openxmlformats.org/drawingml/2006/main">
              <a:ext uri="{FF2B5EF4-FFF2-40B4-BE49-F238E27FC236}">
                <a16:creationId xmlns:a16="http://schemas.microsoft.com/office/drawing/2014/main" id="{938D82C4-61E7-442B-9B06-A7712F133DEE}"/>
              </a:ext>
            </a:extLst>
          </p:cNvPr>
          <p:cNvSpPr>
            <a:spLocks xmlns:a="http://schemas.openxmlformats.org/drawingml/2006/main" noGrp="1"/>
          </p:cNvSpPr>
          <p:nvPr/>
        </p:nvSpPr>
        <p:spPr>
          <a:xfrm xmlns:a="http://schemas.openxmlformats.org/drawingml/2006/main">
            <a:off x="3943350" y="199072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path, content  /  create a new file</a:t>
            </a:r>
          </a:p>
        </p:txBody>
      </p:sp>
      <p:sp>
        <p:nvSpPr>
          <p:cNvPr id="7" name="file.read">
            <a:extLst xmlns:a="http://schemas.openxmlformats.org/drawingml/2006/main">
              <a:ext uri="{FF2B5EF4-FFF2-40B4-BE49-F238E27FC236}">
                <a16:creationId xmlns:a16="http://schemas.microsoft.com/office/drawing/2014/main" id="{C69CFD1D-4C79-467C-9AA3-52F93734409F}"/>
              </a:ext>
            </a:extLst>
          </p:cNvPr>
          <p:cNvSpPr>
            <a:spLocks xmlns:a="http://schemas.openxmlformats.org/drawingml/2006/main" noGrp="1"/>
          </p:cNvSpPr>
          <p:nvPr/>
        </p:nvSpPr>
        <p:spPr>
          <a:xfrm xmlns:a="http://schemas.openxmlformats.org/drawingml/2006/main">
            <a:off x="609600" y="28860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file.read</a:t>
            </a:r>
          </a:p>
        </p:txBody>
      </p:sp>
      <p:sp>
        <p:nvSpPr>
          <p:cNvPr id="8" name="path, offset, limit  /  return bytes">
            <a:extLst xmlns:a="http://schemas.openxmlformats.org/drawingml/2006/main">
              <a:ext uri="{FF2B5EF4-FFF2-40B4-BE49-F238E27FC236}">
                <a16:creationId xmlns:a16="http://schemas.microsoft.com/office/drawing/2014/main" id="{FAED4260-51DF-4168-8396-9A3E8FD61BCA}"/>
              </a:ext>
            </a:extLst>
          </p:cNvPr>
          <p:cNvSpPr>
            <a:spLocks xmlns:a="http://schemas.openxmlformats.org/drawingml/2006/main" noGrp="1"/>
          </p:cNvSpPr>
          <p:nvPr/>
        </p:nvSpPr>
        <p:spPr>
          <a:xfrm xmlns:a="http://schemas.openxmlformats.org/drawingml/2006/main">
            <a:off x="3943350" y="28860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path, offset, limit  /  return bytes</a:t>
            </a:r>
          </a:p>
        </p:txBody>
      </p:sp>
      <p:sp>
        <p:nvSpPr>
          <p:cNvPr id="9" name="file.update">
            <a:extLst xmlns:a="http://schemas.openxmlformats.org/drawingml/2006/main">
              <a:ext uri="{FF2B5EF4-FFF2-40B4-BE49-F238E27FC236}">
                <a16:creationId xmlns:a16="http://schemas.microsoft.com/office/drawing/2014/main" id="{458F4C0B-7813-46CB-B86E-6706C83878D3}"/>
              </a:ext>
            </a:extLst>
          </p:cNvPr>
          <p:cNvSpPr>
            <a:spLocks xmlns:a="http://schemas.openxmlformats.org/drawingml/2006/main" noGrp="1"/>
          </p:cNvSpPr>
          <p:nvPr/>
        </p:nvSpPr>
        <p:spPr>
          <a:xfrm xmlns:a="http://schemas.openxmlformats.org/drawingml/2006/main">
            <a:off x="609600" y="37814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file.update</a:t>
            </a:r>
          </a:p>
        </p:txBody>
      </p:sp>
      <p:sp>
        <p:nvSpPr>
          <p:cNvPr id="10" name="path, content  /  replace an existing file">
            <a:extLst xmlns:a="http://schemas.openxmlformats.org/drawingml/2006/main">
              <a:ext uri="{FF2B5EF4-FFF2-40B4-BE49-F238E27FC236}">
                <a16:creationId xmlns:a16="http://schemas.microsoft.com/office/drawing/2014/main" id="{72637582-A803-4EC5-A184-6D4BFCF5A78C}"/>
              </a:ext>
            </a:extLst>
          </p:cNvPr>
          <p:cNvSpPr>
            <a:spLocks xmlns:a="http://schemas.openxmlformats.org/drawingml/2006/main" noGrp="1"/>
          </p:cNvSpPr>
          <p:nvPr/>
        </p:nvSpPr>
        <p:spPr>
          <a:xfrm xmlns:a="http://schemas.openxmlformats.org/drawingml/2006/main">
            <a:off x="3943350" y="378142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path, content  /  replace an existing file</a:t>
            </a:r>
          </a:p>
        </p:txBody>
      </p:sp>
      <p:sp>
        <p:nvSpPr>
          <p:cNvPr id="11" name="file.delete">
            <a:extLst xmlns:a="http://schemas.openxmlformats.org/drawingml/2006/main">
              <a:ext uri="{FF2B5EF4-FFF2-40B4-BE49-F238E27FC236}">
                <a16:creationId xmlns:a16="http://schemas.microsoft.com/office/drawing/2014/main" id="{E8F5B95B-5003-4E4A-A072-43CA1DF040B2}"/>
              </a:ext>
            </a:extLst>
          </p:cNvPr>
          <p:cNvSpPr>
            <a:spLocks xmlns:a="http://schemas.openxmlformats.org/drawingml/2006/main" noGrp="1"/>
          </p:cNvSpPr>
          <p:nvPr/>
        </p:nvSpPr>
        <p:spPr>
          <a:xfrm xmlns:a="http://schemas.openxmlformats.org/drawingml/2006/main">
            <a:off x="609600" y="46767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file.delete</a:t>
            </a:r>
          </a:p>
        </p:txBody>
      </p:sp>
      <p:sp>
        <p:nvSpPr>
          <p:cNvPr id="12" name="path  /  remove the named file">
            <a:extLst xmlns:a="http://schemas.openxmlformats.org/drawingml/2006/main">
              <a:ext uri="{FF2B5EF4-FFF2-40B4-BE49-F238E27FC236}">
                <a16:creationId xmlns:a16="http://schemas.microsoft.com/office/drawing/2014/main" id="{E2F2F33A-9F3A-482D-ABDD-99E039093B73}"/>
              </a:ext>
            </a:extLst>
          </p:cNvPr>
          <p:cNvSpPr>
            <a:spLocks xmlns:a="http://schemas.openxmlformats.org/drawingml/2006/main" noGrp="1"/>
          </p:cNvSpPr>
          <p:nvPr/>
        </p:nvSpPr>
        <p:spPr>
          <a:xfrm xmlns:a="http://schemas.openxmlformats.org/drawingml/2006/main">
            <a:off x="3943350" y="46767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path  /  remove the named file</a:t>
            </a:r>
          </a:p>
        </p:txBody>
      </p:sp>
    </p:spTree>
    <p:extLst>
      <p:ext uri="{BB962C8B-B14F-4D97-AF65-F5344CB8AC3E}">
        <p14:creationId xmlns:p14="http://schemas.microsoft.com/office/powerpoint/2010/main" val="1232515319"/>
      </p:ext>
    </p:extLst>
  </p:cSld>
</p:sld>
</file>

<file path=ppt/slides/slide28.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34" name="AGENT ARCHITECTURE">
            <a:extLst xmlns:a="http://schemas.openxmlformats.org/drawingml/2006/main">
              <a:ext uri="{FF2B5EF4-FFF2-40B4-BE49-F238E27FC236}">
                <a16:creationId xmlns:a16="http://schemas.microsoft.com/office/drawing/2014/main" id="{AE230984-75E5-4D0C-8757-12FC29334F39}"/>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AGENT ARCHITECTURE</a:t>
            </a:r>
          </a:p>
        </p:txBody>
      </p:sp>
      <p:sp>
        <p:nvSpPr>
          <p:cNvPr id="2" name="Agent file-operation sequence">
            <a:extLst xmlns:a="http://schemas.openxmlformats.org/drawingml/2006/main">
              <a:ext uri="{FF2B5EF4-FFF2-40B4-BE49-F238E27FC236}">
                <a16:creationId xmlns:a16="http://schemas.microsoft.com/office/drawing/2014/main" id="{7B4C8985-ECC8-4311-B2D0-C5DEE4B02CCF}"/>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Agent file-operation sequence</a:t>
            </a:r>
          </a:p>
        </p:txBody>
      </p:sp>
      <p:sp>
        <p:nvSpPr>
          <p:cNvPr id="3" name="AGENTIC OS  /  MVP TECHNICAL WALKTHROUGH">
            <a:extLst xmlns:a="http://schemas.openxmlformats.org/drawingml/2006/main">
              <a:ext uri="{FF2B5EF4-FFF2-40B4-BE49-F238E27FC236}">
                <a16:creationId xmlns:a16="http://schemas.microsoft.com/office/drawing/2014/main" id="{C4DAF079-886C-4952-9C26-58266E24C620}"/>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28">
            <a:extLst xmlns:a="http://schemas.openxmlformats.org/drawingml/2006/main">
              <a:ext uri="{FF2B5EF4-FFF2-40B4-BE49-F238E27FC236}">
                <a16:creationId xmlns:a16="http://schemas.microsoft.com/office/drawing/2014/main" id="{5516E7C3-D2CB-4ACF-8B6D-56419E559ED3}"/>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28</a:t>
            </a:r>
          </a:p>
        </p:txBody>
      </p:sp>
      <p:sp>
        <p:nvSpPr>
          <p:cNvPr id="5" name="">
            <a:extLst xmlns:a="http://schemas.openxmlformats.org/drawingml/2006/main">
              <a:ext uri="{FF2B5EF4-FFF2-40B4-BE49-F238E27FC236}">
                <a16:creationId xmlns:a16="http://schemas.microsoft.com/office/drawing/2014/main" id="{2B8B1CFB-D0E7-4DE4-8CEF-9F6FC67E1407}"/>
              </a:ext>
            </a:extLst>
          </p:cNvPr>
          <p:cNvSpPr>
            <a:spLocks xmlns:a="http://schemas.openxmlformats.org/drawingml/2006/main" noGrp="1"/>
          </p:cNvSpPr>
          <p:nvPr/>
        </p:nvSpPr>
        <p:spPr>
          <a:xfrm xmlns:a="http://schemas.openxmlformats.org/drawingml/2006/main">
            <a:off x="33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User">
            <a:extLst xmlns:a="http://schemas.openxmlformats.org/drawingml/2006/main">
              <a:ext uri="{FF2B5EF4-FFF2-40B4-BE49-F238E27FC236}">
                <a16:creationId xmlns:a16="http://schemas.microsoft.com/office/drawing/2014/main" id="{148709D4-6246-45DD-B7C2-628ABBD19ABF}"/>
              </a:ext>
            </a:extLst>
          </p:cNvPr>
          <p:cNvSpPr>
            <a:spLocks xmlns:a="http://schemas.openxmlformats.org/drawingml/2006/main" noGrp="1"/>
          </p:cNvSpPr>
          <p:nvPr/>
        </p:nvSpPr>
        <p:spPr>
          <a:xfrm xmlns:a="http://schemas.openxmlformats.org/drawingml/2006/main">
            <a:off x="47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User</a:t>
            </a:r>
          </a:p>
        </p:txBody>
      </p:sp>
      <p:cxnSp>
        <p:nvCxnSpPr>
          <p:cNvPr id="7" name="">
            <a:extLst xmlns:a="http://schemas.openxmlformats.org/drawingml/2006/main">
              <a:ext uri="{FF2B5EF4-FFF2-40B4-BE49-F238E27FC236}">
                <a16:creationId xmlns:a16="http://schemas.microsoft.com/office/drawing/2014/main" id="{5026493B-B7D5-4C27-AAB2-75776B585EF1}"/>
              </a:ext>
            </a:extLst>
          </p:cNvPr>
          <p:cNvCxnSpPr/>
          <p:nvPr/>
        </p:nvCxnSpPr>
        <p:spPr>
          <a:xfrm xmlns:a="http://schemas.openxmlformats.org/drawingml/2006/main" flipH="0" flipV="0">
            <a:off x="133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8" name="">
            <a:extLst xmlns:a="http://schemas.openxmlformats.org/drawingml/2006/main">
              <a:ext uri="{FF2B5EF4-FFF2-40B4-BE49-F238E27FC236}">
                <a16:creationId xmlns:a16="http://schemas.microsoft.com/office/drawing/2014/main" id="{D0A5A2B8-204D-48EB-93F9-0E3BC9AD8E7A}"/>
              </a:ext>
            </a:extLst>
          </p:cNvPr>
          <p:cNvSpPr>
            <a:spLocks xmlns:a="http://schemas.openxmlformats.org/drawingml/2006/main" noGrp="1"/>
          </p:cNvSpPr>
          <p:nvPr/>
        </p:nvSpPr>
        <p:spPr>
          <a:xfrm xmlns:a="http://schemas.openxmlformats.org/drawingml/2006/main">
            <a:off x="350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OS agent">
            <a:extLst xmlns:a="http://schemas.openxmlformats.org/drawingml/2006/main">
              <a:ext uri="{FF2B5EF4-FFF2-40B4-BE49-F238E27FC236}">
                <a16:creationId xmlns:a16="http://schemas.microsoft.com/office/drawing/2014/main" id="{485CF8B4-4620-48AD-A9A5-E2B603EF90A8}"/>
              </a:ext>
            </a:extLst>
          </p:cNvPr>
          <p:cNvSpPr>
            <a:spLocks xmlns:a="http://schemas.openxmlformats.org/drawingml/2006/main" noGrp="1"/>
          </p:cNvSpPr>
          <p:nvPr/>
        </p:nvSpPr>
        <p:spPr>
          <a:xfrm xmlns:a="http://schemas.openxmlformats.org/drawingml/2006/main">
            <a:off x="365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OS agent</a:t>
            </a:r>
          </a:p>
        </p:txBody>
      </p:sp>
      <p:cxnSp>
        <p:nvCxnSpPr>
          <p:cNvPr id="10" name="">
            <a:extLst xmlns:a="http://schemas.openxmlformats.org/drawingml/2006/main">
              <a:ext uri="{FF2B5EF4-FFF2-40B4-BE49-F238E27FC236}">
                <a16:creationId xmlns:a16="http://schemas.microsoft.com/office/drawing/2014/main" id="{A6A8ADB1-AEF7-4757-8108-DA92E126F8AA}"/>
              </a:ext>
            </a:extLst>
          </p:cNvPr>
          <p:cNvCxnSpPr/>
          <p:nvPr/>
        </p:nvCxnSpPr>
        <p:spPr>
          <a:xfrm xmlns:a="http://schemas.openxmlformats.org/drawingml/2006/main" flipH="0" flipV="0">
            <a:off x="450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1" name="">
            <a:extLst xmlns:a="http://schemas.openxmlformats.org/drawingml/2006/main">
              <a:ext uri="{FF2B5EF4-FFF2-40B4-BE49-F238E27FC236}">
                <a16:creationId xmlns:a16="http://schemas.microsoft.com/office/drawing/2014/main" id="{2F9E1890-21DC-4A65-A09D-EDE764F4102B}"/>
              </a:ext>
            </a:extLst>
          </p:cNvPr>
          <p:cNvSpPr>
            <a:spLocks xmlns:a="http://schemas.openxmlformats.org/drawingml/2006/main" noGrp="1"/>
          </p:cNvSpPr>
          <p:nvPr/>
        </p:nvSpPr>
        <p:spPr>
          <a:xfrm xmlns:a="http://schemas.openxmlformats.org/drawingml/2006/main">
            <a:off x="668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Tool policy">
            <a:extLst xmlns:a="http://schemas.openxmlformats.org/drawingml/2006/main">
              <a:ext uri="{FF2B5EF4-FFF2-40B4-BE49-F238E27FC236}">
                <a16:creationId xmlns:a16="http://schemas.microsoft.com/office/drawing/2014/main" id="{6BE1CAAE-D362-4527-98C0-10FF73B7CC84}"/>
              </a:ext>
            </a:extLst>
          </p:cNvPr>
          <p:cNvSpPr>
            <a:spLocks xmlns:a="http://schemas.openxmlformats.org/drawingml/2006/main" noGrp="1"/>
          </p:cNvSpPr>
          <p:nvPr/>
        </p:nvSpPr>
        <p:spPr>
          <a:xfrm xmlns:a="http://schemas.openxmlformats.org/drawingml/2006/main">
            <a:off x="682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Tool policy</a:t>
            </a:r>
          </a:p>
        </p:txBody>
      </p:sp>
      <p:cxnSp>
        <p:nvCxnSpPr>
          <p:cNvPr id="13" name="">
            <a:extLst xmlns:a="http://schemas.openxmlformats.org/drawingml/2006/main">
              <a:ext uri="{FF2B5EF4-FFF2-40B4-BE49-F238E27FC236}">
                <a16:creationId xmlns:a16="http://schemas.microsoft.com/office/drawing/2014/main" id="{95F681E5-08A1-4877-9475-AC7D553400B3}"/>
              </a:ext>
            </a:extLst>
          </p:cNvPr>
          <p:cNvCxnSpPr/>
          <p:nvPr/>
        </p:nvCxnSpPr>
        <p:spPr>
          <a:xfrm xmlns:a="http://schemas.openxmlformats.org/drawingml/2006/main" flipH="0" flipV="0">
            <a:off x="768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4" name="">
            <a:extLst xmlns:a="http://schemas.openxmlformats.org/drawingml/2006/main">
              <a:ext uri="{FF2B5EF4-FFF2-40B4-BE49-F238E27FC236}">
                <a16:creationId xmlns:a16="http://schemas.microsoft.com/office/drawing/2014/main" id="{F2859627-B84A-441E-BFCD-E82C8B6BF3AD}"/>
              </a:ext>
            </a:extLst>
          </p:cNvPr>
          <p:cNvSpPr>
            <a:spLocks xmlns:a="http://schemas.openxmlformats.org/drawingml/2006/main" noGrp="1"/>
          </p:cNvSpPr>
          <p:nvPr/>
        </p:nvSpPr>
        <p:spPr>
          <a:xfrm xmlns:a="http://schemas.openxmlformats.org/drawingml/2006/main">
            <a:off x="985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RAMFS">
            <a:extLst xmlns:a="http://schemas.openxmlformats.org/drawingml/2006/main">
              <a:ext uri="{FF2B5EF4-FFF2-40B4-BE49-F238E27FC236}">
                <a16:creationId xmlns:a16="http://schemas.microsoft.com/office/drawing/2014/main" id="{5DB3CF75-36D3-4054-A6C8-D64C036B0F91}"/>
              </a:ext>
            </a:extLst>
          </p:cNvPr>
          <p:cNvSpPr>
            <a:spLocks xmlns:a="http://schemas.openxmlformats.org/drawingml/2006/main" noGrp="1"/>
          </p:cNvSpPr>
          <p:nvPr/>
        </p:nvSpPr>
        <p:spPr>
          <a:xfrm xmlns:a="http://schemas.openxmlformats.org/drawingml/2006/main">
            <a:off x="1000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RAMFS</a:t>
            </a:r>
          </a:p>
        </p:txBody>
      </p:sp>
      <p:cxnSp>
        <p:nvCxnSpPr>
          <p:cNvPr id="16" name="">
            <a:extLst xmlns:a="http://schemas.openxmlformats.org/drawingml/2006/main">
              <a:ext uri="{FF2B5EF4-FFF2-40B4-BE49-F238E27FC236}">
                <a16:creationId xmlns:a16="http://schemas.microsoft.com/office/drawing/2014/main" id="{DD20623E-FF23-41C4-AECF-52E2265668D6}"/>
              </a:ext>
            </a:extLst>
          </p:cNvPr>
          <p:cNvCxnSpPr/>
          <p:nvPr/>
        </p:nvCxnSpPr>
        <p:spPr>
          <a:xfrm xmlns:a="http://schemas.openxmlformats.org/drawingml/2006/main" flipH="0" flipV="0">
            <a:off x="1085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cxnSp>
        <p:nvCxnSpPr>
          <p:cNvPr id="17" name="">
            <a:extLst xmlns:a="http://schemas.openxmlformats.org/drawingml/2006/main">
              <a:ext uri="{FF2B5EF4-FFF2-40B4-BE49-F238E27FC236}">
                <a16:creationId xmlns:a16="http://schemas.microsoft.com/office/drawing/2014/main" id="{37415DE8-55C0-403E-B186-4BE14523F0F5}"/>
              </a:ext>
            </a:extLst>
          </p:cNvPr>
          <p:cNvCxnSpPr/>
          <p:nvPr/>
        </p:nvCxnSpPr>
        <p:spPr>
          <a:xfrm xmlns:a="http://schemas.openxmlformats.org/drawingml/2006/main" flipH="0" flipV="0">
            <a:off x="1333500" y="302895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8" name="Create /notes/demo.txt">
            <a:extLst xmlns:a="http://schemas.openxmlformats.org/drawingml/2006/main">
              <a:ext uri="{FF2B5EF4-FFF2-40B4-BE49-F238E27FC236}">
                <a16:creationId xmlns:a16="http://schemas.microsoft.com/office/drawing/2014/main" id="{D3D0A055-CF76-4D2D-A192-A1102009A2E2}"/>
              </a:ext>
            </a:extLst>
          </p:cNvPr>
          <p:cNvSpPr>
            <a:spLocks xmlns:a="http://schemas.openxmlformats.org/drawingml/2006/main" noGrp="1"/>
          </p:cNvSpPr>
          <p:nvPr/>
        </p:nvSpPr>
        <p:spPr>
          <a:xfrm xmlns:a="http://schemas.openxmlformats.org/drawingml/2006/main">
            <a:off x="1457325" y="275272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Create /notes/demo.txt</a:t>
            </a:r>
          </a:p>
        </p:txBody>
      </p:sp>
      <p:cxnSp>
        <p:nvCxnSpPr>
          <p:cNvPr id="19" name="">
            <a:extLst xmlns:a="http://schemas.openxmlformats.org/drawingml/2006/main">
              <a:ext uri="{FF2B5EF4-FFF2-40B4-BE49-F238E27FC236}">
                <a16:creationId xmlns:a16="http://schemas.microsoft.com/office/drawing/2014/main" id="{CD1E8E71-3A51-4EFA-9617-3A3A765F22FD}"/>
              </a:ext>
            </a:extLst>
          </p:cNvPr>
          <p:cNvCxnSpPr/>
          <p:nvPr/>
        </p:nvCxnSpPr>
        <p:spPr>
          <a:xfrm xmlns:a="http://schemas.openxmlformats.org/drawingml/2006/main" flipH="0" flipV="0">
            <a:off x="4508500" y="3350419"/>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0" name="file.create(path, content)">
            <a:extLst xmlns:a="http://schemas.openxmlformats.org/drawingml/2006/main">
              <a:ext uri="{FF2B5EF4-FFF2-40B4-BE49-F238E27FC236}">
                <a16:creationId xmlns:a16="http://schemas.microsoft.com/office/drawing/2014/main" id="{810678DE-3534-469A-AC04-B3070E79E065}"/>
              </a:ext>
            </a:extLst>
          </p:cNvPr>
          <p:cNvSpPr>
            <a:spLocks xmlns:a="http://schemas.openxmlformats.org/drawingml/2006/main" noGrp="1"/>
          </p:cNvSpPr>
          <p:nvPr/>
        </p:nvSpPr>
        <p:spPr>
          <a:xfrm xmlns:a="http://schemas.openxmlformats.org/drawingml/2006/main">
            <a:off x="4632325" y="3074194"/>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file.create(path, content)</a:t>
            </a:r>
          </a:p>
        </p:txBody>
      </p:sp>
      <p:cxnSp>
        <p:nvCxnSpPr>
          <p:cNvPr id="21" name="">
            <a:extLst xmlns:a="http://schemas.openxmlformats.org/drawingml/2006/main">
              <a:ext uri="{FF2B5EF4-FFF2-40B4-BE49-F238E27FC236}">
                <a16:creationId xmlns:a16="http://schemas.microsoft.com/office/drawing/2014/main" id="{5064CC78-0B34-4529-8E9D-B6A86ECB32F2}"/>
              </a:ext>
            </a:extLst>
          </p:cNvPr>
          <p:cNvCxnSpPr/>
          <p:nvPr/>
        </p:nvCxnSpPr>
        <p:spPr>
          <a:xfrm xmlns:a="http://schemas.openxmlformats.org/drawingml/2006/main" flipH="0" flipV="0">
            <a:off x="7683500" y="3671888"/>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2" name="Validate scope, create and write">
            <a:extLst xmlns:a="http://schemas.openxmlformats.org/drawingml/2006/main">
              <a:ext uri="{FF2B5EF4-FFF2-40B4-BE49-F238E27FC236}">
                <a16:creationId xmlns:a16="http://schemas.microsoft.com/office/drawing/2014/main" id="{AEDC271C-D220-48C6-B1A0-EED25D1D2B15}"/>
              </a:ext>
            </a:extLst>
          </p:cNvPr>
          <p:cNvSpPr>
            <a:spLocks xmlns:a="http://schemas.openxmlformats.org/drawingml/2006/main" noGrp="1"/>
          </p:cNvSpPr>
          <p:nvPr/>
        </p:nvSpPr>
        <p:spPr>
          <a:xfrm xmlns:a="http://schemas.openxmlformats.org/drawingml/2006/main">
            <a:off x="7807325" y="3395663"/>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Validate scope, create and write</a:t>
            </a:r>
          </a:p>
        </p:txBody>
      </p:sp>
      <p:cxnSp>
        <p:nvCxnSpPr>
          <p:cNvPr id="23" name="">
            <a:extLst xmlns:a="http://schemas.openxmlformats.org/drawingml/2006/main">
              <a:ext uri="{FF2B5EF4-FFF2-40B4-BE49-F238E27FC236}">
                <a16:creationId xmlns:a16="http://schemas.microsoft.com/office/drawing/2014/main" id="{C1E050A6-6CEE-4B7C-A420-522237DBD3F7}"/>
              </a:ext>
            </a:extLst>
          </p:cNvPr>
          <p:cNvCxnSpPr/>
          <p:nvPr/>
        </p:nvCxnSpPr>
        <p:spPr>
          <a:xfrm xmlns:a="http://schemas.openxmlformats.org/drawingml/2006/main" flipH="1" flipV="0">
            <a:off x="7683500" y="3993356"/>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4" name="Status + bytes written">
            <a:extLst xmlns:a="http://schemas.openxmlformats.org/drawingml/2006/main">
              <a:ext uri="{FF2B5EF4-FFF2-40B4-BE49-F238E27FC236}">
                <a16:creationId xmlns:a16="http://schemas.microsoft.com/office/drawing/2014/main" id="{B93714B5-E47A-4489-85B7-43C6AAF7A83C}"/>
              </a:ext>
            </a:extLst>
          </p:cNvPr>
          <p:cNvSpPr>
            <a:spLocks xmlns:a="http://schemas.openxmlformats.org/drawingml/2006/main" noGrp="1"/>
          </p:cNvSpPr>
          <p:nvPr/>
        </p:nvSpPr>
        <p:spPr>
          <a:xfrm xmlns:a="http://schemas.openxmlformats.org/drawingml/2006/main">
            <a:off x="7807325" y="3717131"/>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Status + bytes written</a:t>
            </a:r>
          </a:p>
        </p:txBody>
      </p:sp>
      <p:cxnSp>
        <p:nvCxnSpPr>
          <p:cNvPr id="25" name="">
            <a:extLst xmlns:a="http://schemas.openxmlformats.org/drawingml/2006/main">
              <a:ext uri="{FF2B5EF4-FFF2-40B4-BE49-F238E27FC236}">
                <a16:creationId xmlns:a16="http://schemas.microsoft.com/office/drawing/2014/main" id="{1CB16F4E-ECBE-45B7-993E-F378253837DA}"/>
              </a:ext>
            </a:extLst>
          </p:cNvPr>
          <p:cNvCxnSpPr/>
          <p:nvPr/>
        </p:nvCxnSpPr>
        <p:spPr>
          <a:xfrm xmlns:a="http://schemas.openxmlformats.org/drawingml/2006/main" flipH="0" flipV="0">
            <a:off x="7683500" y="4314825"/>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6" name="Read back saved content">
            <a:extLst xmlns:a="http://schemas.openxmlformats.org/drawingml/2006/main">
              <a:ext uri="{FF2B5EF4-FFF2-40B4-BE49-F238E27FC236}">
                <a16:creationId xmlns:a16="http://schemas.microsoft.com/office/drawing/2014/main" id="{F14DF163-5BAD-4F37-8C84-B818EF36641D}"/>
              </a:ext>
            </a:extLst>
          </p:cNvPr>
          <p:cNvSpPr>
            <a:spLocks xmlns:a="http://schemas.openxmlformats.org/drawingml/2006/main" noGrp="1"/>
          </p:cNvSpPr>
          <p:nvPr/>
        </p:nvSpPr>
        <p:spPr>
          <a:xfrm xmlns:a="http://schemas.openxmlformats.org/drawingml/2006/main">
            <a:off x="7807325" y="4038600"/>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Read back saved content</a:t>
            </a:r>
          </a:p>
        </p:txBody>
      </p:sp>
      <p:cxnSp>
        <p:nvCxnSpPr>
          <p:cNvPr id="27" name="">
            <a:extLst xmlns:a="http://schemas.openxmlformats.org/drawingml/2006/main">
              <a:ext uri="{FF2B5EF4-FFF2-40B4-BE49-F238E27FC236}">
                <a16:creationId xmlns:a16="http://schemas.microsoft.com/office/drawing/2014/main" id="{26B74422-329B-4201-BEA9-A6564691F668}"/>
              </a:ext>
            </a:extLst>
          </p:cNvPr>
          <p:cNvCxnSpPr/>
          <p:nvPr/>
        </p:nvCxnSpPr>
        <p:spPr>
          <a:xfrm xmlns:a="http://schemas.openxmlformats.org/drawingml/2006/main" flipH="1" flipV="0">
            <a:off x="7683500" y="4636294"/>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8" name="Return saved bytes">
            <a:extLst xmlns:a="http://schemas.openxmlformats.org/drawingml/2006/main">
              <a:ext uri="{FF2B5EF4-FFF2-40B4-BE49-F238E27FC236}">
                <a16:creationId xmlns:a16="http://schemas.microsoft.com/office/drawing/2014/main" id="{78E7888C-545D-4A8D-84D3-93BC58044F89}"/>
              </a:ext>
            </a:extLst>
          </p:cNvPr>
          <p:cNvSpPr>
            <a:spLocks xmlns:a="http://schemas.openxmlformats.org/drawingml/2006/main" noGrp="1"/>
          </p:cNvSpPr>
          <p:nvPr/>
        </p:nvSpPr>
        <p:spPr>
          <a:xfrm xmlns:a="http://schemas.openxmlformats.org/drawingml/2006/main">
            <a:off x="7807325" y="4360069"/>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Return saved bytes</a:t>
            </a:r>
          </a:p>
        </p:txBody>
      </p:sp>
      <p:cxnSp>
        <p:nvCxnSpPr>
          <p:cNvPr id="29" name="">
            <a:extLst xmlns:a="http://schemas.openxmlformats.org/drawingml/2006/main">
              <a:ext uri="{FF2B5EF4-FFF2-40B4-BE49-F238E27FC236}">
                <a16:creationId xmlns:a16="http://schemas.microsoft.com/office/drawing/2014/main" id="{61449DF0-6F29-4D37-A0DF-7B308697F5C8}"/>
              </a:ext>
            </a:extLst>
          </p:cNvPr>
          <p:cNvCxnSpPr/>
          <p:nvPr/>
        </p:nvCxnSpPr>
        <p:spPr>
          <a:xfrm xmlns:a="http://schemas.openxmlformats.org/drawingml/2006/main" flipH="1" flipV="0">
            <a:off x="4508500" y="4957763"/>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30" name="Verified tool result">
            <a:extLst xmlns:a="http://schemas.openxmlformats.org/drawingml/2006/main">
              <a:ext uri="{FF2B5EF4-FFF2-40B4-BE49-F238E27FC236}">
                <a16:creationId xmlns:a16="http://schemas.microsoft.com/office/drawing/2014/main" id="{D6C36ECB-9EC2-4953-9E09-284A6F1B10F6}"/>
              </a:ext>
            </a:extLst>
          </p:cNvPr>
          <p:cNvSpPr>
            <a:spLocks xmlns:a="http://schemas.openxmlformats.org/drawingml/2006/main" noGrp="1"/>
          </p:cNvSpPr>
          <p:nvPr/>
        </p:nvSpPr>
        <p:spPr>
          <a:xfrm xmlns:a="http://schemas.openxmlformats.org/drawingml/2006/main">
            <a:off x="4632325" y="4681538"/>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Verified tool result</a:t>
            </a:r>
          </a:p>
        </p:txBody>
      </p:sp>
      <p:cxnSp>
        <p:nvCxnSpPr>
          <p:cNvPr id="31" name="">
            <a:extLst xmlns:a="http://schemas.openxmlformats.org/drawingml/2006/main">
              <a:ext uri="{FF2B5EF4-FFF2-40B4-BE49-F238E27FC236}">
                <a16:creationId xmlns:a16="http://schemas.microsoft.com/office/drawing/2014/main" id="{C95C6BC3-4CB1-4B36-9628-ECB45A97ABCB}"/>
              </a:ext>
            </a:extLst>
          </p:cNvPr>
          <p:cNvCxnSpPr/>
          <p:nvPr/>
        </p:nvCxnSpPr>
        <p:spPr>
          <a:xfrm xmlns:a="http://schemas.openxmlformats.org/drawingml/2006/main" flipH="1" flipV="0">
            <a:off x="1333500" y="5279231"/>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32" name="File created">
            <a:extLst xmlns:a="http://schemas.openxmlformats.org/drawingml/2006/main">
              <a:ext uri="{FF2B5EF4-FFF2-40B4-BE49-F238E27FC236}">
                <a16:creationId xmlns:a16="http://schemas.microsoft.com/office/drawing/2014/main" id="{60D1B36D-6EEF-4F8F-BC89-9A05868E680C}"/>
              </a:ext>
            </a:extLst>
          </p:cNvPr>
          <p:cNvSpPr>
            <a:spLocks xmlns:a="http://schemas.openxmlformats.org/drawingml/2006/main" noGrp="1"/>
          </p:cNvSpPr>
          <p:nvPr/>
        </p:nvSpPr>
        <p:spPr>
          <a:xfrm xmlns:a="http://schemas.openxmlformats.org/drawingml/2006/main">
            <a:off x="1457325" y="5003006"/>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File created</a:t>
            </a:r>
          </a:p>
        </p:txBody>
      </p:sp>
      <p:sp>
        <p:nvSpPr>
          <p:cNvPr id="33" name="A successful model response alone does not p">
            <a:extLst xmlns:a="http://schemas.openxmlformats.org/drawingml/2006/main">
              <a:ext uri="{FF2B5EF4-FFF2-40B4-BE49-F238E27FC236}">
                <a16:creationId xmlns:a16="http://schemas.microsoft.com/office/drawing/2014/main" id="{8E468A0D-F588-404B-97F4-C16E13A114D9}"/>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A successful model response alone does not prove a filesystem change.</a:t>
            </a:r>
          </a:p>
        </p:txBody>
      </p:sp>
    </p:spTree>
    <p:extLst>
      <p:ext uri="{BB962C8B-B14F-4D97-AF65-F5344CB8AC3E}">
        <p14:creationId xmlns:p14="http://schemas.microsoft.com/office/powerpoint/2010/main" val="1798707382"/>
      </p:ext>
    </p:extLst>
  </p:cSld>
</p:sld>
</file>

<file path=ppt/slides/slide29.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7" name="AGENT ARCHITECTURE">
            <a:extLst xmlns:a="http://schemas.openxmlformats.org/drawingml/2006/main">
              <a:ext uri="{FF2B5EF4-FFF2-40B4-BE49-F238E27FC236}">
                <a16:creationId xmlns:a16="http://schemas.microsoft.com/office/drawing/2014/main" id="{701E36FB-4585-4BF8-8FFF-C84ABF077123}"/>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AGENT ARCHITECTURE</a:t>
            </a:r>
          </a:p>
        </p:txBody>
      </p:sp>
      <p:sp>
        <p:nvSpPr>
          <p:cNvPr id="2" name="Operation checks">
            <a:extLst xmlns:a="http://schemas.openxmlformats.org/drawingml/2006/main">
              <a:ext uri="{FF2B5EF4-FFF2-40B4-BE49-F238E27FC236}">
                <a16:creationId xmlns:a16="http://schemas.microsoft.com/office/drawing/2014/main" id="{35885E15-4F47-4822-95C2-26AB3ADD2752}"/>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Operation checks</a:t>
            </a:r>
          </a:p>
        </p:txBody>
      </p:sp>
      <p:sp>
        <p:nvSpPr>
          <p:cNvPr id="3" name="AGENTIC OS  /  MVP TECHNICAL WALKTHROUGH">
            <a:extLst xmlns:a="http://schemas.openxmlformats.org/drawingml/2006/main">
              <a:ext uri="{FF2B5EF4-FFF2-40B4-BE49-F238E27FC236}">
                <a16:creationId xmlns:a16="http://schemas.microsoft.com/office/drawing/2014/main" id="{74027F2B-C69C-4DB9-8492-6B7B0BF9DCAB}"/>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29">
            <a:extLst xmlns:a="http://schemas.openxmlformats.org/drawingml/2006/main">
              <a:ext uri="{FF2B5EF4-FFF2-40B4-BE49-F238E27FC236}">
                <a16:creationId xmlns:a16="http://schemas.microsoft.com/office/drawing/2014/main" id="{38C6DA98-B298-4BF9-98CB-40205345B22C}"/>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29</a:t>
            </a:r>
          </a:p>
        </p:txBody>
      </p:sp>
      <p:sp>
        <p:nvSpPr>
          <p:cNvPr id="5" name="">
            <a:extLst xmlns:a="http://schemas.openxmlformats.org/drawingml/2006/main">
              <a:ext uri="{FF2B5EF4-FFF2-40B4-BE49-F238E27FC236}">
                <a16:creationId xmlns:a16="http://schemas.microsoft.com/office/drawing/2014/main" id="{864073BE-0C71-4A4C-80AF-3AA3B6C2F96C}"/>
              </a:ext>
            </a:extLst>
          </p:cNvPr>
          <p:cNvSpPr>
            <a:spLocks xmlns:a="http://schemas.openxmlformats.org/drawingml/2006/main" noGrp="1"/>
          </p:cNvSpPr>
          <p:nvPr/>
        </p:nvSpPr>
        <p:spPr>
          <a:xfrm xmlns:a="http://schemas.openxmlformats.org/drawingml/2006/main">
            <a:off x="609600"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Tool&#10;allowlist">
            <a:extLst xmlns:a="http://schemas.openxmlformats.org/drawingml/2006/main">
              <a:ext uri="{FF2B5EF4-FFF2-40B4-BE49-F238E27FC236}">
                <a16:creationId xmlns:a16="http://schemas.microsoft.com/office/drawing/2014/main" id="{EB0D37B9-3BF3-450D-8F09-42C2CED79BF5}"/>
              </a:ext>
            </a:extLst>
          </p:cNvPr>
          <p:cNvSpPr>
            <a:spLocks xmlns:a="http://schemas.openxmlformats.org/drawingml/2006/main" noGrp="1"/>
          </p:cNvSpPr>
          <p:nvPr/>
        </p:nvSpPr>
        <p:spPr>
          <a:xfrm xmlns:a="http://schemas.openxmlformats.org/drawingml/2006/main">
            <a:off x="752475"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Tool</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allowlist</a:t>
            </a:r>
          </a:p>
        </p:txBody>
      </p:sp>
      <p:cxnSp>
        <p:nvCxnSpPr>
          <p:cNvPr id="7" name="">
            <a:extLst xmlns:a="http://schemas.openxmlformats.org/drawingml/2006/main">
              <a:ext uri="{FF2B5EF4-FFF2-40B4-BE49-F238E27FC236}">
                <a16:creationId xmlns:a16="http://schemas.microsoft.com/office/drawing/2014/main" id="{40F95130-4591-4800-A331-7645EBD3B556}"/>
              </a:ext>
            </a:extLst>
          </p:cNvPr>
          <p:cNvCxnSpPr/>
          <p:nvPr/>
        </p:nvCxnSpPr>
        <p:spPr>
          <a:xfrm xmlns:a="http://schemas.openxmlformats.org/drawingml/2006/main" flipH="0" flipV="0">
            <a:off x="3081338"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8" name="">
            <a:extLst xmlns:a="http://schemas.openxmlformats.org/drawingml/2006/main">
              <a:ext uri="{FF2B5EF4-FFF2-40B4-BE49-F238E27FC236}">
                <a16:creationId xmlns:a16="http://schemas.microsoft.com/office/drawing/2014/main" id="{24FF199E-6A92-4F53-B6C3-F76EAF1A904D}"/>
              </a:ext>
            </a:extLst>
          </p:cNvPr>
          <p:cNvSpPr>
            <a:spLocks xmlns:a="http://schemas.openxmlformats.org/drawingml/2006/main" noGrp="1"/>
          </p:cNvSpPr>
          <p:nvPr/>
        </p:nvSpPr>
        <p:spPr>
          <a:xfrm xmlns:a="http://schemas.openxmlformats.org/drawingml/2006/main">
            <a:off x="3443288"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Normalized&#10;path + scope">
            <a:extLst xmlns:a="http://schemas.openxmlformats.org/drawingml/2006/main">
              <a:ext uri="{FF2B5EF4-FFF2-40B4-BE49-F238E27FC236}">
                <a16:creationId xmlns:a16="http://schemas.microsoft.com/office/drawing/2014/main" id="{C3C390AF-09AD-4F8E-93B3-B12E01F2CED0}"/>
              </a:ext>
            </a:extLst>
          </p:cNvPr>
          <p:cNvSpPr>
            <a:spLocks xmlns:a="http://schemas.openxmlformats.org/drawingml/2006/main" noGrp="1"/>
          </p:cNvSpPr>
          <p:nvPr/>
        </p:nvSpPr>
        <p:spPr>
          <a:xfrm xmlns:a="http://schemas.openxmlformats.org/drawingml/2006/main">
            <a:off x="3586163"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Normalized</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path + scope</a:t>
            </a:r>
          </a:p>
        </p:txBody>
      </p:sp>
      <p:cxnSp>
        <p:nvCxnSpPr>
          <p:cNvPr id="10" name="">
            <a:extLst xmlns:a="http://schemas.openxmlformats.org/drawingml/2006/main">
              <a:ext uri="{FF2B5EF4-FFF2-40B4-BE49-F238E27FC236}">
                <a16:creationId xmlns:a16="http://schemas.microsoft.com/office/drawing/2014/main" id="{FFC6038A-0F35-47AF-9045-4AA435733E38}"/>
              </a:ext>
            </a:extLst>
          </p:cNvPr>
          <p:cNvCxnSpPr/>
          <p:nvPr/>
        </p:nvCxnSpPr>
        <p:spPr>
          <a:xfrm xmlns:a="http://schemas.openxmlformats.org/drawingml/2006/main" flipH="0" flipV="0">
            <a:off x="5915025"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1" name="">
            <a:extLst xmlns:a="http://schemas.openxmlformats.org/drawingml/2006/main">
              <a:ext uri="{FF2B5EF4-FFF2-40B4-BE49-F238E27FC236}">
                <a16:creationId xmlns:a16="http://schemas.microsoft.com/office/drawing/2014/main" id="{1B7C1C8E-1BA3-4E00-BFC4-40AF96C3ADD4}"/>
              </a:ext>
            </a:extLst>
          </p:cNvPr>
          <p:cNvSpPr>
            <a:spLocks xmlns:a="http://schemas.openxmlformats.org/drawingml/2006/main" noGrp="1"/>
          </p:cNvSpPr>
          <p:nvPr/>
        </p:nvSpPr>
        <p:spPr>
          <a:xfrm xmlns:a="http://schemas.openxmlformats.org/drawingml/2006/main">
            <a:off x="6276975"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Type + size&#10;validation">
            <a:extLst xmlns:a="http://schemas.openxmlformats.org/drawingml/2006/main">
              <a:ext uri="{FF2B5EF4-FFF2-40B4-BE49-F238E27FC236}">
                <a16:creationId xmlns:a16="http://schemas.microsoft.com/office/drawing/2014/main" id="{3A386577-1E65-4149-8F1A-FA8289D82CD3}"/>
              </a:ext>
            </a:extLst>
          </p:cNvPr>
          <p:cNvSpPr>
            <a:spLocks xmlns:a="http://schemas.openxmlformats.org/drawingml/2006/main" noGrp="1"/>
          </p:cNvSpPr>
          <p:nvPr/>
        </p:nvSpPr>
        <p:spPr>
          <a:xfrm xmlns:a="http://schemas.openxmlformats.org/drawingml/2006/main">
            <a:off x="6419850"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Type + size</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validation</a:t>
            </a:r>
          </a:p>
        </p:txBody>
      </p:sp>
      <p:cxnSp>
        <p:nvCxnSpPr>
          <p:cNvPr id="13" name="">
            <a:extLst xmlns:a="http://schemas.openxmlformats.org/drawingml/2006/main">
              <a:ext uri="{FF2B5EF4-FFF2-40B4-BE49-F238E27FC236}">
                <a16:creationId xmlns:a16="http://schemas.microsoft.com/office/drawing/2014/main" id="{72C3657D-1070-4760-88BC-B9E8680FFD26}"/>
              </a:ext>
            </a:extLst>
          </p:cNvPr>
          <p:cNvCxnSpPr/>
          <p:nvPr/>
        </p:nvCxnSpPr>
        <p:spPr>
          <a:xfrm xmlns:a="http://schemas.openxmlformats.org/drawingml/2006/main" flipH="0" flipV="0">
            <a:off x="8748713"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D68AFB8A-AE2C-4AEC-90CE-0D4A4B2A0D0B}"/>
              </a:ext>
            </a:extLst>
          </p:cNvPr>
          <p:cNvSpPr>
            <a:spLocks xmlns:a="http://schemas.openxmlformats.org/drawingml/2006/main" noGrp="1"/>
          </p:cNvSpPr>
          <p:nvPr/>
        </p:nvSpPr>
        <p:spPr>
          <a:xfrm xmlns:a="http://schemas.openxmlformats.org/drawingml/2006/main">
            <a:off x="9110663"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Execute +&#10;read back">
            <a:extLst xmlns:a="http://schemas.openxmlformats.org/drawingml/2006/main">
              <a:ext uri="{FF2B5EF4-FFF2-40B4-BE49-F238E27FC236}">
                <a16:creationId xmlns:a16="http://schemas.microsoft.com/office/drawing/2014/main" id="{C42801BD-674B-47B5-A4ED-91F35A486625}"/>
              </a:ext>
            </a:extLst>
          </p:cNvPr>
          <p:cNvSpPr>
            <a:spLocks xmlns:a="http://schemas.openxmlformats.org/drawingml/2006/main" noGrp="1"/>
          </p:cNvSpPr>
          <p:nvPr/>
        </p:nvSpPr>
        <p:spPr>
          <a:xfrm xmlns:a="http://schemas.openxmlformats.org/drawingml/2006/main">
            <a:off x="9253538"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Execute +</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read back</a:t>
            </a:r>
          </a:p>
        </p:txBody>
      </p:sp>
      <p:sp>
        <p:nvSpPr>
          <p:cNvPr id="16" name="Delete requests identify the exact path and ">
            <a:extLst xmlns:a="http://schemas.openxmlformats.org/drawingml/2006/main">
              <a:ext uri="{FF2B5EF4-FFF2-40B4-BE49-F238E27FC236}">
                <a16:creationId xmlns:a16="http://schemas.microsoft.com/office/drawing/2014/main" id="{07A11F4E-782C-4D9F-B920-3461B6553FA7}"/>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Delete requests identify the exact path and pass the configured confirmation rule.</a:t>
            </a:r>
          </a:p>
        </p:txBody>
      </p:sp>
    </p:spTree>
    <p:extLst>
      <p:ext uri="{BB962C8B-B14F-4D97-AF65-F5344CB8AC3E}">
        <p14:creationId xmlns:p14="http://schemas.microsoft.com/office/powerpoint/2010/main" val="187711170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GENT ARCHITECTURE">
            <a:extLst xmlns:a="http://schemas.openxmlformats.org/drawingml/2006/main">
              <a:ext uri="{FF2B5EF4-FFF2-40B4-BE49-F238E27FC236}">
                <a16:creationId xmlns:a16="http://schemas.microsoft.com/office/drawing/2014/main" id="{DCD287EE-545A-46B7-9C3E-7AF25B0FD846}"/>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7D43D5"/>
                </a:solidFill>
                <a:latin typeface="Arial"/>
                <a:ea typeface="Arial"/>
                <a:cs typeface="Arial"/>
              </a:defRPr>
            </a:defPPr>
          </a:lstStyle>
          <a:p xmlns:a="http://schemas.openxmlformats.org/drawingml/2006/main">
            <a:pPr algn="l">
              <a:defRPr sz="1200" b="1">
                <a:solidFill>
                  <a:srgbClr val="7D43D5"/>
                </a:solidFill>
                <a:latin typeface="Arial"/>
                <a:ea typeface="Arial"/>
                <a:cs typeface="Arial"/>
              </a:defRPr>
            </a:pPr>
            <a:r>
              <a:rPr sz="1200" b="1">
                <a:solidFill>
                  <a:srgbClr val="7D43D5"/>
                </a:solidFill>
                <a:latin typeface="Arial"/>
                <a:ea typeface="Arial"/>
                <a:cs typeface="Arial"/>
              </a:rPr>
              <a:t>AGENT ARCHITECTURE</a:t>
            </a:r>
          </a:p>
        </p:txBody>
      </p:sp>
      <p:sp>
        <p:nvSpPr>
          <p:cNvPr id="2" name="Failure and recovery behavior">
            <a:extLst xmlns:a="http://schemas.openxmlformats.org/drawingml/2006/main">
              <a:ext uri="{FF2B5EF4-FFF2-40B4-BE49-F238E27FC236}">
                <a16:creationId xmlns:a16="http://schemas.microsoft.com/office/drawing/2014/main" id="{CBCD14FC-9EF8-4080-BC66-391D43533F76}"/>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51139"/>
                </a:solidFill>
                <a:latin typeface="Arial"/>
                <a:ea typeface="Arial"/>
                <a:cs typeface="Arial"/>
              </a:defRPr>
            </a:defPPr>
          </a:lstStyle>
          <a:p xmlns:a="http://schemas.openxmlformats.org/drawingml/2006/main">
            <a:pPr algn="l">
              <a:defRPr sz="3300" b="1">
                <a:solidFill>
                  <a:srgbClr val="251139"/>
                </a:solidFill>
                <a:latin typeface="Arial"/>
                <a:ea typeface="Arial"/>
                <a:cs typeface="Arial"/>
              </a:defRPr>
            </a:pPr>
            <a:r>
              <a:rPr sz="3300" b="1">
                <a:solidFill>
                  <a:srgbClr val="251139"/>
                </a:solidFill>
                <a:latin typeface="Arial"/>
                <a:ea typeface="Arial"/>
                <a:cs typeface="Arial"/>
              </a:rPr>
              <a:t>Failure and recovery behavior</a:t>
            </a:r>
          </a:p>
        </p:txBody>
      </p:sp>
      <p:sp>
        <p:nvSpPr>
          <p:cNvPr id="3" name="AGENTIC OS  /  MVP TECHNICAL WALKTHROUGH">
            <a:extLst xmlns:a="http://schemas.openxmlformats.org/drawingml/2006/main">
              <a:ext uri="{FF2B5EF4-FFF2-40B4-BE49-F238E27FC236}">
                <a16:creationId xmlns:a16="http://schemas.microsoft.com/office/drawing/2014/main" id="{CA39D985-5695-4473-BFC0-09F8B520986E}"/>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7D43D5"/>
                </a:solidFill>
                <a:latin typeface="Arial"/>
                <a:ea typeface="Arial"/>
                <a:cs typeface="Arial"/>
              </a:defRPr>
            </a:defPPr>
          </a:lstStyle>
          <a:p xmlns:a="http://schemas.openxmlformats.org/drawingml/2006/main">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30">
            <a:extLst xmlns:a="http://schemas.openxmlformats.org/drawingml/2006/main">
              <a:ext uri="{FF2B5EF4-FFF2-40B4-BE49-F238E27FC236}">
                <a16:creationId xmlns:a16="http://schemas.microsoft.com/office/drawing/2014/main" id="{AA3B3295-B761-44A2-8A50-A0A8580C0B28}"/>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7D43D5"/>
                </a:solidFill>
                <a:latin typeface="Arial"/>
                <a:ea typeface="Arial"/>
                <a:cs typeface="Arial"/>
              </a:defRPr>
            </a:defPPr>
          </a:lstStyle>
          <a:p xmlns:a="http://schemas.openxmlformats.org/drawingml/2006/main">
            <a:pPr algn="r">
              <a:defRPr sz="1275" b="0">
                <a:solidFill>
                  <a:srgbClr val="7D43D5"/>
                </a:solidFill>
                <a:latin typeface="Arial"/>
                <a:ea typeface="Arial"/>
                <a:cs typeface="Arial"/>
              </a:defRPr>
            </a:pPr>
            <a:r>
              <a:rPr sz="1275" b="0">
                <a:solidFill>
                  <a:srgbClr val="7D43D5"/>
                </a:solidFill>
                <a:latin typeface="Arial"/>
                <a:ea typeface="Arial"/>
                <a:cs typeface="Arial"/>
              </a:rPr>
              <a:t>30</a:t>
            </a:r>
          </a:p>
        </p:txBody>
      </p:sp>
      <p:sp>
        <p:nvSpPr>
          <p:cNvPr id="5" name="Initial model timeout">
            <a:extLst xmlns:a="http://schemas.openxmlformats.org/drawingml/2006/main">
              <a:ext uri="{FF2B5EF4-FFF2-40B4-BE49-F238E27FC236}">
                <a16:creationId xmlns:a16="http://schemas.microsoft.com/office/drawing/2014/main" id="{3960D4F9-9EE9-4351-9761-E0167CD75E68}"/>
              </a:ext>
            </a:extLst>
          </p:cNvPr>
          <p:cNvSpPr>
            <a:spLocks xmlns:a="http://schemas.openxmlformats.org/drawingml/2006/main" noGrp="1"/>
          </p:cNvSpPr>
          <p:nvPr/>
        </p:nvSpPr>
        <p:spPr>
          <a:xfrm xmlns:a="http://schemas.openxmlformats.org/drawingml/2006/main">
            <a:off x="609600" y="19716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Initial model timeout</a:t>
            </a:r>
          </a:p>
        </p:txBody>
      </p:sp>
      <p:sp>
        <p:nvSpPr>
          <p:cNvPr id="6" name="Report the failure before any file operation">
            <a:extLst xmlns:a="http://schemas.openxmlformats.org/drawingml/2006/main">
              <a:ext uri="{FF2B5EF4-FFF2-40B4-BE49-F238E27FC236}">
                <a16:creationId xmlns:a16="http://schemas.microsoft.com/office/drawing/2014/main" id="{652F3FAD-43BC-4B94-96FF-DC54A9D1CFA9}"/>
              </a:ext>
            </a:extLst>
          </p:cNvPr>
          <p:cNvSpPr>
            <a:spLocks xmlns:a="http://schemas.openxmlformats.org/drawingml/2006/main" noGrp="1"/>
          </p:cNvSpPr>
          <p:nvPr/>
        </p:nvSpPr>
        <p:spPr>
          <a:xfrm xmlns:a="http://schemas.openxmlformats.org/drawingml/2006/main">
            <a:off x="3943350" y="19716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Report the failure before any file operation</a:t>
            </a:r>
          </a:p>
        </p:txBody>
      </p:sp>
      <p:sp>
        <p:nvSpPr>
          <p:cNvPr id="7" name="Invalid tool call">
            <a:extLst xmlns:a="http://schemas.openxmlformats.org/drawingml/2006/main">
              <a:ext uri="{FF2B5EF4-FFF2-40B4-BE49-F238E27FC236}">
                <a16:creationId xmlns:a16="http://schemas.microsoft.com/office/drawing/2014/main" id="{696A5508-A1B2-4BBF-A359-43CF57086FE0}"/>
              </a:ext>
            </a:extLst>
          </p:cNvPr>
          <p:cNvSpPr>
            <a:spLocks xmlns:a="http://schemas.openxmlformats.org/drawingml/2006/main" noGrp="1"/>
          </p:cNvSpPr>
          <p:nvPr/>
        </p:nvSpPr>
        <p:spPr>
          <a:xfrm xmlns:a="http://schemas.openxmlformats.org/drawingml/2006/main">
            <a:off x="609600" y="28860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Invalid tool call</a:t>
            </a:r>
          </a:p>
        </p:txBody>
      </p:sp>
      <p:sp>
        <p:nvSpPr>
          <p:cNvPr id="8" name="Reject unknown tools or malformed arguments">
            <a:extLst xmlns:a="http://schemas.openxmlformats.org/drawingml/2006/main">
              <a:ext uri="{FF2B5EF4-FFF2-40B4-BE49-F238E27FC236}">
                <a16:creationId xmlns:a16="http://schemas.microsoft.com/office/drawing/2014/main" id="{00AD0063-3428-4873-8F6E-CF66CFC47C11}"/>
              </a:ext>
            </a:extLst>
          </p:cNvPr>
          <p:cNvSpPr>
            <a:spLocks xmlns:a="http://schemas.openxmlformats.org/drawingml/2006/main" noGrp="1"/>
          </p:cNvSpPr>
          <p:nvPr/>
        </p:nvSpPr>
        <p:spPr>
          <a:xfrm xmlns:a="http://schemas.openxmlformats.org/drawingml/2006/main">
            <a:off x="3943350" y="28860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Reject unknown tools or malformed arguments</a:t>
            </a:r>
          </a:p>
        </p:txBody>
      </p:sp>
      <p:sp>
        <p:nvSpPr>
          <p:cNvPr id="9" name="Lost write response">
            <a:extLst xmlns:a="http://schemas.openxmlformats.org/drawingml/2006/main">
              <a:ext uri="{FF2B5EF4-FFF2-40B4-BE49-F238E27FC236}">
                <a16:creationId xmlns:a16="http://schemas.microsoft.com/office/drawing/2014/main" id="{F8E2AA54-9ED7-4D5B-9C6B-6271124D306E}"/>
              </a:ext>
            </a:extLst>
          </p:cNvPr>
          <p:cNvSpPr>
            <a:spLocks xmlns:a="http://schemas.openxmlformats.org/drawingml/2006/main" noGrp="1"/>
          </p:cNvSpPr>
          <p:nvPr/>
        </p:nvSpPr>
        <p:spPr>
          <a:xfrm xmlns:a="http://schemas.openxmlformats.org/drawingml/2006/main">
            <a:off x="609600" y="38004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Lost write response</a:t>
            </a:r>
          </a:p>
        </p:txBody>
      </p:sp>
      <p:sp>
        <p:nvSpPr>
          <p:cNvPr id="10" name="Inspect file state before repeating the oper">
            <a:extLst xmlns:a="http://schemas.openxmlformats.org/drawingml/2006/main">
              <a:ext uri="{FF2B5EF4-FFF2-40B4-BE49-F238E27FC236}">
                <a16:creationId xmlns:a16="http://schemas.microsoft.com/office/drawing/2014/main" id="{D074D630-4D63-4B34-9F32-CBAD2BCEBF8B}"/>
              </a:ext>
            </a:extLst>
          </p:cNvPr>
          <p:cNvSpPr>
            <a:spLocks xmlns:a="http://schemas.openxmlformats.org/drawingml/2006/main" noGrp="1"/>
          </p:cNvSpPr>
          <p:nvPr/>
        </p:nvSpPr>
        <p:spPr>
          <a:xfrm xmlns:a="http://schemas.openxmlformats.org/drawingml/2006/main">
            <a:off x="3943350" y="38004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Inspect file state before repeating the operation</a:t>
            </a:r>
          </a:p>
        </p:txBody>
      </p:sp>
      <p:sp>
        <p:nvSpPr>
          <p:cNvPr id="11" name="Missing file">
            <a:extLst xmlns:a="http://schemas.openxmlformats.org/drawingml/2006/main">
              <a:ext uri="{FF2B5EF4-FFF2-40B4-BE49-F238E27FC236}">
                <a16:creationId xmlns:a16="http://schemas.microsoft.com/office/drawing/2014/main" id="{98F4CA69-34CB-4CC6-AF57-A25D6978BF95}"/>
              </a:ext>
            </a:extLst>
          </p:cNvPr>
          <p:cNvSpPr>
            <a:spLocks xmlns:a="http://schemas.openxmlformats.org/drawingml/2006/main" noGrp="1"/>
          </p:cNvSpPr>
          <p:nvPr/>
        </p:nvSpPr>
        <p:spPr>
          <a:xfrm xmlns:a="http://schemas.openxmlformats.org/drawingml/2006/main">
            <a:off x="609600" y="47148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Missing file</a:t>
            </a:r>
          </a:p>
        </p:txBody>
      </p:sp>
      <p:sp>
        <p:nvSpPr>
          <p:cNvPr id="12" name="Return a filesystem error with the affected ">
            <a:extLst xmlns:a="http://schemas.openxmlformats.org/drawingml/2006/main">
              <a:ext uri="{FF2B5EF4-FFF2-40B4-BE49-F238E27FC236}">
                <a16:creationId xmlns:a16="http://schemas.microsoft.com/office/drawing/2014/main" id="{4E9FB632-0419-4D89-92E7-80E27A94339D}"/>
              </a:ext>
            </a:extLst>
          </p:cNvPr>
          <p:cNvSpPr>
            <a:spLocks xmlns:a="http://schemas.openxmlformats.org/drawingml/2006/main" noGrp="1"/>
          </p:cNvSpPr>
          <p:nvPr/>
        </p:nvSpPr>
        <p:spPr>
          <a:xfrm xmlns:a="http://schemas.openxmlformats.org/drawingml/2006/main">
            <a:off x="3943350" y="47148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Return a filesystem error with the affected path</a:t>
            </a:r>
          </a:p>
        </p:txBody>
      </p:sp>
    </p:spTree>
    <p:extLst>
      <p:ext uri="{BB962C8B-B14F-4D97-AF65-F5344CB8AC3E}">
        <p14:creationId xmlns:p14="http://schemas.microsoft.com/office/powerpoint/2010/main" val="59039246"/>
      </p:ext>
    </p:extLst>
  </p:cSld>
</p:sld>
</file>

<file path=ppt/slides/slide31.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2" name="BUILD &amp; RUN">
            <a:extLst xmlns:a="http://schemas.openxmlformats.org/drawingml/2006/main">
              <a:ext uri="{FF2B5EF4-FFF2-40B4-BE49-F238E27FC236}">
                <a16:creationId xmlns:a16="http://schemas.microsoft.com/office/drawing/2014/main" id="{7F24A1EB-13CF-41B0-B232-9AEC620B53AE}"/>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BUILD &amp; RUN</a:t>
            </a:r>
          </a:p>
        </p:txBody>
      </p:sp>
      <p:sp>
        <p:nvSpPr>
          <p:cNvPr id="2" name="Run environment">
            <a:extLst xmlns:a="http://schemas.openxmlformats.org/drawingml/2006/main">
              <a:ext uri="{FF2B5EF4-FFF2-40B4-BE49-F238E27FC236}">
                <a16:creationId xmlns:a16="http://schemas.microsoft.com/office/drawing/2014/main" id="{4A60C839-92E3-406F-9F0D-88E7FBF2DD44}"/>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Run environment</a:t>
            </a:r>
          </a:p>
        </p:txBody>
      </p:sp>
      <p:sp>
        <p:nvSpPr>
          <p:cNvPr id="3" name="AGENTIC OS  /  MVP TECHNICAL WALKTHROUGH">
            <a:extLst xmlns:a="http://schemas.openxmlformats.org/drawingml/2006/main">
              <a:ext uri="{FF2B5EF4-FFF2-40B4-BE49-F238E27FC236}">
                <a16:creationId xmlns:a16="http://schemas.microsoft.com/office/drawing/2014/main" id="{F8E78A4D-31A7-4957-973E-A49E622C94B8}"/>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31">
            <a:extLst xmlns:a="http://schemas.openxmlformats.org/drawingml/2006/main">
              <a:ext uri="{FF2B5EF4-FFF2-40B4-BE49-F238E27FC236}">
                <a16:creationId xmlns:a16="http://schemas.microsoft.com/office/drawing/2014/main" id="{104A2625-50F5-4894-9923-19F85078BC5E}"/>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31</a:t>
            </a:r>
          </a:p>
        </p:txBody>
      </p:sp>
      <p:sp>
        <p:nvSpPr>
          <p:cNvPr id="5" name="Build machine">
            <a:extLst xmlns:a="http://schemas.openxmlformats.org/drawingml/2006/main">
              <a:ext uri="{FF2B5EF4-FFF2-40B4-BE49-F238E27FC236}">
                <a16:creationId xmlns:a16="http://schemas.microsoft.com/office/drawing/2014/main" id="{BCFE857F-8015-45A7-A951-3ECE29DCED98}"/>
              </a:ext>
            </a:extLst>
          </p:cNvPr>
          <p:cNvSpPr>
            <a:spLocks xmlns:a="http://schemas.openxmlformats.org/drawingml/2006/main" noGrp="1"/>
          </p:cNvSpPr>
          <p:nvPr/>
        </p:nvSpPr>
        <p:spPr>
          <a:xfrm xmlns:a="http://schemas.openxmlformats.org/drawingml/2006/main">
            <a:off x="609600" y="21526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BE98F6"/>
                </a:solidFill>
                <a:latin typeface="Arial"/>
                <a:ea typeface="Arial"/>
                <a:cs typeface="Arial"/>
              </a:defRPr>
            </a:defPPr>
          </a:lstStyle>
          <a:p xmlns:a="http://schemas.openxmlformats.org/drawingml/2006/main">
            <a:pPr algn="l">
              <a:defRPr sz="2100" b="1">
                <a:solidFill>
                  <a:srgbClr val="BE98F6"/>
                </a:solidFill>
                <a:latin typeface="Arial"/>
                <a:ea typeface="Arial"/>
                <a:cs typeface="Arial"/>
              </a:defRPr>
            </a:pPr>
            <a:r>
              <a:rPr sz="2100" b="1">
                <a:solidFill>
                  <a:srgbClr val="BE98F6"/>
                </a:solidFill>
                <a:latin typeface="Arial"/>
                <a:ea typeface="Arial"/>
                <a:cs typeface="Arial"/>
              </a:rPr>
              <a:t>Build machine</a:t>
            </a:r>
          </a:p>
        </p:txBody>
      </p:sp>
      <p:sp>
        <p:nvSpPr>
          <p:cNvPr id="6" name="Bash, NASM and i686-elf GCC/binutils">
            <a:extLst xmlns:a="http://schemas.openxmlformats.org/drawingml/2006/main">
              <a:ext uri="{FF2B5EF4-FFF2-40B4-BE49-F238E27FC236}">
                <a16:creationId xmlns:a16="http://schemas.microsoft.com/office/drawing/2014/main" id="{302A76CF-E44E-450F-A64E-635D5A350112}"/>
              </a:ext>
            </a:extLst>
          </p:cNvPr>
          <p:cNvSpPr>
            <a:spLocks xmlns:a="http://schemas.openxmlformats.org/drawingml/2006/main" noGrp="1"/>
          </p:cNvSpPr>
          <p:nvPr/>
        </p:nvSpPr>
        <p:spPr>
          <a:xfrm xmlns:a="http://schemas.openxmlformats.org/drawingml/2006/main">
            <a:off x="3943350" y="215265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Bash, NASM and i686-elf GCC/binutils</a:t>
            </a:r>
          </a:p>
        </p:txBody>
      </p:sp>
      <p:sp>
        <p:nvSpPr>
          <p:cNvPr id="7" name="Emulator">
            <a:extLst xmlns:a="http://schemas.openxmlformats.org/drawingml/2006/main">
              <a:ext uri="{FF2B5EF4-FFF2-40B4-BE49-F238E27FC236}">
                <a16:creationId xmlns:a16="http://schemas.microsoft.com/office/drawing/2014/main" id="{7B7FD123-CA7F-4382-8B24-80CFBDA04FB1}"/>
              </a:ext>
            </a:extLst>
          </p:cNvPr>
          <p:cNvSpPr>
            <a:spLocks xmlns:a="http://schemas.openxmlformats.org/drawingml/2006/main" noGrp="1"/>
          </p:cNvSpPr>
          <p:nvPr/>
        </p:nvSpPr>
        <p:spPr>
          <a:xfrm xmlns:a="http://schemas.openxmlformats.org/drawingml/2006/main">
            <a:off x="609600" y="32194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BE98F6"/>
                </a:solidFill>
                <a:latin typeface="Arial"/>
                <a:ea typeface="Arial"/>
                <a:cs typeface="Arial"/>
              </a:defRPr>
            </a:defPPr>
          </a:lstStyle>
          <a:p xmlns:a="http://schemas.openxmlformats.org/drawingml/2006/main">
            <a:pPr algn="l">
              <a:defRPr sz="2100" b="1">
                <a:solidFill>
                  <a:srgbClr val="BE98F6"/>
                </a:solidFill>
                <a:latin typeface="Arial"/>
                <a:ea typeface="Arial"/>
                <a:cs typeface="Arial"/>
              </a:defRPr>
            </a:pPr>
            <a:r>
              <a:rPr sz="2100" b="1">
                <a:solidFill>
                  <a:srgbClr val="BE98F6"/>
                </a:solidFill>
                <a:latin typeface="Arial"/>
                <a:ea typeface="Arial"/>
                <a:cs typeface="Arial"/>
              </a:rPr>
              <a:t>Emulator</a:t>
            </a:r>
          </a:p>
        </p:txBody>
      </p:sp>
      <p:sp>
        <p:nvSpPr>
          <p:cNvPr id="8" name="Bochs with BIOS, VGA BIOS and NE2000 support">
            <a:extLst xmlns:a="http://schemas.openxmlformats.org/drawingml/2006/main">
              <a:ext uri="{FF2B5EF4-FFF2-40B4-BE49-F238E27FC236}">
                <a16:creationId xmlns:a16="http://schemas.microsoft.com/office/drawing/2014/main" id="{CFD0FE96-9DCC-4675-9F51-12847D805C19}"/>
              </a:ext>
            </a:extLst>
          </p:cNvPr>
          <p:cNvSpPr>
            <a:spLocks xmlns:a="http://schemas.openxmlformats.org/drawingml/2006/main" noGrp="1"/>
          </p:cNvSpPr>
          <p:nvPr/>
        </p:nvSpPr>
        <p:spPr>
          <a:xfrm xmlns:a="http://schemas.openxmlformats.org/drawingml/2006/main">
            <a:off x="3943350" y="321945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Bochs with BIOS, VGA BIOS and NE2000 support</a:t>
            </a:r>
          </a:p>
        </p:txBody>
      </p:sp>
      <p:sp>
        <p:nvSpPr>
          <p:cNvPr id="9" name="Host utilities">
            <a:extLst xmlns:a="http://schemas.openxmlformats.org/drawingml/2006/main">
              <a:ext uri="{FF2B5EF4-FFF2-40B4-BE49-F238E27FC236}">
                <a16:creationId xmlns:a16="http://schemas.microsoft.com/office/drawing/2014/main" id="{DB26483B-CF31-4E25-A098-974C0B6D6C3B}"/>
              </a:ext>
            </a:extLst>
          </p:cNvPr>
          <p:cNvSpPr>
            <a:spLocks xmlns:a="http://schemas.openxmlformats.org/drawingml/2006/main" noGrp="1"/>
          </p:cNvSpPr>
          <p:nvPr/>
        </p:nvSpPr>
        <p:spPr>
          <a:xfrm xmlns:a="http://schemas.openxmlformats.org/drawingml/2006/main">
            <a:off x="609600" y="42862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BE98F6"/>
                </a:solidFill>
                <a:latin typeface="Arial"/>
                <a:ea typeface="Arial"/>
                <a:cs typeface="Arial"/>
              </a:defRPr>
            </a:defPPr>
          </a:lstStyle>
          <a:p xmlns:a="http://schemas.openxmlformats.org/drawingml/2006/main">
            <a:pPr algn="l">
              <a:defRPr sz="2100" b="1">
                <a:solidFill>
                  <a:srgbClr val="BE98F6"/>
                </a:solidFill>
                <a:latin typeface="Arial"/>
                <a:ea typeface="Arial"/>
                <a:cs typeface="Arial"/>
              </a:defRPr>
            </a:pPr>
            <a:r>
              <a:rPr sz="2100" b="1">
                <a:solidFill>
                  <a:srgbClr val="BE98F6"/>
                </a:solidFill>
                <a:latin typeface="Arial"/>
                <a:ea typeface="Arial"/>
                <a:cs typeface="Arial"/>
              </a:rPr>
              <a:t>Host utilities</a:t>
            </a:r>
          </a:p>
        </p:txBody>
      </p:sp>
      <p:sp>
        <p:nvSpPr>
          <p:cNvPr id="10" name="Python 3 for host_tools.tcp_ping">
            <a:extLst xmlns:a="http://schemas.openxmlformats.org/drawingml/2006/main">
              <a:ext uri="{FF2B5EF4-FFF2-40B4-BE49-F238E27FC236}">
                <a16:creationId xmlns:a16="http://schemas.microsoft.com/office/drawing/2014/main" id="{07A2AE00-5D92-4ADD-A3AC-C2CCBDDC8768}"/>
              </a:ext>
            </a:extLst>
          </p:cNvPr>
          <p:cNvSpPr>
            <a:spLocks xmlns:a="http://schemas.openxmlformats.org/drawingml/2006/main" noGrp="1"/>
          </p:cNvSpPr>
          <p:nvPr/>
        </p:nvSpPr>
        <p:spPr>
          <a:xfrm xmlns:a="http://schemas.openxmlformats.org/drawingml/2006/main">
            <a:off x="3943350" y="428625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Python 3 for host_tools.tcp_ping</a:t>
            </a:r>
          </a:p>
        </p:txBody>
      </p:sp>
      <p:sp>
        <p:nvSpPr>
          <p:cNvPr id="11" name="Run build commands from the repository root.">
            <a:extLst xmlns:a="http://schemas.openxmlformats.org/drawingml/2006/main">
              <a:ext uri="{FF2B5EF4-FFF2-40B4-BE49-F238E27FC236}">
                <a16:creationId xmlns:a16="http://schemas.microsoft.com/office/drawing/2014/main" id="{5B3FCAC4-58A4-424C-A26E-1F784F2D6AE7}"/>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Run build commands from the repository root.</a:t>
            </a:r>
          </a:p>
        </p:txBody>
      </p:sp>
    </p:spTree>
    <p:extLst>
      <p:ext uri="{BB962C8B-B14F-4D97-AF65-F5344CB8AC3E}">
        <p14:creationId xmlns:p14="http://schemas.microsoft.com/office/powerpoint/2010/main" val="133385939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BUILD &amp; RUN">
            <a:extLst xmlns:a="http://schemas.openxmlformats.org/drawingml/2006/main">
              <a:ext uri="{FF2B5EF4-FFF2-40B4-BE49-F238E27FC236}">
                <a16:creationId xmlns:a16="http://schemas.microsoft.com/office/drawing/2014/main" id="{C524968F-E599-4230-AA3D-2FB180D15028}"/>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7D43D5"/>
                </a:solidFill>
                <a:latin typeface="Arial"/>
                <a:ea typeface="Arial"/>
                <a:cs typeface="Arial"/>
              </a:defRPr>
            </a:defPPr>
          </a:lstStyle>
          <a:p xmlns:a="http://schemas.openxmlformats.org/drawingml/2006/main">
            <a:pPr algn="l">
              <a:defRPr sz="1200" b="1">
                <a:solidFill>
                  <a:srgbClr val="7D43D5"/>
                </a:solidFill>
                <a:latin typeface="Arial"/>
                <a:ea typeface="Arial"/>
                <a:cs typeface="Arial"/>
              </a:defRPr>
            </a:pPr>
            <a:r>
              <a:rPr sz="1200" b="1">
                <a:solidFill>
                  <a:srgbClr val="7D43D5"/>
                </a:solidFill>
                <a:latin typeface="Arial"/>
                <a:ea typeface="Arial"/>
                <a:cs typeface="Arial"/>
              </a:rPr>
              <a:t>BUILD &amp; RUN</a:t>
            </a:r>
          </a:p>
        </p:txBody>
      </p:sp>
      <p:sp>
        <p:nvSpPr>
          <p:cNvPr id="2" name="Source and configuration preflight">
            <a:extLst xmlns:a="http://schemas.openxmlformats.org/drawingml/2006/main">
              <a:ext uri="{FF2B5EF4-FFF2-40B4-BE49-F238E27FC236}">
                <a16:creationId xmlns:a16="http://schemas.microsoft.com/office/drawing/2014/main" id="{89D5A4D0-30B8-4569-8D63-3D65EB1021B5}"/>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51139"/>
                </a:solidFill>
                <a:latin typeface="Arial"/>
                <a:ea typeface="Arial"/>
                <a:cs typeface="Arial"/>
              </a:defRPr>
            </a:defPPr>
          </a:lstStyle>
          <a:p xmlns:a="http://schemas.openxmlformats.org/drawingml/2006/main">
            <a:pPr algn="l">
              <a:defRPr sz="3300" b="1">
                <a:solidFill>
                  <a:srgbClr val="251139"/>
                </a:solidFill>
                <a:latin typeface="Arial"/>
                <a:ea typeface="Arial"/>
                <a:cs typeface="Arial"/>
              </a:defRPr>
            </a:pPr>
            <a:r>
              <a:rPr sz="3300" b="1">
                <a:solidFill>
                  <a:srgbClr val="251139"/>
                </a:solidFill>
                <a:latin typeface="Arial"/>
                <a:ea typeface="Arial"/>
                <a:cs typeface="Arial"/>
              </a:rPr>
              <a:t>Source and configuration preflight</a:t>
            </a:r>
          </a:p>
        </p:txBody>
      </p:sp>
      <p:sp>
        <p:nvSpPr>
          <p:cNvPr id="3" name="AGENTIC OS  /  MVP TECHNICAL WALKTHROUGH">
            <a:extLst xmlns:a="http://schemas.openxmlformats.org/drawingml/2006/main">
              <a:ext uri="{FF2B5EF4-FFF2-40B4-BE49-F238E27FC236}">
                <a16:creationId xmlns:a16="http://schemas.microsoft.com/office/drawing/2014/main" id="{91B4B988-9BDF-4A5D-BCFE-BCACE7BC099A}"/>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7D43D5"/>
                </a:solidFill>
                <a:latin typeface="Arial"/>
                <a:ea typeface="Arial"/>
                <a:cs typeface="Arial"/>
              </a:defRPr>
            </a:defPPr>
          </a:lstStyle>
          <a:p xmlns:a="http://schemas.openxmlformats.org/drawingml/2006/main">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32">
            <a:extLst xmlns:a="http://schemas.openxmlformats.org/drawingml/2006/main">
              <a:ext uri="{FF2B5EF4-FFF2-40B4-BE49-F238E27FC236}">
                <a16:creationId xmlns:a16="http://schemas.microsoft.com/office/drawing/2014/main" id="{86C125AD-D441-4AC5-B205-0B30701A017F}"/>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7D43D5"/>
                </a:solidFill>
                <a:latin typeface="Arial"/>
                <a:ea typeface="Arial"/>
                <a:cs typeface="Arial"/>
              </a:defRPr>
            </a:defPPr>
          </a:lstStyle>
          <a:p xmlns:a="http://schemas.openxmlformats.org/drawingml/2006/main">
            <a:pPr algn="r">
              <a:defRPr sz="1275" b="0">
                <a:solidFill>
                  <a:srgbClr val="7D43D5"/>
                </a:solidFill>
                <a:latin typeface="Arial"/>
                <a:ea typeface="Arial"/>
                <a:cs typeface="Arial"/>
              </a:defRPr>
            </a:pPr>
            <a:r>
              <a:rPr sz="1275" b="0">
                <a:solidFill>
                  <a:srgbClr val="7D43D5"/>
                </a:solidFill>
                <a:latin typeface="Arial"/>
                <a:ea typeface="Arial"/>
                <a:cs typeface="Arial"/>
              </a:rPr>
              <a:t>32</a:t>
            </a:r>
          </a:p>
        </p:txBody>
      </p:sp>
      <p:sp>
        <p:nvSpPr>
          <p:cNvPr id="5" name="Boot assembly">
            <a:extLst xmlns:a="http://schemas.openxmlformats.org/drawingml/2006/main">
              <a:ext uri="{FF2B5EF4-FFF2-40B4-BE49-F238E27FC236}">
                <a16:creationId xmlns:a16="http://schemas.microsoft.com/office/drawing/2014/main" id="{B679ED36-258C-4BEF-8A10-181B81C9324A}"/>
              </a:ext>
            </a:extLst>
          </p:cNvPr>
          <p:cNvSpPr>
            <a:spLocks xmlns:a="http://schemas.openxmlformats.org/drawingml/2006/main" noGrp="1"/>
          </p:cNvSpPr>
          <p:nvPr/>
        </p:nvSpPr>
        <p:spPr>
          <a:xfrm xmlns:a="http://schemas.openxmlformats.org/drawingml/2006/main">
            <a:off x="609600" y="19716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Boot assembly</a:t>
            </a:r>
          </a:p>
        </p:txBody>
      </p:sp>
      <p:sp>
        <p:nvSpPr>
          <p:cNvPr id="6" name="Correct “mo   v ds, ax” to “mov ds, ax”">
            <a:extLst xmlns:a="http://schemas.openxmlformats.org/drawingml/2006/main">
              <a:ext uri="{FF2B5EF4-FFF2-40B4-BE49-F238E27FC236}">
                <a16:creationId xmlns:a16="http://schemas.microsoft.com/office/drawing/2014/main" id="{54ED6114-75C7-4234-A455-6E00CD0C6126}"/>
              </a:ext>
            </a:extLst>
          </p:cNvPr>
          <p:cNvSpPr>
            <a:spLocks xmlns:a="http://schemas.openxmlformats.org/drawingml/2006/main" noGrp="1"/>
          </p:cNvSpPr>
          <p:nvPr/>
        </p:nvSpPr>
        <p:spPr>
          <a:xfrm xmlns:a="http://schemas.openxmlformats.org/drawingml/2006/main">
            <a:off x="3943350" y="19716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Correct “mo   v ds, ax” to “mov ds, ax”</a:t>
            </a:r>
          </a:p>
        </p:txBody>
      </p:sp>
      <p:sp>
        <p:nvSpPr>
          <p:cNvPr id="7" name="Disk image">
            <a:extLst xmlns:a="http://schemas.openxmlformats.org/drawingml/2006/main">
              <a:ext uri="{FF2B5EF4-FFF2-40B4-BE49-F238E27FC236}">
                <a16:creationId xmlns:a16="http://schemas.microsoft.com/office/drawing/2014/main" id="{21A94F51-87CB-45E0-857B-025CF1182291}"/>
              </a:ext>
            </a:extLst>
          </p:cNvPr>
          <p:cNvSpPr>
            <a:spLocks xmlns:a="http://schemas.openxmlformats.org/drawingml/2006/main" noGrp="1"/>
          </p:cNvSpPr>
          <p:nvPr/>
        </p:nvSpPr>
        <p:spPr>
          <a:xfrm xmlns:a="http://schemas.openxmlformats.org/drawingml/2006/main">
            <a:off x="609600" y="28860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Disk image</a:t>
            </a:r>
          </a:p>
        </p:txBody>
      </p:sp>
      <p:sp>
        <p:nvSpPr>
          <p:cNvPr id="8" name="Point ata0-master to this project’s boot.img">
            <a:extLst xmlns:a="http://schemas.openxmlformats.org/drawingml/2006/main">
              <a:ext uri="{FF2B5EF4-FFF2-40B4-BE49-F238E27FC236}">
                <a16:creationId xmlns:a16="http://schemas.microsoft.com/office/drawing/2014/main" id="{BA134580-21C7-4934-9AA7-A29AB1801BEC}"/>
              </a:ext>
            </a:extLst>
          </p:cNvPr>
          <p:cNvSpPr>
            <a:spLocks xmlns:a="http://schemas.openxmlformats.org/drawingml/2006/main" noGrp="1"/>
          </p:cNvSpPr>
          <p:nvPr/>
        </p:nvSpPr>
        <p:spPr>
          <a:xfrm xmlns:a="http://schemas.openxmlformats.org/drawingml/2006/main">
            <a:off x="3943350" y="28860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Point ata0-master to this project’s boot.img</a:t>
            </a:r>
          </a:p>
        </p:txBody>
      </p:sp>
      <p:sp>
        <p:nvSpPr>
          <p:cNvPr id="9" name="BIOS files">
            <a:extLst xmlns:a="http://schemas.openxmlformats.org/drawingml/2006/main">
              <a:ext uri="{FF2B5EF4-FFF2-40B4-BE49-F238E27FC236}">
                <a16:creationId xmlns:a16="http://schemas.microsoft.com/office/drawing/2014/main" id="{39B0523A-E0AA-427A-A7ED-40B42805CAE3}"/>
              </a:ext>
            </a:extLst>
          </p:cNvPr>
          <p:cNvSpPr>
            <a:spLocks xmlns:a="http://schemas.openxmlformats.org/drawingml/2006/main" noGrp="1"/>
          </p:cNvSpPr>
          <p:nvPr/>
        </p:nvSpPr>
        <p:spPr>
          <a:xfrm xmlns:a="http://schemas.openxmlformats.org/drawingml/2006/main">
            <a:off x="609600" y="38004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BIOS files</a:t>
            </a:r>
          </a:p>
        </p:txBody>
      </p:sp>
      <p:sp>
        <p:nvSpPr>
          <p:cNvPr id="10" name="Match romimage and vgaromimage to your insta">
            <a:extLst xmlns:a="http://schemas.openxmlformats.org/drawingml/2006/main">
              <a:ext uri="{FF2B5EF4-FFF2-40B4-BE49-F238E27FC236}">
                <a16:creationId xmlns:a16="http://schemas.microsoft.com/office/drawing/2014/main" id="{2BB14F0C-8742-46D6-B817-3F76C8915395}"/>
              </a:ext>
            </a:extLst>
          </p:cNvPr>
          <p:cNvSpPr>
            <a:spLocks xmlns:a="http://schemas.openxmlformats.org/drawingml/2006/main" noGrp="1"/>
          </p:cNvSpPr>
          <p:nvPr/>
        </p:nvSpPr>
        <p:spPr>
          <a:xfrm xmlns:a="http://schemas.openxmlformats.org/drawingml/2006/main">
            <a:off x="3943350" y="38004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Match romimage and vgaromimage to your installation</a:t>
            </a:r>
          </a:p>
        </p:txBody>
      </p:sp>
      <p:sp>
        <p:nvSpPr>
          <p:cNvPr id="11" name="Network backend">
            <a:extLst xmlns:a="http://schemas.openxmlformats.org/drawingml/2006/main">
              <a:ext uri="{FF2B5EF4-FFF2-40B4-BE49-F238E27FC236}">
                <a16:creationId xmlns:a16="http://schemas.microsoft.com/office/drawing/2014/main" id="{AE042282-685F-422D-8F10-951D091CDD43}"/>
              </a:ext>
            </a:extLst>
          </p:cNvPr>
          <p:cNvSpPr>
            <a:spLocks xmlns:a="http://schemas.openxmlformats.org/drawingml/2006/main" noGrp="1"/>
          </p:cNvSpPr>
          <p:nvPr/>
        </p:nvSpPr>
        <p:spPr>
          <a:xfrm xmlns:a="http://schemas.openxmlformats.org/drawingml/2006/main">
            <a:off x="609600" y="47148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Network backend</a:t>
            </a:r>
          </a:p>
        </p:txBody>
      </p:sp>
      <p:sp>
        <p:nvSpPr>
          <p:cNvPr id="12" name="Match vnet/tap settings to the guest subnet">
            <a:extLst xmlns:a="http://schemas.openxmlformats.org/drawingml/2006/main">
              <a:ext uri="{FF2B5EF4-FFF2-40B4-BE49-F238E27FC236}">
                <a16:creationId xmlns:a16="http://schemas.microsoft.com/office/drawing/2014/main" id="{1B11E195-809D-47A9-9EAB-00A67DBB9ACB}"/>
              </a:ext>
            </a:extLst>
          </p:cNvPr>
          <p:cNvSpPr>
            <a:spLocks xmlns:a="http://schemas.openxmlformats.org/drawingml/2006/main" noGrp="1"/>
          </p:cNvSpPr>
          <p:nvPr/>
        </p:nvSpPr>
        <p:spPr>
          <a:xfrm xmlns:a="http://schemas.openxmlformats.org/drawingml/2006/main">
            <a:off x="3943350" y="47148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Match vnet/tap settings to the guest subnet</a:t>
            </a:r>
          </a:p>
        </p:txBody>
      </p:sp>
    </p:spTree>
    <p:extLst>
      <p:ext uri="{BB962C8B-B14F-4D97-AF65-F5344CB8AC3E}">
        <p14:creationId xmlns:p14="http://schemas.microsoft.com/office/powerpoint/2010/main" val="1928183932"/>
      </p:ext>
    </p:extLst>
  </p:cSld>
</p:sld>
</file>

<file path=ppt/slides/slide33.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0" name="BUILD &amp; RUN">
            <a:extLst xmlns:a="http://schemas.openxmlformats.org/drawingml/2006/main">
              <a:ext uri="{FF2B5EF4-FFF2-40B4-BE49-F238E27FC236}">
                <a16:creationId xmlns:a16="http://schemas.microsoft.com/office/drawing/2014/main" id="{BAE68CB9-CCC4-4F5A-9937-1A4A29C9F8C9}"/>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BUILD &amp; RUN</a:t>
            </a:r>
          </a:p>
        </p:txBody>
      </p:sp>
      <p:sp>
        <p:nvSpPr>
          <p:cNvPr id="2" name="Build the boot image">
            <a:extLst xmlns:a="http://schemas.openxmlformats.org/drawingml/2006/main">
              <a:ext uri="{FF2B5EF4-FFF2-40B4-BE49-F238E27FC236}">
                <a16:creationId xmlns:a16="http://schemas.microsoft.com/office/drawing/2014/main" id="{00A67653-BB55-4FC5-ABD1-1AF8664D01BE}"/>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Build the boot image</a:t>
            </a:r>
          </a:p>
        </p:txBody>
      </p:sp>
      <p:sp>
        <p:nvSpPr>
          <p:cNvPr id="3" name="AGENTIC OS  /  MVP TECHNICAL WALKTHROUGH">
            <a:extLst xmlns:a="http://schemas.openxmlformats.org/drawingml/2006/main">
              <a:ext uri="{FF2B5EF4-FFF2-40B4-BE49-F238E27FC236}">
                <a16:creationId xmlns:a16="http://schemas.microsoft.com/office/drawing/2014/main" id="{00910485-3DEC-420A-AFE9-759E085A6301}"/>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33">
            <a:extLst xmlns:a="http://schemas.openxmlformats.org/drawingml/2006/main">
              <a:ext uri="{FF2B5EF4-FFF2-40B4-BE49-F238E27FC236}">
                <a16:creationId xmlns:a16="http://schemas.microsoft.com/office/drawing/2014/main" id="{0E4BB610-FC6C-4667-8722-56082C419798}"/>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33</a:t>
            </a:r>
          </a:p>
        </p:txBody>
      </p:sp>
      <p:sp>
        <p:nvSpPr>
          <p:cNvPr id="5" name="">
            <a:extLst xmlns:a="http://schemas.openxmlformats.org/drawingml/2006/main">
              <a:ext uri="{FF2B5EF4-FFF2-40B4-BE49-F238E27FC236}">
                <a16:creationId xmlns:a16="http://schemas.microsoft.com/office/drawing/2014/main" id="{AD4486AB-2A4D-4DCB-ABC0-41EA12D69498}"/>
              </a:ext>
            </a:extLst>
          </p:cNvPr>
          <p:cNvSpPr>
            <a:spLocks xmlns:a="http://schemas.openxmlformats.org/drawingml/2006/main" noGrp="1"/>
          </p:cNvSpPr>
          <p:nvPr/>
        </p:nvSpPr>
        <p:spPr>
          <a:xfrm xmlns:a="http://schemas.openxmlformats.org/drawingml/2006/main">
            <a:off x="609600" y="2124075"/>
            <a:ext cx="6858000" cy="3048000"/>
          </a:xfrm>
          <a:prstGeom xmlns:a="http://schemas.openxmlformats.org/drawingml/2006/main" prst="rect">
            <a:avLst/>
          </a:prstGeom>
          <a:solidFill xmlns:a="http://schemas.openxmlformats.org/drawingml/2006/main">
            <a:srgbClr val="10071D"/>
          </a:solidFill>
          <a:ln xmlns:a="http://schemas.openxmlformats.org/drawingml/2006/main" w="13335">
            <a:solidFill>
              <a:srgbClr val="5D377E"/>
            </a:solidFill>
          </a:ln>
        </p:spPr>
      </p:sp>
      <p:sp>
        <p:nvSpPr>
          <p:cNvPr id="6" name="nasm -v&#10;i686-elf-gcc --version&#10;i686-elf-objc">
            <a:extLst xmlns:a="http://schemas.openxmlformats.org/drawingml/2006/main">
              <a:ext uri="{FF2B5EF4-FFF2-40B4-BE49-F238E27FC236}">
                <a16:creationId xmlns:a16="http://schemas.microsoft.com/office/drawing/2014/main" id="{F25E7713-F6DA-4F4D-9161-DCA33E5F5874}"/>
              </a:ext>
            </a:extLst>
          </p:cNvPr>
          <p:cNvSpPr>
            <a:spLocks xmlns:a="http://schemas.openxmlformats.org/drawingml/2006/main" noGrp="1"/>
          </p:cNvSpPr>
          <p:nvPr/>
        </p:nvSpPr>
        <p:spPr>
          <a:xfrm xmlns:a="http://schemas.openxmlformats.org/drawingml/2006/main">
            <a:off x="857250" y="2295525"/>
            <a:ext cx="6362700" cy="2705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FFFFFF"/>
                </a:solidFill>
                <a:latin typeface="Courier New"/>
                <a:ea typeface="Courier New"/>
                <a:cs typeface="Courier New"/>
              </a:defRPr>
            </a:defPPr>
          </a:lstStyle>
          <a:p xmlns:a="http://schemas.openxmlformats.org/drawingml/2006/main">
            <a:pPr algn="l">
              <a:defRPr sz="2025" b="0">
                <a:solidFill>
                  <a:srgbClr val="FFFFFF"/>
                </a:solidFill>
                <a:latin typeface="Courier New"/>
                <a:ea typeface="Courier New"/>
                <a:cs typeface="Courier New"/>
              </a:defRPr>
            </a:pPr>
            <a:r>
              <a:rPr sz="2025" b="0">
                <a:solidFill>
                  <a:srgbClr val="FFFFFF"/>
                </a:solidFill>
                <a:latin typeface="Courier New"/>
                <a:ea typeface="Courier New"/>
                <a:cs typeface="Courier New"/>
              </a:rPr>
              <a:t>nasm -v</a:t>
            </a:r>
          </a:p>
          <a:p xmlns:a="http://schemas.openxmlformats.org/drawingml/2006/main">
            <a:pPr algn="l">
              <a:defRPr sz="2025" b="0">
                <a:solidFill>
                  <a:srgbClr val="FFFFFF"/>
                </a:solidFill>
                <a:latin typeface="Courier New"/>
                <a:ea typeface="Courier New"/>
                <a:cs typeface="Courier New"/>
              </a:defRPr>
            </a:pPr>
            <a:r>
              <a:rPr sz="2025" b="0">
                <a:solidFill>
                  <a:srgbClr val="FFFFFF"/>
                </a:solidFill>
                <a:latin typeface="Courier New"/>
                <a:ea typeface="Courier New"/>
                <a:cs typeface="Courier New"/>
              </a:rPr>
              <a:t>i686-elf-gcc --version</a:t>
            </a:r>
          </a:p>
          <a:p xmlns:a="http://schemas.openxmlformats.org/drawingml/2006/main">
            <a:pPr algn="l">
              <a:defRPr sz="2025" b="0">
                <a:solidFill>
                  <a:srgbClr val="FFFFFF"/>
                </a:solidFill>
                <a:latin typeface="Courier New"/>
                <a:ea typeface="Courier New"/>
                <a:cs typeface="Courier New"/>
              </a:defRPr>
            </a:pPr>
            <a:r>
              <a:rPr sz="2025" b="0">
                <a:solidFill>
                  <a:srgbClr val="FFFFFF"/>
                </a:solidFill>
                <a:latin typeface="Courier New"/>
                <a:ea typeface="Courier New"/>
                <a:cs typeface="Courier New"/>
              </a:rPr>
              <a:t>i686-elf-objcopy --version</a:t>
            </a:r>
          </a:p>
          <a:p xmlns:a="http://schemas.openxmlformats.org/drawingml/2006/main">
            <a:r>
              <a:t/>
            </a:r>
          </a:p>
          <a:p xmlns:a="http://schemas.openxmlformats.org/drawingml/2006/main">
            <a:pPr algn="l">
              <a:defRPr sz="2025" b="0">
                <a:solidFill>
                  <a:srgbClr val="FFFFFF"/>
                </a:solidFill>
                <a:latin typeface="Courier New"/>
                <a:ea typeface="Courier New"/>
                <a:cs typeface="Courier New"/>
              </a:defRPr>
            </a:pPr>
            <a:r>
              <a:rPr sz="2025" b="0">
                <a:solidFill>
                  <a:srgbClr val="FFFFFF"/>
                </a:solidFill>
                <a:latin typeface="Courier New"/>
                <a:ea typeface="Courier New"/>
                <a:cs typeface="Courier New"/>
              </a:rPr>
              <a:t>bash build.sh</a:t>
            </a:r>
          </a:p>
        </p:txBody>
      </p:sp>
      <p:sp>
        <p:nvSpPr>
          <p:cNvPr id="7" name="Output files">
            <a:extLst xmlns:a="http://schemas.openxmlformats.org/drawingml/2006/main">
              <a:ext uri="{FF2B5EF4-FFF2-40B4-BE49-F238E27FC236}">
                <a16:creationId xmlns:a16="http://schemas.microsoft.com/office/drawing/2014/main" id="{842C2628-7737-452E-89C5-D8143E31D03B}"/>
              </a:ext>
            </a:extLst>
          </p:cNvPr>
          <p:cNvSpPr>
            <a:spLocks xmlns:a="http://schemas.openxmlformats.org/drawingml/2006/main" noGrp="1"/>
          </p:cNvSpPr>
          <p:nvPr/>
        </p:nvSpPr>
        <p:spPr>
          <a:xfrm xmlns:a="http://schemas.openxmlformats.org/drawingml/2006/main">
            <a:off x="8058150" y="2219325"/>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1">
                <a:solidFill>
                  <a:srgbClr val="BE98F6"/>
                </a:solidFill>
                <a:latin typeface="Arial"/>
                <a:ea typeface="Arial"/>
                <a:cs typeface="Arial"/>
              </a:defRPr>
            </a:defPPr>
          </a:lstStyle>
          <a:p xmlns:a="http://schemas.openxmlformats.org/drawingml/2006/main">
            <a:pPr algn="l">
              <a:defRPr sz="2250" b="1">
                <a:solidFill>
                  <a:srgbClr val="BE98F6"/>
                </a:solidFill>
                <a:latin typeface="Arial"/>
                <a:ea typeface="Arial"/>
                <a:cs typeface="Arial"/>
              </a:defRPr>
            </a:pPr>
            <a:r>
              <a:rPr sz="2250" b="1">
                <a:solidFill>
                  <a:srgbClr val="BE98F6"/>
                </a:solidFill>
                <a:latin typeface="Arial"/>
                <a:ea typeface="Arial"/>
                <a:cs typeface="Arial"/>
              </a:rPr>
              <a:t>Output files</a:t>
            </a:r>
          </a:p>
        </p:txBody>
      </p:sp>
      <p:sp>
        <p:nvSpPr>
          <p:cNvPr id="8" name="kernel.elf&#10;kernel.bin&#10;boot.bin&#10;boot.img">
            <a:extLst xmlns:a="http://schemas.openxmlformats.org/drawingml/2006/main">
              <a:ext uri="{FF2B5EF4-FFF2-40B4-BE49-F238E27FC236}">
                <a16:creationId xmlns:a16="http://schemas.microsoft.com/office/drawing/2014/main" id="{864A3310-80BA-4579-A604-70F492CEDE07}"/>
              </a:ext>
            </a:extLst>
          </p:cNvPr>
          <p:cNvSpPr>
            <a:spLocks xmlns:a="http://schemas.openxmlformats.org/drawingml/2006/main" noGrp="1"/>
          </p:cNvSpPr>
          <p:nvPr/>
        </p:nvSpPr>
        <p:spPr>
          <a:xfrm xmlns:a="http://schemas.openxmlformats.org/drawingml/2006/main">
            <a:off x="8058150" y="2905125"/>
            <a:ext cx="3381375" cy="193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b="0">
                <a:solidFill>
                  <a:srgbClr val="FFFFFF"/>
                </a:solidFill>
                <a:latin typeface="Arial"/>
                <a:ea typeface="Arial"/>
                <a:cs typeface="Arial"/>
              </a:defRPr>
            </a:defPPr>
          </a:lstStyle>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kernel.elf</a:t>
            </a:r>
          </a:p>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kernel.bin</a:t>
            </a:r>
          </a:p>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boot.bin</a:t>
            </a:r>
          </a:p>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boot.img</a:t>
            </a:r>
          </a:p>
        </p:txBody>
      </p:sp>
      <p:sp>
        <p:nvSpPr>
          <p:cNvPr id="9" name="Resolve the preflight issues before running ">
            <a:extLst xmlns:a="http://schemas.openxmlformats.org/drawingml/2006/main">
              <a:ext uri="{FF2B5EF4-FFF2-40B4-BE49-F238E27FC236}">
                <a16:creationId xmlns:a16="http://schemas.microsoft.com/office/drawing/2014/main" id="{8294AD37-66F4-48F4-B393-54601C9FE4A8}"/>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Resolve the preflight issues before running the build.</a:t>
            </a:r>
          </a:p>
        </p:txBody>
      </p:sp>
    </p:spTree>
    <p:extLst>
      <p:ext uri="{BB962C8B-B14F-4D97-AF65-F5344CB8AC3E}">
        <p14:creationId xmlns:p14="http://schemas.microsoft.com/office/powerpoint/2010/main" val="149501290"/>
      </p:ext>
    </p:extLst>
  </p:cSld>
</p:sld>
</file>

<file path=ppt/slides/slide34.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9" name="BUILD &amp; RUN">
            <a:extLst xmlns:a="http://schemas.openxmlformats.org/drawingml/2006/main">
              <a:ext uri="{FF2B5EF4-FFF2-40B4-BE49-F238E27FC236}">
                <a16:creationId xmlns:a16="http://schemas.microsoft.com/office/drawing/2014/main" id="{12773DCB-1C80-4721-8C5C-E74F6E392D75}"/>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BUILD &amp; RUN</a:t>
            </a:r>
          </a:p>
        </p:txBody>
      </p:sp>
      <p:sp>
        <p:nvSpPr>
          <p:cNvPr id="2" name="Launch Bochs">
            <a:extLst xmlns:a="http://schemas.openxmlformats.org/drawingml/2006/main">
              <a:ext uri="{FF2B5EF4-FFF2-40B4-BE49-F238E27FC236}">
                <a16:creationId xmlns:a16="http://schemas.microsoft.com/office/drawing/2014/main" id="{C6CC3098-BF49-441B-8948-2A8876FDFA50}"/>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Launch Bochs</a:t>
            </a:r>
          </a:p>
        </p:txBody>
      </p:sp>
      <p:sp>
        <p:nvSpPr>
          <p:cNvPr id="3" name="AGENTIC OS  /  MVP TECHNICAL WALKTHROUGH">
            <a:extLst xmlns:a="http://schemas.openxmlformats.org/drawingml/2006/main">
              <a:ext uri="{FF2B5EF4-FFF2-40B4-BE49-F238E27FC236}">
                <a16:creationId xmlns:a16="http://schemas.microsoft.com/office/drawing/2014/main" id="{F1A6B0F0-4FB0-40AA-9DF8-1DE132FE4D05}"/>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34">
            <a:extLst xmlns:a="http://schemas.openxmlformats.org/drawingml/2006/main">
              <a:ext uri="{FF2B5EF4-FFF2-40B4-BE49-F238E27FC236}">
                <a16:creationId xmlns:a16="http://schemas.microsoft.com/office/drawing/2014/main" id="{CC4C5384-5911-45F8-8160-6D1A210EEB7C}"/>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34</a:t>
            </a:r>
          </a:p>
        </p:txBody>
      </p:sp>
      <p:sp>
        <p:nvSpPr>
          <p:cNvPr id="5" name="">
            <a:extLst xmlns:a="http://schemas.openxmlformats.org/drawingml/2006/main">
              <a:ext uri="{FF2B5EF4-FFF2-40B4-BE49-F238E27FC236}">
                <a16:creationId xmlns:a16="http://schemas.microsoft.com/office/drawing/2014/main" id="{0F47008C-05B4-4C1F-B3CC-FD9C356F9DCE}"/>
              </a:ext>
            </a:extLst>
          </p:cNvPr>
          <p:cNvSpPr>
            <a:spLocks xmlns:a="http://schemas.openxmlformats.org/drawingml/2006/main" noGrp="1"/>
          </p:cNvSpPr>
          <p:nvPr/>
        </p:nvSpPr>
        <p:spPr>
          <a:xfrm xmlns:a="http://schemas.openxmlformats.org/drawingml/2006/main">
            <a:off x="609600" y="2162175"/>
            <a:ext cx="10972800" cy="1238250"/>
          </a:xfrm>
          <a:prstGeom xmlns:a="http://schemas.openxmlformats.org/drawingml/2006/main" prst="rect">
            <a:avLst/>
          </a:prstGeom>
          <a:solidFill xmlns:a="http://schemas.openxmlformats.org/drawingml/2006/main">
            <a:srgbClr val="10071D"/>
          </a:solidFill>
          <a:ln xmlns:a="http://schemas.openxmlformats.org/drawingml/2006/main" w="13335">
            <a:solidFill>
              <a:srgbClr val="5D377E"/>
            </a:solidFill>
          </a:ln>
        </p:spPr>
      </p:sp>
      <p:sp>
        <p:nvSpPr>
          <p:cNvPr id="6" name="&amp; &quot;C:\Program Files\Bochs-3.0\bochs.exe&quot; `&#10; ">
            <a:extLst xmlns:a="http://schemas.openxmlformats.org/drawingml/2006/main">
              <a:ext uri="{FF2B5EF4-FFF2-40B4-BE49-F238E27FC236}">
                <a16:creationId xmlns:a16="http://schemas.microsoft.com/office/drawing/2014/main" id="{CFD72A1D-F0B3-409D-B2DE-F8CFE63556DE}"/>
              </a:ext>
            </a:extLst>
          </p:cNvPr>
          <p:cNvSpPr>
            <a:spLocks xmlns:a="http://schemas.openxmlformats.org/drawingml/2006/main" noGrp="1"/>
          </p:cNvSpPr>
          <p:nvPr/>
        </p:nvSpPr>
        <p:spPr>
          <a:xfrm xmlns:a="http://schemas.openxmlformats.org/drawingml/2006/main">
            <a:off x="857250" y="2333625"/>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FFFFFF"/>
                </a:solidFill>
                <a:latin typeface="Courier New"/>
                <a:ea typeface="Courier New"/>
                <a:cs typeface="Courier New"/>
              </a:defRPr>
            </a:defPPr>
          </a:lstStyle>
          <a:p xmlns:a="http://schemas.openxmlformats.org/drawingml/2006/main">
            <a:pPr algn="l">
              <a:defRPr sz="1950" b="0">
                <a:solidFill>
                  <a:srgbClr val="FFFFFF"/>
                </a:solidFill>
                <a:latin typeface="Courier New"/>
                <a:ea typeface="Courier New"/>
                <a:cs typeface="Courier New"/>
              </a:defRPr>
            </a:pPr>
            <a:r>
              <a:rPr sz="1950" b="0">
                <a:solidFill>
                  <a:srgbClr val="FFFFFF"/>
                </a:solidFill>
                <a:latin typeface="Courier New"/>
                <a:ea typeface="Courier New"/>
                <a:cs typeface="Courier New"/>
              </a:rPr>
              <a:t>&amp; "C:\Program Files\Bochs-3.0\bochs.exe" `</a:t>
            </a:r>
          </a:p>
          <a:p xmlns:a="http://schemas.openxmlformats.org/drawingml/2006/main">
            <a:pPr algn="l">
              <a:defRPr sz="1950" b="0">
                <a:solidFill>
                  <a:srgbClr val="FFFFFF"/>
                </a:solidFill>
                <a:latin typeface="Courier New"/>
                <a:ea typeface="Courier New"/>
                <a:cs typeface="Courier New"/>
              </a:defRPr>
            </a:pPr>
            <a:r>
              <a:rPr sz="1950" b="0">
                <a:solidFill>
                  <a:srgbClr val="FFFFFF"/>
                </a:solidFill>
                <a:latin typeface="Courier New"/>
                <a:ea typeface="Courier New"/>
                <a:cs typeface="Courier New"/>
              </a:rPr>
              <a:t>  -q -f .\bochsrc.bxrc</a:t>
            </a:r>
          </a:p>
        </p:txBody>
      </p:sp>
      <p:sp>
        <p:nvSpPr>
          <p:cNvPr id="7" name="">
            <a:extLst xmlns:a="http://schemas.openxmlformats.org/drawingml/2006/main">
              <a:ext uri="{FF2B5EF4-FFF2-40B4-BE49-F238E27FC236}">
                <a16:creationId xmlns:a16="http://schemas.microsoft.com/office/drawing/2014/main" id="{FD979B80-22F4-4649-927C-92AB1B40FD19}"/>
              </a:ext>
            </a:extLst>
          </p:cNvPr>
          <p:cNvSpPr>
            <a:spLocks xmlns:a="http://schemas.openxmlformats.org/drawingml/2006/main" noGrp="1"/>
          </p:cNvSpPr>
          <p:nvPr/>
        </p:nvSpPr>
        <p:spPr>
          <a:xfrm xmlns:a="http://schemas.openxmlformats.org/drawingml/2006/main">
            <a:off x="609600" y="400050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8" name="BIOS boot">
            <a:extLst xmlns:a="http://schemas.openxmlformats.org/drawingml/2006/main">
              <a:ext uri="{FF2B5EF4-FFF2-40B4-BE49-F238E27FC236}">
                <a16:creationId xmlns:a16="http://schemas.microsoft.com/office/drawing/2014/main" id="{237A5561-98F1-4692-9A0A-D34FBF1B1D74}"/>
              </a:ext>
            </a:extLst>
          </p:cNvPr>
          <p:cNvSpPr>
            <a:spLocks xmlns:a="http://schemas.openxmlformats.org/drawingml/2006/main" noGrp="1"/>
          </p:cNvSpPr>
          <p:nvPr/>
        </p:nvSpPr>
        <p:spPr>
          <a:xfrm xmlns:a="http://schemas.openxmlformats.org/drawingml/2006/main">
            <a:off x="752475" y="408622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BIOS boot</a:t>
            </a:r>
          </a:p>
        </p:txBody>
      </p:sp>
      <p:cxnSp>
        <p:nvCxnSpPr>
          <p:cNvPr id="9" name="">
            <a:extLst xmlns:a="http://schemas.openxmlformats.org/drawingml/2006/main">
              <a:ext uri="{FF2B5EF4-FFF2-40B4-BE49-F238E27FC236}">
                <a16:creationId xmlns:a16="http://schemas.microsoft.com/office/drawing/2014/main" id="{D893FB26-E72C-472F-9F9C-572550E1D572}"/>
              </a:ext>
            </a:extLst>
          </p:cNvPr>
          <p:cNvCxnSpPr/>
          <p:nvPr/>
        </p:nvCxnSpPr>
        <p:spPr>
          <a:xfrm xmlns:a="http://schemas.openxmlformats.org/drawingml/2006/main" flipH="0" flipV="0">
            <a:off x="3081338" y="453390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0" name="">
            <a:extLst xmlns:a="http://schemas.openxmlformats.org/drawingml/2006/main">
              <a:ext uri="{FF2B5EF4-FFF2-40B4-BE49-F238E27FC236}">
                <a16:creationId xmlns:a16="http://schemas.microsoft.com/office/drawing/2014/main" id="{40976C40-FA41-4610-A185-7327B22E91E5}"/>
              </a:ext>
            </a:extLst>
          </p:cNvPr>
          <p:cNvSpPr>
            <a:spLocks xmlns:a="http://schemas.openxmlformats.org/drawingml/2006/main" noGrp="1"/>
          </p:cNvSpPr>
          <p:nvPr/>
        </p:nvSpPr>
        <p:spPr>
          <a:xfrm xmlns:a="http://schemas.openxmlformats.org/drawingml/2006/main">
            <a:off x="3443288" y="400050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1" name="Kernel banner">
            <a:extLst xmlns:a="http://schemas.openxmlformats.org/drawingml/2006/main">
              <a:ext uri="{FF2B5EF4-FFF2-40B4-BE49-F238E27FC236}">
                <a16:creationId xmlns:a16="http://schemas.microsoft.com/office/drawing/2014/main" id="{B7D5A810-2FF0-48FE-ACC9-E981A3823787}"/>
              </a:ext>
            </a:extLst>
          </p:cNvPr>
          <p:cNvSpPr>
            <a:spLocks xmlns:a="http://schemas.openxmlformats.org/drawingml/2006/main" noGrp="1"/>
          </p:cNvSpPr>
          <p:nvPr/>
        </p:nvSpPr>
        <p:spPr>
          <a:xfrm xmlns:a="http://schemas.openxmlformats.org/drawingml/2006/main">
            <a:off x="3586163" y="408622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Kernel banner</a:t>
            </a:r>
          </a:p>
        </p:txBody>
      </p:sp>
      <p:cxnSp>
        <p:nvCxnSpPr>
          <p:cNvPr id="12" name="">
            <a:extLst xmlns:a="http://schemas.openxmlformats.org/drawingml/2006/main">
              <a:ext uri="{FF2B5EF4-FFF2-40B4-BE49-F238E27FC236}">
                <a16:creationId xmlns:a16="http://schemas.microsoft.com/office/drawing/2014/main" id="{EF26C302-F383-4A7B-8F65-C9E2716EDA10}"/>
              </a:ext>
            </a:extLst>
          </p:cNvPr>
          <p:cNvCxnSpPr/>
          <p:nvPr/>
        </p:nvCxnSpPr>
        <p:spPr>
          <a:xfrm xmlns:a="http://schemas.openxmlformats.org/drawingml/2006/main" flipH="0" flipV="0">
            <a:off x="5915025" y="453390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3" name="">
            <a:extLst xmlns:a="http://schemas.openxmlformats.org/drawingml/2006/main">
              <a:ext uri="{FF2B5EF4-FFF2-40B4-BE49-F238E27FC236}">
                <a16:creationId xmlns:a16="http://schemas.microsoft.com/office/drawing/2014/main" id="{F2B4789B-37D4-4FEB-ACC0-AC0C19B386B7}"/>
              </a:ext>
            </a:extLst>
          </p:cNvPr>
          <p:cNvSpPr>
            <a:spLocks xmlns:a="http://schemas.openxmlformats.org/drawingml/2006/main" noGrp="1"/>
          </p:cNvSpPr>
          <p:nvPr/>
        </p:nvSpPr>
        <p:spPr>
          <a:xfrm xmlns:a="http://schemas.openxmlformats.org/drawingml/2006/main">
            <a:off x="6276975" y="400050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4" name="Login gate">
            <a:extLst xmlns:a="http://schemas.openxmlformats.org/drawingml/2006/main">
              <a:ext uri="{FF2B5EF4-FFF2-40B4-BE49-F238E27FC236}">
                <a16:creationId xmlns:a16="http://schemas.microsoft.com/office/drawing/2014/main" id="{67BF4E0D-D598-49DC-A0B4-6EC9A5ADB853}"/>
              </a:ext>
            </a:extLst>
          </p:cNvPr>
          <p:cNvSpPr>
            <a:spLocks xmlns:a="http://schemas.openxmlformats.org/drawingml/2006/main" noGrp="1"/>
          </p:cNvSpPr>
          <p:nvPr/>
        </p:nvSpPr>
        <p:spPr>
          <a:xfrm xmlns:a="http://schemas.openxmlformats.org/drawingml/2006/main">
            <a:off x="6419850" y="408622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Login gate</a:t>
            </a:r>
          </a:p>
        </p:txBody>
      </p:sp>
      <p:cxnSp>
        <p:nvCxnSpPr>
          <p:cNvPr id="15" name="">
            <a:extLst xmlns:a="http://schemas.openxmlformats.org/drawingml/2006/main">
              <a:ext uri="{FF2B5EF4-FFF2-40B4-BE49-F238E27FC236}">
                <a16:creationId xmlns:a16="http://schemas.microsoft.com/office/drawing/2014/main" id="{46208665-AC37-4AD0-A8D7-2D9D68FFC766}"/>
              </a:ext>
            </a:extLst>
          </p:cNvPr>
          <p:cNvCxnSpPr/>
          <p:nvPr/>
        </p:nvCxnSpPr>
        <p:spPr>
          <a:xfrm xmlns:a="http://schemas.openxmlformats.org/drawingml/2006/main" flipH="0" flipV="0">
            <a:off x="8748713" y="453390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6" name="">
            <a:extLst xmlns:a="http://schemas.openxmlformats.org/drawingml/2006/main">
              <a:ext uri="{FF2B5EF4-FFF2-40B4-BE49-F238E27FC236}">
                <a16:creationId xmlns:a16="http://schemas.microsoft.com/office/drawing/2014/main" id="{11F00810-CEE6-47E0-AD17-DBFB55269335}"/>
              </a:ext>
            </a:extLst>
          </p:cNvPr>
          <p:cNvSpPr>
            <a:spLocks xmlns:a="http://schemas.openxmlformats.org/drawingml/2006/main" noGrp="1"/>
          </p:cNvSpPr>
          <p:nvPr/>
        </p:nvSpPr>
        <p:spPr>
          <a:xfrm xmlns:a="http://schemas.openxmlformats.org/drawingml/2006/main">
            <a:off x="9110663" y="400050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7" name="agentic:/$">
            <a:extLst xmlns:a="http://schemas.openxmlformats.org/drawingml/2006/main">
              <a:ext uri="{FF2B5EF4-FFF2-40B4-BE49-F238E27FC236}">
                <a16:creationId xmlns:a16="http://schemas.microsoft.com/office/drawing/2014/main" id="{F7C0CA61-B0EA-4091-9D2C-D6E828AF659B}"/>
              </a:ext>
            </a:extLst>
          </p:cNvPr>
          <p:cNvSpPr>
            <a:spLocks xmlns:a="http://schemas.openxmlformats.org/drawingml/2006/main" noGrp="1"/>
          </p:cNvSpPr>
          <p:nvPr/>
        </p:nvSpPr>
        <p:spPr>
          <a:xfrm xmlns:a="http://schemas.openxmlformats.org/drawingml/2006/main">
            <a:off x="9253538" y="408622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agentic:/$</a:t>
            </a:r>
          </a:p>
        </p:txBody>
      </p:sp>
      <p:sp>
        <p:nvSpPr>
          <p:cNvPr id="18" name="Use the development login configured in kern">
            <a:extLst xmlns:a="http://schemas.openxmlformats.org/drawingml/2006/main">
              <a:ext uri="{FF2B5EF4-FFF2-40B4-BE49-F238E27FC236}">
                <a16:creationId xmlns:a16="http://schemas.microsoft.com/office/drawing/2014/main" id="{4116D40B-97DF-4DE9-8E0D-6C91414B925B}"/>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Use the development login configured in kernel/auth/login.c.</a:t>
            </a:r>
          </a:p>
        </p:txBody>
      </p:sp>
    </p:spTree>
    <p:extLst>
      <p:ext uri="{BB962C8B-B14F-4D97-AF65-F5344CB8AC3E}">
        <p14:creationId xmlns:p14="http://schemas.microsoft.com/office/powerpoint/2010/main" val="410769604"/>
      </p:ext>
    </p:extLst>
  </p:cSld>
</p:sld>
</file>

<file path=ppt/slides/slide35.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9" name="BUILD &amp; RUN">
            <a:extLst xmlns:a="http://schemas.openxmlformats.org/drawingml/2006/main">
              <a:ext uri="{FF2B5EF4-FFF2-40B4-BE49-F238E27FC236}">
                <a16:creationId xmlns:a16="http://schemas.microsoft.com/office/drawing/2014/main" id="{916A9F57-60A5-49F5-91A0-ECFD0149B150}"/>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BUILD &amp; RUN</a:t>
            </a:r>
          </a:p>
        </p:txBody>
      </p:sp>
      <p:sp>
        <p:nvSpPr>
          <p:cNvPr id="2" name="A short filesystem demo">
            <a:extLst xmlns:a="http://schemas.openxmlformats.org/drawingml/2006/main">
              <a:ext uri="{FF2B5EF4-FFF2-40B4-BE49-F238E27FC236}">
                <a16:creationId xmlns:a16="http://schemas.microsoft.com/office/drawing/2014/main" id="{25B3816D-066A-49A4-B3A3-84FA645D0482}"/>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 short filesystem demo</a:t>
            </a:r>
          </a:p>
        </p:txBody>
      </p:sp>
      <p:sp>
        <p:nvSpPr>
          <p:cNvPr id="3" name="AGENTIC OS  /  MVP TECHNICAL WALKTHROUGH">
            <a:extLst xmlns:a="http://schemas.openxmlformats.org/drawingml/2006/main">
              <a:ext uri="{FF2B5EF4-FFF2-40B4-BE49-F238E27FC236}">
                <a16:creationId xmlns:a16="http://schemas.microsoft.com/office/drawing/2014/main" id="{F9D0D460-DBBF-4E66-8789-90FA589587BD}"/>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35">
            <a:extLst xmlns:a="http://schemas.openxmlformats.org/drawingml/2006/main">
              <a:ext uri="{FF2B5EF4-FFF2-40B4-BE49-F238E27FC236}">
                <a16:creationId xmlns:a16="http://schemas.microsoft.com/office/drawing/2014/main" id="{969387F0-EAED-4CEC-8A86-523389C137B5}"/>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35</a:t>
            </a:r>
          </a:p>
        </p:txBody>
      </p:sp>
      <p:sp>
        <p:nvSpPr>
          <p:cNvPr id="5" name="">
            <a:extLst xmlns:a="http://schemas.openxmlformats.org/drawingml/2006/main">
              <a:ext uri="{FF2B5EF4-FFF2-40B4-BE49-F238E27FC236}">
                <a16:creationId xmlns:a16="http://schemas.microsoft.com/office/drawing/2014/main" id="{8A7CD778-E609-4CBC-AD6A-5AE420264696}"/>
              </a:ext>
            </a:extLst>
          </p:cNvPr>
          <p:cNvSpPr>
            <a:spLocks xmlns:a="http://schemas.openxmlformats.org/drawingml/2006/main" noGrp="1"/>
          </p:cNvSpPr>
          <p:nvPr/>
        </p:nvSpPr>
        <p:spPr>
          <a:xfrm xmlns:a="http://schemas.openxmlformats.org/drawingml/2006/main">
            <a:off x="609600" y="2066925"/>
            <a:ext cx="7772400" cy="3552825"/>
          </a:xfrm>
          <a:prstGeom xmlns:a="http://schemas.openxmlformats.org/drawingml/2006/main" prst="rect">
            <a:avLst/>
          </a:prstGeom>
          <a:solidFill xmlns:a="http://schemas.openxmlformats.org/drawingml/2006/main">
            <a:srgbClr val="10071D"/>
          </a:solidFill>
          <a:ln xmlns:a="http://schemas.openxmlformats.org/drawingml/2006/main" w="13335">
            <a:solidFill>
              <a:srgbClr val="5D377E"/>
            </a:solidFill>
          </a:ln>
        </p:spPr>
      </p:sp>
      <p:sp>
        <p:nvSpPr>
          <p:cNvPr id="6" name="mkdir /notes&#10;touch /notes/demo.txt&#10;write /no">
            <a:extLst xmlns:a="http://schemas.openxmlformats.org/drawingml/2006/main">
              <a:ext uri="{FF2B5EF4-FFF2-40B4-BE49-F238E27FC236}">
                <a16:creationId xmlns:a16="http://schemas.microsoft.com/office/drawing/2014/main" id="{81D3C3F1-4A3B-4017-B889-E9A8EDDD07CD}"/>
              </a:ext>
            </a:extLst>
          </p:cNvPr>
          <p:cNvSpPr>
            <a:spLocks xmlns:a="http://schemas.openxmlformats.org/drawingml/2006/main" noGrp="1"/>
          </p:cNvSpPr>
          <p:nvPr/>
        </p:nvSpPr>
        <p:spPr>
          <a:xfrm xmlns:a="http://schemas.openxmlformats.org/drawingml/2006/main">
            <a:off x="857250" y="2238375"/>
            <a:ext cx="7277100" cy="3209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FFFFFF"/>
                </a:solidFill>
                <a:latin typeface="Courier New"/>
                <a:ea typeface="Courier New"/>
                <a:cs typeface="Courier New"/>
              </a:defRPr>
            </a:defPPr>
          </a:lstStyle>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mkdir /notes</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touch /notes/demo.txt</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write /notes/demo.txt Hello Agentic OS</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cat /notes/demo.txt</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write /notes/demo.txt Updated note</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cat /notes/demo.txt</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rm /notes/demo.txt</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ls /notes</a:t>
            </a:r>
          </a:p>
        </p:txBody>
      </p:sp>
      <p:sp>
        <p:nvSpPr>
          <p:cNvPr id="7" name="Create&#10;Read&#10;Update&#10;Delete">
            <a:extLst xmlns:a="http://schemas.openxmlformats.org/drawingml/2006/main">
              <a:ext uri="{FF2B5EF4-FFF2-40B4-BE49-F238E27FC236}">
                <a16:creationId xmlns:a16="http://schemas.microsoft.com/office/drawing/2014/main" id="{21DA13E8-67B3-41C5-9F0E-7809492ABA2B}"/>
              </a:ext>
            </a:extLst>
          </p:cNvPr>
          <p:cNvSpPr>
            <a:spLocks xmlns:a="http://schemas.openxmlformats.org/drawingml/2006/main" noGrp="1"/>
          </p:cNvSpPr>
          <p:nvPr/>
        </p:nvSpPr>
        <p:spPr>
          <a:xfrm xmlns:a="http://schemas.openxmlformats.org/drawingml/2006/main">
            <a:off x="8991600" y="2371725"/>
            <a:ext cx="22860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550" b="1">
                <a:solidFill>
                  <a:srgbClr val="BE98F6"/>
                </a:solidFill>
                <a:latin typeface="Arial"/>
                <a:ea typeface="Arial"/>
                <a:cs typeface="Arial"/>
              </a:defRPr>
            </a:defPPr>
          </a:lstStyle>
          <a:p xmlns:a="http://schemas.openxmlformats.org/drawingml/2006/main">
            <a:pPr algn="l">
              <a:defRPr sz="2550" b="1">
                <a:solidFill>
                  <a:srgbClr val="BE98F6"/>
                </a:solidFill>
                <a:latin typeface="Arial"/>
                <a:ea typeface="Arial"/>
                <a:cs typeface="Arial"/>
              </a:defRPr>
            </a:pPr>
            <a:r>
              <a:rPr sz="2550" b="1">
                <a:solidFill>
                  <a:srgbClr val="BE98F6"/>
                </a:solidFill>
                <a:latin typeface="Arial"/>
                <a:ea typeface="Arial"/>
                <a:cs typeface="Arial"/>
              </a:rPr>
              <a:t>Create</a:t>
            </a:r>
          </a:p>
          <a:p xmlns:a="http://schemas.openxmlformats.org/drawingml/2006/main">
            <a:pPr algn="l">
              <a:defRPr sz="2550" b="1">
                <a:solidFill>
                  <a:srgbClr val="BE98F6"/>
                </a:solidFill>
                <a:latin typeface="Arial"/>
                <a:ea typeface="Arial"/>
                <a:cs typeface="Arial"/>
              </a:defRPr>
            </a:pPr>
            <a:r>
              <a:rPr sz="2550" b="1">
                <a:solidFill>
                  <a:srgbClr val="BE98F6"/>
                </a:solidFill>
                <a:latin typeface="Arial"/>
                <a:ea typeface="Arial"/>
                <a:cs typeface="Arial"/>
              </a:rPr>
              <a:t>Read</a:t>
            </a:r>
          </a:p>
          <a:p xmlns:a="http://schemas.openxmlformats.org/drawingml/2006/main">
            <a:pPr algn="l">
              <a:defRPr sz="2550" b="1">
                <a:solidFill>
                  <a:srgbClr val="BE98F6"/>
                </a:solidFill>
                <a:latin typeface="Arial"/>
                <a:ea typeface="Arial"/>
                <a:cs typeface="Arial"/>
              </a:defRPr>
            </a:pPr>
            <a:r>
              <a:rPr sz="2550" b="1">
                <a:solidFill>
                  <a:srgbClr val="BE98F6"/>
                </a:solidFill>
                <a:latin typeface="Arial"/>
                <a:ea typeface="Arial"/>
                <a:cs typeface="Arial"/>
              </a:rPr>
              <a:t>Update</a:t>
            </a:r>
          </a:p>
          <a:p xmlns:a="http://schemas.openxmlformats.org/drawingml/2006/main">
            <a:pPr algn="l">
              <a:defRPr sz="2550" b="1">
                <a:solidFill>
                  <a:srgbClr val="BE98F6"/>
                </a:solidFill>
                <a:latin typeface="Arial"/>
                <a:ea typeface="Arial"/>
                <a:cs typeface="Arial"/>
              </a:defRPr>
            </a:pPr>
            <a:r>
              <a:rPr sz="2550" b="1">
                <a:solidFill>
                  <a:srgbClr val="BE98F6"/>
                </a:solidFill>
                <a:latin typeface="Arial"/>
                <a:ea typeface="Arial"/>
                <a:cs typeface="Arial"/>
              </a:rPr>
              <a:t>Delete</a:t>
            </a:r>
          </a:p>
        </p:txBody>
      </p:sp>
      <p:sp>
        <p:nvSpPr>
          <p:cNvPr id="8" name="Expected reads: “Hello Agentic OS”, then “Up">
            <a:extLst xmlns:a="http://schemas.openxmlformats.org/drawingml/2006/main">
              <a:ext uri="{FF2B5EF4-FFF2-40B4-BE49-F238E27FC236}">
                <a16:creationId xmlns:a16="http://schemas.microsoft.com/office/drawing/2014/main" id="{C191DA89-BE27-42AD-AB29-D3456606C079}"/>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Expected reads: “Hello Agentic OS”, then “Updated note”.</a:t>
            </a:r>
          </a:p>
        </p:txBody>
      </p:sp>
    </p:spTree>
    <p:extLst>
      <p:ext uri="{BB962C8B-B14F-4D97-AF65-F5344CB8AC3E}">
        <p14:creationId xmlns:p14="http://schemas.microsoft.com/office/powerpoint/2010/main" val="1802652150"/>
      </p:ext>
    </p:extLst>
  </p:cSld>
</p:sld>
</file>

<file path=ppt/slides/slide36.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0" name="BUILD &amp; RUN">
            <a:extLst xmlns:a="http://schemas.openxmlformats.org/drawingml/2006/main">
              <a:ext uri="{FF2B5EF4-FFF2-40B4-BE49-F238E27FC236}">
                <a16:creationId xmlns:a16="http://schemas.microsoft.com/office/drawing/2014/main" id="{B3620D13-1D71-43A6-A11E-A20FAC66F437}"/>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BUILD &amp; RUN</a:t>
            </a:r>
          </a:p>
        </p:txBody>
      </p:sp>
      <p:sp>
        <p:nvSpPr>
          <p:cNvPr id="2" name="Run the host network service">
            <a:extLst xmlns:a="http://schemas.openxmlformats.org/drawingml/2006/main">
              <a:ext uri="{FF2B5EF4-FFF2-40B4-BE49-F238E27FC236}">
                <a16:creationId xmlns:a16="http://schemas.microsoft.com/office/drawing/2014/main" id="{12933905-0142-4BDC-AA86-F815D48AC71F}"/>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Run the host network service</a:t>
            </a:r>
          </a:p>
        </p:txBody>
      </p:sp>
      <p:sp>
        <p:nvSpPr>
          <p:cNvPr id="3" name="AGENTIC OS  /  MVP TECHNICAL WALKTHROUGH">
            <a:extLst xmlns:a="http://schemas.openxmlformats.org/drawingml/2006/main">
              <a:ext uri="{FF2B5EF4-FFF2-40B4-BE49-F238E27FC236}">
                <a16:creationId xmlns:a16="http://schemas.microsoft.com/office/drawing/2014/main" id="{8EE1232B-6057-4C28-953E-883A62940203}"/>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36">
            <a:extLst xmlns:a="http://schemas.openxmlformats.org/drawingml/2006/main">
              <a:ext uri="{FF2B5EF4-FFF2-40B4-BE49-F238E27FC236}">
                <a16:creationId xmlns:a16="http://schemas.microsoft.com/office/drawing/2014/main" id="{276F96D2-3330-4918-99F9-C8261214763C}"/>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36</a:t>
            </a:r>
          </a:p>
        </p:txBody>
      </p:sp>
      <p:sp>
        <p:nvSpPr>
          <p:cNvPr id="5" name="">
            <a:extLst xmlns:a="http://schemas.openxmlformats.org/drawingml/2006/main">
              <a:ext uri="{FF2B5EF4-FFF2-40B4-BE49-F238E27FC236}">
                <a16:creationId xmlns:a16="http://schemas.microsoft.com/office/drawing/2014/main" id="{97ABBE70-CB54-41C8-A549-C8A8F53D4998}"/>
              </a:ext>
            </a:extLst>
          </p:cNvPr>
          <p:cNvSpPr>
            <a:spLocks xmlns:a="http://schemas.openxmlformats.org/drawingml/2006/main" noGrp="1"/>
          </p:cNvSpPr>
          <p:nvPr/>
        </p:nvSpPr>
        <p:spPr>
          <a:xfrm xmlns:a="http://schemas.openxmlformats.org/drawingml/2006/main">
            <a:off x="609600" y="2162175"/>
            <a:ext cx="10972800" cy="2143125"/>
          </a:xfrm>
          <a:prstGeom xmlns:a="http://schemas.openxmlformats.org/drawingml/2006/main" prst="rect">
            <a:avLst/>
          </a:prstGeom>
          <a:solidFill xmlns:a="http://schemas.openxmlformats.org/drawingml/2006/main">
            <a:srgbClr val="10071D"/>
          </a:solidFill>
          <a:ln xmlns:a="http://schemas.openxmlformats.org/drawingml/2006/main" w="13335">
            <a:solidFill>
              <a:srgbClr val="5D377E"/>
            </a:solidFill>
          </a:ln>
        </p:spPr>
      </p:sp>
      <p:sp>
        <p:nvSpPr>
          <p:cNvPr id="6" name="python -m host_tools.tcp_ping serve&#10;&#10;# In an">
            <a:extLst xmlns:a="http://schemas.openxmlformats.org/drawingml/2006/main">
              <a:ext uri="{FF2B5EF4-FFF2-40B4-BE49-F238E27FC236}">
                <a16:creationId xmlns:a16="http://schemas.microsoft.com/office/drawing/2014/main" id="{32E1270D-6D71-42BC-B3D4-580E2DBAC8D4}"/>
              </a:ext>
            </a:extLst>
          </p:cNvPr>
          <p:cNvSpPr>
            <a:spLocks xmlns:a="http://schemas.openxmlformats.org/drawingml/2006/main" noGrp="1"/>
          </p:cNvSpPr>
          <p:nvPr/>
        </p:nvSpPr>
        <p:spPr>
          <a:xfrm xmlns:a="http://schemas.openxmlformats.org/drawingml/2006/main">
            <a:off x="857250" y="2333625"/>
            <a:ext cx="10477500" cy="1800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FFFFFF"/>
                </a:solidFill>
                <a:latin typeface="Courier New"/>
                <a:ea typeface="Courier New"/>
                <a:cs typeface="Courier New"/>
              </a:defRPr>
            </a:defPPr>
          </a:lstStyle>
          <a:p xmlns:a="http://schemas.openxmlformats.org/drawingml/2006/main">
            <a:pPr algn="l">
              <a:defRPr sz="1950" b="0">
                <a:solidFill>
                  <a:srgbClr val="FFFFFF"/>
                </a:solidFill>
                <a:latin typeface="Courier New"/>
                <a:ea typeface="Courier New"/>
                <a:cs typeface="Courier New"/>
              </a:defRPr>
            </a:pPr>
            <a:r>
              <a:rPr sz="1950" b="0">
                <a:solidFill>
                  <a:srgbClr val="FFFFFF"/>
                </a:solidFill>
                <a:latin typeface="Courier New"/>
                <a:ea typeface="Courier New"/>
                <a:cs typeface="Courier New"/>
              </a:rPr>
              <a:t>python -m host_tools.tcp_ping serve</a:t>
            </a:r>
          </a:p>
          <a:p xmlns:a="http://schemas.openxmlformats.org/drawingml/2006/main">
            <a:r>
              <a:t/>
            </a:r>
          </a:p>
          <a:p xmlns:a="http://schemas.openxmlformats.org/drawingml/2006/main">
            <a:pPr algn="l">
              <a:defRPr sz="1950" b="0">
                <a:solidFill>
                  <a:srgbClr val="FFFFFF"/>
                </a:solidFill>
                <a:latin typeface="Courier New"/>
                <a:ea typeface="Courier New"/>
                <a:cs typeface="Courier New"/>
              </a:defRPr>
            </a:pPr>
            <a:r>
              <a:rPr sz="1950" b="0">
                <a:solidFill>
                  <a:srgbClr val="FFFFFF"/>
                </a:solidFill>
                <a:latin typeface="Courier New"/>
                <a:ea typeface="Courier New"/>
                <a:cs typeface="Courier New"/>
              </a:rPr>
              <a:t># In another PowerShell terminal</a:t>
            </a:r>
          </a:p>
          <a:p xmlns:a="http://schemas.openxmlformats.org/drawingml/2006/main">
            <a:pPr algn="l">
              <a:defRPr sz="1950" b="0">
                <a:solidFill>
                  <a:srgbClr val="FFFFFF"/>
                </a:solidFill>
                <a:latin typeface="Courier New"/>
                <a:ea typeface="Courier New"/>
                <a:cs typeface="Courier New"/>
              </a:defRPr>
            </a:pPr>
            <a:r>
              <a:rPr sz="1950" b="0">
                <a:solidFill>
                  <a:srgbClr val="FFFFFF"/>
                </a:solidFill>
                <a:latin typeface="Courier New"/>
                <a:ea typeface="Courier New"/>
                <a:cs typeface="Courier New"/>
              </a:rPr>
              <a:t>Invoke-RestMethod http://127.0.0.1:8765/health</a:t>
            </a:r>
          </a:p>
        </p:txBody>
      </p:sp>
      <p:sp>
        <p:nvSpPr>
          <p:cNvPr id="7" name="Health response">
            <a:extLst xmlns:a="http://schemas.openxmlformats.org/drawingml/2006/main">
              <a:ext uri="{FF2B5EF4-FFF2-40B4-BE49-F238E27FC236}">
                <a16:creationId xmlns:a16="http://schemas.microsoft.com/office/drawing/2014/main" id="{4B09569A-0400-4AF4-9D1A-835E936A48F3}"/>
              </a:ext>
            </a:extLst>
          </p:cNvPr>
          <p:cNvSpPr>
            <a:spLocks xmlns:a="http://schemas.openxmlformats.org/drawingml/2006/main" noGrp="1"/>
          </p:cNvSpPr>
          <p:nvPr/>
        </p:nvSpPr>
        <p:spPr>
          <a:xfrm xmlns:a="http://schemas.openxmlformats.org/drawingml/2006/main">
            <a:off x="609600" y="477202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1">
                <a:solidFill>
                  <a:srgbClr val="BE98F6"/>
                </a:solidFill>
                <a:latin typeface="Arial"/>
                <a:ea typeface="Arial"/>
                <a:cs typeface="Arial"/>
              </a:defRPr>
            </a:defPPr>
          </a:lstStyle>
          <a:p xmlns:a="http://schemas.openxmlformats.org/drawingml/2006/main">
            <a:pPr algn="l">
              <a:defRPr sz="2250" b="1">
                <a:solidFill>
                  <a:srgbClr val="BE98F6"/>
                </a:solidFill>
                <a:latin typeface="Arial"/>
                <a:ea typeface="Arial"/>
                <a:cs typeface="Arial"/>
              </a:defRPr>
            </a:pPr>
            <a:r>
              <a:rPr sz="2250" b="1">
                <a:solidFill>
                  <a:srgbClr val="BE98F6"/>
                </a:solidFill>
                <a:latin typeface="Arial"/>
                <a:ea typeface="Arial"/>
                <a:cs typeface="Arial"/>
              </a:rPr>
              <a:t>Health response</a:t>
            </a:r>
          </a:p>
        </p:txBody>
      </p:sp>
      <p:sp>
        <p:nvSpPr>
          <p:cNvPr id="8" name="{ &quot;status&quot;: &quot;ok&quot; }">
            <a:extLst xmlns:a="http://schemas.openxmlformats.org/drawingml/2006/main">
              <a:ext uri="{FF2B5EF4-FFF2-40B4-BE49-F238E27FC236}">
                <a16:creationId xmlns:a16="http://schemas.microsoft.com/office/drawing/2014/main" id="{86561F5C-80C0-4255-B09D-929C939496E6}"/>
              </a:ext>
            </a:extLst>
          </p:cNvPr>
          <p:cNvSpPr>
            <a:spLocks xmlns:a="http://schemas.openxmlformats.org/drawingml/2006/main" noGrp="1"/>
          </p:cNvSpPr>
          <p:nvPr/>
        </p:nvSpPr>
        <p:spPr>
          <a:xfrm xmlns:a="http://schemas.openxmlformats.org/drawingml/2006/main">
            <a:off x="4533900" y="4772025"/>
            <a:ext cx="6800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0">
                <a:solidFill>
                  <a:srgbClr val="FFFFFF"/>
                </a:solidFill>
                <a:latin typeface="Arial"/>
                <a:ea typeface="Arial"/>
                <a:cs typeface="Arial"/>
              </a:defRPr>
            </a:def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 "status": "ok" }</a:t>
            </a:r>
          </a:p>
        </p:txBody>
      </p:sp>
      <p:sp>
        <p:nvSpPr>
          <p:cNvPr id="9" name="For interactive probes: python -m host_tools">
            <a:extLst xmlns:a="http://schemas.openxmlformats.org/drawingml/2006/main">
              <a:ext uri="{FF2B5EF4-FFF2-40B4-BE49-F238E27FC236}">
                <a16:creationId xmlns:a16="http://schemas.microsoft.com/office/drawing/2014/main" id="{83AE3ED8-67AD-4006-9EBA-3209DB1F8F3B}"/>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For interactive probes: python -m host_tools.tcp_ping shell</a:t>
            </a:r>
          </a:p>
        </p:txBody>
      </p:sp>
    </p:spTree>
    <p:extLst>
      <p:ext uri="{BB962C8B-B14F-4D97-AF65-F5344CB8AC3E}">
        <p14:creationId xmlns:p14="http://schemas.microsoft.com/office/powerpoint/2010/main" val="2122872346"/>
      </p:ext>
    </p:extLst>
  </p:cSld>
</p:sld>
</file>

<file path=ppt/slides/slide37.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1" name="BUILD &amp; RUN">
            <a:extLst xmlns:a="http://schemas.openxmlformats.org/drawingml/2006/main">
              <a:ext uri="{FF2B5EF4-FFF2-40B4-BE49-F238E27FC236}">
                <a16:creationId xmlns:a16="http://schemas.microsoft.com/office/drawing/2014/main" id="{EB2559C4-CD1B-4DE2-80C1-23034F3F8F36}"/>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BUILD &amp; RUN</a:t>
            </a:r>
          </a:p>
        </p:txBody>
      </p:sp>
      <p:sp>
        <p:nvSpPr>
          <p:cNvPr id="2" name="Connectivity and agent demo">
            <a:extLst xmlns:a="http://schemas.openxmlformats.org/drawingml/2006/main">
              <a:ext uri="{FF2B5EF4-FFF2-40B4-BE49-F238E27FC236}">
                <a16:creationId xmlns:a16="http://schemas.microsoft.com/office/drawing/2014/main" id="{1ADA6EF9-6592-4DE7-9160-8E7F1EE3F0A6}"/>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Connectivity and agent demo</a:t>
            </a:r>
          </a:p>
        </p:txBody>
      </p:sp>
      <p:sp>
        <p:nvSpPr>
          <p:cNvPr id="3" name="AGENTIC OS  /  MVP TECHNICAL WALKTHROUGH">
            <a:extLst xmlns:a="http://schemas.openxmlformats.org/drawingml/2006/main">
              <a:ext uri="{FF2B5EF4-FFF2-40B4-BE49-F238E27FC236}">
                <a16:creationId xmlns:a16="http://schemas.microsoft.com/office/drawing/2014/main" id="{B523A94E-35EA-4F51-8BC9-132714C676BE}"/>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37">
            <a:extLst xmlns:a="http://schemas.openxmlformats.org/drawingml/2006/main">
              <a:ext uri="{FF2B5EF4-FFF2-40B4-BE49-F238E27FC236}">
                <a16:creationId xmlns:a16="http://schemas.microsoft.com/office/drawing/2014/main" id="{114E5D78-4622-452D-B949-009BA6BCECD8}"/>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37</a:t>
            </a:r>
          </a:p>
        </p:txBody>
      </p:sp>
      <p:sp>
        <p:nvSpPr>
          <p:cNvPr id="5" name="Guest connectivity">
            <a:extLst xmlns:a="http://schemas.openxmlformats.org/drawingml/2006/main">
              <a:ext uri="{FF2B5EF4-FFF2-40B4-BE49-F238E27FC236}">
                <a16:creationId xmlns:a16="http://schemas.microsoft.com/office/drawing/2014/main" id="{3C4C76EF-F8D2-45A9-AED2-06A82675E86B}"/>
              </a:ext>
            </a:extLst>
          </p:cNvPr>
          <p:cNvSpPr>
            <a:spLocks xmlns:a="http://schemas.openxmlformats.org/drawingml/2006/main" noGrp="1"/>
          </p:cNvSpPr>
          <p:nvPr/>
        </p:nvSpPr>
        <p:spPr>
          <a:xfrm xmlns:a="http://schemas.openxmlformats.org/drawingml/2006/main">
            <a:off x="609600" y="207645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1">
                <a:solidFill>
                  <a:srgbClr val="BE98F6"/>
                </a:solidFill>
                <a:latin typeface="Arial"/>
                <a:ea typeface="Arial"/>
                <a:cs typeface="Arial"/>
              </a:defRPr>
            </a:defPPr>
          </a:lstStyle>
          <a:p xmlns:a="http://schemas.openxmlformats.org/drawingml/2006/main">
            <a:pPr algn="l">
              <a:defRPr sz="2250" b="1">
                <a:solidFill>
                  <a:srgbClr val="BE98F6"/>
                </a:solidFill>
                <a:latin typeface="Arial"/>
                <a:ea typeface="Arial"/>
                <a:cs typeface="Arial"/>
              </a:defRPr>
            </a:pPr>
            <a:r>
              <a:rPr sz="2250" b="1">
                <a:solidFill>
                  <a:srgbClr val="BE98F6"/>
                </a:solidFill>
                <a:latin typeface="Arial"/>
                <a:ea typeface="Arial"/>
                <a:cs typeface="Arial"/>
              </a:rPr>
              <a:t>Guest connectivity</a:t>
            </a:r>
          </a:p>
        </p:txBody>
      </p:sp>
      <p:sp>
        <p:nvSpPr>
          <p:cNvPr id="6" name="">
            <a:extLst xmlns:a="http://schemas.openxmlformats.org/drawingml/2006/main">
              <a:ext uri="{FF2B5EF4-FFF2-40B4-BE49-F238E27FC236}">
                <a16:creationId xmlns:a16="http://schemas.microsoft.com/office/drawing/2014/main" id="{0A47DC76-18A3-4045-AE90-02A5156254E2}"/>
              </a:ext>
            </a:extLst>
          </p:cNvPr>
          <p:cNvSpPr>
            <a:spLocks xmlns:a="http://schemas.openxmlformats.org/drawingml/2006/main" noGrp="1"/>
          </p:cNvSpPr>
          <p:nvPr/>
        </p:nvSpPr>
        <p:spPr>
          <a:xfrm xmlns:a="http://schemas.openxmlformats.org/drawingml/2006/main">
            <a:off x="609600" y="2667000"/>
            <a:ext cx="10972800" cy="762000"/>
          </a:xfrm>
          <a:prstGeom xmlns:a="http://schemas.openxmlformats.org/drawingml/2006/main" prst="rect">
            <a:avLst/>
          </a:prstGeom>
          <a:solidFill xmlns:a="http://schemas.openxmlformats.org/drawingml/2006/main">
            <a:srgbClr val="10071D"/>
          </a:solidFill>
          <a:ln xmlns:a="http://schemas.openxmlformats.org/drawingml/2006/main" w="13335">
            <a:solidFill>
              <a:srgbClr val="5D377E"/>
            </a:solidFill>
          </a:ln>
        </p:spPr>
      </p:sp>
      <p:sp>
        <p:nvSpPr>
          <p:cNvPr id="7" name="tcpping &lt;reachable-ipv4&gt; &lt;port&gt;">
            <a:extLst xmlns:a="http://schemas.openxmlformats.org/drawingml/2006/main">
              <a:ext uri="{FF2B5EF4-FFF2-40B4-BE49-F238E27FC236}">
                <a16:creationId xmlns:a16="http://schemas.microsoft.com/office/drawing/2014/main" id="{8B85FDB9-DCDA-40B9-A9FC-A43CDC8F91AC}"/>
              </a:ext>
            </a:extLst>
          </p:cNvPr>
          <p:cNvSpPr>
            <a:spLocks xmlns:a="http://schemas.openxmlformats.org/drawingml/2006/main" noGrp="1"/>
          </p:cNvSpPr>
          <p:nvPr/>
        </p:nvSpPr>
        <p:spPr>
          <a:xfrm xmlns:a="http://schemas.openxmlformats.org/drawingml/2006/main">
            <a:off x="857250" y="28384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FFFFFF"/>
                </a:solidFill>
                <a:latin typeface="Courier New"/>
                <a:ea typeface="Courier New"/>
                <a:cs typeface="Courier New"/>
              </a:defRPr>
            </a:defPPr>
          </a:lstStyle>
          <a:p xmlns:a="http://schemas.openxmlformats.org/drawingml/2006/main">
            <a:pPr algn="l">
              <a:defRPr sz="1950" b="0">
                <a:solidFill>
                  <a:srgbClr val="FFFFFF"/>
                </a:solidFill>
                <a:latin typeface="Courier New"/>
                <a:ea typeface="Courier New"/>
                <a:cs typeface="Courier New"/>
              </a:defRPr>
            </a:pPr>
            <a:r>
              <a:rPr sz="1950" b="0">
                <a:solidFill>
                  <a:srgbClr val="FFFFFF"/>
                </a:solidFill>
                <a:latin typeface="Courier New"/>
                <a:ea typeface="Courier New"/>
                <a:cs typeface="Courier New"/>
              </a:rPr>
              <a:t>tcpping &lt;reachable-ipv4&gt; &lt;port&gt;</a:t>
            </a:r>
          </a:p>
        </p:txBody>
      </p:sp>
      <p:sp>
        <p:nvSpPr>
          <p:cNvPr id="8" name="Agent demonstration prompts">
            <a:extLst xmlns:a="http://schemas.openxmlformats.org/drawingml/2006/main">
              <a:ext uri="{FF2B5EF4-FFF2-40B4-BE49-F238E27FC236}">
                <a16:creationId xmlns:a16="http://schemas.microsoft.com/office/drawing/2014/main" id="{DBC8CB54-CCDB-48E6-A162-C5BBB11BCE65}"/>
              </a:ext>
            </a:extLst>
          </p:cNvPr>
          <p:cNvSpPr>
            <a:spLocks xmlns:a="http://schemas.openxmlformats.org/drawingml/2006/main" noGrp="1"/>
          </p:cNvSpPr>
          <p:nvPr/>
        </p:nvSpPr>
        <p:spPr>
          <a:xfrm xmlns:a="http://schemas.openxmlformats.org/drawingml/2006/main">
            <a:off x="609600" y="3781425"/>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1">
                <a:solidFill>
                  <a:srgbClr val="BE98F6"/>
                </a:solidFill>
                <a:latin typeface="Arial"/>
                <a:ea typeface="Arial"/>
                <a:cs typeface="Arial"/>
              </a:defRPr>
            </a:defPPr>
          </a:lstStyle>
          <a:p xmlns:a="http://schemas.openxmlformats.org/drawingml/2006/main">
            <a:pPr algn="l">
              <a:defRPr sz="2250" b="1">
                <a:solidFill>
                  <a:srgbClr val="BE98F6"/>
                </a:solidFill>
                <a:latin typeface="Arial"/>
                <a:ea typeface="Arial"/>
                <a:cs typeface="Arial"/>
              </a:defRPr>
            </a:pPr>
            <a:r>
              <a:rPr sz="2250" b="1">
                <a:solidFill>
                  <a:srgbClr val="BE98F6"/>
                </a:solidFill>
                <a:latin typeface="Arial"/>
                <a:ea typeface="Arial"/>
                <a:cs typeface="Arial"/>
              </a:rPr>
              <a:t>Agent demonstration prompts</a:t>
            </a:r>
          </a:p>
        </p:txBody>
      </p:sp>
      <p:sp>
        <p:nvSpPr>
          <p:cNvPr id="9" name="“Create a notes helper limited to /notes.”&#10;“">
            <a:extLst xmlns:a="http://schemas.openxmlformats.org/drawingml/2006/main">
              <a:ext uri="{FF2B5EF4-FFF2-40B4-BE49-F238E27FC236}">
                <a16:creationId xmlns:a16="http://schemas.microsoft.com/office/drawing/2014/main" id="{2F3DE105-BEA1-4716-9983-E6550EBB819C}"/>
              </a:ext>
            </a:extLst>
          </p:cNvPr>
          <p:cNvSpPr>
            <a:spLocks xmlns:a="http://schemas.openxmlformats.org/drawingml/2006/main" noGrp="1"/>
          </p:cNvSpPr>
          <p:nvPr/>
        </p:nvSpPr>
        <p:spPr>
          <a:xfrm xmlns:a="http://schemas.openxmlformats.org/drawingml/2006/main">
            <a:off x="609600" y="444817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b="0">
                <a:solidFill>
                  <a:srgbClr val="FFFFFF"/>
                </a:solidFill>
                <a:latin typeface="Arial"/>
                <a:ea typeface="Arial"/>
                <a:cs typeface="Arial"/>
              </a:defRPr>
            </a:defPPr>
          </a:lstStyle>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“Create a notes helper limited to /notes.”</a:t>
            </a:r>
          </a:p>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“Create, read, update and delete /notes/demo.txt.”</a:t>
            </a:r>
          </a:p>
        </p:txBody>
      </p:sp>
      <p:sp>
        <p:nvSpPr>
          <p:cNvPr id="10" name="Gateway configuration: host API key, selecte">
            <a:extLst xmlns:a="http://schemas.openxmlformats.org/drawingml/2006/main">
              <a:ext uri="{FF2B5EF4-FFF2-40B4-BE49-F238E27FC236}">
                <a16:creationId xmlns:a16="http://schemas.microsoft.com/office/drawing/2014/main" id="{66341D3E-26B3-4870-9A3F-B9E859BA8091}"/>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Gateway configuration: host API key, selected model, guest endpoint and allowed tools.</a:t>
            </a:r>
          </a:p>
        </p:txBody>
      </p:sp>
    </p:spTree>
    <p:extLst>
      <p:ext uri="{BB962C8B-B14F-4D97-AF65-F5344CB8AC3E}">
        <p14:creationId xmlns:p14="http://schemas.microsoft.com/office/powerpoint/2010/main" val="1821281010"/>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BUILD &amp; RUN">
            <a:extLst xmlns:a="http://schemas.openxmlformats.org/drawingml/2006/main">
              <a:ext uri="{FF2B5EF4-FFF2-40B4-BE49-F238E27FC236}">
                <a16:creationId xmlns:a16="http://schemas.microsoft.com/office/drawing/2014/main" id="{DE8DD02A-1836-4306-BA5A-B5FF5AC3EE69}"/>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7D43D5"/>
                </a:solidFill>
                <a:latin typeface="Arial"/>
                <a:ea typeface="Arial"/>
                <a:cs typeface="Arial"/>
              </a:defRPr>
            </a:defPPr>
          </a:lstStyle>
          <a:p xmlns:a="http://schemas.openxmlformats.org/drawingml/2006/main">
            <a:pPr algn="l">
              <a:defRPr sz="1200" b="1">
                <a:solidFill>
                  <a:srgbClr val="7D43D5"/>
                </a:solidFill>
                <a:latin typeface="Arial"/>
                <a:ea typeface="Arial"/>
                <a:cs typeface="Arial"/>
              </a:defRPr>
            </a:pPr>
            <a:r>
              <a:rPr sz="1200" b="1">
                <a:solidFill>
                  <a:srgbClr val="7D43D5"/>
                </a:solidFill>
                <a:latin typeface="Arial"/>
                <a:ea typeface="Arial"/>
                <a:cs typeface="Arial"/>
              </a:rPr>
              <a:t>BUILD &amp; RUN</a:t>
            </a:r>
          </a:p>
        </p:txBody>
      </p:sp>
      <p:sp>
        <p:nvSpPr>
          <p:cNvPr id="2" name="Troubleshooting map">
            <a:extLst xmlns:a="http://schemas.openxmlformats.org/drawingml/2006/main">
              <a:ext uri="{FF2B5EF4-FFF2-40B4-BE49-F238E27FC236}">
                <a16:creationId xmlns:a16="http://schemas.microsoft.com/office/drawing/2014/main" id="{4E0B5DA6-BCB4-46D2-86B4-F43B4A753B24}"/>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51139"/>
                </a:solidFill>
                <a:latin typeface="Arial"/>
                <a:ea typeface="Arial"/>
                <a:cs typeface="Arial"/>
              </a:defRPr>
            </a:defPPr>
          </a:lstStyle>
          <a:p xmlns:a="http://schemas.openxmlformats.org/drawingml/2006/main">
            <a:pPr algn="l">
              <a:defRPr sz="3300" b="1">
                <a:solidFill>
                  <a:srgbClr val="251139"/>
                </a:solidFill>
                <a:latin typeface="Arial"/>
                <a:ea typeface="Arial"/>
                <a:cs typeface="Arial"/>
              </a:defRPr>
            </a:pPr>
            <a:r>
              <a:rPr sz="3300" b="1">
                <a:solidFill>
                  <a:srgbClr val="251139"/>
                </a:solidFill>
                <a:latin typeface="Arial"/>
                <a:ea typeface="Arial"/>
                <a:cs typeface="Arial"/>
              </a:rPr>
              <a:t>Troubleshooting map</a:t>
            </a:r>
          </a:p>
        </p:txBody>
      </p:sp>
      <p:sp>
        <p:nvSpPr>
          <p:cNvPr id="3" name="AGENTIC OS  /  MVP TECHNICAL WALKTHROUGH">
            <a:extLst xmlns:a="http://schemas.openxmlformats.org/drawingml/2006/main">
              <a:ext uri="{FF2B5EF4-FFF2-40B4-BE49-F238E27FC236}">
                <a16:creationId xmlns:a16="http://schemas.microsoft.com/office/drawing/2014/main" id="{6D0E2AB0-7632-4FA5-BFB4-644DAD9E1643}"/>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7D43D5"/>
                </a:solidFill>
                <a:latin typeface="Arial"/>
                <a:ea typeface="Arial"/>
                <a:cs typeface="Arial"/>
              </a:defRPr>
            </a:defPPr>
          </a:lstStyle>
          <a:p xmlns:a="http://schemas.openxmlformats.org/drawingml/2006/main">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38">
            <a:extLst xmlns:a="http://schemas.openxmlformats.org/drawingml/2006/main">
              <a:ext uri="{FF2B5EF4-FFF2-40B4-BE49-F238E27FC236}">
                <a16:creationId xmlns:a16="http://schemas.microsoft.com/office/drawing/2014/main" id="{A14AD5CF-18D6-4DFE-A681-DF3125A0DB52}"/>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7D43D5"/>
                </a:solidFill>
                <a:latin typeface="Arial"/>
                <a:ea typeface="Arial"/>
                <a:cs typeface="Arial"/>
              </a:defRPr>
            </a:defPPr>
          </a:lstStyle>
          <a:p xmlns:a="http://schemas.openxmlformats.org/drawingml/2006/main">
            <a:pPr algn="r">
              <a:defRPr sz="1275" b="0">
                <a:solidFill>
                  <a:srgbClr val="7D43D5"/>
                </a:solidFill>
                <a:latin typeface="Arial"/>
                <a:ea typeface="Arial"/>
                <a:cs typeface="Arial"/>
              </a:defRPr>
            </a:pPr>
            <a:r>
              <a:rPr sz="1275" b="0">
                <a:solidFill>
                  <a:srgbClr val="7D43D5"/>
                </a:solidFill>
                <a:latin typeface="Arial"/>
                <a:ea typeface="Arial"/>
                <a:cs typeface="Arial"/>
              </a:rPr>
              <a:t>38</a:t>
            </a:r>
          </a:p>
        </p:txBody>
      </p:sp>
      <p:sp>
        <p:nvSpPr>
          <p:cNvPr id="5" name="Assembler error">
            <a:extLst xmlns:a="http://schemas.openxmlformats.org/drawingml/2006/main">
              <a:ext uri="{FF2B5EF4-FFF2-40B4-BE49-F238E27FC236}">
                <a16:creationId xmlns:a16="http://schemas.microsoft.com/office/drawing/2014/main" id="{F002FEB9-3464-400F-8AF6-78FEF375B8A4}"/>
              </a:ext>
            </a:extLst>
          </p:cNvPr>
          <p:cNvSpPr>
            <a:spLocks xmlns:a="http://schemas.openxmlformats.org/drawingml/2006/main" noGrp="1"/>
          </p:cNvSpPr>
          <p:nvPr/>
        </p:nvSpPr>
        <p:spPr>
          <a:xfrm xmlns:a="http://schemas.openxmlformats.org/drawingml/2006/main">
            <a:off x="609600" y="19716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Assembler error</a:t>
            </a:r>
          </a:p>
        </p:txBody>
      </p:sp>
      <p:sp>
        <p:nvSpPr>
          <p:cNvPr id="6" name="Check the boot.asm instruction and NASM inst">
            <a:extLst xmlns:a="http://schemas.openxmlformats.org/drawingml/2006/main">
              <a:ext uri="{FF2B5EF4-FFF2-40B4-BE49-F238E27FC236}">
                <a16:creationId xmlns:a16="http://schemas.microsoft.com/office/drawing/2014/main" id="{C752AE3E-A8CE-4DB6-BB2F-3AE0FB395866}"/>
              </a:ext>
            </a:extLst>
          </p:cNvPr>
          <p:cNvSpPr>
            <a:spLocks xmlns:a="http://schemas.openxmlformats.org/drawingml/2006/main" noGrp="1"/>
          </p:cNvSpPr>
          <p:nvPr/>
        </p:nvSpPr>
        <p:spPr>
          <a:xfrm xmlns:a="http://schemas.openxmlformats.org/drawingml/2006/main">
            <a:off x="3943350" y="19716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Check the boot.asm instruction and NASM installation</a:t>
            </a:r>
          </a:p>
        </p:txBody>
      </p:sp>
      <p:sp>
        <p:nvSpPr>
          <p:cNvPr id="7" name="Boot loop or blank screen">
            <a:extLst xmlns:a="http://schemas.openxmlformats.org/drawingml/2006/main">
              <a:ext uri="{FF2B5EF4-FFF2-40B4-BE49-F238E27FC236}">
                <a16:creationId xmlns:a16="http://schemas.microsoft.com/office/drawing/2014/main" id="{57C5A84D-F7DF-4FDC-ADBF-12292553D868}"/>
              </a:ext>
            </a:extLst>
          </p:cNvPr>
          <p:cNvSpPr>
            <a:spLocks xmlns:a="http://schemas.openxmlformats.org/drawingml/2006/main" noGrp="1"/>
          </p:cNvSpPr>
          <p:nvPr/>
        </p:nvSpPr>
        <p:spPr>
          <a:xfrm xmlns:a="http://schemas.openxmlformats.org/drawingml/2006/main">
            <a:off x="609600" y="28860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Boot loop or blank screen</a:t>
            </a:r>
          </a:p>
        </p:txBody>
      </p:sp>
      <p:sp>
        <p:nvSpPr>
          <p:cNvPr id="8" name="Check image path, raw kernel format and load">
            <a:extLst xmlns:a="http://schemas.openxmlformats.org/drawingml/2006/main">
              <a:ext uri="{FF2B5EF4-FFF2-40B4-BE49-F238E27FC236}">
                <a16:creationId xmlns:a16="http://schemas.microsoft.com/office/drawing/2014/main" id="{18F176D1-4646-4531-A763-472932C4E528}"/>
              </a:ext>
            </a:extLst>
          </p:cNvPr>
          <p:cNvSpPr>
            <a:spLocks xmlns:a="http://schemas.openxmlformats.org/drawingml/2006/main" noGrp="1"/>
          </p:cNvSpPr>
          <p:nvPr/>
        </p:nvSpPr>
        <p:spPr>
          <a:xfrm xmlns:a="http://schemas.openxmlformats.org/drawingml/2006/main">
            <a:off x="3943350" y="28860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Check image path, raw kernel format and loaded sectors</a:t>
            </a:r>
          </a:p>
        </p:txBody>
      </p:sp>
      <p:sp>
        <p:nvSpPr>
          <p:cNvPr id="9" name="tcpping has no reply">
            <a:extLst xmlns:a="http://schemas.openxmlformats.org/drawingml/2006/main">
              <a:ext uri="{FF2B5EF4-FFF2-40B4-BE49-F238E27FC236}">
                <a16:creationId xmlns:a16="http://schemas.microsoft.com/office/drawing/2014/main" id="{81D3A752-4B82-4770-B37A-0E37A83B42F2}"/>
              </a:ext>
            </a:extLst>
          </p:cNvPr>
          <p:cNvSpPr>
            <a:spLocks xmlns:a="http://schemas.openxmlformats.org/drawingml/2006/main" noGrp="1"/>
          </p:cNvSpPr>
          <p:nvPr/>
        </p:nvSpPr>
        <p:spPr>
          <a:xfrm xmlns:a="http://schemas.openxmlformats.org/drawingml/2006/main">
            <a:off x="609600" y="38004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tcpping has no reply</a:t>
            </a:r>
          </a:p>
        </p:txBody>
      </p:sp>
      <p:sp>
        <p:nvSpPr>
          <p:cNvPr id="10" name="Check NIC settings, subnet, next hop and lis">
            <a:extLst xmlns:a="http://schemas.openxmlformats.org/drawingml/2006/main">
              <a:ext uri="{FF2B5EF4-FFF2-40B4-BE49-F238E27FC236}">
                <a16:creationId xmlns:a16="http://schemas.microsoft.com/office/drawing/2014/main" id="{67BFDBD3-27CC-4E89-ACCC-FE603D0B4BDE}"/>
              </a:ext>
            </a:extLst>
          </p:cNvPr>
          <p:cNvSpPr>
            <a:spLocks xmlns:a="http://schemas.openxmlformats.org/drawingml/2006/main" noGrp="1"/>
          </p:cNvSpPr>
          <p:nvPr/>
        </p:nvSpPr>
        <p:spPr>
          <a:xfrm xmlns:a="http://schemas.openxmlformats.org/drawingml/2006/main">
            <a:off x="3943350" y="38004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Check NIC settings, subnet, next hop and listening port</a:t>
            </a:r>
          </a:p>
        </p:txBody>
      </p:sp>
      <p:sp>
        <p:nvSpPr>
          <p:cNvPr id="11" name="Files vanish on reboot">
            <a:extLst xmlns:a="http://schemas.openxmlformats.org/drawingml/2006/main">
              <a:ext uri="{FF2B5EF4-FFF2-40B4-BE49-F238E27FC236}">
                <a16:creationId xmlns:a16="http://schemas.microsoft.com/office/drawing/2014/main" id="{F360F3B9-EB2B-41FC-BB59-36593E09543C}"/>
              </a:ext>
            </a:extLst>
          </p:cNvPr>
          <p:cNvSpPr>
            <a:spLocks xmlns:a="http://schemas.openxmlformats.org/drawingml/2006/main" noGrp="1"/>
          </p:cNvSpPr>
          <p:nvPr/>
        </p:nvSpPr>
        <p:spPr>
          <a:xfrm xmlns:a="http://schemas.openxmlformats.org/drawingml/2006/main">
            <a:off x="609600" y="47148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Files vanish on reboot</a:t>
            </a:r>
          </a:p>
        </p:txBody>
      </p:sp>
      <p:sp>
        <p:nvSpPr>
          <p:cNvPr id="12" name="RAMFS is volatile by design">
            <a:extLst xmlns:a="http://schemas.openxmlformats.org/drawingml/2006/main">
              <a:ext uri="{FF2B5EF4-FFF2-40B4-BE49-F238E27FC236}">
                <a16:creationId xmlns:a16="http://schemas.microsoft.com/office/drawing/2014/main" id="{14BC13B9-FCAE-46B2-8DB4-9234D4C61A88}"/>
              </a:ext>
            </a:extLst>
          </p:cNvPr>
          <p:cNvSpPr>
            <a:spLocks xmlns:a="http://schemas.openxmlformats.org/drawingml/2006/main" noGrp="1"/>
          </p:cNvSpPr>
          <p:nvPr/>
        </p:nvSpPr>
        <p:spPr>
          <a:xfrm xmlns:a="http://schemas.openxmlformats.org/drawingml/2006/main">
            <a:off x="3943350" y="47148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RAMFS is volatile by design</a:t>
            </a:r>
          </a:p>
        </p:txBody>
      </p:sp>
    </p:spTree>
    <p:extLst>
      <p:ext uri="{BB962C8B-B14F-4D97-AF65-F5344CB8AC3E}">
        <p14:creationId xmlns:p14="http://schemas.microsoft.com/office/powerpoint/2010/main" val="1456552329"/>
      </p:ext>
    </p:extLst>
  </p:cSld>
</p:sld>
</file>

<file path=ppt/slides/slide39.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7" name="CLOSING">
            <a:extLst xmlns:a="http://schemas.openxmlformats.org/drawingml/2006/main">
              <a:ext uri="{FF2B5EF4-FFF2-40B4-BE49-F238E27FC236}">
                <a16:creationId xmlns:a16="http://schemas.microsoft.com/office/drawing/2014/main" id="{9E5EB19F-7FD2-45CB-9D94-79A4F71E1442}"/>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CLOSING</a:t>
            </a:r>
          </a:p>
        </p:txBody>
      </p:sp>
      <p:sp>
        <p:nvSpPr>
          <p:cNvPr id="2" name="End-to-end walkthrough">
            <a:extLst xmlns:a="http://schemas.openxmlformats.org/drawingml/2006/main">
              <a:ext uri="{FF2B5EF4-FFF2-40B4-BE49-F238E27FC236}">
                <a16:creationId xmlns:a16="http://schemas.microsoft.com/office/drawing/2014/main" id="{E4061F17-6A46-4344-AEE8-71F06247ACE2}"/>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End-to-end walkthrough</a:t>
            </a:r>
          </a:p>
        </p:txBody>
      </p:sp>
      <p:sp>
        <p:nvSpPr>
          <p:cNvPr id="3" name="AGENTIC OS  /  MVP TECHNICAL WALKTHROUGH">
            <a:extLst xmlns:a="http://schemas.openxmlformats.org/drawingml/2006/main">
              <a:ext uri="{FF2B5EF4-FFF2-40B4-BE49-F238E27FC236}">
                <a16:creationId xmlns:a16="http://schemas.microsoft.com/office/drawing/2014/main" id="{FD3226BB-E9AF-4A5E-9C9B-EC1948A07E10}"/>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39">
            <a:extLst xmlns:a="http://schemas.openxmlformats.org/drawingml/2006/main">
              <a:ext uri="{FF2B5EF4-FFF2-40B4-BE49-F238E27FC236}">
                <a16:creationId xmlns:a16="http://schemas.microsoft.com/office/drawing/2014/main" id="{B84A3E3C-CDDD-4E3E-BF4F-6248C7193874}"/>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39</a:t>
            </a:r>
          </a:p>
        </p:txBody>
      </p:sp>
      <p:sp>
        <p:nvSpPr>
          <p:cNvPr id="5" name="">
            <a:extLst xmlns:a="http://schemas.openxmlformats.org/drawingml/2006/main">
              <a:ext uri="{FF2B5EF4-FFF2-40B4-BE49-F238E27FC236}">
                <a16:creationId xmlns:a16="http://schemas.microsoft.com/office/drawing/2014/main" id="{BE126BC7-CD2F-4CB6-B43B-C0247ECE1786}"/>
              </a:ext>
            </a:extLst>
          </p:cNvPr>
          <p:cNvSpPr>
            <a:spLocks xmlns:a="http://schemas.openxmlformats.org/drawingml/2006/main" noGrp="1"/>
          </p:cNvSpPr>
          <p:nvPr/>
        </p:nvSpPr>
        <p:spPr>
          <a:xfrm xmlns:a="http://schemas.openxmlformats.org/drawingml/2006/main">
            <a:off x="609600"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Boot the OS">
            <a:extLst xmlns:a="http://schemas.openxmlformats.org/drawingml/2006/main">
              <a:ext uri="{FF2B5EF4-FFF2-40B4-BE49-F238E27FC236}">
                <a16:creationId xmlns:a16="http://schemas.microsoft.com/office/drawing/2014/main" id="{01A8B3AE-93A5-4854-82CF-062D5466A3B3}"/>
              </a:ext>
            </a:extLst>
          </p:cNvPr>
          <p:cNvSpPr>
            <a:spLocks xmlns:a="http://schemas.openxmlformats.org/drawingml/2006/main" noGrp="1"/>
          </p:cNvSpPr>
          <p:nvPr/>
        </p:nvSpPr>
        <p:spPr>
          <a:xfrm xmlns:a="http://schemas.openxmlformats.org/drawingml/2006/main">
            <a:off x="752475"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Boot the OS</a:t>
            </a:r>
          </a:p>
        </p:txBody>
      </p:sp>
      <p:cxnSp>
        <p:nvCxnSpPr>
          <p:cNvPr id="7" name="">
            <a:extLst xmlns:a="http://schemas.openxmlformats.org/drawingml/2006/main">
              <a:ext uri="{FF2B5EF4-FFF2-40B4-BE49-F238E27FC236}">
                <a16:creationId xmlns:a16="http://schemas.microsoft.com/office/drawing/2014/main" id="{B3B96574-FD4C-4A1E-8C4D-05208195408B}"/>
              </a:ext>
            </a:extLst>
          </p:cNvPr>
          <p:cNvCxnSpPr/>
          <p:nvPr/>
        </p:nvCxnSpPr>
        <p:spPr>
          <a:xfrm xmlns:a="http://schemas.openxmlformats.org/drawingml/2006/main" flipH="0" flipV="0">
            <a:off x="3081338"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8" name="">
            <a:extLst xmlns:a="http://schemas.openxmlformats.org/drawingml/2006/main">
              <a:ext uri="{FF2B5EF4-FFF2-40B4-BE49-F238E27FC236}">
                <a16:creationId xmlns:a16="http://schemas.microsoft.com/office/drawing/2014/main" id="{6EDAB508-8BEC-4099-984A-0E3AAB8A764A}"/>
              </a:ext>
            </a:extLst>
          </p:cNvPr>
          <p:cNvSpPr>
            <a:spLocks xmlns:a="http://schemas.openxmlformats.org/drawingml/2006/main" noGrp="1"/>
          </p:cNvSpPr>
          <p:nvPr/>
        </p:nvSpPr>
        <p:spPr>
          <a:xfrm xmlns:a="http://schemas.openxmlformats.org/drawingml/2006/main">
            <a:off x="3443288"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Reach the&#10;network">
            <a:extLst xmlns:a="http://schemas.openxmlformats.org/drawingml/2006/main">
              <a:ext uri="{FF2B5EF4-FFF2-40B4-BE49-F238E27FC236}">
                <a16:creationId xmlns:a16="http://schemas.microsoft.com/office/drawing/2014/main" id="{704F6645-2115-48C4-90FD-3B50187B9A11}"/>
              </a:ext>
            </a:extLst>
          </p:cNvPr>
          <p:cNvSpPr>
            <a:spLocks xmlns:a="http://schemas.openxmlformats.org/drawingml/2006/main" noGrp="1"/>
          </p:cNvSpPr>
          <p:nvPr/>
        </p:nvSpPr>
        <p:spPr>
          <a:xfrm xmlns:a="http://schemas.openxmlformats.org/drawingml/2006/main">
            <a:off x="3586163"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Reach the</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network</a:t>
            </a:r>
          </a:p>
        </p:txBody>
      </p:sp>
      <p:cxnSp>
        <p:nvCxnSpPr>
          <p:cNvPr id="10" name="">
            <a:extLst xmlns:a="http://schemas.openxmlformats.org/drawingml/2006/main">
              <a:ext uri="{FF2B5EF4-FFF2-40B4-BE49-F238E27FC236}">
                <a16:creationId xmlns:a16="http://schemas.microsoft.com/office/drawing/2014/main" id="{AB88A2F3-213D-4EAD-8279-39908935C6A1}"/>
              </a:ext>
            </a:extLst>
          </p:cNvPr>
          <p:cNvCxnSpPr/>
          <p:nvPr/>
        </p:nvCxnSpPr>
        <p:spPr>
          <a:xfrm xmlns:a="http://schemas.openxmlformats.org/drawingml/2006/main" flipH="0" flipV="0">
            <a:off x="5915025"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1" name="">
            <a:extLst xmlns:a="http://schemas.openxmlformats.org/drawingml/2006/main">
              <a:ext uri="{FF2B5EF4-FFF2-40B4-BE49-F238E27FC236}">
                <a16:creationId xmlns:a16="http://schemas.microsoft.com/office/drawing/2014/main" id="{5C8A0CCF-2BAD-4D8F-8D2C-F416A11E1D93}"/>
              </a:ext>
            </a:extLst>
          </p:cNvPr>
          <p:cNvSpPr>
            <a:spLocks xmlns:a="http://schemas.openxmlformats.org/drawingml/2006/main" noGrp="1"/>
          </p:cNvSpPr>
          <p:nvPr/>
        </p:nvSpPr>
        <p:spPr>
          <a:xfrm xmlns:a="http://schemas.openxmlformats.org/drawingml/2006/main">
            <a:off x="6276975"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Create an&#10;agent">
            <a:extLst xmlns:a="http://schemas.openxmlformats.org/drawingml/2006/main">
              <a:ext uri="{FF2B5EF4-FFF2-40B4-BE49-F238E27FC236}">
                <a16:creationId xmlns:a16="http://schemas.microsoft.com/office/drawing/2014/main" id="{DCDD52D9-CB08-4575-9193-23AA1ADBF9EC}"/>
              </a:ext>
            </a:extLst>
          </p:cNvPr>
          <p:cNvSpPr>
            <a:spLocks xmlns:a="http://schemas.openxmlformats.org/drawingml/2006/main" noGrp="1"/>
          </p:cNvSpPr>
          <p:nvPr/>
        </p:nvSpPr>
        <p:spPr>
          <a:xfrm xmlns:a="http://schemas.openxmlformats.org/drawingml/2006/main">
            <a:off x="6419850"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Create an</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agent</a:t>
            </a:r>
          </a:p>
        </p:txBody>
      </p:sp>
      <p:cxnSp>
        <p:nvCxnSpPr>
          <p:cNvPr id="13" name="">
            <a:extLst xmlns:a="http://schemas.openxmlformats.org/drawingml/2006/main">
              <a:ext uri="{FF2B5EF4-FFF2-40B4-BE49-F238E27FC236}">
                <a16:creationId xmlns:a16="http://schemas.microsoft.com/office/drawing/2014/main" id="{511895DC-69FA-4ADA-A30E-407E269D38B3}"/>
              </a:ext>
            </a:extLst>
          </p:cNvPr>
          <p:cNvCxnSpPr/>
          <p:nvPr/>
        </p:nvCxnSpPr>
        <p:spPr>
          <a:xfrm xmlns:a="http://schemas.openxmlformats.org/drawingml/2006/main" flipH="0" flipV="0">
            <a:off x="8748713"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D2A00B0C-77C6-45B0-996C-9561D94A0C9A}"/>
              </a:ext>
            </a:extLst>
          </p:cNvPr>
          <p:cNvSpPr>
            <a:spLocks xmlns:a="http://schemas.openxmlformats.org/drawingml/2006/main" noGrp="1"/>
          </p:cNvSpPr>
          <p:nvPr/>
        </p:nvSpPr>
        <p:spPr>
          <a:xfrm xmlns:a="http://schemas.openxmlformats.org/drawingml/2006/main">
            <a:off x="9110663"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Verify file&#10;changes">
            <a:extLst xmlns:a="http://schemas.openxmlformats.org/drawingml/2006/main">
              <a:ext uri="{FF2B5EF4-FFF2-40B4-BE49-F238E27FC236}">
                <a16:creationId xmlns:a16="http://schemas.microsoft.com/office/drawing/2014/main" id="{39252574-5FF4-46B7-8FDD-32748EFB5EBA}"/>
              </a:ext>
            </a:extLst>
          </p:cNvPr>
          <p:cNvSpPr>
            <a:spLocks xmlns:a="http://schemas.openxmlformats.org/drawingml/2006/main" noGrp="1"/>
          </p:cNvSpPr>
          <p:nvPr/>
        </p:nvSpPr>
        <p:spPr>
          <a:xfrm xmlns:a="http://schemas.openxmlformats.org/drawingml/2006/main">
            <a:off x="9253538"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Verify file</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changes</a:t>
            </a:r>
          </a:p>
        </p:txBody>
      </p:sp>
      <p:sp>
        <p:nvSpPr>
          <p:cNvPr id="16" name="A visible chain from user intent&#10;to a concre">
            <a:extLst xmlns:a="http://schemas.openxmlformats.org/drawingml/2006/main">
              <a:ext uri="{FF2B5EF4-FFF2-40B4-BE49-F238E27FC236}">
                <a16:creationId xmlns:a16="http://schemas.microsoft.com/office/drawing/2014/main" id="{511002CB-B929-4010-B425-7F6C2AA5DD86}"/>
              </a:ext>
            </a:extLst>
          </p:cNvPr>
          <p:cNvSpPr>
            <a:spLocks xmlns:a="http://schemas.openxmlformats.org/drawingml/2006/main" noGrp="1"/>
          </p:cNvSpPr>
          <p:nvPr/>
        </p:nvSpPr>
        <p:spPr>
          <a:xfrm xmlns:a="http://schemas.openxmlformats.org/drawingml/2006/main">
            <a:off x="609600" y="4514850"/>
            <a:ext cx="109061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150" b="1">
                <a:solidFill>
                  <a:srgbClr val="BE98F6"/>
                </a:solidFill>
                <a:latin typeface="Arial"/>
                <a:ea typeface="Arial"/>
                <a:cs typeface="Arial"/>
              </a:defRPr>
            </a:defPPr>
          </a:lstStyle>
          <a:p xmlns:a="http://schemas.openxmlformats.org/drawingml/2006/main">
            <a:pPr algn="l">
              <a:defRPr sz="3150" b="1">
                <a:solidFill>
                  <a:srgbClr val="BE98F6"/>
                </a:solidFill>
                <a:latin typeface="Arial"/>
                <a:ea typeface="Arial"/>
                <a:cs typeface="Arial"/>
              </a:defRPr>
            </a:pPr>
            <a:r>
              <a:rPr sz="3150" b="1">
                <a:solidFill>
                  <a:srgbClr val="BE98F6"/>
                </a:solidFill>
                <a:latin typeface="Arial"/>
                <a:ea typeface="Arial"/>
                <a:cs typeface="Arial"/>
              </a:rPr>
              <a:t>A visible chain from user intent</a:t>
            </a:r>
          </a:p>
          <a:p xmlns:a="http://schemas.openxmlformats.org/drawingml/2006/main">
            <a:pPr algn="l">
              <a:defRPr sz="3150" b="1">
                <a:solidFill>
                  <a:srgbClr val="BE98F6"/>
                </a:solidFill>
                <a:latin typeface="Arial"/>
                <a:ea typeface="Arial"/>
                <a:cs typeface="Arial"/>
              </a:defRPr>
            </a:pPr>
            <a:r>
              <a:rPr sz="3150" b="1">
                <a:solidFill>
                  <a:srgbClr val="BE98F6"/>
                </a:solidFill>
                <a:latin typeface="Arial"/>
                <a:ea typeface="Arial"/>
                <a:cs typeface="Arial"/>
              </a:rPr>
              <a:t>to a concrete filesystem result</a:t>
            </a:r>
          </a:p>
        </p:txBody>
      </p:sp>
    </p:spTree>
    <p:extLst>
      <p:ext uri="{BB962C8B-B14F-4D97-AF65-F5344CB8AC3E}">
        <p14:creationId xmlns:p14="http://schemas.microsoft.com/office/powerpoint/2010/main" val="16882838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2026-10-14T05:43:59.8280000Z</dcterms:created>
  <dcterms:modified xsi:type="dcterms:W3CDTF">2026-10-14T05:43:59.8280000Z</dcterms:modified>
</coreProperties>
</file>