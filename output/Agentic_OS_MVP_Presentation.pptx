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5" d="100"/>
          <a:sy n="105" d="100"/>
        </p:scale>
        <p:origin x="798"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0" Type="http://schemas.openxmlformats.org/officeDocument/2006/relationships/slide" Target="slides/slide19.xml"/><Relationship Id="rId41"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 technical walkthrough of the supplied x86 OS MVP and the user-requested completed-state agent architecture. No runtime success or performance measurements are claimed.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presentation separates kernel mechanics, networking and the completed-state agent design, then provides repository-grounded build and demo commands.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Repository sources: kernel/kernel.c; kernel/shell/shell.c; kernel/net/tcp_probe.c. Completed-state design assumption requested for this presentation. Gemini gateway, agent registry, tool policy and guest application transport are not implemented in the inspected repository. The diagram describes their coherent integration, not a tested runtime. </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Completed-state design assumption requested for this presentation. Gemini gateway, agent registry, tool policy and guest application transport are not implemented in the inspected repository. The diagram describes their coherent integration, not a tested runtime. Example: the user requests creation of a short note. The model selects a declared tool. A deterministic local executor validates the path and changes the filesystem.</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Repository sources: kernel/kernel.c; kernel/fs/ramfs/ramfs.c; kernel/net/ne2k.c. Completed-state design assumption requested for this presentation. Gemini gateway, agent registry, tool policy and guest application transport are not implemented in the inspected repository. The diagram describes their coherent integration, not a tested runtime. </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Repository sources: build.sh; linker.ld; kernel/*; host_tools/tcp_ping/*. </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Repository sources: build.sh. The build assembles ELF32 stubs, compiles freestanding C, links the kernel at 0x10000 and converts ELF to a flat binary. It computes the number of sectors for the bootloader and pads the image.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Repository sources: boot.asm; kernel/entry.asm; kernel/kernel.c. The loader uses BIOS INT 13h extensions, enables A20, loads the GDT, sets CR0.PE and jumps to 0x10000. Entry code initializes the stack and clears BSS.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Repository sources: kernel/kernel.c. kmain initializes hardware, memory, interrupts and scheduler before showing the banner. login_run gates access. net_init follows login, then RAMFS initialization and the infinite shell loop.</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Repository sources: linker.ld; kernel/entry.asm; kernel/memory/memory.c; kernel/memory/paging.c. The first 8 MiB are identity-mapped through two page tables of 1024 4 KiB pages. The heap spans 4–8 MiB. kfree checks and clears allocations but the allocator is a bump allocator with no general reuse.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Repository sources: kernel/drivers/keyboard.c; kernel/drivers/vga.c; kernel/io/line_input.c; kernel/interrupts/pic.c. PIC remaps IRQ vectors and unmasks keyboard IRQ1. Network receive uses polling. VGA output writes text to the text buffer. The line-input helper supplies editable lines and controls echo.</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Repository sources: kernel/shell/shell.c. Input capacity is 256 bytes and command capacity is 32 bytes, both including terminators. The current directory begins at /. Arguments are parsed by whitespace. This shell does not implement pipes or a full quoting language.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Repository sources: kernel/fs/ramfs/ramfs.h; kernel/fs/ramfs/ramfs.c; kernel/fs/ramfs/path.h. The filesystem holds up to 96 entries. Each stores a used flag, node type, absolute path, data pointer and size. The path buffer is 128 bytes; validation can reject paths before full capacity. Root is implicit and lookup scans entries. Reboot discards the filesystem.</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Repository sources: kernel/shell/shell.c; kernel/fs/ramfs/ramfs.c. Create rejects an existing path. Write creates or replaces a file and ensures parent directories. Reads use offset/capacity. Unlink refuses root and nonempty directories. These are kernel functions, not completed POSIX file descriptors.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Repository sources: kernel/shell/shell.c; kernel/fs/ramfs/ramfs.c. The shell splits path from remaining text and resolves an absolute path. RAMFS creates parents when needed, allocates new data before replacing existing data, and returns a status. The heap is finite.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Repository sources: kernel/scheduler/scheduler.c; kernel/syscalls/syscall.c; kernel/kernel.c. Scheduler code rotates bookkeeping state but does not implement a register/stack context switch. The shell does not return to kernel_loop. SYS_READ and SYS_EXIT contain unfinished behavior. This is not evidence of a working isolated multi-process runtime.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Repository sources: kernel/net/ne2k.c; kernel/net/tcp_probe.c; kernel/net/net_config.h. NE2000 is configured at I/O 0x300 and IRQ11, while packet reception is polled. The probe builds Ethernet, ARP, IPv4 and TCP packets. It does not provide an HTTP or TLS client.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Repository sources: kernel/net/net_config.h; bochsrc.bxrc. These addresses are compiled defaults, not a guarantee that the selected Bochs network backend provides that subnet. Match them to the chosen network. Changing net_config.h requires a rebuild.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Repository sources: kernel/net/tcp_probe.c. The next hop is the destination on the local subnet or the configured gateway. The probe broadcasts ARP, sends SYN, checks reply addresses, ports, flags and acknowledgement, then sends RST+ACK to end the probe. It does not transfer an application payload.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Repository sources: host_tools/tcp_ping/__main__.py; host_tools/tcp_ping/http_server.py; host_tools/tcp_ping/tcp_probe.py. The Python utility uses the host operating system TCP connect API. It is separate from the guest SYN probe. It serves /health, /status and GET/POST /ping on 127.0.0.1:8765 by default. No outbound probe occurs until requested.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Completed-state design assumption requested for this presentation. Gemini gateway, agent registry, tool policy and guest application transport are not implemented in the inspected repository. The diagram describes their coherent integration, not a tested runtime. This design uses a host gateway to perform DNS, HTTPS, authentication and model request handling. A guest application transport carries bounded messages. A SYN probe alone cannot carry these messages.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Completed-state design assumption requested for this presentation. Gemini gateway, agent registry, tool policy and guest application transport are not implemented in the inspected repository. The diagram describes their coherent integration, not a tested runtime. Sources: https://ai.google.dev/gemini-api/docs/api-key and https://ai.google.dev/gemini-api/docs/function-calling. API credentials stay in the host environment. Gemini returns function names and arguments; application code executes those functions. Exact timeout, retry and request limits are deployment settings.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Completed-state design assumption requested for this presentation. Gemini gateway, agent registry, tool policy and guest application transport are not implemented in the inspected repository. The diagram describes their coherent integration, not a tested runtime. Source: https://ai.google.dev/gemini-api/docs/function-calling. The application supplies tool definitions, receives a requested call, runs its own implementation, and submits the result for the model response. Local policy remains authoritative.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Completed-state design assumption requested for this presentation. Gemini gateway, agent registry, tool policy and guest application transport are not implemented in the inspected repository. The diagram describes their coherent integration, not a tested runtime. An agent configuration names a purpose, tools, scope and execution budget. It does not create a separate kernel process. The sample is a design-level configuration, not an existing file format or command.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Completed-state design assumption requested for this presentation. Gemini gateway, agent registry, tool policy and guest application transport are not implemented in the inspected repository. The diagram describes their coherent integration, not a tested runtime. Creation validates configuration and stores it in a registry. The main agent returns an identifier. The registry can be RAM-backed in this MVP, so it should not imply persistent agents across reboot.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Completed-state design assumption requested for this presentation. Gemini gateway, agent registry, tool policy and guest application transport are not implemented in the inspected repository. The diagram describes their coherent integration, not a tested runtime. The main agent resolves user intent, selects a helper, applies operation policy and delegates validated tool execution. Results include actual tool status rather than only generated prose. It remains a logical control layer above the current kernel filesystem.</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Completed-state design assumption requested for this presentation. Gemini gateway, agent registry, tool policy and guest application transport are not implemented in the inspected repository. The diagram describes their coherent integration, not a tested runtime. The names are presentation-level interfaces, not existing kernel exports. Create maps to ramfs_create_empty_file; read maps to ramfs_read_file; update maps to ramfs_write_file; delete maps to ramfs_unlink. Tool policy must check existence before update to make update-only semantics distinct from RAMFS upsert.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Completed-state design assumption requested for this presentation. Gemini gateway, agent registry, tool policy and guest application transport are not implemented in the inspected repository. The diagram describes their coherent integration, not a tested runtime. Example flow for a request to create a note. The tool adapter enforces create-only behavior and maps errors. Read-back verifies the bytes before the agent reports success. This is a designed sequence rather than a recorded execution.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Completed-state design assumption requested for this presentation. Gemini gateway, agent registry, tool policy and guest application transport are not implemented in the inspected repository. The diagram describes their coherent integration, not a tested runtime. Scope checking belongs in the agent adapter. Existing RAMFS normalizes paths, rejects dot segments, enforces types and refuses root deletion or nonempty-directory deletion. Agent allowlists and user confirmation are design assumptions.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Completed-state design assumption requested for this presentation. Gemini gateway, agent registry, tool policy and guest application transport are not implemented in the inspected repository. The diagram describes their coherent integration, not a tested runtime. Timeouts return an explicit network error. Invalid tool output is rejected before mutation. Read-only model requests may retry within a budget. Mutating operations need request IDs and reconciliation to avoid duplicate effects. These policies describe the requested integrated design.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Repository sources: build.sh; bochsrc.bxrc; host_tools/tcp_ping/__main__.py. Use a Bash environment with NASM and an i686-elf GCC/binutils cross toolchain. WSL or a Linux development environment is suitable if those tools are installed. The supplied emulator configuration uses Windows Bochs 3.0 paths. No clean kernel build or guest runtime was verified during deck creation.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Repository sources: boot.asm; bochsrc.bxrc. The inspected boot.asm contains the malformed instruction "mo   v ds, ax". Change it to "mov ds, ax" before rebuilding. The checked-in bochsrc points to a different project directory. These are required setup corrections; the presentation does not modify repository source.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Repository sources: build.sh. Commands are intended for Bash with the cross toolchain installed. The script overwrites generated boot/kernel build artifacts. It links kernel.elf, uses objcopy for kernel.bin, assembles boot.bin with the calculated sector count, concatenates and pads boot.img.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Repository sources: bochsrc.bxrc; kernel/auth/login.c; kernel/shell/shell.c. PowerShell launch uses the installed Bochs executable. Keep the local config disk path and BIOS paths correct. Use the development credentials defined in kernel/auth/login.c; passwords are deliberately not copied into this shareable presentation.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Repository sources: kernel/shell/shell.c; kernel/fs/ramfs/ramfs.c. These commands exercise the existing shell in order. write uses the remainder of the input line as content and replaces file content. No shell quotes are required. The final directory should be empty. Reboot resets RAMFS.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Repository sources: host_tools/tcp_ping/__main__.py; host_tools/tcp_ping/http_server.py. Run the server in one host terminal and the health request in another. The default listener is localhost only. A guest cannot reach the host service via the guest loopback address. Do not assume the host HTTP service is a Gemini bridge.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Repository sources: kernel/shell/shell.c; kernel/net/net_config.h. Completed-state design assumption requested for this presentation. Gemini gateway, agent registry, tool policy and guest application transport are not implemented in the inspected repository. The diagram describes their coherent integration, not a tested runtime. First select a known listening endpoint reachable from the guest subnet. The agent prompts are a completed-state demonstration script, not supported shell commands in this checkout. Host gateway launch commands cannot be given until its actual entry point exists.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Repository sources: boot.asm; build.sh; bochsrc.bxrc; kernel/net/net_config.h; kernel/net/tcp_probe.c; kernel/fs/ramfs/ramfs.c. These are source-grounded diagnostic leads, not a claim that the demo passed. A SYN-ACK says the port is reachable. It does not test TLS, Gemini authentication or tool execution.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Repository sources: kernel/kernel.c; kernel/shell/shell.c; kernel/fs/ramfs/ramfs.c. Completed-state design assumption requested for this presentation. Gemini gateway, agent registry, tool policy and guest application transport are not implemented in the inspected repository. The diagram describes their coherent integration, not a tested runtime. The final demonstration should show boot, a direct shell CRUD cycle, networking reachability, an agent definition and a verified tool-driven file action. Avoid claiming production security, persistence, full TCP/TLS support or measured reliability from this MVP. Sources for provider behavior: https://ai.google.dev/gemini-api/docs/function-calling and https://ai.google.dev/gemini-api/docs/api-key.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84553208-FDE9-44CA-A847-AFCD1DFADC4C}"/>
              </a:ext>
            </a:extLst>
          </p:cNvPr>
          <p:cNvSpPr>
            <a:spLocks noGrp="1"/>
          </p:cNvSpPr>
          <p:nvPr>
            <p:ph type="title"/>
          </p:nvPr>
        </p:nvSpPr>
        <p:spPr>
          <a:xfrm>
            <a:off x="1219200" y="2590800"/>
            <a:ext cx="9753600" cy="990600"/>
          </a:xfrm>
          <a:prstGeom prst="rect">
            <a:avLst/>
          </a:prstGeom>
          <a:noFill/>
          <a:ln>
            <a:noFill/>
            <a:prstDash val="solid"/>
          </a:ln>
        </p:spPr>
        <p:txBody>
          <a:bodyPr wrap="square" lIns="0" tIns="0" rIns="0" bIns="0" anchor="ctr">
            <a:normAutofit/>
          </a:bodyPr>
          <a:lstStyle>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Subtitle">
            <a:extLst>
              <a:ext uri="{FF2B5EF4-FFF2-40B4-BE49-F238E27FC236}">
                <a16:creationId xmlns:a16="http://schemas.microsoft.com/office/drawing/2014/main" id="{F95BDFD4-188A-49F6-AA77-FB7389D85512}"/>
              </a:ext>
            </a:extLst>
          </p:cNvPr>
          <p:cNvSpPr>
            <a:spLocks noGrp="1"/>
          </p:cNvSpPr>
          <p:nvPr>
            <p:ph type="subTitle" idx="1"/>
          </p:nvPr>
        </p:nvSpPr>
        <p:spPr>
          <a:xfrm>
            <a:off x="1828800" y="3771900"/>
            <a:ext cx="8534400" cy="762000"/>
          </a:xfrm>
          <a:prstGeom prst="rect">
            <a:avLst/>
          </a:prstGeom>
          <a:noFill/>
          <a:ln>
            <a:noFill/>
            <a:prstDash val="solid"/>
          </a:ln>
        </p:spPr>
        <p:txBody>
          <a:bodyPr wrap="square" lIns="0" tIns="0" rIns="0" bIns="0" anchor="ctr">
            <a:normAutofit/>
          </a:bodyPr>
          <a:lstStyle>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Section Header">
    <p:spTree>
      <p:nvGrpSpPr>
        <p:cNvPr id="1" name=""/>
        <p:cNvGrpSpPr/>
        <p:nvPr/>
      </p:nvGrpSpPr>
      <p:grpSpPr>
        <a:xfrm>
          <a:off x="0" y="0"/>
          <a:ext cx="0" cy="0"/>
          <a:chOff x="0" y="0"/>
          <a:chExt cx="0" cy="0"/>
        </a:xfrm>
      </p:grpSpPr>
      <p:sp>
        <p:nvSpPr>
          <p:cNvPr id="2" name="Section title">
            <a:extLst>
              <a:ext uri="{FF2B5EF4-FFF2-40B4-BE49-F238E27FC236}">
                <a16:creationId xmlns:a16="http://schemas.microsoft.com/office/drawing/2014/main" id="{DB00EFAD-FE12-45C0-A5BE-B15608BBDFFB}"/>
              </a:ext>
            </a:extLst>
          </p:cNvPr>
          <p:cNvSpPr>
            <a:spLocks noGrp="1"/>
          </p:cNvSpPr>
          <p:nvPr>
            <p:ph type="title"/>
          </p:nvPr>
        </p:nvSpPr>
        <p:spPr>
          <a:xfrm>
            <a:off x="1219200" y="2857500"/>
            <a:ext cx="9753600" cy="1143000"/>
          </a:xfrm>
          <a:prstGeom prst="rect">
            <a:avLst/>
          </a:prstGeom>
          <a:noFill/>
          <a:ln>
            <a:noFill/>
            <a:prstDash val="solid"/>
          </a:ln>
        </p:spPr>
        <p:txBody>
          <a:bodyPr wrap="square" lIns="0" tIns="0" rIns="0" bIns="0" anchor="ctr">
            <a:normAutofit/>
          </a:bodyPr>
          <a:lstStyle>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Title and Body">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B073234E-811F-4856-A566-359FCEEEC6A9}"/>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Body">
            <a:extLst>
              <a:ext uri="{FF2B5EF4-FFF2-40B4-BE49-F238E27FC236}">
                <a16:creationId xmlns:a16="http://schemas.microsoft.com/office/drawing/2014/main" id="{90CD52AA-997D-42F7-8E88-20A5B86A0AC0}"/>
              </a:ext>
            </a:extLst>
          </p:cNvPr>
          <p:cNvSpPr>
            <a:spLocks noGrp="1"/>
          </p:cNvSpPr>
          <p:nvPr>
            <p:ph type="body" idx="1"/>
          </p:nvPr>
        </p:nvSpPr>
        <p:spPr>
          <a:xfrm>
            <a:off x="685800" y="1905000"/>
            <a:ext cx="108204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Title and Two Column">
    <p:spTree>
      <p:nvGrpSpPr>
        <p:cNvPr id="1" name=""/>
        <p:cNvGrpSpPr/>
        <p:nvPr/>
      </p:nvGrpSpPr>
      <p:grpSpPr>
        <a:xfrm>
          <a:off x="0" y="0"/>
          <a:ext cx="0" cy="0"/>
          <a:chOff x="0" y="0"/>
          <a:chExt cx="0" cy="0"/>
        </a:xfrm>
      </p:grpSpPr>
      <p:sp>
        <p:nvSpPr>
          <p:cNvPr id="4" name="Title">
            <a:extLst>
              <a:ext uri="{FF2B5EF4-FFF2-40B4-BE49-F238E27FC236}">
                <a16:creationId xmlns:a16="http://schemas.microsoft.com/office/drawing/2014/main" id="{3B772718-D316-4617-B4E9-340872E385EF}"/>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Left column">
            <a:extLst>
              <a:ext uri="{FF2B5EF4-FFF2-40B4-BE49-F238E27FC236}">
                <a16:creationId xmlns:a16="http://schemas.microsoft.com/office/drawing/2014/main" id="{260164C7-8290-4111-A7DA-71056779A09E}"/>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
        <p:nvSpPr>
          <p:cNvPr id="3" name="Right column">
            <a:extLst>
              <a:ext uri="{FF2B5EF4-FFF2-40B4-BE49-F238E27FC236}">
                <a16:creationId xmlns:a16="http://schemas.microsoft.com/office/drawing/2014/main" id="{8AD8127F-57BD-4F73-9213-50905DEBA70F}"/>
              </a:ext>
            </a:extLst>
          </p:cNvPr>
          <p:cNvSpPr>
            <a:spLocks noGrp="1"/>
          </p:cNvSpPr>
          <p:nvPr>
            <p:ph type="body" idx="2"/>
          </p:nvPr>
        </p:nvSpPr>
        <p:spPr>
          <a:xfrm>
            <a:off x="64770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Title and One Column">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310F658C-1385-4B11-990E-B0F0DC586EB0}"/>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Left column">
            <a:extLst>
              <a:ext uri="{FF2B5EF4-FFF2-40B4-BE49-F238E27FC236}">
                <a16:creationId xmlns:a16="http://schemas.microsoft.com/office/drawing/2014/main" id="{3BD44C2E-882C-4367-865D-359D5733E0C6}"/>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80B2B"/>
        </a:solidFill>
        <a:effectLst/>
      </p:bgPr>
    </p:bg>
    <p:spTree>
      <p:nvGrpSpPr>
        <p:cNvPr id="1" name=""/>
        <p:cNvGrpSpPr/>
        <p:nvPr/>
      </p:nvGrpSpPr>
      <p:grpSpPr>
        <a:xfrm>
          <a:off x="0" y="0"/>
          <a:ext cx="0" cy="0"/>
          <a:chOff x="0" y="0"/>
          <a:chExt cx="0" cy="0"/>
        </a:xfrm>
      </p:grpSpPr>
      <p:sp>
        <p:nvSpPr>
          <p:cNvPr id="15" name="MVP  /  TECHNICAL WALKTHROUGH">
            <a:extLst>
              <a:ext uri="{FF2B5EF4-FFF2-40B4-BE49-F238E27FC236}">
                <a16:creationId xmlns:a16="http://schemas.microsoft.com/office/drawing/2014/main" id="{61FECF14-5BA4-4CD3-B960-BE4AF564544D}"/>
              </a:ext>
            </a:extLst>
          </p:cNvPr>
          <p:cNvSpPr>
            <a:spLocks noGrp="1"/>
          </p:cNvSpPr>
          <p:nvPr/>
        </p:nvSpPr>
        <p:spPr>
          <a:xfrm>
            <a:off x="609600" y="323850"/>
            <a:ext cx="10001250" cy="228600"/>
          </a:xfrm>
          <a:prstGeom prst="rect">
            <a:avLst/>
          </a:prstGeom>
          <a:noFill/>
          <a:ln w="0">
            <a:noFill/>
          </a:ln>
        </p:spPr>
        <p:txBody>
          <a:bodyPr lIns="0" tIns="0" rIns="0" bIns="0" anchor="ctr"/>
          <a:lstStyle>
            <a:defPPr algn="l">
              <a:defRPr sz="1200" b="1">
                <a:solidFill>
                  <a:srgbClr val="BE98F6"/>
                </a:solidFill>
                <a:latin typeface="Arial"/>
                <a:ea typeface="Arial"/>
                <a:cs typeface="Arial"/>
              </a:defRPr>
            </a:defPPr>
          </a:lstStyle>
          <a:p>
            <a:pPr algn="l">
              <a:defRPr sz="1200" b="1">
                <a:solidFill>
                  <a:srgbClr val="BE98F6"/>
                </a:solidFill>
                <a:latin typeface="Arial"/>
                <a:ea typeface="Arial"/>
                <a:cs typeface="Arial"/>
              </a:defRPr>
            </a:pPr>
            <a:r>
              <a:rPr sz="1200" b="1" dirty="0">
                <a:solidFill>
                  <a:srgbClr val="BE98F6"/>
                </a:solidFill>
                <a:latin typeface="Arial"/>
                <a:ea typeface="Arial"/>
                <a:cs typeface="Arial"/>
              </a:rPr>
              <a:t>MVP  /  TECHNICAL WALKTHROUGH</a:t>
            </a:r>
          </a:p>
        </p:txBody>
      </p:sp>
      <p:sp>
        <p:nvSpPr>
          <p:cNvPr id="2" name="Agentic OS">
            <a:extLst>
              <a:ext uri="{FF2B5EF4-FFF2-40B4-BE49-F238E27FC236}">
                <a16:creationId xmlns:a16="http://schemas.microsoft.com/office/drawing/2014/main" id="{E64EB9BA-0149-4CDB-AE45-3CAD1CD2EA67}"/>
              </a:ext>
            </a:extLst>
          </p:cNvPr>
          <p:cNvSpPr>
            <a:spLocks noGrp="1"/>
          </p:cNvSpPr>
          <p:nvPr/>
        </p:nvSpPr>
        <p:spPr>
          <a:xfrm>
            <a:off x="609600" y="876300"/>
            <a:ext cx="10972800" cy="952500"/>
          </a:xfrm>
          <a:prstGeom prst="rect">
            <a:avLst/>
          </a:prstGeom>
          <a:noFill/>
          <a:ln w="0">
            <a:noFill/>
          </a:ln>
        </p:spPr>
        <p:txBody>
          <a:bodyPr lIns="0" tIns="0" rIns="0" bIns="0" anchor="ctr"/>
          <a:lstStyle>
            <a:defPPr algn="l">
              <a:defRPr sz="3300" b="1">
                <a:solidFill>
                  <a:srgbClr val="FFFFFF"/>
                </a:solidFill>
                <a:latin typeface="Arial"/>
                <a:ea typeface="Arial"/>
                <a:cs typeface="Arial"/>
              </a:defRPr>
            </a:defPPr>
          </a:lstStyle>
          <a:p>
            <a:pPr algn="l">
              <a:defRPr sz="3300" b="1">
                <a:solidFill>
                  <a:srgbClr val="FFFFFF"/>
                </a:solidFill>
                <a:latin typeface="Arial"/>
                <a:ea typeface="Arial"/>
                <a:cs typeface="Arial"/>
              </a:defRPr>
            </a:pPr>
            <a:r>
              <a:rPr sz="3300" b="1">
                <a:solidFill>
                  <a:srgbClr val="FFFFFF"/>
                </a:solidFill>
                <a:latin typeface="Arial"/>
                <a:ea typeface="Arial"/>
                <a:cs typeface="Arial"/>
              </a:rPr>
              <a:t>Agentic OS</a:t>
            </a:r>
          </a:p>
        </p:txBody>
      </p:sp>
      <p:sp>
        <p:nvSpPr>
          <p:cNvPr id="3" name="AGENTIC OS  /  MVP TECHNICAL WALKTHROUGH">
            <a:extLst>
              <a:ext uri="{FF2B5EF4-FFF2-40B4-BE49-F238E27FC236}">
                <a16:creationId xmlns:a16="http://schemas.microsoft.com/office/drawing/2014/main" id="{3C8A523B-9A4D-4150-B11B-B6375A3E43EC}"/>
              </a:ext>
            </a:extLst>
          </p:cNvPr>
          <p:cNvSpPr>
            <a:spLocks noGrp="1"/>
          </p:cNvSpPr>
          <p:nvPr/>
        </p:nvSpPr>
        <p:spPr>
          <a:xfrm>
            <a:off x="609600" y="6410325"/>
            <a:ext cx="10001250" cy="190500"/>
          </a:xfrm>
          <a:prstGeom prst="rect">
            <a:avLst/>
          </a:prstGeom>
          <a:noFill/>
          <a:ln w="0">
            <a:noFill/>
          </a:ln>
        </p:spPr>
        <p:txBody>
          <a:bodyPr lIns="0" tIns="0" rIns="0" bIns="0" anchor="ctr"/>
          <a:lstStyle>
            <a:defPPr algn="l">
              <a:defRPr sz="975" b="0">
                <a:solidFill>
                  <a:srgbClr val="D5C9E6"/>
                </a:solidFill>
                <a:latin typeface="Arial"/>
                <a:ea typeface="Arial"/>
                <a:cs typeface="Arial"/>
              </a:defRPr>
            </a:defPPr>
          </a:lstStyle>
          <a:p>
            <a:pPr algn="l">
              <a:defRPr sz="975" b="0">
                <a:solidFill>
                  <a:srgbClr val="D5C9E6"/>
                </a:solidFill>
                <a:latin typeface="Arial"/>
                <a:ea typeface="Arial"/>
                <a:cs typeface="Arial"/>
              </a:defRPr>
            </a:pPr>
            <a:r>
              <a:rPr sz="975" b="0">
                <a:solidFill>
                  <a:srgbClr val="D5C9E6"/>
                </a:solidFill>
                <a:latin typeface="Arial"/>
                <a:ea typeface="Arial"/>
                <a:cs typeface="Arial"/>
              </a:rPr>
              <a:t>AGENTIC OS  /  MVP TECHNICAL WALKTHROUGH</a:t>
            </a:r>
          </a:p>
        </p:txBody>
      </p:sp>
      <p:sp>
        <p:nvSpPr>
          <p:cNvPr id="4" name="01">
            <a:extLst>
              <a:ext uri="{FF2B5EF4-FFF2-40B4-BE49-F238E27FC236}">
                <a16:creationId xmlns:a16="http://schemas.microsoft.com/office/drawing/2014/main" id="{84AA0CB0-1C64-443C-9234-5FC55D230F62}"/>
              </a:ext>
            </a:extLst>
          </p:cNvPr>
          <p:cNvSpPr>
            <a:spLocks noGrp="1"/>
          </p:cNvSpPr>
          <p:nvPr/>
        </p:nvSpPr>
        <p:spPr>
          <a:xfrm>
            <a:off x="11029950" y="6372225"/>
            <a:ext cx="552450" cy="247650"/>
          </a:xfrm>
          <a:prstGeom prst="rect">
            <a:avLst/>
          </a:prstGeom>
          <a:noFill/>
          <a:ln w="0">
            <a:noFill/>
          </a:ln>
        </p:spPr>
        <p:txBody>
          <a:bodyPr lIns="0" tIns="0" rIns="0" bIns="0" anchor="ctr"/>
          <a:lstStyle>
            <a:defPPr algn="r">
              <a:defRPr sz="1275" b="0">
                <a:solidFill>
                  <a:srgbClr val="BE98F6"/>
                </a:solidFill>
                <a:latin typeface="Arial"/>
                <a:ea typeface="Arial"/>
                <a:cs typeface="Arial"/>
              </a:defRPr>
            </a:defPPr>
          </a:lstStyle>
          <a:p>
            <a:pPr algn="r">
              <a:defRPr sz="1275" b="0">
                <a:solidFill>
                  <a:srgbClr val="BE98F6"/>
                </a:solidFill>
                <a:latin typeface="Arial"/>
                <a:ea typeface="Arial"/>
                <a:cs typeface="Arial"/>
              </a:defRPr>
            </a:pPr>
            <a:r>
              <a:rPr sz="1275" b="0">
                <a:solidFill>
                  <a:srgbClr val="BE98F6"/>
                </a:solidFill>
                <a:latin typeface="Arial"/>
                <a:ea typeface="Arial"/>
                <a:cs typeface="Arial"/>
              </a:rPr>
              <a:t>01</a:t>
            </a:r>
          </a:p>
        </p:txBody>
      </p:sp>
      <p:sp>
        <p:nvSpPr>
          <p:cNvPr id="5" name="A small operating system&#10;with an agent contr">
            <a:extLst>
              <a:ext uri="{FF2B5EF4-FFF2-40B4-BE49-F238E27FC236}">
                <a16:creationId xmlns:a16="http://schemas.microsoft.com/office/drawing/2014/main" id="{110E30ED-2A13-4801-9F80-88ACAAC18DFC}"/>
              </a:ext>
            </a:extLst>
          </p:cNvPr>
          <p:cNvSpPr>
            <a:spLocks noGrp="1"/>
          </p:cNvSpPr>
          <p:nvPr/>
        </p:nvSpPr>
        <p:spPr>
          <a:xfrm>
            <a:off x="609600" y="2057400"/>
            <a:ext cx="6953250" cy="1428750"/>
          </a:xfrm>
          <a:prstGeom prst="rect">
            <a:avLst/>
          </a:prstGeom>
          <a:noFill/>
          <a:ln w="0">
            <a:noFill/>
          </a:ln>
        </p:spPr>
        <p:txBody>
          <a:bodyPr lIns="0" tIns="0" rIns="0" bIns="0" anchor="ctr"/>
          <a:lstStyle>
            <a:defPPr algn="l">
              <a:defRPr sz="3675" b="1">
                <a:solidFill>
                  <a:srgbClr val="FFFFFF"/>
                </a:solidFill>
                <a:latin typeface="Arial"/>
                <a:ea typeface="Arial"/>
                <a:cs typeface="Arial"/>
              </a:defRPr>
            </a:defPPr>
          </a:lstStyle>
          <a:p>
            <a:pPr algn="l">
              <a:defRPr sz="3675" b="1">
                <a:solidFill>
                  <a:srgbClr val="FFFFFF"/>
                </a:solidFill>
                <a:latin typeface="Arial"/>
                <a:ea typeface="Arial"/>
                <a:cs typeface="Arial"/>
              </a:defRPr>
            </a:pPr>
            <a:r>
              <a:rPr sz="3675" b="1">
                <a:solidFill>
                  <a:srgbClr val="FFFFFF"/>
                </a:solidFill>
                <a:latin typeface="Arial"/>
                <a:ea typeface="Arial"/>
                <a:cs typeface="Arial"/>
              </a:rPr>
              <a:t>A small operating system</a:t>
            </a:r>
          </a:p>
          <a:p>
            <a:pPr algn="l">
              <a:defRPr sz="3675" b="1">
                <a:solidFill>
                  <a:srgbClr val="FFFFFF"/>
                </a:solidFill>
                <a:latin typeface="Arial"/>
                <a:ea typeface="Arial"/>
                <a:cs typeface="Arial"/>
              </a:defRPr>
            </a:pPr>
            <a:r>
              <a:rPr sz="3675" b="1">
                <a:solidFill>
                  <a:srgbClr val="FFFFFF"/>
                </a:solidFill>
                <a:latin typeface="Arial"/>
                <a:ea typeface="Arial"/>
                <a:cs typeface="Arial"/>
              </a:rPr>
              <a:t>with an agent control layer</a:t>
            </a:r>
          </a:p>
        </p:txBody>
      </p:sp>
      <p:sp>
        <p:nvSpPr>
          <p:cNvPr id="6" name="Rectangle 5">
            <a:extLst>
              <a:ext uri="{FF2B5EF4-FFF2-40B4-BE49-F238E27FC236}">
                <a16:creationId xmlns:a16="http://schemas.microsoft.com/office/drawing/2014/main" id="{20BB6745-5D6A-47BF-BB0E-4B70EC86D9CA}"/>
              </a:ext>
            </a:extLst>
          </p:cNvPr>
          <p:cNvSpPr>
            <a:spLocks noGrp="1"/>
          </p:cNvSpPr>
          <p:nvPr/>
        </p:nvSpPr>
        <p:spPr>
          <a:xfrm>
            <a:off x="8191500" y="2076450"/>
            <a:ext cx="2714625" cy="762000"/>
          </a:xfrm>
          <a:prstGeom prst="rect">
            <a:avLst/>
          </a:prstGeom>
          <a:solidFill>
            <a:srgbClr val="2A1547"/>
          </a:solidFill>
          <a:ln w="13335">
            <a:solidFill>
              <a:srgbClr val="7D43D5"/>
            </a:solidFill>
          </a:ln>
        </p:spPr>
      </p:sp>
      <p:sp>
        <p:nvSpPr>
          <p:cNvPr id="7" name="Intent">
            <a:extLst>
              <a:ext uri="{FF2B5EF4-FFF2-40B4-BE49-F238E27FC236}">
                <a16:creationId xmlns:a16="http://schemas.microsoft.com/office/drawing/2014/main" id="{9EECE19B-A3D4-4E30-818B-5092F6B127CF}"/>
              </a:ext>
            </a:extLst>
          </p:cNvPr>
          <p:cNvSpPr>
            <a:spLocks noGrp="1"/>
          </p:cNvSpPr>
          <p:nvPr/>
        </p:nvSpPr>
        <p:spPr>
          <a:xfrm>
            <a:off x="8334375" y="2162175"/>
            <a:ext cx="2428875" cy="590550"/>
          </a:xfrm>
          <a:prstGeom prst="rect">
            <a:avLst/>
          </a:prstGeom>
          <a:noFill/>
          <a:ln w="0">
            <a:noFill/>
          </a:ln>
        </p:spPr>
        <p:txBody>
          <a:bodyPr lIns="0" tIns="0" rIns="0" bIns="0" anchor="ctr"/>
          <a:lstStyle>
            <a:defPPr algn="ctr">
              <a:defRPr sz="1800" b="1">
                <a:solidFill>
                  <a:srgbClr val="FFFFFF"/>
                </a:solidFill>
                <a:latin typeface="Arial"/>
                <a:ea typeface="Arial"/>
                <a:cs typeface="Arial"/>
              </a:defRPr>
            </a:defPPr>
          </a:lstStyle>
          <a:p>
            <a:pPr algn="ctr">
              <a:defRPr sz="1800" b="1">
                <a:solidFill>
                  <a:srgbClr val="FFFFFF"/>
                </a:solidFill>
                <a:latin typeface="Arial"/>
                <a:ea typeface="Arial"/>
                <a:cs typeface="Arial"/>
              </a:defRPr>
            </a:pPr>
            <a:r>
              <a:rPr sz="1800" b="1">
                <a:solidFill>
                  <a:srgbClr val="FFFFFF"/>
                </a:solidFill>
                <a:latin typeface="Arial"/>
                <a:ea typeface="Arial"/>
                <a:cs typeface="Arial"/>
              </a:rPr>
              <a:t>Intent</a:t>
            </a:r>
          </a:p>
        </p:txBody>
      </p:sp>
      <p:sp>
        <p:nvSpPr>
          <p:cNvPr id="8" name="Rectangle 7">
            <a:extLst>
              <a:ext uri="{FF2B5EF4-FFF2-40B4-BE49-F238E27FC236}">
                <a16:creationId xmlns:a16="http://schemas.microsoft.com/office/drawing/2014/main" id="{1AC77F2A-2477-44C3-B430-A61648684038}"/>
              </a:ext>
            </a:extLst>
          </p:cNvPr>
          <p:cNvSpPr>
            <a:spLocks noGrp="1"/>
          </p:cNvSpPr>
          <p:nvPr/>
        </p:nvSpPr>
        <p:spPr>
          <a:xfrm>
            <a:off x="8191500" y="3343275"/>
            <a:ext cx="2714625" cy="762000"/>
          </a:xfrm>
          <a:prstGeom prst="rect">
            <a:avLst/>
          </a:prstGeom>
          <a:solidFill>
            <a:srgbClr val="2A1547"/>
          </a:solidFill>
          <a:ln w="13335">
            <a:solidFill>
              <a:srgbClr val="7D43D5"/>
            </a:solidFill>
          </a:ln>
        </p:spPr>
      </p:sp>
      <p:sp>
        <p:nvSpPr>
          <p:cNvPr id="9" name="Main OS agent">
            <a:extLst>
              <a:ext uri="{FF2B5EF4-FFF2-40B4-BE49-F238E27FC236}">
                <a16:creationId xmlns:a16="http://schemas.microsoft.com/office/drawing/2014/main" id="{F38B503E-C3D3-4A78-A1AF-E983696DF09F}"/>
              </a:ext>
            </a:extLst>
          </p:cNvPr>
          <p:cNvSpPr>
            <a:spLocks noGrp="1"/>
          </p:cNvSpPr>
          <p:nvPr/>
        </p:nvSpPr>
        <p:spPr>
          <a:xfrm>
            <a:off x="8334375" y="3429000"/>
            <a:ext cx="2428875" cy="590550"/>
          </a:xfrm>
          <a:prstGeom prst="rect">
            <a:avLst/>
          </a:prstGeom>
          <a:noFill/>
          <a:ln w="0">
            <a:noFill/>
          </a:ln>
        </p:spPr>
        <p:txBody>
          <a:bodyPr lIns="0" tIns="0" rIns="0" bIns="0" anchor="ctr"/>
          <a:lstStyle>
            <a:defPPr algn="ctr">
              <a:defRPr sz="1800" b="1">
                <a:solidFill>
                  <a:srgbClr val="FFFFFF"/>
                </a:solidFill>
                <a:latin typeface="Arial"/>
                <a:ea typeface="Arial"/>
                <a:cs typeface="Arial"/>
              </a:defRPr>
            </a:defPPr>
          </a:lstStyle>
          <a:p>
            <a:pPr algn="ctr">
              <a:defRPr sz="1800" b="1">
                <a:solidFill>
                  <a:srgbClr val="FFFFFF"/>
                </a:solidFill>
                <a:latin typeface="Arial"/>
                <a:ea typeface="Arial"/>
                <a:cs typeface="Arial"/>
              </a:defRPr>
            </a:pPr>
            <a:r>
              <a:rPr sz="1800" b="1">
                <a:solidFill>
                  <a:srgbClr val="FFFFFF"/>
                </a:solidFill>
                <a:latin typeface="Arial"/>
                <a:ea typeface="Arial"/>
                <a:cs typeface="Arial"/>
              </a:rPr>
              <a:t>Main OS agent</a:t>
            </a:r>
          </a:p>
        </p:txBody>
      </p:sp>
      <p:sp>
        <p:nvSpPr>
          <p:cNvPr id="10" name="Rectangle 9">
            <a:extLst>
              <a:ext uri="{FF2B5EF4-FFF2-40B4-BE49-F238E27FC236}">
                <a16:creationId xmlns:a16="http://schemas.microsoft.com/office/drawing/2014/main" id="{3F3057AD-AF36-4458-B0F7-65693182C4C1}"/>
              </a:ext>
            </a:extLst>
          </p:cNvPr>
          <p:cNvSpPr>
            <a:spLocks noGrp="1"/>
          </p:cNvSpPr>
          <p:nvPr/>
        </p:nvSpPr>
        <p:spPr>
          <a:xfrm>
            <a:off x="8191500" y="4610100"/>
            <a:ext cx="2714625" cy="762000"/>
          </a:xfrm>
          <a:prstGeom prst="rect">
            <a:avLst/>
          </a:prstGeom>
          <a:solidFill>
            <a:srgbClr val="2A1547"/>
          </a:solidFill>
          <a:ln w="13335">
            <a:solidFill>
              <a:srgbClr val="7D43D5"/>
            </a:solidFill>
          </a:ln>
        </p:spPr>
      </p:sp>
      <p:sp>
        <p:nvSpPr>
          <p:cNvPr id="11" name="File operations">
            <a:extLst>
              <a:ext uri="{FF2B5EF4-FFF2-40B4-BE49-F238E27FC236}">
                <a16:creationId xmlns:a16="http://schemas.microsoft.com/office/drawing/2014/main" id="{8AE2D50C-6700-4218-A763-70E0A6513D2B}"/>
              </a:ext>
            </a:extLst>
          </p:cNvPr>
          <p:cNvSpPr>
            <a:spLocks noGrp="1"/>
          </p:cNvSpPr>
          <p:nvPr/>
        </p:nvSpPr>
        <p:spPr>
          <a:xfrm>
            <a:off x="8334375" y="4695825"/>
            <a:ext cx="2428875" cy="590550"/>
          </a:xfrm>
          <a:prstGeom prst="rect">
            <a:avLst/>
          </a:prstGeom>
          <a:noFill/>
          <a:ln w="0">
            <a:noFill/>
          </a:ln>
        </p:spPr>
        <p:txBody>
          <a:bodyPr lIns="0" tIns="0" rIns="0" bIns="0" anchor="ctr"/>
          <a:lstStyle>
            <a:defPPr algn="ctr">
              <a:defRPr sz="1800" b="1">
                <a:solidFill>
                  <a:srgbClr val="FFFFFF"/>
                </a:solidFill>
                <a:latin typeface="Arial"/>
                <a:ea typeface="Arial"/>
                <a:cs typeface="Arial"/>
              </a:defRPr>
            </a:defPPr>
          </a:lstStyle>
          <a:p>
            <a:pPr algn="ctr">
              <a:defRPr sz="1800" b="1">
                <a:solidFill>
                  <a:srgbClr val="FFFFFF"/>
                </a:solidFill>
                <a:latin typeface="Arial"/>
                <a:ea typeface="Arial"/>
                <a:cs typeface="Arial"/>
              </a:defRPr>
            </a:pPr>
            <a:r>
              <a:rPr sz="1800" b="1">
                <a:solidFill>
                  <a:srgbClr val="FFFFFF"/>
                </a:solidFill>
                <a:latin typeface="Arial"/>
                <a:ea typeface="Arial"/>
                <a:cs typeface="Arial"/>
              </a:rPr>
              <a:t>File operations</a:t>
            </a:r>
          </a:p>
        </p:txBody>
      </p:sp>
      <p:cxnSp>
        <p:nvCxnSpPr>
          <p:cNvPr id="12" name="Straight Arrow Connector 11">
            <a:extLst>
              <a:ext uri="{FF2B5EF4-FFF2-40B4-BE49-F238E27FC236}">
                <a16:creationId xmlns:a16="http://schemas.microsoft.com/office/drawing/2014/main" id="{B7482A94-41D6-4CAC-8C9C-D67590CDC184}"/>
              </a:ext>
            </a:extLst>
          </p:cNvPr>
          <p:cNvCxnSpPr/>
          <p:nvPr/>
        </p:nvCxnSpPr>
        <p:spPr>
          <a:xfrm>
            <a:off x="9544050" y="2838450"/>
            <a:ext cx="0" cy="428625"/>
          </a:xfrm>
          <a:prstGeom prst="straightConnector1">
            <a:avLst/>
          </a:prstGeom>
          <a:ln w="19050">
            <a:solidFill>
              <a:srgbClr val="BE98F6"/>
            </a:solidFill>
            <a:prstDash val="solid"/>
            <a:tailEnd type="triangle" w="med" len="med"/>
          </a:ln>
        </p:spPr>
      </p:cxnSp>
      <p:cxnSp>
        <p:nvCxnSpPr>
          <p:cNvPr id="13" name="Straight Arrow Connector 12">
            <a:extLst>
              <a:ext uri="{FF2B5EF4-FFF2-40B4-BE49-F238E27FC236}">
                <a16:creationId xmlns:a16="http://schemas.microsoft.com/office/drawing/2014/main" id="{BCE52805-9371-4BBC-897C-12D7127AF6E5}"/>
              </a:ext>
            </a:extLst>
          </p:cNvPr>
          <p:cNvCxnSpPr/>
          <p:nvPr/>
        </p:nvCxnSpPr>
        <p:spPr>
          <a:xfrm>
            <a:off x="9544050" y="4105275"/>
            <a:ext cx="0" cy="428625"/>
          </a:xfrm>
          <a:prstGeom prst="straightConnector1">
            <a:avLst/>
          </a:prstGeom>
          <a:ln w="19050">
            <a:solidFill>
              <a:srgbClr val="BE98F6"/>
            </a:solidFill>
            <a:prstDash val="solid"/>
            <a:tailEnd type="triangle" w="med" len="med"/>
          </a:ln>
        </p:spPr>
      </p:cxnSp>
      <p:sp>
        <p:nvSpPr>
          <p:cNvPr id="14" name="Kernel architecture, Gemini networking,&#10;file">
            <a:extLst>
              <a:ext uri="{FF2B5EF4-FFF2-40B4-BE49-F238E27FC236}">
                <a16:creationId xmlns:a16="http://schemas.microsoft.com/office/drawing/2014/main" id="{E75635C2-9C8C-4D4E-B2B3-FEBE1F0AAC06}"/>
              </a:ext>
            </a:extLst>
          </p:cNvPr>
          <p:cNvSpPr>
            <a:spLocks noGrp="1"/>
          </p:cNvSpPr>
          <p:nvPr/>
        </p:nvSpPr>
        <p:spPr>
          <a:xfrm>
            <a:off x="609600" y="4114800"/>
            <a:ext cx="6667500" cy="857250"/>
          </a:xfrm>
          <a:prstGeom prst="rect">
            <a:avLst/>
          </a:prstGeom>
          <a:noFill/>
          <a:ln w="0">
            <a:noFill/>
          </a:ln>
        </p:spPr>
        <p:txBody>
          <a:bodyPr lIns="0" tIns="0" rIns="0" bIns="0" anchor="ctr"/>
          <a:lstStyle>
            <a:defPPr algn="l">
              <a:defRPr sz="2100" b="0">
                <a:solidFill>
                  <a:srgbClr val="D5C9E6"/>
                </a:solidFill>
                <a:latin typeface="Arial"/>
                <a:ea typeface="Arial"/>
                <a:cs typeface="Arial"/>
              </a:defRPr>
            </a:defPPr>
          </a:lstStyle>
          <a:p>
            <a:pPr algn="l">
              <a:defRPr sz="2100" b="0">
                <a:solidFill>
                  <a:srgbClr val="D5C9E6"/>
                </a:solidFill>
                <a:latin typeface="Arial"/>
                <a:ea typeface="Arial"/>
                <a:cs typeface="Arial"/>
              </a:defRPr>
            </a:pPr>
            <a:r>
              <a:rPr sz="2100" b="0">
                <a:solidFill>
                  <a:srgbClr val="D5C9E6"/>
                </a:solidFill>
                <a:latin typeface="Arial"/>
                <a:ea typeface="Arial"/>
                <a:cs typeface="Arial"/>
              </a:rPr>
              <a:t>Kernel architecture, Gemini networking,</a:t>
            </a:r>
          </a:p>
          <a:p>
            <a:pPr algn="l">
              <a:defRPr sz="2100" b="0">
                <a:solidFill>
                  <a:srgbClr val="D5C9E6"/>
                </a:solidFill>
                <a:latin typeface="Arial"/>
                <a:ea typeface="Arial"/>
                <a:cs typeface="Arial"/>
              </a:defRPr>
            </a:pPr>
            <a:r>
              <a:rPr sz="2100" b="0">
                <a:solidFill>
                  <a:srgbClr val="D5C9E6"/>
                </a:solidFill>
                <a:latin typeface="Arial"/>
                <a:ea typeface="Arial"/>
                <a:cs typeface="Arial"/>
              </a:rPr>
              <a:t>file CRUD and a practical run guide</a:t>
            </a:r>
          </a:p>
        </p:txBody>
      </p:sp>
    </p:spTree>
    <p:extLst>
      <p:ext uri="{BB962C8B-B14F-4D97-AF65-F5344CB8AC3E}">
        <p14:creationId xmlns:p14="http://schemas.microsoft.com/office/powerpoint/2010/main" val="167464106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3" name="OVERVIEW">
            <a:extLst>
              <a:ext uri="{FF2B5EF4-FFF2-40B4-BE49-F238E27FC236}">
                <a16:creationId xmlns:a16="http://schemas.microsoft.com/office/drawing/2014/main" id="{678F1718-634A-4C04-9861-CD2701E543D0}"/>
              </a:ext>
            </a:extLst>
          </p:cNvPr>
          <p:cNvSpPr>
            <a:spLocks noGrp="1"/>
          </p:cNvSpPr>
          <p:nvPr/>
        </p:nvSpPr>
        <p:spPr>
          <a:xfrm>
            <a:off x="609600" y="323850"/>
            <a:ext cx="10001250" cy="228600"/>
          </a:xfrm>
          <a:prstGeom prst="rect">
            <a:avLst/>
          </a:prstGeom>
          <a:noFill/>
          <a:ln w="0">
            <a:noFill/>
          </a:ln>
        </p:spPr>
        <p:txBody>
          <a:bodyPr lIns="0" tIns="0" rIns="0" bIns="0" anchor="ctr"/>
          <a:lstStyle>
            <a:defPPr algn="l">
              <a:defRPr sz="1200" b="1">
                <a:solidFill>
                  <a:srgbClr val="7D43D5"/>
                </a:solidFill>
                <a:latin typeface="Arial"/>
                <a:ea typeface="Arial"/>
                <a:cs typeface="Arial"/>
              </a:defRPr>
            </a:defPPr>
          </a:lstStyle>
          <a:p>
            <a:pPr algn="l">
              <a:defRPr sz="1200" b="1">
                <a:solidFill>
                  <a:srgbClr val="7D43D5"/>
                </a:solidFill>
                <a:latin typeface="Arial"/>
                <a:ea typeface="Arial"/>
                <a:cs typeface="Arial"/>
              </a:defRPr>
            </a:pPr>
            <a:r>
              <a:rPr sz="1200" b="1">
                <a:solidFill>
                  <a:srgbClr val="7D43D5"/>
                </a:solidFill>
                <a:latin typeface="Arial"/>
                <a:ea typeface="Arial"/>
                <a:cs typeface="Arial"/>
              </a:rPr>
              <a:t>OVERVIEW</a:t>
            </a:r>
          </a:p>
        </p:txBody>
      </p:sp>
      <p:sp>
        <p:nvSpPr>
          <p:cNvPr id="2" name="Walkthrough map">
            <a:extLst>
              <a:ext uri="{FF2B5EF4-FFF2-40B4-BE49-F238E27FC236}">
                <a16:creationId xmlns:a16="http://schemas.microsoft.com/office/drawing/2014/main" id="{A2185A4A-F5A0-4374-9803-15EF8D73A99A}"/>
              </a:ext>
            </a:extLst>
          </p:cNvPr>
          <p:cNvSpPr>
            <a:spLocks noGrp="1"/>
          </p:cNvSpPr>
          <p:nvPr/>
        </p:nvSpPr>
        <p:spPr>
          <a:xfrm>
            <a:off x="609600" y="876300"/>
            <a:ext cx="10972800" cy="952500"/>
          </a:xfrm>
          <a:prstGeom prst="rect">
            <a:avLst/>
          </a:prstGeom>
          <a:noFill/>
          <a:ln w="0">
            <a:noFill/>
          </a:ln>
        </p:spPr>
        <p:txBody>
          <a:bodyPr lIns="0" tIns="0" rIns="0" bIns="0" anchor="ctr"/>
          <a:lstStyle>
            <a:defPPr algn="l">
              <a:defRPr sz="3300" b="1">
                <a:solidFill>
                  <a:srgbClr val="251139"/>
                </a:solidFill>
                <a:latin typeface="Arial"/>
                <a:ea typeface="Arial"/>
                <a:cs typeface="Arial"/>
              </a:defRPr>
            </a:defPPr>
          </a:lstStyle>
          <a:p>
            <a:pPr algn="l">
              <a:defRPr sz="3300" b="1">
                <a:solidFill>
                  <a:srgbClr val="251139"/>
                </a:solidFill>
                <a:latin typeface="Arial"/>
                <a:ea typeface="Arial"/>
                <a:cs typeface="Arial"/>
              </a:defRPr>
            </a:pPr>
            <a:r>
              <a:rPr sz="3300" b="1">
                <a:solidFill>
                  <a:srgbClr val="251139"/>
                </a:solidFill>
                <a:latin typeface="Arial"/>
                <a:ea typeface="Arial"/>
                <a:cs typeface="Arial"/>
              </a:rPr>
              <a:t>Walkthrough map</a:t>
            </a:r>
          </a:p>
        </p:txBody>
      </p:sp>
      <p:sp>
        <p:nvSpPr>
          <p:cNvPr id="3" name="AGENTIC OS  /  MVP TECHNICAL WALKTHROUGH">
            <a:extLst>
              <a:ext uri="{FF2B5EF4-FFF2-40B4-BE49-F238E27FC236}">
                <a16:creationId xmlns:a16="http://schemas.microsoft.com/office/drawing/2014/main" id="{3D60DC08-207A-4094-8390-BE89FED9FCC1}"/>
              </a:ext>
            </a:extLst>
          </p:cNvPr>
          <p:cNvSpPr>
            <a:spLocks noGrp="1"/>
          </p:cNvSpPr>
          <p:nvPr/>
        </p:nvSpPr>
        <p:spPr>
          <a:xfrm>
            <a:off x="609600" y="6410325"/>
            <a:ext cx="10001250" cy="190500"/>
          </a:xfrm>
          <a:prstGeom prst="rect">
            <a:avLst/>
          </a:prstGeom>
          <a:noFill/>
          <a:ln w="0">
            <a:noFill/>
          </a:ln>
        </p:spPr>
        <p:txBody>
          <a:bodyPr lIns="0" tIns="0" rIns="0" bIns="0" anchor="ctr"/>
          <a:lstStyle>
            <a:defPPr algn="l">
              <a:defRPr sz="975" b="0">
                <a:solidFill>
                  <a:srgbClr val="7D43D5"/>
                </a:solidFill>
                <a:latin typeface="Arial"/>
                <a:ea typeface="Arial"/>
                <a:cs typeface="Arial"/>
              </a:defRPr>
            </a:defPPr>
          </a:lstStyle>
          <a:p>
            <a:pPr algn="l">
              <a:defRPr sz="975" b="0">
                <a:solidFill>
                  <a:srgbClr val="7D43D5"/>
                </a:solidFill>
                <a:latin typeface="Arial"/>
                <a:ea typeface="Arial"/>
                <a:cs typeface="Arial"/>
              </a:defRPr>
            </a:pPr>
            <a:r>
              <a:rPr sz="975" b="0">
                <a:solidFill>
                  <a:srgbClr val="7D43D5"/>
                </a:solidFill>
                <a:latin typeface="Arial"/>
                <a:ea typeface="Arial"/>
                <a:cs typeface="Arial"/>
              </a:rPr>
              <a:t>AGENTIC OS  /  MVP TECHNICAL WALKTHROUGH</a:t>
            </a:r>
          </a:p>
        </p:txBody>
      </p:sp>
      <p:sp>
        <p:nvSpPr>
          <p:cNvPr id="4" name="02">
            <a:extLst>
              <a:ext uri="{FF2B5EF4-FFF2-40B4-BE49-F238E27FC236}">
                <a16:creationId xmlns:a16="http://schemas.microsoft.com/office/drawing/2014/main" id="{22F1BC6B-3878-4247-B144-5A2BADD0F1BF}"/>
              </a:ext>
            </a:extLst>
          </p:cNvPr>
          <p:cNvSpPr>
            <a:spLocks noGrp="1"/>
          </p:cNvSpPr>
          <p:nvPr/>
        </p:nvSpPr>
        <p:spPr>
          <a:xfrm>
            <a:off x="11029950" y="6372225"/>
            <a:ext cx="552450" cy="247650"/>
          </a:xfrm>
          <a:prstGeom prst="rect">
            <a:avLst/>
          </a:prstGeom>
          <a:noFill/>
          <a:ln w="0">
            <a:noFill/>
          </a:ln>
        </p:spPr>
        <p:txBody>
          <a:bodyPr lIns="0" tIns="0" rIns="0" bIns="0" anchor="ctr"/>
          <a:lstStyle>
            <a:defPPr algn="r">
              <a:defRPr sz="1275" b="0">
                <a:solidFill>
                  <a:srgbClr val="7D43D5"/>
                </a:solidFill>
                <a:latin typeface="Arial"/>
                <a:ea typeface="Arial"/>
                <a:cs typeface="Arial"/>
              </a:defRPr>
            </a:defPPr>
          </a:lstStyle>
          <a:p>
            <a:pPr algn="r">
              <a:defRPr sz="1275" b="0">
                <a:solidFill>
                  <a:srgbClr val="7D43D5"/>
                </a:solidFill>
                <a:latin typeface="Arial"/>
                <a:ea typeface="Arial"/>
                <a:cs typeface="Arial"/>
              </a:defRPr>
            </a:pPr>
            <a:r>
              <a:rPr sz="1275" b="0">
                <a:solidFill>
                  <a:srgbClr val="7D43D5"/>
                </a:solidFill>
                <a:latin typeface="Arial"/>
                <a:ea typeface="Arial"/>
                <a:cs typeface="Arial"/>
              </a:rPr>
              <a:t>02</a:t>
            </a:r>
          </a:p>
        </p:txBody>
      </p:sp>
      <p:sp>
        <p:nvSpPr>
          <p:cNvPr id="5" name="01  Foundation">
            <a:extLst>
              <a:ext uri="{FF2B5EF4-FFF2-40B4-BE49-F238E27FC236}">
                <a16:creationId xmlns:a16="http://schemas.microsoft.com/office/drawing/2014/main" id="{98AC5FAD-83E8-45AF-899C-46669C5E7ADE}"/>
              </a:ext>
            </a:extLst>
          </p:cNvPr>
          <p:cNvSpPr>
            <a:spLocks noGrp="1"/>
          </p:cNvSpPr>
          <p:nvPr/>
        </p:nvSpPr>
        <p:spPr>
          <a:xfrm>
            <a:off x="609600" y="1981200"/>
            <a:ext cx="3048000" cy="428625"/>
          </a:xfrm>
          <a:prstGeom prst="rect">
            <a:avLst/>
          </a:prstGeom>
          <a:noFill/>
          <a:ln w="0">
            <a:noFill/>
          </a:ln>
        </p:spPr>
        <p:txBody>
          <a:bodyPr lIns="0" tIns="0" rIns="0" bIns="0" anchor="ctr"/>
          <a:lstStyle>
            <a:defPPr algn="l">
              <a:defRPr sz="2100" b="1">
                <a:solidFill>
                  <a:srgbClr val="7D43D5"/>
                </a:solidFill>
                <a:latin typeface="Arial"/>
                <a:ea typeface="Arial"/>
                <a:cs typeface="Arial"/>
              </a:defRPr>
            </a:defPPr>
          </a:lstStyle>
          <a:p>
            <a:pPr algn="l">
              <a:defRPr sz="2100" b="1">
                <a:solidFill>
                  <a:srgbClr val="7D43D5"/>
                </a:solidFill>
                <a:latin typeface="Arial"/>
                <a:ea typeface="Arial"/>
                <a:cs typeface="Arial"/>
              </a:defRPr>
            </a:pPr>
            <a:r>
              <a:rPr sz="2100" b="1">
                <a:solidFill>
                  <a:srgbClr val="7D43D5"/>
                </a:solidFill>
                <a:latin typeface="Arial"/>
                <a:ea typeface="Arial"/>
                <a:cs typeface="Arial"/>
              </a:rPr>
              <a:t>01  Foundation</a:t>
            </a:r>
          </a:p>
        </p:txBody>
      </p:sp>
      <p:sp>
        <p:nvSpPr>
          <p:cNvPr id="6" name="Boot, memory, input and the shell">
            <a:extLst>
              <a:ext uri="{FF2B5EF4-FFF2-40B4-BE49-F238E27FC236}">
                <a16:creationId xmlns:a16="http://schemas.microsoft.com/office/drawing/2014/main" id="{2215F382-F703-4EB2-A9EE-8AE9400E7B2E}"/>
              </a:ext>
            </a:extLst>
          </p:cNvPr>
          <p:cNvSpPr>
            <a:spLocks noGrp="1"/>
          </p:cNvSpPr>
          <p:nvPr/>
        </p:nvSpPr>
        <p:spPr>
          <a:xfrm>
            <a:off x="3943350" y="1981200"/>
            <a:ext cx="7639050" cy="714375"/>
          </a:xfrm>
          <a:prstGeom prst="rect">
            <a:avLst/>
          </a:prstGeom>
          <a:noFill/>
          <a:ln w="0">
            <a:noFill/>
          </a:ln>
        </p:spPr>
        <p:txBody>
          <a:bodyPr lIns="0" tIns="0" rIns="0" bIns="0" anchor="ctr"/>
          <a:lstStyle>
            <a:defPPr algn="l">
              <a:defRPr sz="2025" b="0">
                <a:solidFill>
                  <a:srgbClr val="251139"/>
                </a:solidFill>
                <a:latin typeface="Arial"/>
                <a:ea typeface="Arial"/>
                <a:cs typeface="Arial"/>
              </a:defRPr>
            </a:defPPr>
          </a:lstStyle>
          <a:p>
            <a:pPr algn="l">
              <a:defRPr sz="2025" b="0">
                <a:solidFill>
                  <a:srgbClr val="251139"/>
                </a:solidFill>
                <a:latin typeface="Arial"/>
                <a:ea typeface="Arial"/>
                <a:cs typeface="Arial"/>
              </a:defRPr>
            </a:pPr>
            <a:r>
              <a:rPr sz="2025" b="0">
                <a:solidFill>
                  <a:srgbClr val="251139"/>
                </a:solidFill>
                <a:latin typeface="Arial"/>
                <a:ea typeface="Arial"/>
                <a:cs typeface="Arial"/>
              </a:rPr>
              <a:t>Boot, memory, input and the shell</a:t>
            </a:r>
          </a:p>
        </p:txBody>
      </p:sp>
      <p:sp>
        <p:nvSpPr>
          <p:cNvPr id="7" name="02  Connectivity">
            <a:extLst>
              <a:ext uri="{FF2B5EF4-FFF2-40B4-BE49-F238E27FC236}">
                <a16:creationId xmlns:a16="http://schemas.microsoft.com/office/drawing/2014/main" id="{93BC25C1-02F6-4440-91A2-673BD3A364C7}"/>
              </a:ext>
            </a:extLst>
          </p:cNvPr>
          <p:cNvSpPr>
            <a:spLocks noGrp="1"/>
          </p:cNvSpPr>
          <p:nvPr/>
        </p:nvSpPr>
        <p:spPr>
          <a:xfrm>
            <a:off x="609600" y="2876550"/>
            <a:ext cx="3048000" cy="428625"/>
          </a:xfrm>
          <a:prstGeom prst="rect">
            <a:avLst/>
          </a:prstGeom>
          <a:noFill/>
          <a:ln w="0">
            <a:noFill/>
          </a:ln>
        </p:spPr>
        <p:txBody>
          <a:bodyPr lIns="0" tIns="0" rIns="0" bIns="0" anchor="ctr"/>
          <a:lstStyle>
            <a:defPPr algn="l">
              <a:defRPr sz="2100" b="1">
                <a:solidFill>
                  <a:srgbClr val="7D43D5"/>
                </a:solidFill>
                <a:latin typeface="Arial"/>
                <a:ea typeface="Arial"/>
                <a:cs typeface="Arial"/>
              </a:defRPr>
            </a:defPPr>
          </a:lstStyle>
          <a:p>
            <a:pPr algn="l">
              <a:defRPr sz="2100" b="1">
                <a:solidFill>
                  <a:srgbClr val="7D43D5"/>
                </a:solidFill>
                <a:latin typeface="Arial"/>
                <a:ea typeface="Arial"/>
                <a:cs typeface="Arial"/>
              </a:defRPr>
            </a:pPr>
            <a:r>
              <a:rPr sz="2100" b="1">
                <a:solidFill>
                  <a:srgbClr val="7D43D5"/>
                </a:solidFill>
                <a:latin typeface="Arial"/>
                <a:ea typeface="Arial"/>
                <a:cs typeface="Arial"/>
              </a:rPr>
              <a:t>02  Connectivity</a:t>
            </a:r>
          </a:p>
        </p:txBody>
      </p:sp>
      <p:sp>
        <p:nvSpPr>
          <p:cNvPr id="8" name="NE2000 networking and the Gemini gateway">
            <a:extLst>
              <a:ext uri="{FF2B5EF4-FFF2-40B4-BE49-F238E27FC236}">
                <a16:creationId xmlns:a16="http://schemas.microsoft.com/office/drawing/2014/main" id="{3E8E03B5-41A4-4F2A-A36A-3DD34015DD2E}"/>
              </a:ext>
            </a:extLst>
          </p:cNvPr>
          <p:cNvSpPr>
            <a:spLocks noGrp="1"/>
          </p:cNvSpPr>
          <p:nvPr/>
        </p:nvSpPr>
        <p:spPr>
          <a:xfrm>
            <a:off x="3943350" y="2876550"/>
            <a:ext cx="7639050" cy="714375"/>
          </a:xfrm>
          <a:prstGeom prst="rect">
            <a:avLst/>
          </a:prstGeom>
          <a:noFill/>
          <a:ln w="0">
            <a:noFill/>
          </a:ln>
        </p:spPr>
        <p:txBody>
          <a:bodyPr lIns="0" tIns="0" rIns="0" bIns="0" anchor="ctr"/>
          <a:lstStyle>
            <a:defPPr algn="l">
              <a:defRPr sz="2025" b="0">
                <a:solidFill>
                  <a:srgbClr val="251139"/>
                </a:solidFill>
                <a:latin typeface="Arial"/>
                <a:ea typeface="Arial"/>
                <a:cs typeface="Arial"/>
              </a:defRPr>
            </a:defPPr>
          </a:lstStyle>
          <a:p>
            <a:pPr algn="l">
              <a:defRPr sz="2025" b="0">
                <a:solidFill>
                  <a:srgbClr val="251139"/>
                </a:solidFill>
                <a:latin typeface="Arial"/>
                <a:ea typeface="Arial"/>
                <a:cs typeface="Arial"/>
              </a:defRPr>
            </a:pPr>
            <a:r>
              <a:rPr sz="2025" b="0">
                <a:solidFill>
                  <a:srgbClr val="251139"/>
                </a:solidFill>
                <a:latin typeface="Arial"/>
                <a:ea typeface="Arial"/>
                <a:cs typeface="Arial"/>
              </a:rPr>
              <a:t>NE2000 networking and the Gemini gateway</a:t>
            </a:r>
          </a:p>
        </p:txBody>
      </p:sp>
      <p:sp>
        <p:nvSpPr>
          <p:cNvPr id="9" name="03  Agents">
            <a:extLst>
              <a:ext uri="{FF2B5EF4-FFF2-40B4-BE49-F238E27FC236}">
                <a16:creationId xmlns:a16="http://schemas.microsoft.com/office/drawing/2014/main" id="{C9B075E4-F701-45DA-9C71-305D1F3BB093}"/>
              </a:ext>
            </a:extLst>
          </p:cNvPr>
          <p:cNvSpPr>
            <a:spLocks noGrp="1"/>
          </p:cNvSpPr>
          <p:nvPr/>
        </p:nvSpPr>
        <p:spPr>
          <a:xfrm>
            <a:off x="609600" y="3771900"/>
            <a:ext cx="3048000" cy="428625"/>
          </a:xfrm>
          <a:prstGeom prst="rect">
            <a:avLst/>
          </a:prstGeom>
          <a:noFill/>
          <a:ln w="0">
            <a:noFill/>
          </a:ln>
        </p:spPr>
        <p:txBody>
          <a:bodyPr lIns="0" tIns="0" rIns="0" bIns="0" anchor="ctr"/>
          <a:lstStyle>
            <a:defPPr algn="l">
              <a:defRPr sz="2100" b="1">
                <a:solidFill>
                  <a:srgbClr val="7D43D5"/>
                </a:solidFill>
                <a:latin typeface="Arial"/>
                <a:ea typeface="Arial"/>
                <a:cs typeface="Arial"/>
              </a:defRPr>
            </a:defPPr>
          </a:lstStyle>
          <a:p>
            <a:pPr algn="l">
              <a:defRPr sz="2100" b="1">
                <a:solidFill>
                  <a:srgbClr val="7D43D5"/>
                </a:solidFill>
                <a:latin typeface="Arial"/>
                <a:ea typeface="Arial"/>
                <a:cs typeface="Arial"/>
              </a:defRPr>
            </a:pPr>
            <a:r>
              <a:rPr sz="2100" b="1">
                <a:solidFill>
                  <a:srgbClr val="7D43D5"/>
                </a:solidFill>
                <a:latin typeface="Arial"/>
                <a:ea typeface="Arial"/>
                <a:cs typeface="Arial"/>
              </a:rPr>
              <a:t>03  Agents</a:t>
            </a:r>
          </a:p>
        </p:txBody>
      </p:sp>
      <p:sp>
        <p:nvSpPr>
          <p:cNvPr id="10" name="Simple agents and controlled file operations">
            <a:extLst>
              <a:ext uri="{FF2B5EF4-FFF2-40B4-BE49-F238E27FC236}">
                <a16:creationId xmlns:a16="http://schemas.microsoft.com/office/drawing/2014/main" id="{6FC7B5D3-2438-4168-BFFC-CDFDF000C824}"/>
              </a:ext>
            </a:extLst>
          </p:cNvPr>
          <p:cNvSpPr>
            <a:spLocks noGrp="1"/>
          </p:cNvSpPr>
          <p:nvPr/>
        </p:nvSpPr>
        <p:spPr>
          <a:xfrm>
            <a:off x="3943350" y="3771900"/>
            <a:ext cx="7639050" cy="714375"/>
          </a:xfrm>
          <a:prstGeom prst="rect">
            <a:avLst/>
          </a:prstGeom>
          <a:noFill/>
          <a:ln w="0">
            <a:noFill/>
          </a:ln>
        </p:spPr>
        <p:txBody>
          <a:bodyPr lIns="0" tIns="0" rIns="0" bIns="0" anchor="ctr"/>
          <a:lstStyle>
            <a:defPPr algn="l">
              <a:defRPr sz="2025" b="0">
                <a:solidFill>
                  <a:srgbClr val="251139"/>
                </a:solidFill>
                <a:latin typeface="Arial"/>
                <a:ea typeface="Arial"/>
                <a:cs typeface="Arial"/>
              </a:defRPr>
            </a:defPPr>
          </a:lstStyle>
          <a:p>
            <a:pPr algn="l">
              <a:defRPr sz="2025" b="0">
                <a:solidFill>
                  <a:srgbClr val="251139"/>
                </a:solidFill>
                <a:latin typeface="Arial"/>
                <a:ea typeface="Arial"/>
                <a:cs typeface="Arial"/>
              </a:defRPr>
            </a:pPr>
            <a:r>
              <a:rPr sz="2025" b="0">
                <a:solidFill>
                  <a:srgbClr val="251139"/>
                </a:solidFill>
                <a:latin typeface="Arial"/>
                <a:ea typeface="Arial"/>
                <a:cs typeface="Arial"/>
              </a:rPr>
              <a:t>Simple agents and controlled file operations</a:t>
            </a:r>
          </a:p>
        </p:txBody>
      </p:sp>
      <p:sp>
        <p:nvSpPr>
          <p:cNvPr id="11" name="04  Run &amp; demonstrate">
            <a:extLst>
              <a:ext uri="{FF2B5EF4-FFF2-40B4-BE49-F238E27FC236}">
                <a16:creationId xmlns:a16="http://schemas.microsoft.com/office/drawing/2014/main" id="{27BA4DBD-C4EA-48E2-ADC9-E14D221F458F}"/>
              </a:ext>
            </a:extLst>
          </p:cNvPr>
          <p:cNvSpPr>
            <a:spLocks noGrp="1"/>
          </p:cNvSpPr>
          <p:nvPr/>
        </p:nvSpPr>
        <p:spPr>
          <a:xfrm>
            <a:off x="609600" y="4667250"/>
            <a:ext cx="3048000" cy="428625"/>
          </a:xfrm>
          <a:prstGeom prst="rect">
            <a:avLst/>
          </a:prstGeom>
          <a:noFill/>
          <a:ln w="0">
            <a:noFill/>
          </a:ln>
        </p:spPr>
        <p:txBody>
          <a:bodyPr lIns="0" tIns="0" rIns="0" bIns="0" anchor="ctr"/>
          <a:lstStyle>
            <a:defPPr algn="l">
              <a:defRPr sz="2100" b="1">
                <a:solidFill>
                  <a:srgbClr val="7D43D5"/>
                </a:solidFill>
                <a:latin typeface="Arial"/>
                <a:ea typeface="Arial"/>
                <a:cs typeface="Arial"/>
              </a:defRPr>
            </a:defPPr>
          </a:lstStyle>
          <a:p>
            <a:pPr algn="l">
              <a:defRPr sz="2100" b="1">
                <a:solidFill>
                  <a:srgbClr val="7D43D5"/>
                </a:solidFill>
                <a:latin typeface="Arial"/>
                <a:ea typeface="Arial"/>
                <a:cs typeface="Arial"/>
              </a:defRPr>
            </a:pPr>
            <a:r>
              <a:rPr sz="2100" b="1">
                <a:solidFill>
                  <a:srgbClr val="7D43D5"/>
                </a:solidFill>
                <a:latin typeface="Arial"/>
                <a:ea typeface="Arial"/>
                <a:cs typeface="Arial"/>
              </a:rPr>
              <a:t>04  Run &amp; demonstrate</a:t>
            </a:r>
          </a:p>
        </p:txBody>
      </p:sp>
      <p:sp>
        <p:nvSpPr>
          <p:cNvPr id="12" name="Build, configure, launch and verify">
            <a:extLst>
              <a:ext uri="{FF2B5EF4-FFF2-40B4-BE49-F238E27FC236}">
                <a16:creationId xmlns:a16="http://schemas.microsoft.com/office/drawing/2014/main" id="{CD29EC65-0158-4220-84EF-625A81B1183E}"/>
              </a:ext>
            </a:extLst>
          </p:cNvPr>
          <p:cNvSpPr>
            <a:spLocks noGrp="1"/>
          </p:cNvSpPr>
          <p:nvPr/>
        </p:nvSpPr>
        <p:spPr>
          <a:xfrm>
            <a:off x="3943350" y="4667250"/>
            <a:ext cx="7639050" cy="714375"/>
          </a:xfrm>
          <a:prstGeom prst="rect">
            <a:avLst/>
          </a:prstGeom>
          <a:noFill/>
          <a:ln w="0">
            <a:noFill/>
          </a:ln>
        </p:spPr>
        <p:txBody>
          <a:bodyPr lIns="0" tIns="0" rIns="0" bIns="0" anchor="ctr"/>
          <a:lstStyle>
            <a:defPPr algn="l">
              <a:defRPr sz="2025" b="0">
                <a:solidFill>
                  <a:srgbClr val="251139"/>
                </a:solidFill>
                <a:latin typeface="Arial"/>
                <a:ea typeface="Arial"/>
                <a:cs typeface="Arial"/>
              </a:defRPr>
            </a:defPPr>
          </a:lstStyle>
          <a:p>
            <a:pPr algn="l">
              <a:defRPr sz="2025" b="0">
                <a:solidFill>
                  <a:srgbClr val="251139"/>
                </a:solidFill>
                <a:latin typeface="Arial"/>
                <a:ea typeface="Arial"/>
                <a:cs typeface="Arial"/>
              </a:defRPr>
            </a:pPr>
            <a:r>
              <a:rPr sz="2025" b="0">
                <a:solidFill>
                  <a:srgbClr val="251139"/>
                </a:solidFill>
                <a:latin typeface="Arial"/>
                <a:ea typeface="Arial"/>
                <a:cs typeface="Arial"/>
              </a:rPr>
              <a:t>Build, configure, launch and verify</a:t>
            </a:r>
          </a:p>
        </p:txBody>
      </p:sp>
    </p:spTree>
    <p:extLst>
      <p:ext uri="{BB962C8B-B14F-4D97-AF65-F5344CB8AC3E}">
        <p14:creationId xmlns:p14="http://schemas.microsoft.com/office/powerpoint/2010/main" val="180714365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180B2B"/>
        </a:solidFill>
        <a:effectLst/>
      </p:bgPr>
    </p:bg>
    <p:spTree>
      <p:nvGrpSpPr>
        <p:cNvPr id="1" name=""/>
        <p:cNvGrpSpPr/>
        <p:nvPr/>
      </p:nvGrpSpPr>
      <p:grpSpPr>
        <a:xfrm>
          <a:off x="0" y="0"/>
          <a:ext cx="0" cy="0"/>
          <a:chOff x="0" y="0"/>
          <a:chExt cx="0" cy="0"/>
        </a:xfrm>
      </p:grpSpPr>
      <p:sp>
        <p:nvSpPr>
          <p:cNvPr id="10" name="OVERVIEW">
            <a:extLst>
              <a:ext uri="{FF2B5EF4-FFF2-40B4-BE49-F238E27FC236}">
                <a16:creationId xmlns:a16="http://schemas.microsoft.com/office/drawing/2014/main" id="{F10A968B-0BC6-4D13-93CF-86EB364D0C53}"/>
              </a:ext>
            </a:extLst>
          </p:cNvPr>
          <p:cNvSpPr>
            <a:spLocks noGrp="1"/>
          </p:cNvSpPr>
          <p:nvPr/>
        </p:nvSpPr>
        <p:spPr>
          <a:xfrm>
            <a:off x="609600" y="323850"/>
            <a:ext cx="10001250" cy="228600"/>
          </a:xfrm>
          <a:prstGeom prst="rect">
            <a:avLst/>
          </a:prstGeom>
          <a:noFill/>
          <a:ln w="0">
            <a:noFill/>
          </a:ln>
        </p:spPr>
        <p:txBody>
          <a:bodyPr lIns="0" tIns="0" rIns="0" bIns="0" anchor="ctr"/>
          <a:lstStyle>
            <a:defPPr algn="l">
              <a:defRPr sz="1200" b="1">
                <a:solidFill>
                  <a:srgbClr val="BE98F6"/>
                </a:solidFill>
                <a:latin typeface="Arial"/>
                <a:ea typeface="Arial"/>
                <a:cs typeface="Arial"/>
              </a:defRPr>
            </a:defPPr>
          </a:lstStyle>
          <a:p>
            <a:pPr algn="l">
              <a:defRPr sz="1200" b="1">
                <a:solidFill>
                  <a:srgbClr val="BE98F6"/>
                </a:solidFill>
                <a:latin typeface="Arial"/>
                <a:ea typeface="Arial"/>
                <a:cs typeface="Arial"/>
              </a:defRPr>
            </a:pPr>
            <a:r>
              <a:rPr sz="1200" b="1">
                <a:solidFill>
                  <a:srgbClr val="BE98F6"/>
                </a:solidFill>
                <a:latin typeface="Arial"/>
                <a:ea typeface="Arial"/>
                <a:cs typeface="Arial"/>
              </a:rPr>
              <a:t>OVERVIEW</a:t>
            </a:r>
          </a:p>
        </p:txBody>
      </p:sp>
      <p:sp>
        <p:nvSpPr>
          <p:cNvPr id="2" name="Architecture scope">
            <a:extLst>
              <a:ext uri="{FF2B5EF4-FFF2-40B4-BE49-F238E27FC236}">
                <a16:creationId xmlns:a16="http://schemas.microsoft.com/office/drawing/2014/main" id="{96917BBE-0E7F-4396-80C1-7440C4C80985}"/>
              </a:ext>
            </a:extLst>
          </p:cNvPr>
          <p:cNvSpPr>
            <a:spLocks noGrp="1"/>
          </p:cNvSpPr>
          <p:nvPr/>
        </p:nvSpPr>
        <p:spPr>
          <a:xfrm>
            <a:off x="609600" y="876300"/>
            <a:ext cx="10972800" cy="952500"/>
          </a:xfrm>
          <a:prstGeom prst="rect">
            <a:avLst/>
          </a:prstGeom>
          <a:noFill/>
          <a:ln w="0">
            <a:noFill/>
          </a:ln>
        </p:spPr>
        <p:txBody>
          <a:bodyPr lIns="0" tIns="0" rIns="0" bIns="0" anchor="ctr"/>
          <a:lstStyle>
            <a:defPPr algn="l">
              <a:defRPr sz="3300" b="1">
                <a:solidFill>
                  <a:srgbClr val="FFFFFF"/>
                </a:solidFill>
                <a:latin typeface="Arial"/>
                <a:ea typeface="Arial"/>
                <a:cs typeface="Arial"/>
              </a:defRPr>
            </a:defPPr>
          </a:lstStyle>
          <a:p>
            <a:pPr algn="l">
              <a:defRPr sz="3300" b="1">
                <a:solidFill>
                  <a:srgbClr val="FFFFFF"/>
                </a:solidFill>
                <a:latin typeface="Arial"/>
                <a:ea typeface="Arial"/>
                <a:cs typeface="Arial"/>
              </a:defRPr>
            </a:pPr>
            <a:r>
              <a:rPr sz="3300" b="1">
                <a:solidFill>
                  <a:srgbClr val="FFFFFF"/>
                </a:solidFill>
                <a:latin typeface="Arial"/>
                <a:ea typeface="Arial"/>
                <a:cs typeface="Arial"/>
              </a:rPr>
              <a:t>Architecture scope</a:t>
            </a:r>
          </a:p>
        </p:txBody>
      </p:sp>
      <p:sp>
        <p:nvSpPr>
          <p:cNvPr id="3" name="AGENTIC OS  /  MVP TECHNICAL WALKTHROUGH">
            <a:extLst>
              <a:ext uri="{FF2B5EF4-FFF2-40B4-BE49-F238E27FC236}">
                <a16:creationId xmlns:a16="http://schemas.microsoft.com/office/drawing/2014/main" id="{2C4AE655-A23C-433F-A52E-83606B3BC0ED}"/>
              </a:ext>
            </a:extLst>
          </p:cNvPr>
          <p:cNvSpPr>
            <a:spLocks noGrp="1"/>
          </p:cNvSpPr>
          <p:nvPr/>
        </p:nvSpPr>
        <p:spPr>
          <a:xfrm>
            <a:off x="609600" y="6410325"/>
            <a:ext cx="10001250" cy="190500"/>
          </a:xfrm>
          <a:prstGeom prst="rect">
            <a:avLst/>
          </a:prstGeom>
          <a:noFill/>
          <a:ln w="0">
            <a:noFill/>
          </a:ln>
        </p:spPr>
        <p:txBody>
          <a:bodyPr lIns="0" tIns="0" rIns="0" bIns="0" anchor="ctr"/>
          <a:lstStyle>
            <a:defPPr algn="l">
              <a:defRPr sz="975" b="0">
                <a:solidFill>
                  <a:srgbClr val="D5C9E6"/>
                </a:solidFill>
                <a:latin typeface="Arial"/>
                <a:ea typeface="Arial"/>
                <a:cs typeface="Arial"/>
              </a:defRPr>
            </a:defPPr>
          </a:lstStyle>
          <a:p>
            <a:pPr algn="l">
              <a:defRPr sz="975" b="0">
                <a:solidFill>
                  <a:srgbClr val="D5C9E6"/>
                </a:solidFill>
                <a:latin typeface="Arial"/>
                <a:ea typeface="Arial"/>
                <a:cs typeface="Arial"/>
              </a:defRPr>
            </a:pPr>
            <a:r>
              <a:rPr sz="975" b="0">
                <a:solidFill>
                  <a:srgbClr val="D5C9E6"/>
                </a:solidFill>
                <a:latin typeface="Arial"/>
                <a:ea typeface="Arial"/>
                <a:cs typeface="Arial"/>
              </a:rPr>
              <a:t>AGENTIC OS  /  MVP TECHNICAL WALKTHROUGH</a:t>
            </a:r>
          </a:p>
        </p:txBody>
      </p:sp>
      <p:sp>
        <p:nvSpPr>
          <p:cNvPr id="4" name="03">
            <a:extLst>
              <a:ext uri="{FF2B5EF4-FFF2-40B4-BE49-F238E27FC236}">
                <a16:creationId xmlns:a16="http://schemas.microsoft.com/office/drawing/2014/main" id="{179ADD86-BF20-4A1F-9BCC-8F1186B5B6DC}"/>
              </a:ext>
            </a:extLst>
          </p:cNvPr>
          <p:cNvSpPr>
            <a:spLocks noGrp="1"/>
          </p:cNvSpPr>
          <p:nvPr/>
        </p:nvSpPr>
        <p:spPr>
          <a:xfrm>
            <a:off x="11029950" y="6372225"/>
            <a:ext cx="552450" cy="247650"/>
          </a:xfrm>
          <a:prstGeom prst="rect">
            <a:avLst/>
          </a:prstGeom>
          <a:noFill/>
          <a:ln w="0">
            <a:noFill/>
          </a:ln>
        </p:spPr>
        <p:txBody>
          <a:bodyPr lIns="0" tIns="0" rIns="0" bIns="0" anchor="ctr"/>
          <a:lstStyle>
            <a:defPPr algn="r">
              <a:defRPr sz="1275" b="0">
                <a:solidFill>
                  <a:srgbClr val="BE98F6"/>
                </a:solidFill>
                <a:latin typeface="Arial"/>
                <a:ea typeface="Arial"/>
                <a:cs typeface="Arial"/>
              </a:defRPr>
            </a:defPPr>
          </a:lstStyle>
          <a:p>
            <a:pPr algn="r">
              <a:defRPr sz="1275" b="0">
                <a:solidFill>
                  <a:srgbClr val="BE98F6"/>
                </a:solidFill>
                <a:latin typeface="Arial"/>
                <a:ea typeface="Arial"/>
                <a:cs typeface="Arial"/>
              </a:defRPr>
            </a:pPr>
            <a:r>
              <a:rPr sz="1275" b="0">
                <a:solidFill>
                  <a:srgbClr val="BE98F6"/>
                </a:solidFill>
                <a:latin typeface="Arial"/>
                <a:ea typeface="Arial"/>
                <a:cs typeface="Arial"/>
              </a:rPr>
              <a:t>03</a:t>
            </a:r>
          </a:p>
        </p:txBody>
      </p:sp>
      <p:sp>
        <p:nvSpPr>
          <p:cNvPr id="5" name="Repository foundation">
            <a:extLst>
              <a:ext uri="{FF2B5EF4-FFF2-40B4-BE49-F238E27FC236}">
                <a16:creationId xmlns:a16="http://schemas.microsoft.com/office/drawing/2014/main" id="{70178BBE-5B8D-463D-AB4E-65D28EA726DF}"/>
              </a:ext>
            </a:extLst>
          </p:cNvPr>
          <p:cNvSpPr>
            <a:spLocks noGrp="1"/>
          </p:cNvSpPr>
          <p:nvPr/>
        </p:nvSpPr>
        <p:spPr>
          <a:xfrm>
            <a:off x="609600" y="2181225"/>
            <a:ext cx="4762500" cy="476250"/>
          </a:xfrm>
          <a:prstGeom prst="rect">
            <a:avLst/>
          </a:prstGeom>
          <a:noFill/>
          <a:ln w="0">
            <a:noFill/>
          </a:ln>
        </p:spPr>
        <p:txBody>
          <a:bodyPr lIns="0" tIns="0" rIns="0" bIns="0" anchor="ctr"/>
          <a:lstStyle>
            <a:defPPr algn="l">
              <a:defRPr sz="2400" b="1">
                <a:solidFill>
                  <a:srgbClr val="BE98F6"/>
                </a:solidFill>
                <a:latin typeface="Arial"/>
                <a:ea typeface="Arial"/>
                <a:cs typeface="Arial"/>
              </a:defRPr>
            </a:defPPr>
          </a:lstStyle>
          <a:p>
            <a:pPr algn="l">
              <a:defRPr sz="2400" b="1">
                <a:solidFill>
                  <a:srgbClr val="BE98F6"/>
                </a:solidFill>
                <a:latin typeface="Arial"/>
                <a:ea typeface="Arial"/>
                <a:cs typeface="Arial"/>
              </a:defRPr>
            </a:pPr>
            <a:r>
              <a:rPr sz="2400" b="1">
                <a:solidFill>
                  <a:srgbClr val="BE98F6"/>
                </a:solidFill>
                <a:latin typeface="Arial"/>
                <a:ea typeface="Arial"/>
                <a:cs typeface="Arial"/>
              </a:rPr>
              <a:t>Repository foundation</a:t>
            </a:r>
          </a:p>
        </p:txBody>
      </p:sp>
      <p:sp>
        <p:nvSpPr>
          <p:cNvPr id="6" name="x86 kernel, RAMFS, shell,&#10;NE2000 and TCP pro">
            <a:extLst>
              <a:ext uri="{FF2B5EF4-FFF2-40B4-BE49-F238E27FC236}">
                <a16:creationId xmlns:a16="http://schemas.microsoft.com/office/drawing/2014/main" id="{E5856AF2-949B-402E-B69C-3D07AF2E8600}"/>
              </a:ext>
            </a:extLst>
          </p:cNvPr>
          <p:cNvSpPr>
            <a:spLocks noGrp="1"/>
          </p:cNvSpPr>
          <p:nvPr/>
        </p:nvSpPr>
        <p:spPr>
          <a:xfrm>
            <a:off x="609600" y="2876550"/>
            <a:ext cx="4857750" cy="1162050"/>
          </a:xfrm>
          <a:prstGeom prst="rect">
            <a:avLst/>
          </a:prstGeom>
          <a:noFill/>
          <a:ln w="0">
            <a:noFill/>
          </a:ln>
        </p:spPr>
        <p:txBody>
          <a:bodyPr lIns="0" tIns="0" rIns="0" bIns="0" anchor="ctr"/>
          <a:lstStyle>
            <a:defPPr algn="l">
              <a:defRPr sz="2625" b="0">
                <a:solidFill>
                  <a:srgbClr val="FFFFFF"/>
                </a:solidFill>
                <a:latin typeface="Arial"/>
                <a:ea typeface="Arial"/>
                <a:cs typeface="Arial"/>
              </a:defRPr>
            </a:defPPr>
          </a:lstStyle>
          <a:p>
            <a:pPr algn="l">
              <a:defRPr sz="2625" b="0">
                <a:solidFill>
                  <a:srgbClr val="FFFFFF"/>
                </a:solidFill>
                <a:latin typeface="Arial"/>
                <a:ea typeface="Arial"/>
                <a:cs typeface="Arial"/>
              </a:defRPr>
            </a:pPr>
            <a:r>
              <a:rPr sz="2625" b="0">
                <a:solidFill>
                  <a:srgbClr val="FFFFFF"/>
                </a:solidFill>
                <a:latin typeface="Arial"/>
                <a:ea typeface="Arial"/>
                <a:cs typeface="Arial"/>
              </a:rPr>
              <a:t>x86 kernel, RAMFS, shell,</a:t>
            </a:r>
          </a:p>
          <a:p>
            <a:pPr algn="l">
              <a:defRPr sz="2625" b="0">
                <a:solidFill>
                  <a:srgbClr val="FFFFFF"/>
                </a:solidFill>
                <a:latin typeface="Arial"/>
                <a:ea typeface="Arial"/>
                <a:cs typeface="Arial"/>
              </a:defRPr>
            </a:pPr>
            <a:r>
              <a:rPr sz="2625" b="0">
                <a:solidFill>
                  <a:srgbClr val="FFFFFF"/>
                </a:solidFill>
                <a:latin typeface="Arial"/>
                <a:ea typeface="Arial"/>
                <a:cs typeface="Arial"/>
              </a:rPr>
              <a:t>NE2000 and TCP probe</a:t>
            </a:r>
          </a:p>
        </p:txBody>
      </p:sp>
      <p:sp>
        <p:nvSpPr>
          <p:cNvPr id="7" name="Completed-state agent design">
            <a:extLst>
              <a:ext uri="{FF2B5EF4-FFF2-40B4-BE49-F238E27FC236}">
                <a16:creationId xmlns:a16="http://schemas.microsoft.com/office/drawing/2014/main" id="{4A73101E-DB2C-4A9F-AB91-CD3CC45E1E1A}"/>
              </a:ext>
            </a:extLst>
          </p:cNvPr>
          <p:cNvSpPr>
            <a:spLocks noGrp="1"/>
          </p:cNvSpPr>
          <p:nvPr/>
        </p:nvSpPr>
        <p:spPr>
          <a:xfrm>
            <a:off x="6477000" y="2181225"/>
            <a:ext cx="5095875" cy="476250"/>
          </a:xfrm>
          <a:prstGeom prst="rect">
            <a:avLst/>
          </a:prstGeom>
          <a:noFill/>
          <a:ln w="0">
            <a:noFill/>
          </a:ln>
        </p:spPr>
        <p:txBody>
          <a:bodyPr lIns="0" tIns="0" rIns="0" bIns="0" anchor="ctr"/>
          <a:lstStyle>
            <a:defPPr algn="l">
              <a:defRPr sz="2400" b="1">
                <a:solidFill>
                  <a:srgbClr val="BE98F6"/>
                </a:solidFill>
                <a:latin typeface="Arial"/>
                <a:ea typeface="Arial"/>
                <a:cs typeface="Arial"/>
              </a:defRPr>
            </a:defPPr>
          </a:lstStyle>
          <a:p>
            <a:pPr algn="l">
              <a:defRPr sz="2400" b="1">
                <a:solidFill>
                  <a:srgbClr val="BE98F6"/>
                </a:solidFill>
                <a:latin typeface="Arial"/>
                <a:ea typeface="Arial"/>
                <a:cs typeface="Arial"/>
              </a:defRPr>
            </a:pPr>
            <a:r>
              <a:rPr sz="2400" b="1">
                <a:solidFill>
                  <a:srgbClr val="BE98F6"/>
                </a:solidFill>
                <a:latin typeface="Arial"/>
                <a:ea typeface="Arial"/>
                <a:cs typeface="Arial"/>
              </a:rPr>
              <a:t>Completed-state agent design</a:t>
            </a:r>
          </a:p>
        </p:txBody>
      </p:sp>
      <p:sp>
        <p:nvSpPr>
          <p:cNvPr id="8" name="Gemini gateway, agent creation&#10;and a main OS">
            <a:extLst>
              <a:ext uri="{FF2B5EF4-FFF2-40B4-BE49-F238E27FC236}">
                <a16:creationId xmlns:a16="http://schemas.microsoft.com/office/drawing/2014/main" id="{60515E21-D649-40DE-B1F2-E7CFD5A9DA71}"/>
              </a:ext>
            </a:extLst>
          </p:cNvPr>
          <p:cNvSpPr>
            <a:spLocks noGrp="1"/>
          </p:cNvSpPr>
          <p:nvPr/>
        </p:nvSpPr>
        <p:spPr>
          <a:xfrm>
            <a:off x="6477000" y="2876550"/>
            <a:ext cx="5095875" cy="1162050"/>
          </a:xfrm>
          <a:prstGeom prst="rect">
            <a:avLst/>
          </a:prstGeom>
          <a:noFill/>
          <a:ln w="0">
            <a:noFill/>
          </a:ln>
        </p:spPr>
        <p:txBody>
          <a:bodyPr lIns="0" tIns="0" rIns="0" bIns="0" anchor="ctr"/>
          <a:lstStyle>
            <a:defPPr algn="l">
              <a:defRPr sz="2625" b="0">
                <a:solidFill>
                  <a:srgbClr val="FFFFFF"/>
                </a:solidFill>
                <a:latin typeface="Arial"/>
                <a:ea typeface="Arial"/>
                <a:cs typeface="Arial"/>
              </a:defRPr>
            </a:defPPr>
          </a:lstStyle>
          <a:p>
            <a:pPr algn="l">
              <a:defRPr sz="2625" b="0">
                <a:solidFill>
                  <a:srgbClr val="FFFFFF"/>
                </a:solidFill>
                <a:latin typeface="Arial"/>
                <a:ea typeface="Arial"/>
                <a:cs typeface="Arial"/>
              </a:defRPr>
            </a:pPr>
            <a:r>
              <a:rPr sz="2625" b="0">
                <a:solidFill>
                  <a:srgbClr val="FFFFFF"/>
                </a:solidFill>
                <a:latin typeface="Arial"/>
                <a:ea typeface="Arial"/>
                <a:cs typeface="Arial"/>
              </a:rPr>
              <a:t>Gemini gateway, agent creation</a:t>
            </a:r>
          </a:p>
          <a:p>
            <a:pPr algn="l">
              <a:defRPr sz="2625" b="0">
                <a:solidFill>
                  <a:srgbClr val="FFFFFF"/>
                </a:solidFill>
                <a:latin typeface="Arial"/>
                <a:ea typeface="Arial"/>
                <a:cs typeface="Arial"/>
              </a:defRPr>
            </a:pPr>
            <a:r>
              <a:rPr sz="2625" b="0">
                <a:solidFill>
                  <a:srgbClr val="FFFFFF"/>
                </a:solidFill>
                <a:latin typeface="Arial"/>
                <a:ea typeface="Arial"/>
                <a:cs typeface="Arial"/>
              </a:rPr>
              <a:t>and a main OS file agent</a:t>
            </a:r>
          </a:p>
        </p:txBody>
      </p:sp>
      <p:sp>
        <p:nvSpPr>
          <p:cNvPr id="9" name="Agent features use the requested completed-s">
            <a:extLst>
              <a:ext uri="{FF2B5EF4-FFF2-40B4-BE49-F238E27FC236}">
                <a16:creationId xmlns:a16="http://schemas.microsoft.com/office/drawing/2014/main" id="{3A8547CB-D008-4C91-A74B-95198E5BBEDE}"/>
              </a:ext>
            </a:extLst>
          </p:cNvPr>
          <p:cNvSpPr>
            <a:spLocks noGrp="1"/>
          </p:cNvSpPr>
          <p:nvPr/>
        </p:nvSpPr>
        <p:spPr>
          <a:xfrm>
            <a:off x="609600" y="5648325"/>
            <a:ext cx="10972800" cy="504825"/>
          </a:xfrm>
          <a:prstGeom prst="rect">
            <a:avLst/>
          </a:prstGeom>
          <a:noFill/>
          <a:ln w="0">
            <a:noFill/>
          </a:ln>
        </p:spPr>
        <p:txBody>
          <a:bodyPr lIns="0" tIns="0" rIns="0" bIns="0" anchor="ctr"/>
          <a:lstStyle>
            <a:defPPr algn="l">
              <a:defRPr sz="1725" b="0">
                <a:solidFill>
                  <a:srgbClr val="D5C9E6"/>
                </a:solidFill>
                <a:latin typeface="Arial"/>
                <a:ea typeface="Arial"/>
                <a:cs typeface="Arial"/>
              </a:defRPr>
            </a:defPPr>
          </a:lstStyle>
          <a:p>
            <a:pPr algn="l">
              <a:defRPr sz="1725" b="0">
                <a:solidFill>
                  <a:srgbClr val="D5C9E6"/>
                </a:solidFill>
                <a:latin typeface="Arial"/>
                <a:ea typeface="Arial"/>
                <a:cs typeface="Arial"/>
              </a:defRPr>
            </a:pPr>
            <a:r>
              <a:rPr sz="1725" b="0">
                <a:solidFill>
                  <a:srgbClr val="D5C9E6"/>
                </a:solidFill>
                <a:latin typeface="Arial"/>
                <a:ea typeface="Arial"/>
                <a:cs typeface="Arial"/>
              </a:rPr>
              <a:t>Agent features use the requested completed-state design assumption; they are not runtime-verified.</a:t>
            </a:r>
          </a:p>
        </p:txBody>
      </p:sp>
    </p:spTree>
    <p:extLst>
      <p:ext uri="{BB962C8B-B14F-4D97-AF65-F5344CB8AC3E}">
        <p14:creationId xmlns:p14="http://schemas.microsoft.com/office/powerpoint/2010/main" val="192997298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180B2B"/>
        </a:solidFill>
        <a:effectLst/>
      </p:bgPr>
    </p:bg>
    <p:spTree>
      <p:nvGrpSpPr>
        <p:cNvPr id="1" name=""/>
        <p:cNvGrpSpPr/>
        <p:nvPr/>
      </p:nvGrpSpPr>
      <p:grpSpPr>
        <a:xfrm>
          <a:off x="0" y="0"/>
          <a:ext cx="0" cy="0"/>
          <a:chOff x="0" y="0"/>
          <a:chExt cx="0" cy="0"/>
        </a:xfrm>
      </p:grpSpPr>
      <p:sp>
        <p:nvSpPr>
          <p:cNvPr id="17" name="OVERVIEW">
            <a:extLst>
              <a:ext uri="{FF2B5EF4-FFF2-40B4-BE49-F238E27FC236}">
                <a16:creationId xmlns:a16="http://schemas.microsoft.com/office/drawing/2014/main" id="{A753A24C-4726-4868-8CA1-2D678FABEDBA}"/>
              </a:ext>
            </a:extLst>
          </p:cNvPr>
          <p:cNvSpPr>
            <a:spLocks noGrp="1"/>
          </p:cNvSpPr>
          <p:nvPr/>
        </p:nvSpPr>
        <p:spPr>
          <a:xfrm>
            <a:off x="609600" y="323850"/>
            <a:ext cx="10001250" cy="228600"/>
          </a:xfrm>
          <a:prstGeom prst="rect">
            <a:avLst/>
          </a:prstGeom>
          <a:noFill/>
          <a:ln w="0">
            <a:noFill/>
          </a:ln>
        </p:spPr>
        <p:txBody>
          <a:bodyPr lIns="0" tIns="0" rIns="0" bIns="0" anchor="ctr"/>
          <a:lstStyle>
            <a:defPPr algn="l">
              <a:defRPr sz="1200" b="1">
                <a:solidFill>
                  <a:srgbClr val="BE98F6"/>
                </a:solidFill>
                <a:latin typeface="Arial"/>
                <a:ea typeface="Arial"/>
                <a:cs typeface="Arial"/>
              </a:defRPr>
            </a:defPPr>
          </a:lstStyle>
          <a:p>
            <a:pPr algn="l">
              <a:defRPr sz="1200" b="1">
                <a:solidFill>
                  <a:srgbClr val="BE98F6"/>
                </a:solidFill>
                <a:latin typeface="Arial"/>
                <a:ea typeface="Arial"/>
                <a:cs typeface="Arial"/>
              </a:defRPr>
            </a:pPr>
            <a:r>
              <a:rPr sz="1200" b="1">
                <a:solidFill>
                  <a:srgbClr val="BE98F6"/>
                </a:solidFill>
                <a:latin typeface="Arial"/>
                <a:ea typeface="Arial"/>
                <a:cs typeface="Arial"/>
              </a:rPr>
              <a:t>OVERVIEW</a:t>
            </a:r>
          </a:p>
        </p:txBody>
      </p:sp>
      <p:sp>
        <p:nvSpPr>
          <p:cNvPr id="2" name="A request becomes an OS operation">
            <a:extLst>
              <a:ext uri="{FF2B5EF4-FFF2-40B4-BE49-F238E27FC236}">
                <a16:creationId xmlns:a16="http://schemas.microsoft.com/office/drawing/2014/main" id="{4E599DA3-0B8A-4AE8-B1D9-79EE101B8208}"/>
              </a:ext>
            </a:extLst>
          </p:cNvPr>
          <p:cNvSpPr>
            <a:spLocks noGrp="1"/>
          </p:cNvSpPr>
          <p:nvPr/>
        </p:nvSpPr>
        <p:spPr>
          <a:xfrm>
            <a:off x="609600" y="876300"/>
            <a:ext cx="10972800" cy="952500"/>
          </a:xfrm>
          <a:prstGeom prst="rect">
            <a:avLst/>
          </a:prstGeom>
          <a:noFill/>
          <a:ln w="0">
            <a:noFill/>
          </a:ln>
        </p:spPr>
        <p:txBody>
          <a:bodyPr lIns="0" tIns="0" rIns="0" bIns="0" anchor="ctr"/>
          <a:lstStyle>
            <a:defPPr algn="l">
              <a:defRPr sz="3300" b="1">
                <a:solidFill>
                  <a:srgbClr val="FFFFFF"/>
                </a:solidFill>
                <a:latin typeface="Arial"/>
                <a:ea typeface="Arial"/>
                <a:cs typeface="Arial"/>
              </a:defRPr>
            </a:defPPr>
          </a:lstStyle>
          <a:p>
            <a:pPr algn="l">
              <a:defRPr sz="3300" b="1">
                <a:solidFill>
                  <a:srgbClr val="FFFFFF"/>
                </a:solidFill>
                <a:latin typeface="Arial"/>
                <a:ea typeface="Arial"/>
                <a:cs typeface="Arial"/>
              </a:defRPr>
            </a:pPr>
            <a:r>
              <a:rPr sz="3300" b="1">
                <a:solidFill>
                  <a:srgbClr val="FFFFFF"/>
                </a:solidFill>
                <a:latin typeface="Arial"/>
                <a:ea typeface="Arial"/>
                <a:cs typeface="Arial"/>
              </a:rPr>
              <a:t>A request becomes an OS operation</a:t>
            </a:r>
          </a:p>
        </p:txBody>
      </p:sp>
      <p:sp>
        <p:nvSpPr>
          <p:cNvPr id="3" name="AGENTIC OS  /  MVP TECHNICAL WALKTHROUGH">
            <a:extLst>
              <a:ext uri="{FF2B5EF4-FFF2-40B4-BE49-F238E27FC236}">
                <a16:creationId xmlns:a16="http://schemas.microsoft.com/office/drawing/2014/main" id="{DEDFFA2D-8BE2-4609-A6CA-75D1E9262CA9}"/>
              </a:ext>
            </a:extLst>
          </p:cNvPr>
          <p:cNvSpPr>
            <a:spLocks noGrp="1"/>
          </p:cNvSpPr>
          <p:nvPr/>
        </p:nvSpPr>
        <p:spPr>
          <a:xfrm>
            <a:off x="609600" y="6410325"/>
            <a:ext cx="10001250" cy="190500"/>
          </a:xfrm>
          <a:prstGeom prst="rect">
            <a:avLst/>
          </a:prstGeom>
          <a:noFill/>
          <a:ln w="0">
            <a:noFill/>
          </a:ln>
        </p:spPr>
        <p:txBody>
          <a:bodyPr lIns="0" tIns="0" rIns="0" bIns="0" anchor="ctr"/>
          <a:lstStyle>
            <a:defPPr algn="l">
              <a:defRPr sz="975" b="0">
                <a:solidFill>
                  <a:srgbClr val="D5C9E6"/>
                </a:solidFill>
                <a:latin typeface="Arial"/>
                <a:ea typeface="Arial"/>
                <a:cs typeface="Arial"/>
              </a:defRPr>
            </a:defPPr>
          </a:lstStyle>
          <a:p>
            <a:pPr algn="l">
              <a:defRPr sz="975" b="0">
                <a:solidFill>
                  <a:srgbClr val="D5C9E6"/>
                </a:solidFill>
                <a:latin typeface="Arial"/>
                <a:ea typeface="Arial"/>
                <a:cs typeface="Arial"/>
              </a:defRPr>
            </a:pPr>
            <a:r>
              <a:rPr sz="975" b="0">
                <a:solidFill>
                  <a:srgbClr val="D5C9E6"/>
                </a:solidFill>
                <a:latin typeface="Arial"/>
                <a:ea typeface="Arial"/>
                <a:cs typeface="Arial"/>
              </a:rPr>
              <a:t>AGENTIC OS  /  MVP TECHNICAL WALKTHROUGH</a:t>
            </a:r>
          </a:p>
        </p:txBody>
      </p:sp>
      <p:sp>
        <p:nvSpPr>
          <p:cNvPr id="4" name="04">
            <a:extLst>
              <a:ext uri="{FF2B5EF4-FFF2-40B4-BE49-F238E27FC236}">
                <a16:creationId xmlns:a16="http://schemas.microsoft.com/office/drawing/2014/main" id="{FAD12F53-2050-4752-9466-9B447BFA6228}"/>
              </a:ext>
            </a:extLst>
          </p:cNvPr>
          <p:cNvSpPr>
            <a:spLocks noGrp="1"/>
          </p:cNvSpPr>
          <p:nvPr/>
        </p:nvSpPr>
        <p:spPr>
          <a:xfrm>
            <a:off x="11029950" y="6372225"/>
            <a:ext cx="552450" cy="247650"/>
          </a:xfrm>
          <a:prstGeom prst="rect">
            <a:avLst/>
          </a:prstGeom>
          <a:noFill/>
          <a:ln w="0">
            <a:noFill/>
          </a:ln>
        </p:spPr>
        <p:txBody>
          <a:bodyPr lIns="0" tIns="0" rIns="0" bIns="0" anchor="ctr"/>
          <a:lstStyle>
            <a:defPPr algn="r">
              <a:defRPr sz="1275" b="0">
                <a:solidFill>
                  <a:srgbClr val="BE98F6"/>
                </a:solidFill>
                <a:latin typeface="Arial"/>
                <a:ea typeface="Arial"/>
                <a:cs typeface="Arial"/>
              </a:defRPr>
            </a:defPPr>
          </a:lstStyle>
          <a:p>
            <a:pPr algn="r">
              <a:defRPr sz="1275" b="0">
                <a:solidFill>
                  <a:srgbClr val="BE98F6"/>
                </a:solidFill>
                <a:latin typeface="Arial"/>
                <a:ea typeface="Arial"/>
                <a:cs typeface="Arial"/>
              </a:defRPr>
            </a:pPr>
            <a:r>
              <a:rPr sz="1275" b="0">
                <a:solidFill>
                  <a:srgbClr val="BE98F6"/>
                </a:solidFill>
                <a:latin typeface="Arial"/>
                <a:ea typeface="Arial"/>
                <a:cs typeface="Arial"/>
              </a:rPr>
              <a:t>04</a:t>
            </a:r>
          </a:p>
        </p:txBody>
      </p:sp>
      <p:sp>
        <p:nvSpPr>
          <p:cNvPr id="5" name="Rectangle 4">
            <a:extLst>
              <a:ext uri="{FF2B5EF4-FFF2-40B4-BE49-F238E27FC236}">
                <a16:creationId xmlns:a16="http://schemas.microsoft.com/office/drawing/2014/main" id="{4F4FF42A-297F-48F6-9449-EF0526B7DE2A}"/>
              </a:ext>
            </a:extLst>
          </p:cNvPr>
          <p:cNvSpPr>
            <a:spLocks noGrp="1"/>
          </p:cNvSpPr>
          <p:nvPr/>
        </p:nvSpPr>
        <p:spPr>
          <a:xfrm>
            <a:off x="609600" y="2762250"/>
            <a:ext cx="2471738" cy="1066800"/>
          </a:xfrm>
          <a:prstGeom prst="rect">
            <a:avLst/>
          </a:prstGeom>
          <a:solidFill>
            <a:srgbClr val="2A1547"/>
          </a:solidFill>
          <a:ln w="13335">
            <a:solidFill>
              <a:srgbClr val="7D43D5"/>
            </a:solidFill>
          </a:ln>
        </p:spPr>
      </p:sp>
      <p:sp>
        <p:nvSpPr>
          <p:cNvPr id="6" name="User request">
            <a:extLst>
              <a:ext uri="{FF2B5EF4-FFF2-40B4-BE49-F238E27FC236}">
                <a16:creationId xmlns:a16="http://schemas.microsoft.com/office/drawing/2014/main" id="{E1DC07FD-B74D-4152-967C-1F0DF9A7B32C}"/>
              </a:ext>
            </a:extLst>
          </p:cNvPr>
          <p:cNvSpPr>
            <a:spLocks noGrp="1"/>
          </p:cNvSpPr>
          <p:nvPr/>
        </p:nvSpPr>
        <p:spPr>
          <a:xfrm>
            <a:off x="752475" y="2847975"/>
            <a:ext cx="2185988" cy="895350"/>
          </a:xfrm>
          <a:prstGeom prst="rect">
            <a:avLst/>
          </a:prstGeom>
          <a:noFill/>
          <a:ln w="0">
            <a:noFill/>
          </a:ln>
        </p:spPr>
        <p:txBody>
          <a:bodyPr lIns="0" tIns="0" rIns="0" bIns="0" anchor="ctr"/>
          <a:lstStyle>
            <a:defPPr algn="ctr">
              <a:defRPr sz="1800" b="1">
                <a:solidFill>
                  <a:srgbClr val="FFFFFF"/>
                </a:solidFill>
                <a:latin typeface="Arial"/>
                <a:ea typeface="Arial"/>
                <a:cs typeface="Arial"/>
              </a:defRPr>
            </a:defPPr>
          </a:lstStyle>
          <a:p>
            <a:pPr algn="ctr">
              <a:defRPr sz="1800" b="1">
                <a:solidFill>
                  <a:srgbClr val="FFFFFF"/>
                </a:solidFill>
                <a:latin typeface="Arial"/>
                <a:ea typeface="Arial"/>
                <a:cs typeface="Arial"/>
              </a:defRPr>
            </a:pPr>
            <a:r>
              <a:rPr sz="1800" b="1">
                <a:solidFill>
                  <a:srgbClr val="FFFFFF"/>
                </a:solidFill>
                <a:latin typeface="Arial"/>
                <a:ea typeface="Arial"/>
                <a:cs typeface="Arial"/>
              </a:rPr>
              <a:t>User request</a:t>
            </a:r>
          </a:p>
        </p:txBody>
      </p:sp>
      <p:cxnSp>
        <p:nvCxnSpPr>
          <p:cNvPr id="7" name="Straight Arrow Connector 6">
            <a:extLst>
              <a:ext uri="{FF2B5EF4-FFF2-40B4-BE49-F238E27FC236}">
                <a16:creationId xmlns:a16="http://schemas.microsoft.com/office/drawing/2014/main" id="{E8160CA9-28AA-437E-A5F9-AA1D24D0FAB5}"/>
              </a:ext>
            </a:extLst>
          </p:cNvPr>
          <p:cNvCxnSpPr/>
          <p:nvPr/>
        </p:nvCxnSpPr>
        <p:spPr>
          <a:xfrm>
            <a:off x="3081338" y="3295650"/>
            <a:ext cx="295275" cy="0"/>
          </a:xfrm>
          <a:prstGeom prst="straightConnector1">
            <a:avLst/>
          </a:prstGeom>
          <a:ln w="19050">
            <a:solidFill>
              <a:srgbClr val="BE98F6"/>
            </a:solidFill>
            <a:prstDash val="solid"/>
            <a:tailEnd type="triangle" w="med" len="med"/>
          </a:ln>
        </p:spPr>
      </p:cxnSp>
      <p:sp>
        <p:nvSpPr>
          <p:cNvPr id="8" name="Rectangle 7">
            <a:extLst>
              <a:ext uri="{FF2B5EF4-FFF2-40B4-BE49-F238E27FC236}">
                <a16:creationId xmlns:a16="http://schemas.microsoft.com/office/drawing/2014/main" id="{A0BC5EAA-96BA-4A55-9C73-F145FD599141}"/>
              </a:ext>
            </a:extLst>
          </p:cNvPr>
          <p:cNvSpPr>
            <a:spLocks noGrp="1"/>
          </p:cNvSpPr>
          <p:nvPr/>
        </p:nvSpPr>
        <p:spPr>
          <a:xfrm>
            <a:off x="3443288" y="2762250"/>
            <a:ext cx="2471738" cy="1066800"/>
          </a:xfrm>
          <a:prstGeom prst="rect">
            <a:avLst/>
          </a:prstGeom>
          <a:solidFill>
            <a:srgbClr val="2A1547"/>
          </a:solidFill>
          <a:ln w="13335">
            <a:solidFill>
              <a:srgbClr val="7D43D5"/>
            </a:solidFill>
          </a:ln>
        </p:spPr>
      </p:sp>
      <p:sp>
        <p:nvSpPr>
          <p:cNvPr id="9" name="Agent decision">
            <a:extLst>
              <a:ext uri="{FF2B5EF4-FFF2-40B4-BE49-F238E27FC236}">
                <a16:creationId xmlns:a16="http://schemas.microsoft.com/office/drawing/2014/main" id="{BF7C6123-EAE1-4EA6-98FC-59659A29AC6E}"/>
              </a:ext>
            </a:extLst>
          </p:cNvPr>
          <p:cNvSpPr>
            <a:spLocks noGrp="1"/>
          </p:cNvSpPr>
          <p:nvPr/>
        </p:nvSpPr>
        <p:spPr>
          <a:xfrm>
            <a:off x="3586163" y="2847975"/>
            <a:ext cx="2185988" cy="895350"/>
          </a:xfrm>
          <a:prstGeom prst="rect">
            <a:avLst/>
          </a:prstGeom>
          <a:noFill/>
          <a:ln w="0">
            <a:noFill/>
          </a:ln>
        </p:spPr>
        <p:txBody>
          <a:bodyPr lIns="0" tIns="0" rIns="0" bIns="0" anchor="ctr"/>
          <a:lstStyle>
            <a:defPPr algn="ctr">
              <a:defRPr sz="1800" b="1">
                <a:solidFill>
                  <a:srgbClr val="FFFFFF"/>
                </a:solidFill>
                <a:latin typeface="Arial"/>
                <a:ea typeface="Arial"/>
                <a:cs typeface="Arial"/>
              </a:defRPr>
            </a:defPPr>
          </a:lstStyle>
          <a:p>
            <a:pPr algn="ctr">
              <a:defRPr sz="1800" b="1">
                <a:solidFill>
                  <a:srgbClr val="FFFFFF"/>
                </a:solidFill>
                <a:latin typeface="Arial"/>
                <a:ea typeface="Arial"/>
                <a:cs typeface="Arial"/>
              </a:defRPr>
            </a:pPr>
            <a:r>
              <a:rPr sz="1800" b="1">
                <a:solidFill>
                  <a:srgbClr val="FFFFFF"/>
                </a:solidFill>
                <a:latin typeface="Arial"/>
                <a:ea typeface="Arial"/>
                <a:cs typeface="Arial"/>
              </a:rPr>
              <a:t>Agent decision</a:t>
            </a:r>
          </a:p>
        </p:txBody>
      </p:sp>
      <p:cxnSp>
        <p:nvCxnSpPr>
          <p:cNvPr id="10" name="Straight Arrow Connector 9">
            <a:extLst>
              <a:ext uri="{FF2B5EF4-FFF2-40B4-BE49-F238E27FC236}">
                <a16:creationId xmlns:a16="http://schemas.microsoft.com/office/drawing/2014/main" id="{085B0F00-1D30-4D67-A19B-53F0B517C7CB}"/>
              </a:ext>
            </a:extLst>
          </p:cNvPr>
          <p:cNvCxnSpPr/>
          <p:nvPr/>
        </p:nvCxnSpPr>
        <p:spPr>
          <a:xfrm>
            <a:off x="5915025" y="3295650"/>
            <a:ext cx="295275" cy="0"/>
          </a:xfrm>
          <a:prstGeom prst="straightConnector1">
            <a:avLst/>
          </a:prstGeom>
          <a:ln w="19050">
            <a:solidFill>
              <a:srgbClr val="BE98F6"/>
            </a:solidFill>
            <a:prstDash val="solid"/>
            <a:tailEnd type="triangle" w="med" len="med"/>
          </a:ln>
        </p:spPr>
      </p:cxnSp>
      <p:sp>
        <p:nvSpPr>
          <p:cNvPr id="11" name="Rectangle 10">
            <a:extLst>
              <a:ext uri="{FF2B5EF4-FFF2-40B4-BE49-F238E27FC236}">
                <a16:creationId xmlns:a16="http://schemas.microsoft.com/office/drawing/2014/main" id="{438B6364-2E7A-4050-AD0C-2A1627D9153A}"/>
              </a:ext>
            </a:extLst>
          </p:cNvPr>
          <p:cNvSpPr>
            <a:spLocks noGrp="1"/>
          </p:cNvSpPr>
          <p:nvPr/>
        </p:nvSpPr>
        <p:spPr>
          <a:xfrm>
            <a:off x="6276975" y="2762250"/>
            <a:ext cx="2471738" cy="1066800"/>
          </a:xfrm>
          <a:prstGeom prst="rect">
            <a:avLst/>
          </a:prstGeom>
          <a:solidFill>
            <a:srgbClr val="2A1547"/>
          </a:solidFill>
          <a:ln w="13335">
            <a:solidFill>
              <a:srgbClr val="7D43D5"/>
            </a:solidFill>
          </a:ln>
        </p:spPr>
      </p:sp>
      <p:sp>
        <p:nvSpPr>
          <p:cNvPr id="12" name="Validated tool">
            <a:extLst>
              <a:ext uri="{FF2B5EF4-FFF2-40B4-BE49-F238E27FC236}">
                <a16:creationId xmlns:a16="http://schemas.microsoft.com/office/drawing/2014/main" id="{764AE68C-F10C-4966-96BD-2328D1869FB4}"/>
              </a:ext>
            </a:extLst>
          </p:cNvPr>
          <p:cNvSpPr>
            <a:spLocks noGrp="1"/>
          </p:cNvSpPr>
          <p:nvPr/>
        </p:nvSpPr>
        <p:spPr>
          <a:xfrm>
            <a:off x="6419850" y="2847975"/>
            <a:ext cx="2185988" cy="895350"/>
          </a:xfrm>
          <a:prstGeom prst="rect">
            <a:avLst/>
          </a:prstGeom>
          <a:noFill/>
          <a:ln w="0">
            <a:noFill/>
          </a:ln>
        </p:spPr>
        <p:txBody>
          <a:bodyPr lIns="0" tIns="0" rIns="0" bIns="0" anchor="ctr"/>
          <a:lstStyle>
            <a:defPPr algn="ctr">
              <a:defRPr sz="1800" b="1">
                <a:solidFill>
                  <a:srgbClr val="FFFFFF"/>
                </a:solidFill>
                <a:latin typeface="Arial"/>
                <a:ea typeface="Arial"/>
                <a:cs typeface="Arial"/>
              </a:defRPr>
            </a:defPPr>
          </a:lstStyle>
          <a:p>
            <a:pPr algn="ctr">
              <a:defRPr sz="1800" b="1">
                <a:solidFill>
                  <a:srgbClr val="FFFFFF"/>
                </a:solidFill>
                <a:latin typeface="Arial"/>
                <a:ea typeface="Arial"/>
                <a:cs typeface="Arial"/>
              </a:defRPr>
            </a:pPr>
            <a:r>
              <a:rPr sz="1800" b="1">
                <a:solidFill>
                  <a:srgbClr val="FFFFFF"/>
                </a:solidFill>
                <a:latin typeface="Arial"/>
                <a:ea typeface="Arial"/>
                <a:cs typeface="Arial"/>
              </a:rPr>
              <a:t>Validated tool</a:t>
            </a:r>
          </a:p>
        </p:txBody>
      </p:sp>
      <p:cxnSp>
        <p:nvCxnSpPr>
          <p:cNvPr id="13" name="Straight Arrow Connector 12">
            <a:extLst>
              <a:ext uri="{FF2B5EF4-FFF2-40B4-BE49-F238E27FC236}">
                <a16:creationId xmlns:a16="http://schemas.microsoft.com/office/drawing/2014/main" id="{D508FCEF-DB2E-4281-B051-164D6870B20F}"/>
              </a:ext>
            </a:extLst>
          </p:cNvPr>
          <p:cNvCxnSpPr/>
          <p:nvPr/>
        </p:nvCxnSpPr>
        <p:spPr>
          <a:xfrm>
            <a:off x="8748713" y="3295650"/>
            <a:ext cx="295275" cy="0"/>
          </a:xfrm>
          <a:prstGeom prst="straightConnector1">
            <a:avLst/>
          </a:prstGeom>
          <a:ln w="19050">
            <a:solidFill>
              <a:srgbClr val="BE98F6"/>
            </a:solidFill>
            <a:prstDash val="solid"/>
            <a:tailEnd type="triangle" w="med" len="med"/>
          </a:ln>
        </p:spPr>
      </p:cxnSp>
      <p:sp>
        <p:nvSpPr>
          <p:cNvPr id="14" name="Rectangle 13">
            <a:extLst>
              <a:ext uri="{FF2B5EF4-FFF2-40B4-BE49-F238E27FC236}">
                <a16:creationId xmlns:a16="http://schemas.microsoft.com/office/drawing/2014/main" id="{C7465DC0-BAD6-459B-A544-DBC05B9A9A56}"/>
              </a:ext>
            </a:extLst>
          </p:cNvPr>
          <p:cNvSpPr>
            <a:spLocks noGrp="1"/>
          </p:cNvSpPr>
          <p:nvPr/>
        </p:nvSpPr>
        <p:spPr>
          <a:xfrm>
            <a:off x="9110663" y="2762250"/>
            <a:ext cx="2471738" cy="1066800"/>
          </a:xfrm>
          <a:prstGeom prst="rect">
            <a:avLst/>
          </a:prstGeom>
          <a:solidFill>
            <a:srgbClr val="2A1547"/>
          </a:solidFill>
          <a:ln w="13335">
            <a:solidFill>
              <a:srgbClr val="7D43D5"/>
            </a:solidFill>
          </a:ln>
        </p:spPr>
      </p:sp>
      <p:sp>
        <p:nvSpPr>
          <p:cNvPr id="15" name="RAM filesystem">
            <a:extLst>
              <a:ext uri="{FF2B5EF4-FFF2-40B4-BE49-F238E27FC236}">
                <a16:creationId xmlns:a16="http://schemas.microsoft.com/office/drawing/2014/main" id="{666CF8E3-6579-416E-926E-958A8AE59941}"/>
              </a:ext>
            </a:extLst>
          </p:cNvPr>
          <p:cNvSpPr>
            <a:spLocks noGrp="1"/>
          </p:cNvSpPr>
          <p:nvPr/>
        </p:nvSpPr>
        <p:spPr>
          <a:xfrm>
            <a:off x="9253538" y="2847975"/>
            <a:ext cx="2185988" cy="895350"/>
          </a:xfrm>
          <a:prstGeom prst="rect">
            <a:avLst/>
          </a:prstGeom>
          <a:noFill/>
          <a:ln w="0">
            <a:noFill/>
          </a:ln>
        </p:spPr>
        <p:txBody>
          <a:bodyPr lIns="0" tIns="0" rIns="0" bIns="0" anchor="ctr"/>
          <a:lstStyle>
            <a:defPPr algn="ctr">
              <a:defRPr sz="1800" b="1">
                <a:solidFill>
                  <a:srgbClr val="FFFFFF"/>
                </a:solidFill>
                <a:latin typeface="Arial"/>
                <a:ea typeface="Arial"/>
                <a:cs typeface="Arial"/>
              </a:defRPr>
            </a:defPPr>
          </a:lstStyle>
          <a:p>
            <a:pPr algn="ctr">
              <a:defRPr sz="1800" b="1">
                <a:solidFill>
                  <a:srgbClr val="FFFFFF"/>
                </a:solidFill>
                <a:latin typeface="Arial"/>
                <a:ea typeface="Arial"/>
                <a:cs typeface="Arial"/>
              </a:defRPr>
            </a:pPr>
            <a:r>
              <a:rPr sz="1800" b="1">
                <a:solidFill>
                  <a:srgbClr val="FFFFFF"/>
                </a:solidFill>
                <a:latin typeface="Arial"/>
                <a:ea typeface="Arial"/>
                <a:cs typeface="Arial"/>
              </a:rPr>
              <a:t>RAM filesystem</a:t>
            </a:r>
          </a:p>
        </p:txBody>
      </p:sp>
      <p:sp>
        <p:nvSpPr>
          <p:cNvPr id="16" name="Example: “Create /notes/demo.txt with a shor">
            <a:extLst>
              <a:ext uri="{FF2B5EF4-FFF2-40B4-BE49-F238E27FC236}">
                <a16:creationId xmlns:a16="http://schemas.microsoft.com/office/drawing/2014/main" id="{DD9F26DB-50DC-436D-BB6B-8584A01B66F2}"/>
              </a:ext>
            </a:extLst>
          </p:cNvPr>
          <p:cNvSpPr>
            <a:spLocks noGrp="1"/>
          </p:cNvSpPr>
          <p:nvPr/>
        </p:nvSpPr>
        <p:spPr>
          <a:xfrm>
            <a:off x="609600" y="5648325"/>
            <a:ext cx="10972800" cy="504825"/>
          </a:xfrm>
          <a:prstGeom prst="rect">
            <a:avLst/>
          </a:prstGeom>
          <a:noFill/>
          <a:ln w="0">
            <a:noFill/>
          </a:ln>
        </p:spPr>
        <p:txBody>
          <a:bodyPr lIns="0" tIns="0" rIns="0" bIns="0" anchor="ctr"/>
          <a:lstStyle>
            <a:defPPr algn="l">
              <a:defRPr sz="1725" b="0">
                <a:solidFill>
                  <a:srgbClr val="D5C9E6"/>
                </a:solidFill>
                <a:latin typeface="Arial"/>
                <a:ea typeface="Arial"/>
                <a:cs typeface="Arial"/>
              </a:defRPr>
            </a:defPPr>
          </a:lstStyle>
          <a:p>
            <a:pPr algn="l">
              <a:defRPr sz="1725" b="0">
                <a:solidFill>
                  <a:srgbClr val="D5C9E6"/>
                </a:solidFill>
                <a:latin typeface="Arial"/>
                <a:ea typeface="Arial"/>
                <a:cs typeface="Arial"/>
              </a:defRPr>
            </a:pPr>
            <a:r>
              <a:rPr sz="1725" b="0">
                <a:solidFill>
                  <a:srgbClr val="D5C9E6"/>
                </a:solidFill>
                <a:latin typeface="Arial"/>
                <a:ea typeface="Arial"/>
                <a:cs typeface="Arial"/>
              </a:rPr>
              <a:t>Example: “Create /notes/demo.txt with a short project summary.”</a:t>
            </a:r>
          </a:p>
        </p:txBody>
      </p:sp>
    </p:spTree>
    <p:extLst>
      <p:ext uri="{BB962C8B-B14F-4D97-AF65-F5344CB8AC3E}">
        <p14:creationId xmlns:p14="http://schemas.microsoft.com/office/powerpoint/2010/main" val="60997132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180B2B"/>
        </a:solidFill>
        <a:effectLst/>
      </p:bgPr>
    </p:bg>
    <p:spTree>
      <p:nvGrpSpPr>
        <p:cNvPr id="1" name=""/>
        <p:cNvGrpSpPr/>
        <p:nvPr/>
      </p:nvGrpSpPr>
      <p:grpSpPr>
        <a:xfrm>
          <a:off x="0" y="0"/>
          <a:ext cx="0" cy="0"/>
          <a:chOff x="0" y="0"/>
          <a:chExt cx="0" cy="0"/>
        </a:xfrm>
      </p:grpSpPr>
      <p:sp>
        <p:nvSpPr>
          <p:cNvPr id="21" name="FOUNDATIONS">
            <a:extLst>
              <a:ext uri="{FF2B5EF4-FFF2-40B4-BE49-F238E27FC236}">
                <a16:creationId xmlns:a16="http://schemas.microsoft.com/office/drawing/2014/main" id="{F3AB2932-7F90-4FD1-BBCA-816F2EE52401}"/>
              </a:ext>
            </a:extLst>
          </p:cNvPr>
          <p:cNvSpPr>
            <a:spLocks noGrp="1"/>
          </p:cNvSpPr>
          <p:nvPr/>
        </p:nvSpPr>
        <p:spPr>
          <a:xfrm>
            <a:off x="609600" y="323850"/>
            <a:ext cx="10001250" cy="228600"/>
          </a:xfrm>
          <a:prstGeom prst="rect">
            <a:avLst/>
          </a:prstGeom>
          <a:noFill/>
          <a:ln w="0">
            <a:noFill/>
          </a:ln>
        </p:spPr>
        <p:txBody>
          <a:bodyPr lIns="0" tIns="0" rIns="0" bIns="0" anchor="ctr"/>
          <a:lstStyle>
            <a:defPPr algn="l">
              <a:defRPr sz="1200" b="1">
                <a:solidFill>
                  <a:srgbClr val="BE98F6"/>
                </a:solidFill>
                <a:latin typeface="Arial"/>
                <a:ea typeface="Arial"/>
                <a:cs typeface="Arial"/>
              </a:defRPr>
            </a:defPPr>
          </a:lstStyle>
          <a:p>
            <a:pPr algn="l">
              <a:defRPr sz="1200" b="1">
                <a:solidFill>
                  <a:srgbClr val="BE98F6"/>
                </a:solidFill>
                <a:latin typeface="Arial"/>
                <a:ea typeface="Arial"/>
                <a:cs typeface="Arial"/>
              </a:defRPr>
            </a:pPr>
            <a:r>
              <a:rPr sz="1200" b="1">
                <a:solidFill>
                  <a:srgbClr val="BE98F6"/>
                </a:solidFill>
                <a:latin typeface="Arial"/>
                <a:ea typeface="Arial"/>
                <a:cs typeface="Arial"/>
              </a:rPr>
              <a:t>FOUNDATIONS</a:t>
            </a:r>
          </a:p>
        </p:txBody>
      </p:sp>
      <p:sp>
        <p:nvSpPr>
          <p:cNvPr id="2" name="System architecture">
            <a:extLst>
              <a:ext uri="{FF2B5EF4-FFF2-40B4-BE49-F238E27FC236}">
                <a16:creationId xmlns:a16="http://schemas.microsoft.com/office/drawing/2014/main" id="{DC70603C-054F-4A32-A55E-86424D2BE43C}"/>
              </a:ext>
            </a:extLst>
          </p:cNvPr>
          <p:cNvSpPr>
            <a:spLocks noGrp="1"/>
          </p:cNvSpPr>
          <p:nvPr/>
        </p:nvSpPr>
        <p:spPr>
          <a:xfrm>
            <a:off x="609600" y="876300"/>
            <a:ext cx="10972800" cy="952500"/>
          </a:xfrm>
          <a:prstGeom prst="rect">
            <a:avLst/>
          </a:prstGeom>
          <a:noFill/>
          <a:ln w="0">
            <a:noFill/>
          </a:ln>
        </p:spPr>
        <p:txBody>
          <a:bodyPr lIns="0" tIns="0" rIns="0" bIns="0" anchor="ctr"/>
          <a:lstStyle>
            <a:defPPr algn="l">
              <a:defRPr sz="3300" b="1">
                <a:solidFill>
                  <a:srgbClr val="FFFFFF"/>
                </a:solidFill>
                <a:latin typeface="Arial"/>
                <a:ea typeface="Arial"/>
                <a:cs typeface="Arial"/>
              </a:defRPr>
            </a:defPPr>
          </a:lstStyle>
          <a:p>
            <a:pPr algn="l">
              <a:defRPr sz="3300" b="1">
                <a:solidFill>
                  <a:srgbClr val="FFFFFF"/>
                </a:solidFill>
                <a:latin typeface="Arial"/>
                <a:ea typeface="Arial"/>
                <a:cs typeface="Arial"/>
              </a:defRPr>
            </a:pPr>
            <a:r>
              <a:rPr sz="3300" b="1">
                <a:solidFill>
                  <a:srgbClr val="FFFFFF"/>
                </a:solidFill>
                <a:latin typeface="Arial"/>
                <a:ea typeface="Arial"/>
                <a:cs typeface="Arial"/>
              </a:rPr>
              <a:t>System architecture</a:t>
            </a:r>
          </a:p>
        </p:txBody>
      </p:sp>
      <p:sp>
        <p:nvSpPr>
          <p:cNvPr id="3" name="AGENTIC OS  /  MVP TECHNICAL WALKTHROUGH">
            <a:extLst>
              <a:ext uri="{FF2B5EF4-FFF2-40B4-BE49-F238E27FC236}">
                <a16:creationId xmlns:a16="http://schemas.microsoft.com/office/drawing/2014/main" id="{F6AB4A89-58A8-47C5-A5B1-161A3623878A}"/>
              </a:ext>
            </a:extLst>
          </p:cNvPr>
          <p:cNvSpPr>
            <a:spLocks noGrp="1"/>
          </p:cNvSpPr>
          <p:nvPr/>
        </p:nvSpPr>
        <p:spPr>
          <a:xfrm>
            <a:off x="609600" y="6410325"/>
            <a:ext cx="10001250" cy="190500"/>
          </a:xfrm>
          <a:prstGeom prst="rect">
            <a:avLst/>
          </a:prstGeom>
          <a:noFill/>
          <a:ln w="0">
            <a:noFill/>
          </a:ln>
        </p:spPr>
        <p:txBody>
          <a:bodyPr lIns="0" tIns="0" rIns="0" bIns="0" anchor="ctr"/>
          <a:lstStyle>
            <a:defPPr algn="l">
              <a:defRPr sz="975" b="0">
                <a:solidFill>
                  <a:srgbClr val="D5C9E6"/>
                </a:solidFill>
                <a:latin typeface="Arial"/>
                <a:ea typeface="Arial"/>
                <a:cs typeface="Arial"/>
              </a:defRPr>
            </a:defPPr>
          </a:lstStyle>
          <a:p>
            <a:pPr algn="l">
              <a:defRPr sz="975" b="0">
                <a:solidFill>
                  <a:srgbClr val="D5C9E6"/>
                </a:solidFill>
                <a:latin typeface="Arial"/>
                <a:ea typeface="Arial"/>
                <a:cs typeface="Arial"/>
              </a:defRPr>
            </a:pPr>
            <a:r>
              <a:rPr sz="975" b="0">
                <a:solidFill>
                  <a:srgbClr val="D5C9E6"/>
                </a:solidFill>
                <a:latin typeface="Arial"/>
                <a:ea typeface="Arial"/>
                <a:cs typeface="Arial"/>
              </a:rPr>
              <a:t>AGENTIC OS  /  MVP TECHNICAL WALKTHROUGH</a:t>
            </a:r>
          </a:p>
        </p:txBody>
      </p:sp>
      <p:sp>
        <p:nvSpPr>
          <p:cNvPr id="4" name="05">
            <a:extLst>
              <a:ext uri="{FF2B5EF4-FFF2-40B4-BE49-F238E27FC236}">
                <a16:creationId xmlns:a16="http://schemas.microsoft.com/office/drawing/2014/main" id="{F5DB4B1B-F717-4D18-9F6D-5174703B4791}"/>
              </a:ext>
            </a:extLst>
          </p:cNvPr>
          <p:cNvSpPr>
            <a:spLocks noGrp="1"/>
          </p:cNvSpPr>
          <p:nvPr/>
        </p:nvSpPr>
        <p:spPr>
          <a:xfrm>
            <a:off x="11029950" y="6372225"/>
            <a:ext cx="552450" cy="247650"/>
          </a:xfrm>
          <a:prstGeom prst="rect">
            <a:avLst/>
          </a:prstGeom>
          <a:noFill/>
          <a:ln w="0">
            <a:noFill/>
          </a:ln>
        </p:spPr>
        <p:txBody>
          <a:bodyPr lIns="0" tIns="0" rIns="0" bIns="0" anchor="ctr"/>
          <a:lstStyle>
            <a:defPPr algn="r">
              <a:defRPr sz="1275" b="0">
                <a:solidFill>
                  <a:srgbClr val="BE98F6"/>
                </a:solidFill>
                <a:latin typeface="Arial"/>
                <a:ea typeface="Arial"/>
                <a:cs typeface="Arial"/>
              </a:defRPr>
            </a:defPPr>
          </a:lstStyle>
          <a:p>
            <a:pPr algn="r">
              <a:defRPr sz="1275" b="0">
                <a:solidFill>
                  <a:srgbClr val="BE98F6"/>
                </a:solidFill>
                <a:latin typeface="Arial"/>
                <a:ea typeface="Arial"/>
                <a:cs typeface="Arial"/>
              </a:defRPr>
            </a:pPr>
            <a:r>
              <a:rPr sz="1275" b="0">
                <a:solidFill>
                  <a:srgbClr val="BE98F6"/>
                </a:solidFill>
                <a:latin typeface="Arial"/>
                <a:ea typeface="Arial"/>
                <a:cs typeface="Arial"/>
              </a:rPr>
              <a:t>05</a:t>
            </a:r>
          </a:p>
        </p:txBody>
      </p:sp>
      <p:sp>
        <p:nvSpPr>
          <p:cNvPr id="5" name="Rectangle 4">
            <a:extLst>
              <a:ext uri="{FF2B5EF4-FFF2-40B4-BE49-F238E27FC236}">
                <a16:creationId xmlns:a16="http://schemas.microsoft.com/office/drawing/2014/main" id="{33C656FD-BCD0-49E3-9358-79F74C6F7EA9}"/>
              </a:ext>
            </a:extLst>
          </p:cNvPr>
          <p:cNvSpPr>
            <a:spLocks noGrp="1"/>
          </p:cNvSpPr>
          <p:nvPr/>
        </p:nvSpPr>
        <p:spPr>
          <a:xfrm>
            <a:off x="609600" y="2190750"/>
            <a:ext cx="3238500" cy="857250"/>
          </a:xfrm>
          <a:prstGeom prst="rect">
            <a:avLst/>
          </a:prstGeom>
          <a:solidFill>
            <a:srgbClr val="2A1547"/>
          </a:solidFill>
          <a:ln w="13335">
            <a:solidFill>
              <a:srgbClr val="7D43D5"/>
            </a:solidFill>
          </a:ln>
        </p:spPr>
      </p:sp>
      <p:sp>
        <p:nvSpPr>
          <p:cNvPr id="6" name="Shell and user request">
            <a:extLst>
              <a:ext uri="{FF2B5EF4-FFF2-40B4-BE49-F238E27FC236}">
                <a16:creationId xmlns:a16="http://schemas.microsoft.com/office/drawing/2014/main" id="{4D79E31A-17E0-48EA-93A0-02097D0A4D1B}"/>
              </a:ext>
            </a:extLst>
          </p:cNvPr>
          <p:cNvSpPr>
            <a:spLocks noGrp="1"/>
          </p:cNvSpPr>
          <p:nvPr/>
        </p:nvSpPr>
        <p:spPr>
          <a:xfrm>
            <a:off x="752475" y="2276475"/>
            <a:ext cx="2952750" cy="685800"/>
          </a:xfrm>
          <a:prstGeom prst="rect">
            <a:avLst/>
          </a:prstGeom>
          <a:noFill/>
          <a:ln w="0">
            <a:noFill/>
          </a:ln>
        </p:spPr>
        <p:txBody>
          <a:bodyPr lIns="0" tIns="0" rIns="0" bIns="0" anchor="ctr"/>
          <a:lstStyle>
            <a:defPPr algn="ctr">
              <a:defRPr sz="1800" b="1">
                <a:solidFill>
                  <a:srgbClr val="FFFFFF"/>
                </a:solidFill>
                <a:latin typeface="Arial"/>
                <a:ea typeface="Arial"/>
                <a:cs typeface="Arial"/>
              </a:defRPr>
            </a:defPPr>
          </a:lstStyle>
          <a:p>
            <a:pPr algn="ctr">
              <a:defRPr sz="1800" b="1">
                <a:solidFill>
                  <a:srgbClr val="FFFFFF"/>
                </a:solidFill>
                <a:latin typeface="Arial"/>
                <a:ea typeface="Arial"/>
                <a:cs typeface="Arial"/>
              </a:defRPr>
            </a:pPr>
            <a:r>
              <a:rPr sz="1800" b="1">
                <a:solidFill>
                  <a:srgbClr val="FFFFFF"/>
                </a:solidFill>
                <a:latin typeface="Arial"/>
                <a:ea typeface="Arial"/>
                <a:cs typeface="Arial"/>
              </a:rPr>
              <a:t>Shell and user request</a:t>
            </a:r>
          </a:p>
        </p:txBody>
      </p:sp>
      <p:sp>
        <p:nvSpPr>
          <p:cNvPr id="7" name="Rectangle 6">
            <a:extLst>
              <a:ext uri="{FF2B5EF4-FFF2-40B4-BE49-F238E27FC236}">
                <a16:creationId xmlns:a16="http://schemas.microsoft.com/office/drawing/2014/main" id="{64A0C916-335E-4314-8BC1-0F12D1A8212C}"/>
              </a:ext>
            </a:extLst>
          </p:cNvPr>
          <p:cNvSpPr>
            <a:spLocks noGrp="1"/>
          </p:cNvSpPr>
          <p:nvPr/>
        </p:nvSpPr>
        <p:spPr>
          <a:xfrm>
            <a:off x="4476750" y="2190750"/>
            <a:ext cx="3238500" cy="857250"/>
          </a:xfrm>
          <a:prstGeom prst="rect">
            <a:avLst/>
          </a:prstGeom>
          <a:solidFill>
            <a:srgbClr val="2A1547"/>
          </a:solidFill>
          <a:ln w="13335">
            <a:solidFill>
              <a:srgbClr val="7D43D5"/>
            </a:solidFill>
          </a:ln>
        </p:spPr>
      </p:sp>
      <p:sp>
        <p:nvSpPr>
          <p:cNvPr id="8" name="Main OS agent">
            <a:extLst>
              <a:ext uri="{FF2B5EF4-FFF2-40B4-BE49-F238E27FC236}">
                <a16:creationId xmlns:a16="http://schemas.microsoft.com/office/drawing/2014/main" id="{95774F02-6C13-4122-893E-D4F1F4C96B1D}"/>
              </a:ext>
            </a:extLst>
          </p:cNvPr>
          <p:cNvSpPr>
            <a:spLocks noGrp="1"/>
          </p:cNvSpPr>
          <p:nvPr/>
        </p:nvSpPr>
        <p:spPr>
          <a:xfrm>
            <a:off x="4619625" y="2276475"/>
            <a:ext cx="2952750" cy="685800"/>
          </a:xfrm>
          <a:prstGeom prst="rect">
            <a:avLst/>
          </a:prstGeom>
          <a:noFill/>
          <a:ln w="0">
            <a:noFill/>
          </a:ln>
        </p:spPr>
        <p:txBody>
          <a:bodyPr lIns="0" tIns="0" rIns="0" bIns="0" anchor="ctr"/>
          <a:lstStyle>
            <a:defPPr algn="ctr">
              <a:defRPr sz="1800" b="1">
                <a:solidFill>
                  <a:srgbClr val="FFFFFF"/>
                </a:solidFill>
                <a:latin typeface="Arial"/>
                <a:ea typeface="Arial"/>
                <a:cs typeface="Arial"/>
              </a:defRPr>
            </a:defPPr>
          </a:lstStyle>
          <a:p>
            <a:pPr algn="ctr">
              <a:defRPr sz="1800" b="1">
                <a:solidFill>
                  <a:srgbClr val="FFFFFF"/>
                </a:solidFill>
                <a:latin typeface="Arial"/>
                <a:ea typeface="Arial"/>
                <a:cs typeface="Arial"/>
              </a:defRPr>
            </a:pPr>
            <a:r>
              <a:rPr sz="1800" b="1">
                <a:solidFill>
                  <a:srgbClr val="FFFFFF"/>
                </a:solidFill>
                <a:latin typeface="Arial"/>
                <a:ea typeface="Arial"/>
                <a:cs typeface="Arial"/>
              </a:rPr>
              <a:t>Main OS agent</a:t>
            </a:r>
          </a:p>
        </p:txBody>
      </p:sp>
      <p:sp>
        <p:nvSpPr>
          <p:cNvPr id="9" name="Rectangle 8">
            <a:extLst>
              <a:ext uri="{FF2B5EF4-FFF2-40B4-BE49-F238E27FC236}">
                <a16:creationId xmlns:a16="http://schemas.microsoft.com/office/drawing/2014/main" id="{72B1FB07-75B6-4071-AAC8-2ECC3F9094CD}"/>
              </a:ext>
            </a:extLst>
          </p:cNvPr>
          <p:cNvSpPr>
            <a:spLocks noGrp="1"/>
          </p:cNvSpPr>
          <p:nvPr/>
        </p:nvSpPr>
        <p:spPr>
          <a:xfrm>
            <a:off x="8343900" y="2190750"/>
            <a:ext cx="3238500" cy="857250"/>
          </a:xfrm>
          <a:prstGeom prst="rect">
            <a:avLst/>
          </a:prstGeom>
          <a:solidFill>
            <a:srgbClr val="2A1547"/>
          </a:solidFill>
          <a:ln w="13335">
            <a:solidFill>
              <a:srgbClr val="7D43D5"/>
            </a:solidFill>
          </a:ln>
        </p:spPr>
      </p:sp>
      <p:sp>
        <p:nvSpPr>
          <p:cNvPr id="10" name="Host Gemini gateway">
            <a:extLst>
              <a:ext uri="{FF2B5EF4-FFF2-40B4-BE49-F238E27FC236}">
                <a16:creationId xmlns:a16="http://schemas.microsoft.com/office/drawing/2014/main" id="{A3B5417D-CDFD-46AB-95E7-147DFC34D3E8}"/>
              </a:ext>
            </a:extLst>
          </p:cNvPr>
          <p:cNvSpPr>
            <a:spLocks noGrp="1"/>
          </p:cNvSpPr>
          <p:nvPr/>
        </p:nvSpPr>
        <p:spPr>
          <a:xfrm>
            <a:off x="8486775" y="2276475"/>
            <a:ext cx="2952750" cy="685800"/>
          </a:xfrm>
          <a:prstGeom prst="rect">
            <a:avLst/>
          </a:prstGeom>
          <a:noFill/>
          <a:ln w="0">
            <a:noFill/>
          </a:ln>
        </p:spPr>
        <p:txBody>
          <a:bodyPr lIns="0" tIns="0" rIns="0" bIns="0" anchor="ctr"/>
          <a:lstStyle>
            <a:defPPr algn="ctr">
              <a:defRPr sz="1800" b="1">
                <a:solidFill>
                  <a:srgbClr val="FFFFFF"/>
                </a:solidFill>
                <a:latin typeface="Arial"/>
                <a:ea typeface="Arial"/>
                <a:cs typeface="Arial"/>
              </a:defRPr>
            </a:defPPr>
          </a:lstStyle>
          <a:p>
            <a:pPr algn="ctr">
              <a:defRPr sz="1800" b="1">
                <a:solidFill>
                  <a:srgbClr val="FFFFFF"/>
                </a:solidFill>
                <a:latin typeface="Arial"/>
                <a:ea typeface="Arial"/>
                <a:cs typeface="Arial"/>
              </a:defRPr>
            </a:pPr>
            <a:r>
              <a:rPr sz="1800" b="1">
                <a:solidFill>
                  <a:srgbClr val="FFFFFF"/>
                </a:solidFill>
                <a:latin typeface="Arial"/>
                <a:ea typeface="Arial"/>
                <a:cs typeface="Arial"/>
              </a:rPr>
              <a:t>Host Gemini gateway</a:t>
            </a:r>
          </a:p>
        </p:txBody>
      </p:sp>
      <p:cxnSp>
        <p:nvCxnSpPr>
          <p:cNvPr id="11" name="Straight Arrow Connector 10">
            <a:extLst>
              <a:ext uri="{FF2B5EF4-FFF2-40B4-BE49-F238E27FC236}">
                <a16:creationId xmlns:a16="http://schemas.microsoft.com/office/drawing/2014/main" id="{5A97D0D2-29E4-42D0-B52B-4DF67E9BB147}"/>
              </a:ext>
            </a:extLst>
          </p:cNvPr>
          <p:cNvCxnSpPr/>
          <p:nvPr/>
        </p:nvCxnSpPr>
        <p:spPr>
          <a:xfrm>
            <a:off x="3848100" y="2619375"/>
            <a:ext cx="552450" cy="0"/>
          </a:xfrm>
          <a:prstGeom prst="straightConnector1">
            <a:avLst/>
          </a:prstGeom>
          <a:ln w="19050">
            <a:solidFill>
              <a:srgbClr val="BE98F6"/>
            </a:solidFill>
            <a:prstDash val="solid"/>
            <a:tailEnd type="triangle" w="med" len="med"/>
          </a:ln>
        </p:spPr>
      </p:cxnSp>
      <p:cxnSp>
        <p:nvCxnSpPr>
          <p:cNvPr id="12" name="Straight Arrow Connector 11">
            <a:extLst>
              <a:ext uri="{FF2B5EF4-FFF2-40B4-BE49-F238E27FC236}">
                <a16:creationId xmlns:a16="http://schemas.microsoft.com/office/drawing/2014/main" id="{312D90A7-E259-42B0-914D-E663B46F5603}"/>
              </a:ext>
            </a:extLst>
          </p:cNvPr>
          <p:cNvCxnSpPr/>
          <p:nvPr/>
        </p:nvCxnSpPr>
        <p:spPr>
          <a:xfrm>
            <a:off x="7715250" y="2619375"/>
            <a:ext cx="552450" cy="0"/>
          </a:xfrm>
          <a:prstGeom prst="straightConnector1">
            <a:avLst/>
          </a:prstGeom>
          <a:ln w="19050">
            <a:solidFill>
              <a:srgbClr val="BE98F6"/>
            </a:solidFill>
            <a:prstDash val="solid"/>
            <a:tailEnd type="triangle" w="med" len="med"/>
          </a:ln>
        </p:spPr>
      </p:cxnSp>
      <p:sp>
        <p:nvSpPr>
          <p:cNvPr id="13" name="Rectangle 12">
            <a:extLst>
              <a:ext uri="{FF2B5EF4-FFF2-40B4-BE49-F238E27FC236}">
                <a16:creationId xmlns:a16="http://schemas.microsoft.com/office/drawing/2014/main" id="{08461981-E935-457E-8C68-CFC1E8C4096B}"/>
              </a:ext>
            </a:extLst>
          </p:cNvPr>
          <p:cNvSpPr>
            <a:spLocks noGrp="1"/>
          </p:cNvSpPr>
          <p:nvPr/>
        </p:nvSpPr>
        <p:spPr>
          <a:xfrm>
            <a:off x="4476750" y="3714750"/>
            <a:ext cx="3238500" cy="809625"/>
          </a:xfrm>
          <a:prstGeom prst="rect">
            <a:avLst/>
          </a:prstGeom>
          <a:solidFill>
            <a:srgbClr val="2A1547"/>
          </a:solidFill>
          <a:ln w="13335">
            <a:solidFill>
              <a:srgbClr val="7D43D5"/>
            </a:solidFill>
          </a:ln>
        </p:spPr>
      </p:sp>
      <p:sp>
        <p:nvSpPr>
          <p:cNvPr id="14" name="RAMFS tool executor">
            <a:extLst>
              <a:ext uri="{FF2B5EF4-FFF2-40B4-BE49-F238E27FC236}">
                <a16:creationId xmlns:a16="http://schemas.microsoft.com/office/drawing/2014/main" id="{0F29865E-970C-4577-ABA0-EFED3A1DAB39}"/>
              </a:ext>
            </a:extLst>
          </p:cNvPr>
          <p:cNvSpPr>
            <a:spLocks noGrp="1"/>
          </p:cNvSpPr>
          <p:nvPr/>
        </p:nvSpPr>
        <p:spPr>
          <a:xfrm>
            <a:off x="4619625" y="3800475"/>
            <a:ext cx="2952750" cy="638175"/>
          </a:xfrm>
          <a:prstGeom prst="rect">
            <a:avLst/>
          </a:prstGeom>
          <a:noFill/>
          <a:ln w="0">
            <a:noFill/>
          </a:ln>
        </p:spPr>
        <p:txBody>
          <a:bodyPr lIns="0" tIns="0" rIns="0" bIns="0" anchor="ctr"/>
          <a:lstStyle>
            <a:defPPr algn="ctr">
              <a:defRPr sz="1800" b="1">
                <a:solidFill>
                  <a:srgbClr val="FFFFFF"/>
                </a:solidFill>
                <a:latin typeface="Arial"/>
                <a:ea typeface="Arial"/>
                <a:cs typeface="Arial"/>
              </a:defRPr>
            </a:defPPr>
          </a:lstStyle>
          <a:p>
            <a:pPr algn="ctr">
              <a:defRPr sz="1800" b="1">
                <a:solidFill>
                  <a:srgbClr val="FFFFFF"/>
                </a:solidFill>
                <a:latin typeface="Arial"/>
                <a:ea typeface="Arial"/>
                <a:cs typeface="Arial"/>
              </a:defRPr>
            </a:pPr>
            <a:r>
              <a:rPr sz="1800" b="1">
                <a:solidFill>
                  <a:srgbClr val="FFFFFF"/>
                </a:solidFill>
                <a:latin typeface="Arial"/>
                <a:ea typeface="Arial"/>
                <a:cs typeface="Arial"/>
              </a:rPr>
              <a:t>RAMFS tool executor</a:t>
            </a:r>
          </a:p>
        </p:txBody>
      </p:sp>
      <p:cxnSp>
        <p:nvCxnSpPr>
          <p:cNvPr id="15" name="Straight Arrow Connector 14">
            <a:extLst>
              <a:ext uri="{FF2B5EF4-FFF2-40B4-BE49-F238E27FC236}">
                <a16:creationId xmlns:a16="http://schemas.microsoft.com/office/drawing/2014/main" id="{0BA9F6B1-5C09-4312-8A13-FBEB7C9FD5A8}"/>
              </a:ext>
            </a:extLst>
          </p:cNvPr>
          <p:cNvCxnSpPr/>
          <p:nvPr/>
        </p:nvCxnSpPr>
        <p:spPr>
          <a:xfrm>
            <a:off x="6096000" y="3048000"/>
            <a:ext cx="0" cy="590550"/>
          </a:xfrm>
          <a:prstGeom prst="straightConnector1">
            <a:avLst/>
          </a:prstGeom>
          <a:ln w="19050">
            <a:solidFill>
              <a:srgbClr val="BE98F6"/>
            </a:solidFill>
            <a:prstDash val="solid"/>
            <a:tailEnd type="triangle" w="med" len="med"/>
          </a:ln>
        </p:spPr>
      </p:cxnSp>
      <p:sp>
        <p:nvSpPr>
          <p:cNvPr id="16" name="Rectangle 15">
            <a:extLst>
              <a:ext uri="{FF2B5EF4-FFF2-40B4-BE49-F238E27FC236}">
                <a16:creationId xmlns:a16="http://schemas.microsoft.com/office/drawing/2014/main" id="{E1419CAF-92D1-4B60-9343-9AF3151B8C92}"/>
              </a:ext>
            </a:extLst>
          </p:cNvPr>
          <p:cNvSpPr>
            <a:spLocks noGrp="1"/>
          </p:cNvSpPr>
          <p:nvPr/>
        </p:nvSpPr>
        <p:spPr>
          <a:xfrm>
            <a:off x="609600" y="5029200"/>
            <a:ext cx="10972800" cy="571500"/>
          </a:xfrm>
          <a:prstGeom prst="rect">
            <a:avLst/>
          </a:prstGeom>
          <a:solidFill>
            <a:srgbClr val="2A1547"/>
          </a:solidFill>
          <a:ln w="13335">
            <a:solidFill>
              <a:srgbClr val="7D43D5"/>
            </a:solidFill>
          </a:ln>
        </p:spPr>
      </p:sp>
      <p:sp>
        <p:nvSpPr>
          <p:cNvPr id="17" name="C kernel + x86 assembly">
            <a:extLst>
              <a:ext uri="{FF2B5EF4-FFF2-40B4-BE49-F238E27FC236}">
                <a16:creationId xmlns:a16="http://schemas.microsoft.com/office/drawing/2014/main" id="{3A7F00E6-D9D2-43A7-941C-747CA63316B1}"/>
              </a:ext>
            </a:extLst>
          </p:cNvPr>
          <p:cNvSpPr>
            <a:spLocks noGrp="1"/>
          </p:cNvSpPr>
          <p:nvPr/>
        </p:nvSpPr>
        <p:spPr>
          <a:xfrm>
            <a:off x="752475" y="5114925"/>
            <a:ext cx="10687050" cy="400050"/>
          </a:xfrm>
          <a:prstGeom prst="rect">
            <a:avLst/>
          </a:prstGeom>
          <a:noFill/>
          <a:ln w="0">
            <a:noFill/>
          </a:ln>
        </p:spPr>
        <p:txBody>
          <a:bodyPr lIns="0" tIns="0" rIns="0" bIns="0" anchor="ctr"/>
          <a:lstStyle>
            <a:defPPr algn="ctr">
              <a:defRPr sz="1800" b="1">
                <a:solidFill>
                  <a:srgbClr val="FFFFFF"/>
                </a:solidFill>
                <a:latin typeface="Arial"/>
                <a:ea typeface="Arial"/>
                <a:cs typeface="Arial"/>
              </a:defRPr>
            </a:defPPr>
          </a:lstStyle>
          <a:p>
            <a:pPr algn="ctr">
              <a:defRPr sz="1800" b="1">
                <a:solidFill>
                  <a:srgbClr val="FFFFFF"/>
                </a:solidFill>
                <a:latin typeface="Arial"/>
                <a:ea typeface="Arial"/>
                <a:cs typeface="Arial"/>
              </a:defRPr>
            </a:pPr>
            <a:r>
              <a:rPr sz="1800" b="1">
                <a:solidFill>
                  <a:srgbClr val="FFFFFF"/>
                </a:solidFill>
                <a:latin typeface="Arial"/>
                <a:ea typeface="Arial"/>
                <a:cs typeface="Arial"/>
              </a:rPr>
              <a:t>C kernel + x86 assembly</a:t>
            </a:r>
          </a:p>
        </p:txBody>
      </p:sp>
      <p:cxnSp>
        <p:nvCxnSpPr>
          <p:cNvPr id="18" name="Straight Arrow Connector 17">
            <a:extLst>
              <a:ext uri="{FF2B5EF4-FFF2-40B4-BE49-F238E27FC236}">
                <a16:creationId xmlns:a16="http://schemas.microsoft.com/office/drawing/2014/main" id="{E7197AD8-BA46-47AE-8D51-DD632487C411}"/>
              </a:ext>
            </a:extLst>
          </p:cNvPr>
          <p:cNvCxnSpPr/>
          <p:nvPr/>
        </p:nvCxnSpPr>
        <p:spPr>
          <a:xfrm>
            <a:off x="6096000" y="4524375"/>
            <a:ext cx="0" cy="428625"/>
          </a:xfrm>
          <a:prstGeom prst="straightConnector1">
            <a:avLst/>
          </a:prstGeom>
          <a:ln w="19050">
            <a:solidFill>
              <a:srgbClr val="BE98F6"/>
            </a:solidFill>
            <a:prstDash val="solid"/>
            <a:tailEnd type="triangle" w="med" len="med"/>
          </a:ln>
        </p:spPr>
      </p:cxnSp>
      <p:sp>
        <p:nvSpPr>
          <p:cNvPr id="19" name="Guest">
            <a:extLst>
              <a:ext uri="{FF2B5EF4-FFF2-40B4-BE49-F238E27FC236}">
                <a16:creationId xmlns:a16="http://schemas.microsoft.com/office/drawing/2014/main" id="{913DE023-8CD4-4AA9-B0EC-72C636F5260A}"/>
              </a:ext>
            </a:extLst>
          </p:cNvPr>
          <p:cNvSpPr>
            <a:spLocks noGrp="1"/>
          </p:cNvSpPr>
          <p:nvPr/>
        </p:nvSpPr>
        <p:spPr>
          <a:xfrm>
            <a:off x="609600" y="3448050"/>
            <a:ext cx="2476500" cy="381000"/>
          </a:xfrm>
          <a:prstGeom prst="rect">
            <a:avLst/>
          </a:prstGeom>
          <a:noFill/>
          <a:ln w="0">
            <a:noFill/>
          </a:ln>
        </p:spPr>
        <p:txBody>
          <a:bodyPr lIns="0" tIns="0" rIns="0" bIns="0" anchor="ctr"/>
          <a:lstStyle>
            <a:defPPr algn="l">
              <a:defRPr sz="2025" b="1">
                <a:solidFill>
                  <a:srgbClr val="BE98F6"/>
                </a:solidFill>
                <a:latin typeface="Arial"/>
                <a:ea typeface="Arial"/>
                <a:cs typeface="Arial"/>
              </a:defRPr>
            </a:defPPr>
          </a:lstStyle>
          <a:p>
            <a:pPr algn="l">
              <a:defRPr sz="2025" b="1">
                <a:solidFill>
                  <a:srgbClr val="BE98F6"/>
                </a:solidFill>
                <a:latin typeface="Arial"/>
                <a:ea typeface="Arial"/>
                <a:cs typeface="Arial"/>
              </a:defRPr>
            </a:pPr>
            <a:r>
              <a:rPr sz="2025" b="1">
                <a:solidFill>
                  <a:srgbClr val="BE98F6"/>
                </a:solidFill>
                <a:latin typeface="Arial"/>
                <a:ea typeface="Arial"/>
                <a:cs typeface="Arial"/>
              </a:rPr>
              <a:t>Guest</a:t>
            </a:r>
          </a:p>
        </p:txBody>
      </p:sp>
      <p:sp>
        <p:nvSpPr>
          <p:cNvPr id="20" name="Host owns HTTPS&#10;and model credentials">
            <a:extLst>
              <a:ext uri="{FF2B5EF4-FFF2-40B4-BE49-F238E27FC236}">
                <a16:creationId xmlns:a16="http://schemas.microsoft.com/office/drawing/2014/main" id="{D2F493A9-D938-4D50-BB38-B157E9802A5B}"/>
              </a:ext>
            </a:extLst>
          </p:cNvPr>
          <p:cNvSpPr>
            <a:spLocks noGrp="1"/>
          </p:cNvSpPr>
          <p:nvPr/>
        </p:nvSpPr>
        <p:spPr>
          <a:xfrm>
            <a:off x="8496300" y="3457575"/>
            <a:ext cx="3028950" cy="895350"/>
          </a:xfrm>
          <a:prstGeom prst="rect">
            <a:avLst/>
          </a:prstGeom>
          <a:noFill/>
          <a:ln w="0">
            <a:noFill/>
          </a:ln>
        </p:spPr>
        <p:txBody>
          <a:bodyPr lIns="0" tIns="0" rIns="0" bIns="0" anchor="ctr"/>
          <a:lstStyle>
            <a:defPPr algn="l">
              <a:defRPr sz="1875" b="0">
                <a:solidFill>
                  <a:srgbClr val="D5C9E6"/>
                </a:solidFill>
                <a:latin typeface="Arial"/>
                <a:ea typeface="Arial"/>
                <a:cs typeface="Arial"/>
              </a:defRPr>
            </a:defPPr>
          </a:lstStyle>
          <a:p>
            <a:pPr algn="l">
              <a:defRPr sz="1875" b="0">
                <a:solidFill>
                  <a:srgbClr val="D5C9E6"/>
                </a:solidFill>
                <a:latin typeface="Arial"/>
                <a:ea typeface="Arial"/>
                <a:cs typeface="Arial"/>
              </a:defRPr>
            </a:pPr>
            <a:r>
              <a:rPr sz="1875" b="0">
                <a:solidFill>
                  <a:srgbClr val="D5C9E6"/>
                </a:solidFill>
                <a:latin typeface="Arial"/>
                <a:ea typeface="Arial"/>
                <a:cs typeface="Arial"/>
              </a:rPr>
              <a:t>Host owns HTTPS</a:t>
            </a:r>
          </a:p>
          <a:p>
            <a:pPr algn="l">
              <a:defRPr sz="1875" b="0">
                <a:solidFill>
                  <a:srgbClr val="D5C9E6"/>
                </a:solidFill>
                <a:latin typeface="Arial"/>
                <a:ea typeface="Arial"/>
                <a:cs typeface="Arial"/>
              </a:defRPr>
            </a:pPr>
            <a:r>
              <a:rPr sz="1875" b="0">
                <a:solidFill>
                  <a:srgbClr val="D5C9E6"/>
                </a:solidFill>
                <a:latin typeface="Arial"/>
                <a:ea typeface="Arial"/>
                <a:cs typeface="Arial"/>
              </a:rPr>
              <a:t>and model credentials</a:t>
            </a:r>
          </a:p>
        </p:txBody>
      </p:sp>
    </p:spTree>
    <p:extLst>
      <p:ext uri="{BB962C8B-B14F-4D97-AF65-F5344CB8AC3E}">
        <p14:creationId xmlns:p14="http://schemas.microsoft.com/office/powerpoint/2010/main" val="105023688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3" name="FOUNDATIONS">
            <a:extLst>
              <a:ext uri="{FF2B5EF4-FFF2-40B4-BE49-F238E27FC236}">
                <a16:creationId xmlns:a16="http://schemas.microsoft.com/office/drawing/2014/main" id="{37AFB844-DC42-43AD-AE83-1E31ABB50777}"/>
              </a:ext>
            </a:extLst>
          </p:cNvPr>
          <p:cNvSpPr>
            <a:spLocks noGrp="1"/>
          </p:cNvSpPr>
          <p:nvPr/>
        </p:nvSpPr>
        <p:spPr>
          <a:xfrm>
            <a:off x="609600" y="323850"/>
            <a:ext cx="10001250" cy="228600"/>
          </a:xfrm>
          <a:prstGeom prst="rect">
            <a:avLst/>
          </a:prstGeom>
          <a:noFill/>
          <a:ln w="0">
            <a:noFill/>
          </a:ln>
        </p:spPr>
        <p:txBody>
          <a:bodyPr lIns="0" tIns="0" rIns="0" bIns="0" anchor="ctr"/>
          <a:lstStyle>
            <a:defPPr algn="l">
              <a:defRPr sz="1200" b="1">
                <a:solidFill>
                  <a:srgbClr val="7D43D5"/>
                </a:solidFill>
                <a:latin typeface="Arial"/>
                <a:ea typeface="Arial"/>
                <a:cs typeface="Arial"/>
              </a:defRPr>
            </a:defPPr>
          </a:lstStyle>
          <a:p>
            <a:pPr algn="l">
              <a:defRPr sz="1200" b="1">
                <a:solidFill>
                  <a:srgbClr val="7D43D5"/>
                </a:solidFill>
                <a:latin typeface="Arial"/>
                <a:ea typeface="Arial"/>
                <a:cs typeface="Arial"/>
              </a:defRPr>
            </a:pPr>
            <a:r>
              <a:rPr sz="1200" b="1">
                <a:solidFill>
                  <a:srgbClr val="7D43D5"/>
                </a:solidFill>
                <a:latin typeface="Arial"/>
                <a:ea typeface="Arial"/>
                <a:cs typeface="Arial"/>
              </a:rPr>
              <a:t>FOUNDATIONS</a:t>
            </a:r>
          </a:p>
        </p:txBody>
      </p:sp>
      <p:sp>
        <p:nvSpPr>
          <p:cNvPr id="2" name="Repository map">
            <a:extLst>
              <a:ext uri="{FF2B5EF4-FFF2-40B4-BE49-F238E27FC236}">
                <a16:creationId xmlns:a16="http://schemas.microsoft.com/office/drawing/2014/main" id="{18DDC032-678D-41CF-B191-728953EB3018}"/>
              </a:ext>
            </a:extLst>
          </p:cNvPr>
          <p:cNvSpPr>
            <a:spLocks noGrp="1"/>
          </p:cNvSpPr>
          <p:nvPr/>
        </p:nvSpPr>
        <p:spPr>
          <a:xfrm>
            <a:off x="609600" y="876300"/>
            <a:ext cx="10972800" cy="952500"/>
          </a:xfrm>
          <a:prstGeom prst="rect">
            <a:avLst/>
          </a:prstGeom>
          <a:noFill/>
          <a:ln w="0">
            <a:noFill/>
          </a:ln>
        </p:spPr>
        <p:txBody>
          <a:bodyPr lIns="0" tIns="0" rIns="0" bIns="0" anchor="ctr"/>
          <a:lstStyle>
            <a:defPPr algn="l">
              <a:defRPr sz="3300" b="1">
                <a:solidFill>
                  <a:srgbClr val="251139"/>
                </a:solidFill>
                <a:latin typeface="Arial"/>
                <a:ea typeface="Arial"/>
                <a:cs typeface="Arial"/>
              </a:defRPr>
            </a:defPPr>
          </a:lstStyle>
          <a:p>
            <a:pPr algn="l">
              <a:defRPr sz="3300" b="1">
                <a:solidFill>
                  <a:srgbClr val="251139"/>
                </a:solidFill>
                <a:latin typeface="Arial"/>
                <a:ea typeface="Arial"/>
                <a:cs typeface="Arial"/>
              </a:defRPr>
            </a:pPr>
            <a:r>
              <a:rPr sz="3300" b="1">
                <a:solidFill>
                  <a:srgbClr val="251139"/>
                </a:solidFill>
                <a:latin typeface="Arial"/>
                <a:ea typeface="Arial"/>
                <a:cs typeface="Arial"/>
              </a:rPr>
              <a:t>Repository map</a:t>
            </a:r>
          </a:p>
        </p:txBody>
      </p:sp>
      <p:sp>
        <p:nvSpPr>
          <p:cNvPr id="3" name="AGENTIC OS  /  MVP TECHNICAL WALKTHROUGH">
            <a:extLst>
              <a:ext uri="{FF2B5EF4-FFF2-40B4-BE49-F238E27FC236}">
                <a16:creationId xmlns:a16="http://schemas.microsoft.com/office/drawing/2014/main" id="{FA56D476-8EA6-4A1B-8D69-43617CAA1E6D}"/>
              </a:ext>
            </a:extLst>
          </p:cNvPr>
          <p:cNvSpPr>
            <a:spLocks noGrp="1"/>
          </p:cNvSpPr>
          <p:nvPr/>
        </p:nvSpPr>
        <p:spPr>
          <a:xfrm>
            <a:off x="609600" y="6410325"/>
            <a:ext cx="10001250" cy="190500"/>
          </a:xfrm>
          <a:prstGeom prst="rect">
            <a:avLst/>
          </a:prstGeom>
          <a:noFill/>
          <a:ln w="0">
            <a:noFill/>
          </a:ln>
        </p:spPr>
        <p:txBody>
          <a:bodyPr lIns="0" tIns="0" rIns="0" bIns="0" anchor="ctr"/>
          <a:lstStyle>
            <a:defPPr algn="l">
              <a:defRPr sz="975" b="0">
                <a:solidFill>
                  <a:srgbClr val="7D43D5"/>
                </a:solidFill>
                <a:latin typeface="Arial"/>
                <a:ea typeface="Arial"/>
                <a:cs typeface="Arial"/>
              </a:defRPr>
            </a:defPPr>
          </a:lstStyle>
          <a:p>
            <a:pPr algn="l">
              <a:defRPr sz="975" b="0">
                <a:solidFill>
                  <a:srgbClr val="7D43D5"/>
                </a:solidFill>
                <a:latin typeface="Arial"/>
                <a:ea typeface="Arial"/>
                <a:cs typeface="Arial"/>
              </a:defRPr>
            </a:pPr>
            <a:r>
              <a:rPr sz="975" b="0">
                <a:solidFill>
                  <a:srgbClr val="7D43D5"/>
                </a:solidFill>
                <a:latin typeface="Arial"/>
                <a:ea typeface="Arial"/>
                <a:cs typeface="Arial"/>
              </a:rPr>
              <a:t>AGENTIC OS  /  MVP TECHNICAL WALKTHROUGH</a:t>
            </a:r>
          </a:p>
        </p:txBody>
      </p:sp>
      <p:sp>
        <p:nvSpPr>
          <p:cNvPr id="4" name="06">
            <a:extLst>
              <a:ext uri="{FF2B5EF4-FFF2-40B4-BE49-F238E27FC236}">
                <a16:creationId xmlns:a16="http://schemas.microsoft.com/office/drawing/2014/main" id="{3F160B5C-BD52-47D2-91C5-E5785F615837}"/>
              </a:ext>
            </a:extLst>
          </p:cNvPr>
          <p:cNvSpPr>
            <a:spLocks noGrp="1"/>
          </p:cNvSpPr>
          <p:nvPr/>
        </p:nvSpPr>
        <p:spPr>
          <a:xfrm>
            <a:off x="11029950" y="6372225"/>
            <a:ext cx="552450" cy="247650"/>
          </a:xfrm>
          <a:prstGeom prst="rect">
            <a:avLst/>
          </a:prstGeom>
          <a:noFill/>
          <a:ln w="0">
            <a:noFill/>
          </a:ln>
        </p:spPr>
        <p:txBody>
          <a:bodyPr lIns="0" tIns="0" rIns="0" bIns="0" anchor="ctr"/>
          <a:lstStyle>
            <a:defPPr algn="r">
              <a:defRPr sz="1275" b="0">
                <a:solidFill>
                  <a:srgbClr val="7D43D5"/>
                </a:solidFill>
                <a:latin typeface="Arial"/>
                <a:ea typeface="Arial"/>
                <a:cs typeface="Arial"/>
              </a:defRPr>
            </a:defPPr>
          </a:lstStyle>
          <a:p>
            <a:pPr algn="r">
              <a:defRPr sz="1275" b="0">
                <a:solidFill>
                  <a:srgbClr val="7D43D5"/>
                </a:solidFill>
                <a:latin typeface="Arial"/>
                <a:ea typeface="Arial"/>
                <a:cs typeface="Arial"/>
              </a:defRPr>
            </a:pPr>
            <a:r>
              <a:rPr sz="1275" b="0">
                <a:solidFill>
                  <a:srgbClr val="7D43D5"/>
                </a:solidFill>
                <a:latin typeface="Arial"/>
                <a:ea typeface="Arial"/>
                <a:cs typeface="Arial"/>
              </a:rPr>
              <a:t>06</a:t>
            </a:r>
          </a:p>
        </p:txBody>
      </p:sp>
      <p:sp>
        <p:nvSpPr>
          <p:cNvPr id="5" name="Boot and build">
            <a:extLst>
              <a:ext uri="{FF2B5EF4-FFF2-40B4-BE49-F238E27FC236}">
                <a16:creationId xmlns:a16="http://schemas.microsoft.com/office/drawing/2014/main" id="{60F1EC1B-4F93-4D22-ADE4-576E8BDBEF55}"/>
              </a:ext>
            </a:extLst>
          </p:cNvPr>
          <p:cNvSpPr>
            <a:spLocks noGrp="1"/>
          </p:cNvSpPr>
          <p:nvPr/>
        </p:nvSpPr>
        <p:spPr>
          <a:xfrm>
            <a:off x="609600" y="1990725"/>
            <a:ext cx="3048000" cy="428625"/>
          </a:xfrm>
          <a:prstGeom prst="rect">
            <a:avLst/>
          </a:prstGeom>
          <a:noFill/>
          <a:ln w="0">
            <a:noFill/>
          </a:ln>
        </p:spPr>
        <p:txBody>
          <a:bodyPr lIns="0" tIns="0" rIns="0" bIns="0" anchor="ctr"/>
          <a:lstStyle>
            <a:defPPr algn="l">
              <a:defRPr sz="2100" b="1">
                <a:solidFill>
                  <a:srgbClr val="7D43D5"/>
                </a:solidFill>
                <a:latin typeface="Arial"/>
                <a:ea typeface="Arial"/>
                <a:cs typeface="Arial"/>
              </a:defRPr>
            </a:defPPr>
          </a:lstStyle>
          <a:p>
            <a:pPr algn="l">
              <a:defRPr sz="2100" b="1">
                <a:solidFill>
                  <a:srgbClr val="7D43D5"/>
                </a:solidFill>
                <a:latin typeface="Arial"/>
                <a:ea typeface="Arial"/>
                <a:cs typeface="Arial"/>
              </a:defRPr>
            </a:pPr>
            <a:r>
              <a:rPr sz="2100" b="1">
                <a:solidFill>
                  <a:srgbClr val="7D43D5"/>
                </a:solidFill>
                <a:latin typeface="Arial"/>
                <a:ea typeface="Arial"/>
                <a:cs typeface="Arial"/>
              </a:rPr>
              <a:t>Boot and build</a:t>
            </a:r>
          </a:p>
        </p:txBody>
      </p:sp>
      <p:sp>
        <p:nvSpPr>
          <p:cNvPr id="6" name="boot.asm, kernel/entry.asm, build.sh, linker">
            <a:extLst>
              <a:ext uri="{FF2B5EF4-FFF2-40B4-BE49-F238E27FC236}">
                <a16:creationId xmlns:a16="http://schemas.microsoft.com/office/drawing/2014/main" id="{80689B38-EEC4-480D-889F-6DE04476D9B0}"/>
              </a:ext>
            </a:extLst>
          </p:cNvPr>
          <p:cNvSpPr>
            <a:spLocks noGrp="1"/>
          </p:cNvSpPr>
          <p:nvPr/>
        </p:nvSpPr>
        <p:spPr>
          <a:xfrm>
            <a:off x="3943350" y="1990725"/>
            <a:ext cx="7639050" cy="714375"/>
          </a:xfrm>
          <a:prstGeom prst="rect">
            <a:avLst/>
          </a:prstGeom>
          <a:noFill/>
          <a:ln w="0">
            <a:noFill/>
          </a:ln>
        </p:spPr>
        <p:txBody>
          <a:bodyPr lIns="0" tIns="0" rIns="0" bIns="0" anchor="ctr"/>
          <a:lstStyle>
            <a:defPPr algn="l">
              <a:defRPr sz="2025" b="0">
                <a:solidFill>
                  <a:srgbClr val="251139"/>
                </a:solidFill>
                <a:latin typeface="Arial"/>
                <a:ea typeface="Arial"/>
                <a:cs typeface="Arial"/>
              </a:defRPr>
            </a:defPPr>
          </a:lstStyle>
          <a:p>
            <a:pPr algn="l">
              <a:defRPr sz="2025" b="0">
                <a:solidFill>
                  <a:srgbClr val="251139"/>
                </a:solidFill>
                <a:latin typeface="Arial"/>
                <a:ea typeface="Arial"/>
                <a:cs typeface="Arial"/>
              </a:defRPr>
            </a:pPr>
            <a:r>
              <a:rPr sz="2025" b="0">
                <a:solidFill>
                  <a:srgbClr val="251139"/>
                </a:solidFill>
                <a:latin typeface="Arial"/>
                <a:ea typeface="Arial"/>
                <a:cs typeface="Arial"/>
              </a:rPr>
              <a:t>boot.asm, kernel/entry.asm, build.sh, linker.ld</a:t>
            </a:r>
          </a:p>
        </p:txBody>
      </p:sp>
      <p:sp>
        <p:nvSpPr>
          <p:cNvPr id="7" name="Kernel services">
            <a:extLst>
              <a:ext uri="{FF2B5EF4-FFF2-40B4-BE49-F238E27FC236}">
                <a16:creationId xmlns:a16="http://schemas.microsoft.com/office/drawing/2014/main" id="{47E61941-F142-4300-9C7B-1466EB39C87F}"/>
              </a:ext>
            </a:extLst>
          </p:cNvPr>
          <p:cNvSpPr>
            <a:spLocks noGrp="1"/>
          </p:cNvSpPr>
          <p:nvPr/>
        </p:nvSpPr>
        <p:spPr>
          <a:xfrm>
            <a:off x="609600" y="2886075"/>
            <a:ext cx="3048000" cy="428625"/>
          </a:xfrm>
          <a:prstGeom prst="rect">
            <a:avLst/>
          </a:prstGeom>
          <a:noFill/>
          <a:ln w="0">
            <a:noFill/>
          </a:ln>
        </p:spPr>
        <p:txBody>
          <a:bodyPr lIns="0" tIns="0" rIns="0" bIns="0" anchor="ctr"/>
          <a:lstStyle>
            <a:defPPr algn="l">
              <a:defRPr sz="2100" b="1">
                <a:solidFill>
                  <a:srgbClr val="7D43D5"/>
                </a:solidFill>
                <a:latin typeface="Arial"/>
                <a:ea typeface="Arial"/>
                <a:cs typeface="Arial"/>
              </a:defRPr>
            </a:defPPr>
          </a:lstStyle>
          <a:p>
            <a:pPr algn="l">
              <a:defRPr sz="2100" b="1">
                <a:solidFill>
                  <a:srgbClr val="7D43D5"/>
                </a:solidFill>
                <a:latin typeface="Arial"/>
                <a:ea typeface="Arial"/>
                <a:cs typeface="Arial"/>
              </a:defRPr>
            </a:pPr>
            <a:r>
              <a:rPr sz="2100" b="1">
                <a:solidFill>
                  <a:srgbClr val="7D43D5"/>
                </a:solidFill>
                <a:latin typeface="Arial"/>
                <a:ea typeface="Arial"/>
                <a:cs typeface="Arial"/>
              </a:rPr>
              <a:t>Kernel services</a:t>
            </a:r>
          </a:p>
        </p:txBody>
      </p:sp>
      <p:sp>
        <p:nvSpPr>
          <p:cNvPr id="8" name="memory/, interrupts/, drivers/, scheduler/, ">
            <a:extLst>
              <a:ext uri="{FF2B5EF4-FFF2-40B4-BE49-F238E27FC236}">
                <a16:creationId xmlns:a16="http://schemas.microsoft.com/office/drawing/2014/main" id="{B75C5E75-EF09-4324-A95E-17CCD112E6DD}"/>
              </a:ext>
            </a:extLst>
          </p:cNvPr>
          <p:cNvSpPr>
            <a:spLocks noGrp="1"/>
          </p:cNvSpPr>
          <p:nvPr/>
        </p:nvSpPr>
        <p:spPr>
          <a:xfrm>
            <a:off x="3943350" y="2886075"/>
            <a:ext cx="7639050" cy="714375"/>
          </a:xfrm>
          <a:prstGeom prst="rect">
            <a:avLst/>
          </a:prstGeom>
          <a:noFill/>
          <a:ln w="0">
            <a:noFill/>
          </a:ln>
        </p:spPr>
        <p:txBody>
          <a:bodyPr lIns="0" tIns="0" rIns="0" bIns="0" anchor="ctr"/>
          <a:lstStyle>
            <a:defPPr algn="l">
              <a:defRPr sz="2025" b="0">
                <a:solidFill>
                  <a:srgbClr val="251139"/>
                </a:solidFill>
                <a:latin typeface="Arial"/>
                <a:ea typeface="Arial"/>
                <a:cs typeface="Arial"/>
              </a:defRPr>
            </a:defPPr>
          </a:lstStyle>
          <a:p>
            <a:pPr algn="l">
              <a:defRPr sz="2025" b="0">
                <a:solidFill>
                  <a:srgbClr val="251139"/>
                </a:solidFill>
                <a:latin typeface="Arial"/>
                <a:ea typeface="Arial"/>
                <a:cs typeface="Arial"/>
              </a:defRPr>
            </a:pPr>
            <a:r>
              <a:rPr sz="2025" b="0">
                <a:solidFill>
                  <a:srgbClr val="251139"/>
                </a:solidFill>
                <a:latin typeface="Arial"/>
                <a:ea typeface="Arial"/>
                <a:cs typeface="Arial"/>
              </a:rPr>
              <a:t>memory/, interrupts/, drivers/, scheduler/, syscalls/</a:t>
            </a:r>
          </a:p>
        </p:txBody>
      </p:sp>
      <p:sp>
        <p:nvSpPr>
          <p:cNvPr id="9" name="User-facing features">
            <a:extLst>
              <a:ext uri="{FF2B5EF4-FFF2-40B4-BE49-F238E27FC236}">
                <a16:creationId xmlns:a16="http://schemas.microsoft.com/office/drawing/2014/main" id="{A49AB655-FD1E-4D48-8B22-FBEB9E66B440}"/>
              </a:ext>
            </a:extLst>
          </p:cNvPr>
          <p:cNvSpPr>
            <a:spLocks noGrp="1"/>
          </p:cNvSpPr>
          <p:nvPr/>
        </p:nvSpPr>
        <p:spPr>
          <a:xfrm>
            <a:off x="609600" y="3781425"/>
            <a:ext cx="3048000" cy="428625"/>
          </a:xfrm>
          <a:prstGeom prst="rect">
            <a:avLst/>
          </a:prstGeom>
          <a:noFill/>
          <a:ln w="0">
            <a:noFill/>
          </a:ln>
        </p:spPr>
        <p:txBody>
          <a:bodyPr lIns="0" tIns="0" rIns="0" bIns="0" anchor="ctr"/>
          <a:lstStyle>
            <a:defPPr algn="l">
              <a:defRPr sz="2100" b="1">
                <a:solidFill>
                  <a:srgbClr val="7D43D5"/>
                </a:solidFill>
                <a:latin typeface="Arial"/>
                <a:ea typeface="Arial"/>
                <a:cs typeface="Arial"/>
              </a:defRPr>
            </a:defPPr>
          </a:lstStyle>
          <a:p>
            <a:pPr algn="l">
              <a:defRPr sz="2100" b="1">
                <a:solidFill>
                  <a:srgbClr val="7D43D5"/>
                </a:solidFill>
                <a:latin typeface="Arial"/>
                <a:ea typeface="Arial"/>
                <a:cs typeface="Arial"/>
              </a:defRPr>
            </a:pPr>
            <a:r>
              <a:rPr sz="2100" b="1">
                <a:solidFill>
                  <a:srgbClr val="7D43D5"/>
                </a:solidFill>
                <a:latin typeface="Arial"/>
                <a:ea typeface="Arial"/>
                <a:cs typeface="Arial"/>
              </a:rPr>
              <a:t>User-facing features</a:t>
            </a:r>
          </a:p>
        </p:txBody>
      </p:sp>
      <p:sp>
        <p:nvSpPr>
          <p:cNvPr id="10" name="auth/, io/, shell/, fs/ramfs/">
            <a:extLst>
              <a:ext uri="{FF2B5EF4-FFF2-40B4-BE49-F238E27FC236}">
                <a16:creationId xmlns:a16="http://schemas.microsoft.com/office/drawing/2014/main" id="{E8735BC9-52CC-4B63-94BE-101C968CC1A5}"/>
              </a:ext>
            </a:extLst>
          </p:cNvPr>
          <p:cNvSpPr>
            <a:spLocks noGrp="1"/>
          </p:cNvSpPr>
          <p:nvPr/>
        </p:nvSpPr>
        <p:spPr>
          <a:xfrm>
            <a:off x="3943350" y="3781425"/>
            <a:ext cx="7639050" cy="714375"/>
          </a:xfrm>
          <a:prstGeom prst="rect">
            <a:avLst/>
          </a:prstGeom>
          <a:noFill/>
          <a:ln w="0">
            <a:noFill/>
          </a:ln>
        </p:spPr>
        <p:txBody>
          <a:bodyPr lIns="0" tIns="0" rIns="0" bIns="0" anchor="ctr"/>
          <a:lstStyle>
            <a:defPPr algn="l">
              <a:defRPr sz="2025" b="0">
                <a:solidFill>
                  <a:srgbClr val="251139"/>
                </a:solidFill>
                <a:latin typeface="Arial"/>
                <a:ea typeface="Arial"/>
                <a:cs typeface="Arial"/>
              </a:defRPr>
            </a:defPPr>
          </a:lstStyle>
          <a:p>
            <a:pPr algn="l">
              <a:defRPr sz="2025" b="0">
                <a:solidFill>
                  <a:srgbClr val="251139"/>
                </a:solidFill>
                <a:latin typeface="Arial"/>
                <a:ea typeface="Arial"/>
                <a:cs typeface="Arial"/>
              </a:defRPr>
            </a:pPr>
            <a:r>
              <a:rPr sz="2025" b="0">
                <a:solidFill>
                  <a:srgbClr val="251139"/>
                </a:solidFill>
                <a:latin typeface="Arial"/>
                <a:ea typeface="Arial"/>
                <a:cs typeface="Arial"/>
              </a:rPr>
              <a:t>auth/, io/, shell/, fs/ramfs/</a:t>
            </a:r>
          </a:p>
        </p:txBody>
      </p:sp>
      <p:sp>
        <p:nvSpPr>
          <p:cNvPr id="11" name="Networking">
            <a:extLst>
              <a:ext uri="{FF2B5EF4-FFF2-40B4-BE49-F238E27FC236}">
                <a16:creationId xmlns:a16="http://schemas.microsoft.com/office/drawing/2014/main" id="{EF5D261C-C5BC-4D92-B441-CC2519CEA2EC}"/>
              </a:ext>
            </a:extLst>
          </p:cNvPr>
          <p:cNvSpPr>
            <a:spLocks noGrp="1"/>
          </p:cNvSpPr>
          <p:nvPr/>
        </p:nvSpPr>
        <p:spPr>
          <a:xfrm>
            <a:off x="609600" y="4676775"/>
            <a:ext cx="3048000" cy="428625"/>
          </a:xfrm>
          <a:prstGeom prst="rect">
            <a:avLst/>
          </a:prstGeom>
          <a:noFill/>
          <a:ln w="0">
            <a:noFill/>
          </a:ln>
        </p:spPr>
        <p:txBody>
          <a:bodyPr lIns="0" tIns="0" rIns="0" bIns="0" anchor="ctr"/>
          <a:lstStyle>
            <a:defPPr algn="l">
              <a:defRPr sz="2100" b="1">
                <a:solidFill>
                  <a:srgbClr val="7D43D5"/>
                </a:solidFill>
                <a:latin typeface="Arial"/>
                <a:ea typeface="Arial"/>
                <a:cs typeface="Arial"/>
              </a:defRPr>
            </a:defPPr>
          </a:lstStyle>
          <a:p>
            <a:pPr algn="l">
              <a:defRPr sz="2100" b="1">
                <a:solidFill>
                  <a:srgbClr val="7D43D5"/>
                </a:solidFill>
                <a:latin typeface="Arial"/>
                <a:ea typeface="Arial"/>
                <a:cs typeface="Arial"/>
              </a:defRPr>
            </a:pPr>
            <a:r>
              <a:rPr sz="2100" b="1">
                <a:solidFill>
                  <a:srgbClr val="7D43D5"/>
                </a:solidFill>
                <a:latin typeface="Arial"/>
                <a:ea typeface="Arial"/>
                <a:cs typeface="Arial"/>
              </a:rPr>
              <a:t>Networking</a:t>
            </a:r>
          </a:p>
        </p:txBody>
      </p:sp>
      <p:sp>
        <p:nvSpPr>
          <p:cNvPr id="12" name="kernel/net/ and host_tools/tcp_ping/">
            <a:extLst>
              <a:ext uri="{FF2B5EF4-FFF2-40B4-BE49-F238E27FC236}">
                <a16:creationId xmlns:a16="http://schemas.microsoft.com/office/drawing/2014/main" id="{A0F06D30-E28C-42E0-A51A-61A58FD69EEE}"/>
              </a:ext>
            </a:extLst>
          </p:cNvPr>
          <p:cNvSpPr>
            <a:spLocks noGrp="1"/>
          </p:cNvSpPr>
          <p:nvPr/>
        </p:nvSpPr>
        <p:spPr>
          <a:xfrm>
            <a:off x="3943350" y="4676775"/>
            <a:ext cx="7639050" cy="714375"/>
          </a:xfrm>
          <a:prstGeom prst="rect">
            <a:avLst/>
          </a:prstGeom>
          <a:noFill/>
          <a:ln w="0">
            <a:noFill/>
          </a:ln>
        </p:spPr>
        <p:txBody>
          <a:bodyPr lIns="0" tIns="0" rIns="0" bIns="0" anchor="ctr"/>
          <a:lstStyle>
            <a:defPPr algn="l">
              <a:defRPr sz="2025" b="0">
                <a:solidFill>
                  <a:srgbClr val="251139"/>
                </a:solidFill>
                <a:latin typeface="Arial"/>
                <a:ea typeface="Arial"/>
                <a:cs typeface="Arial"/>
              </a:defRPr>
            </a:defPPr>
          </a:lstStyle>
          <a:p>
            <a:pPr algn="l">
              <a:defRPr sz="2025" b="0">
                <a:solidFill>
                  <a:srgbClr val="251139"/>
                </a:solidFill>
                <a:latin typeface="Arial"/>
                <a:ea typeface="Arial"/>
                <a:cs typeface="Arial"/>
              </a:defRPr>
            </a:pPr>
            <a:r>
              <a:rPr sz="2025" b="0">
                <a:solidFill>
                  <a:srgbClr val="251139"/>
                </a:solidFill>
                <a:latin typeface="Arial"/>
                <a:ea typeface="Arial"/>
                <a:cs typeface="Arial"/>
              </a:rPr>
              <a:t>kernel/net/ and host_tools/tcp_ping/</a:t>
            </a:r>
          </a:p>
        </p:txBody>
      </p:sp>
    </p:spTree>
    <p:extLst>
      <p:ext uri="{BB962C8B-B14F-4D97-AF65-F5344CB8AC3E}">
        <p14:creationId xmlns:p14="http://schemas.microsoft.com/office/powerpoint/2010/main" val="196658377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180B2B"/>
        </a:solidFill>
        <a:effectLst/>
      </p:bgPr>
    </p:bg>
    <p:spTree>
      <p:nvGrpSpPr>
        <p:cNvPr id="1" name=""/>
        <p:cNvGrpSpPr/>
        <p:nvPr/>
      </p:nvGrpSpPr>
      <p:grpSpPr>
        <a:xfrm>
          <a:off x="0" y="0"/>
          <a:ext cx="0" cy="0"/>
          <a:chOff x="0" y="0"/>
          <a:chExt cx="0" cy="0"/>
        </a:xfrm>
      </p:grpSpPr>
      <p:sp>
        <p:nvSpPr>
          <p:cNvPr id="17" name="FOUNDATIONS">
            <a:extLst>
              <a:ext uri="{FF2B5EF4-FFF2-40B4-BE49-F238E27FC236}">
                <a16:creationId xmlns:a16="http://schemas.microsoft.com/office/drawing/2014/main" id="{1DE02DB1-065A-4845-99DD-6543229EAD2F}"/>
              </a:ext>
            </a:extLst>
          </p:cNvPr>
          <p:cNvSpPr>
            <a:spLocks noGrp="1"/>
          </p:cNvSpPr>
          <p:nvPr/>
        </p:nvSpPr>
        <p:spPr>
          <a:xfrm>
            <a:off x="609600" y="323850"/>
            <a:ext cx="10001250" cy="228600"/>
          </a:xfrm>
          <a:prstGeom prst="rect">
            <a:avLst/>
          </a:prstGeom>
          <a:noFill/>
          <a:ln w="0">
            <a:noFill/>
          </a:ln>
        </p:spPr>
        <p:txBody>
          <a:bodyPr lIns="0" tIns="0" rIns="0" bIns="0" anchor="ctr"/>
          <a:lstStyle>
            <a:defPPr algn="l">
              <a:defRPr sz="1200" b="1">
                <a:solidFill>
                  <a:srgbClr val="BE98F6"/>
                </a:solidFill>
                <a:latin typeface="Arial"/>
                <a:ea typeface="Arial"/>
                <a:cs typeface="Arial"/>
              </a:defRPr>
            </a:defPPr>
          </a:lstStyle>
          <a:p>
            <a:pPr algn="l">
              <a:defRPr sz="1200" b="1">
                <a:solidFill>
                  <a:srgbClr val="BE98F6"/>
                </a:solidFill>
                <a:latin typeface="Arial"/>
                <a:ea typeface="Arial"/>
                <a:cs typeface="Arial"/>
              </a:defRPr>
            </a:pPr>
            <a:r>
              <a:rPr sz="1200" b="1">
                <a:solidFill>
                  <a:srgbClr val="BE98F6"/>
                </a:solidFill>
                <a:latin typeface="Arial"/>
                <a:ea typeface="Arial"/>
                <a:cs typeface="Arial"/>
              </a:rPr>
              <a:t>FOUNDATIONS</a:t>
            </a:r>
          </a:p>
        </p:txBody>
      </p:sp>
      <p:sp>
        <p:nvSpPr>
          <p:cNvPr id="2" name="Build pipeline">
            <a:extLst>
              <a:ext uri="{FF2B5EF4-FFF2-40B4-BE49-F238E27FC236}">
                <a16:creationId xmlns:a16="http://schemas.microsoft.com/office/drawing/2014/main" id="{8F2F5B98-86A4-43CA-8D08-5D4593D896A4}"/>
              </a:ext>
            </a:extLst>
          </p:cNvPr>
          <p:cNvSpPr>
            <a:spLocks noGrp="1"/>
          </p:cNvSpPr>
          <p:nvPr/>
        </p:nvSpPr>
        <p:spPr>
          <a:xfrm>
            <a:off x="609600" y="876300"/>
            <a:ext cx="10972800" cy="952500"/>
          </a:xfrm>
          <a:prstGeom prst="rect">
            <a:avLst/>
          </a:prstGeom>
          <a:noFill/>
          <a:ln w="0">
            <a:noFill/>
          </a:ln>
        </p:spPr>
        <p:txBody>
          <a:bodyPr lIns="0" tIns="0" rIns="0" bIns="0" anchor="ctr"/>
          <a:lstStyle>
            <a:defPPr algn="l">
              <a:defRPr sz="3300" b="1">
                <a:solidFill>
                  <a:srgbClr val="FFFFFF"/>
                </a:solidFill>
                <a:latin typeface="Arial"/>
                <a:ea typeface="Arial"/>
                <a:cs typeface="Arial"/>
              </a:defRPr>
            </a:defPPr>
          </a:lstStyle>
          <a:p>
            <a:pPr algn="l">
              <a:defRPr sz="3300" b="1">
                <a:solidFill>
                  <a:srgbClr val="FFFFFF"/>
                </a:solidFill>
                <a:latin typeface="Arial"/>
                <a:ea typeface="Arial"/>
                <a:cs typeface="Arial"/>
              </a:defRPr>
            </a:pPr>
            <a:r>
              <a:rPr sz="3300" b="1">
                <a:solidFill>
                  <a:srgbClr val="FFFFFF"/>
                </a:solidFill>
                <a:latin typeface="Arial"/>
                <a:ea typeface="Arial"/>
                <a:cs typeface="Arial"/>
              </a:rPr>
              <a:t>Build pipeline</a:t>
            </a:r>
          </a:p>
        </p:txBody>
      </p:sp>
      <p:sp>
        <p:nvSpPr>
          <p:cNvPr id="3" name="AGENTIC OS  /  MVP TECHNICAL WALKTHROUGH">
            <a:extLst>
              <a:ext uri="{FF2B5EF4-FFF2-40B4-BE49-F238E27FC236}">
                <a16:creationId xmlns:a16="http://schemas.microsoft.com/office/drawing/2014/main" id="{FDB55A33-1412-4A3B-8C47-739103121AC6}"/>
              </a:ext>
            </a:extLst>
          </p:cNvPr>
          <p:cNvSpPr>
            <a:spLocks noGrp="1"/>
          </p:cNvSpPr>
          <p:nvPr/>
        </p:nvSpPr>
        <p:spPr>
          <a:xfrm>
            <a:off x="609600" y="6410325"/>
            <a:ext cx="10001250" cy="190500"/>
          </a:xfrm>
          <a:prstGeom prst="rect">
            <a:avLst/>
          </a:prstGeom>
          <a:noFill/>
          <a:ln w="0">
            <a:noFill/>
          </a:ln>
        </p:spPr>
        <p:txBody>
          <a:bodyPr lIns="0" tIns="0" rIns="0" bIns="0" anchor="ctr"/>
          <a:lstStyle>
            <a:defPPr algn="l">
              <a:defRPr sz="975" b="0">
                <a:solidFill>
                  <a:srgbClr val="D5C9E6"/>
                </a:solidFill>
                <a:latin typeface="Arial"/>
                <a:ea typeface="Arial"/>
                <a:cs typeface="Arial"/>
              </a:defRPr>
            </a:defPPr>
          </a:lstStyle>
          <a:p>
            <a:pPr algn="l">
              <a:defRPr sz="975" b="0">
                <a:solidFill>
                  <a:srgbClr val="D5C9E6"/>
                </a:solidFill>
                <a:latin typeface="Arial"/>
                <a:ea typeface="Arial"/>
                <a:cs typeface="Arial"/>
              </a:defRPr>
            </a:pPr>
            <a:r>
              <a:rPr sz="975" b="0">
                <a:solidFill>
                  <a:srgbClr val="D5C9E6"/>
                </a:solidFill>
                <a:latin typeface="Arial"/>
                <a:ea typeface="Arial"/>
                <a:cs typeface="Arial"/>
              </a:rPr>
              <a:t>AGENTIC OS  /  MVP TECHNICAL WALKTHROUGH</a:t>
            </a:r>
          </a:p>
        </p:txBody>
      </p:sp>
      <p:sp>
        <p:nvSpPr>
          <p:cNvPr id="4" name="07">
            <a:extLst>
              <a:ext uri="{FF2B5EF4-FFF2-40B4-BE49-F238E27FC236}">
                <a16:creationId xmlns:a16="http://schemas.microsoft.com/office/drawing/2014/main" id="{F9D2DD53-0B9D-41B8-943F-F36D8DB7DA1D}"/>
              </a:ext>
            </a:extLst>
          </p:cNvPr>
          <p:cNvSpPr>
            <a:spLocks noGrp="1"/>
          </p:cNvSpPr>
          <p:nvPr/>
        </p:nvSpPr>
        <p:spPr>
          <a:xfrm>
            <a:off x="11029950" y="6372225"/>
            <a:ext cx="552450" cy="247650"/>
          </a:xfrm>
          <a:prstGeom prst="rect">
            <a:avLst/>
          </a:prstGeom>
          <a:noFill/>
          <a:ln w="0">
            <a:noFill/>
          </a:ln>
        </p:spPr>
        <p:txBody>
          <a:bodyPr lIns="0" tIns="0" rIns="0" bIns="0" anchor="ctr"/>
          <a:lstStyle>
            <a:defPPr algn="r">
              <a:defRPr sz="1275" b="0">
                <a:solidFill>
                  <a:srgbClr val="BE98F6"/>
                </a:solidFill>
                <a:latin typeface="Arial"/>
                <a:ea typeface="Arial"/>
                <a:cs typeface="Arial"/>
              </a:defRPr>
            </a:defPPr>
          </a:lstStyle>
          <a:p>
            <a:pPr algn="r">
              <a:defRPr sz="1275" b="0">
                <a:solidFill>
                  <a:srgbClr val="BE98F6"/>
                </a:solidFill>
                <a:latin typeface="Arial"/>
                <a:ea typeface="Arial"/>
                <a:cs typeface="Arial"/>
              </a:defRPr>
            </a:pPr>
            <a:r>
              <a:rPr sz="1275" b="0">
                <a:solidFill>
                  <a:srgbClr val="BE98F6"/>
                </a:solidFill>
                <a:latin typeface="Arial"/>
                <a:ea typeface="Arial"/>
                <a:cs typeface="Arial"/>
              </a:rPr>
              <a:t>07</a:t>
            </a:r>
          </a:p>
        </p:txBody>
      </p:sp>
      <p:sp>
        <p:nvSpPr>
          <p:cNvPr id="5" name="Rectangle 4">
            <a:extLst>
              <a:ext uri="{FF2B5EF4-FFF2-40B4-BE49-F238E27FC236}">
                <a16:creationId xmlns:a16="http://schemas.microsoft.com/office/drawing/2014/main" id="{840C5979-1950-4D38-8C05-CB78EE0E8EB4}"/>
              </a:ext>
            </a:extLst>
          </p:cNvPr>
          <p:cNvSpPr>
            <a:spLocks noGrp="1"/>
          </p:cNvSpPr>
          <p:nvPr/>
        </p:nvSpPr>
        <p:spPr>
          <a:xfrm>
            <a:off x="609600" y="2762250"/>
            <a:ext cx="2471738" cy="1066800"/>
          </a:xfrm>
          <a:prstGeom prst="rect">
            <a:avLst/>
          </a:prstGeom>
          <a:solidFill>
            <a:srgbClr val="2A1547"/>
          </a:solidFill>
          <a:ln w="13335">
            <a:solidFill>
              <a:srgbClr val="7D43D5"/>
            </a:solidFill>
          </a:ln>
        </p:spPr>
      </p:sp>
      <p:sp>
        <p:nvSpPr>
          <p:cNvPr id="6" name="NASM +&#10;C sources">
            <a:extLst>
              <a:ext uri="{FF2B5EF4-FFF2-40B4-BE49-F238E27FC236}">
                <a16:creationId xmlns:a16="http://schemas.microsoft.com/office/drawing/2014/main" id="{5BC7B0CB-75EC-4EEC-8100-4C6120D04627}"/>
              </a:ext>
            </a:extLst>
          </p:cNvPr>
          <p:cNvSpPr>
            <a:spLocks noGrp="1"/>
          </p:cNvSpPr>
          <p:nvPr/>
        </p:nvSpPr>
        <p:spPr>
          <a:xfrm>
            <a:off x="752475" y="2847975"/>
            <a:ext cx="2185988" cy="895350"/>
          </a:xfrm>
          <a:prstGeom prst="rect">
            <a:avLst/>
          </a:prstGeom>
          <a:noFill/>
          <a:ln w="0">
            <a:noFill/>
          </a:ln>
        </p:spPr>
        <p:txBody>
          <a:bodyPr lIns="0" tIns="0" rIns="0" bIns="0" anchor="ctr"/>
          <a:lstStyle>
            <a:defPPr algn="ctr">
              <a:defRPr sz="1800" b="1">
                <a:solidFill>
                  <a:srgbClr val="FFFFFF"/>
                </a:solidFill>
                <a:latin typeface="Arial"/>
                <a:ea typeface="Arial"/>
                <a:cs typeface="Arial"/>
              </a:defRPr>
            </a:defPPr>
          </a:lstStyle>
          <a:p>
            <a:pPr algn="ctr">
              <a:defRPr sz="1800" b="1">
                <a:solidFill>
                  <a:srgbClr val="FFFFFF"/>
                </a:solidFill>
                <a:latin typeface="Arial"/>
                <a:ea typeface="Arial"/>
                <a:cs typeface="Arial"/>
              </a:defRPr>
            </a:pPr>
            <a:r>
              <a:rPr sz="1800" b="1">
                <a:solidFill>
                  <a:srgbClr val="FFFFFF"/>
                </a:solidFill>
                <a:latin typeface="Arial"/>
                <a:ea typeface="Arial"/>
                <a:cs typeface="Arial"/>
              </a:rPr>
              <a:t>NASM +</a:t>
            </a:r>
          </a:p>
          <a:p>
            <a:pPr algn="ctr">
              <a:defRPr sz="1800" b="1">
                <a:solidFill>
                  <a:srgbClr val="FFFFFF"/>
                </a:solidFill>
                <a:latin typeface="Arial"/>
                <a:ea typeface="Arial"/>
                <a:cs typeface="Arial"/>
              </a:defRPr>
            </a:pPr>
            <a:r>
              <a:rPr sz="1800" b="1">
                <a:solidFill>
                  <a:srgbClr val="FFFFFF"/>
                </a:solidFill>
                <a:latin typeface="Arial"/>
                <a:ea typeface="Arial"/>
                <a:cs typeface="Arial"/>
              </a:rPr>
              <a:t>C sources</a:t>
            </a:r>
          </a:p>
        </p:txBody>
      </p:sp>
      <p:cxnSp>
        <p:nvCxnSpPr>
          <p:cNvPr id="7" name="Straight Arrow Connector 6">
            <a:extLst>
              <a:ext uri="{FF2B5EF4-FFF2-40B4-BE49-F238E27FC236}">
                <a16:creationId xmlns:a16="http://schemas.microsoft.com/office/drawing/2014/main" id="{5FB219B1-4420-45DE-B2C2-090CE489B6C4}"/>
              </a:ext>
            </a:extLst>
          </p:cNvPr>
          <p:cNvCxnSpPr/>
          <p:nvPr/>
        </p:nvCxnSpPr>
        <p:spPr>
          <a:xfrm>
            <a:off x="3081338" y="3295650"/>
            <a:ext cx="295275" cy="0"/>
          </a:xfrm>
          <a:prstGeom prst="straightConnector1">
            <a:avLst/>
          </a:prstGeom>
          <a:ln w="19050">
            <a:solidFill>
              <a:srgbClr val="BE98F6"/>
            </a:solidFill>
            <a:prstDash val="solid"/>
            <a:tailEnd type="triangle" w="med" len="med"/>
          </a:ln>
        </p:spPr>
      </p:cxnSp>
      <p:sp>
        <p:nvSpPr>
          <p:cNvPr id="8" name="Rectangle 7">
            <a:extLst>
              <a:ext uri="{FF2B5EF4-FFF2-40B4-BE49-F238E27FC236}">
                <a16:creationId xmlns:a16="http://schemas.microsoft.com/office/drawing/2014/main" id="{6706E265-1334-49AF-9F54-B2A7A04B9AD2}"/>
              </a:ext>
            </a:extLst>
          </p:cNvPr>
          <p:cNvSpPr>
            <a:spLocks noGrp="1"/>
          </p:cNvSpPr>
          <p:nvPr/>
        </p:nvSpPr>
        <p:spPr>
          <a:xfrm>
            <a:off x="3443288" y="2762250"/>
            <a:ext cx="2471738" cy="1066800"/>
          </a:xfrm>
          <a:prstGeom prst="rect">
            <a:avLst/>
          </a:prstGeom>
          <a:solidFill>
            <a:srgbClr val="2A1547"/>
          </a:solidFill>
          <a:ln w="13335">
            <a:solidFill>
              <a:srgbClr val="7D43D5"/>
            </a:solidFill>
          </a:ln>
        </p:spPr>
      </p:sp>
      <p:sp>
        <p:nvSpPr>
          <p:cNvPr id="9" name="ELF32&#10;kernel.elf">
            <a:extLst>
              <a:ext uri="{FF2B5EF4-FFF2-40B4-BE49-F238E27FC236}">
                <a16:creationId xmlns:a16="http://schemas.microsoft.com/office/drawing/2014/main" id="{BAC5ED6D-8124-4762-A3F5-6CE70CC65822}"/>
              </a:ext>
            </a:extLst>
          </p:cNvPr>
          <p:cNvSpPr>
            <a:spLocks noGrp="1"/>
          </p:cNvSpPr>
          <p:nvPr/>
        </p:nvSpPr>
        <p:spPr>
          <a:xfrm>
            <a:off x="3586163" y="2847975"/>
            <a:ext cx="2185988" cy="895350"/>
          </a:xfrm>
          <a:prstGeom prst="rect">
            <a:avLst/>
          </a:prstGeom>
          <a:noFill/>
          <a:ln w="0">
            <a:noFill/>
          </a:ln>
        </p:spPr>
        <p:txBody>
          <a:bodyPr lIns="0" tIns="0" rIns="0" bIns="0" anchor="ctr"/>
          <a:lstStyle>
            <a:defPPr algn="ctr">
              <a:defRPr sz="1800" b="1">
                <a:solidFill>
                  <a:srgbClr val="FFFFFF"/>
                </a:solidFill>
                <a:latin typeface="Arial"/>
                <a:ea typeface="Arial"/>
                <a:cs typeface="Arial"/>
              </a:defRPr>
            </a:defPPr>
          </a:lstStyle>
          <a:p>
            <a:pPr algn="ctr">
              <a:defRPr sz="1800" b="1">
                <a:solidFill>
                  <a:srgbClr val="FFFFFF"/>
                </a:solidFill>
                <a:latin typeface="Arial"/>
                <a:ea typeface="Arial"/>
                <a:cs typeface="Arial"/>
              </a:defRPr>
            </a:pPr>
            <a:r>
              <a:rPr sz="1800" b="1">
                <a:solidFill>
                  <a:srgbClr val="FFFFFF"/>
                </a:solidFill>
                <a:latin typeface="Arial"/>
                <a:ea typeface="Arial"/>
                <a:cs typeface="Arial"/>
              </a:rPr>
              <a:t>ELF32</a:t>
            </a:r>
          </a:p>
          <a:p>
            <a:pPr algn="ctr">
              <a:defRPr sz="1800" b="1">
                <a:solidFill>
                  <a:srgbClr val="FFFFFF"/>
                </a:solidFill>
                <a:latin typeface="Arial"/>
                <a:ea typeface="Arial"/>
                <a:cs typeface="Arial"/>
              </a:defRPr>
            </a:pPr>
            <a:r>
              <a:rPr sz="1800" b="1">
                <a:solidFill>
                  <a:srgbClr val="FFFFFF"/>
                </a:solidFill>
                <a:latin typeface="Arial"/>
                <a:ea typeface="Arial"/>
                <a:cs typeface="Arial"/>
              </a:rPr>
              <a:t>kernel.elf</a:t>
            </a:r>
          </a:p>
        </p:txBody>
      </p:sp>
      <p:cxnSp>
        <p:nvCxnSpPr>
          <p:cNvPr id="10" name="Straight Arrow Connector 9">
            <a:extLst>
              <a:ext uri="{FF2B5EF4-FFF2-40B4-BE49-F238E27FC236}">
                <a16:creationId xmlns:a16="http://schemas.microsoft.com/office/drawing/2014/main" id="{42FC70B1-5E64-494C-B6A3-A8F849978AFB}"/>
              </a:ext>
            </a:extLst>
          </p:cNvPr>
          <p:cNvCxnSpPr/>
          <p:nvPr/>
        </p:nvCxnSpPr>
        <p:spPr>
          <a:xfrm>
            <a:off x="5915025" y="3295650"/>
            <a:ext cx="295275" cy="0"/>
          </a:xfrm>
          <a:prstGeom prst="straightConnector1">
            <a:avLst/>
          </a:prstGeom>
          <a:ln w="19050">
            <a:solidFill>
              <a:srgbClr val="BE98F6"/>
            </a:solidFill>
            <a:prstDash val="solid"/>
            <a:tailEnd type="triangle" w="med" len="med"/>
          </a:ln>
        </p:spPr>
      </p:cxnSp>
      <p:sp>
        <p:nvSpPr>
          <p:cNvPr id="11" name="Rectangle 10">
            <a:extLst>
              <a:ext uri="{FF2B5EF4-FFF2-40B4-BE49-F238E27FC236}">
                <a16:creationId xmlns:a16="http://schemas.microsoft.com/office/drawing/2014/main" id="{EE9BE72D-0CF6-46CA-BA7D-3E41F42B2061}"/>
              </a:ext>
            </a:extLst>
          </p:cNvPr>
          <p:cNvSpPr>
            <a:spLocks noGrp="1"/>
          </p:cNvSpPr>
          <p:nvPr/>
        </p:nvSpPr>
        <p:spPr>
          <a:xfrm>
            <a:off x="6276975" y="2762250"/>
            <a:ext cx="2471738" cy="1066800"/>
          </a:xfrm>
          <a:prstGeom prst="rect">
            <a:avLst/>
          </a:prstGeom>
          <a:solidFill>
            <a:srgbClr val="2A1547"/>
          </a:solidFill>
          <a:ln w="13335">
            <a:solidFill>
              <a:srgbClr val="7D43D5"/>
            </a:solidFill>
          </a:ln>
        </p:spPr>
      </p:sp>
      <p:sp>
        <p:nvSpPr>
          <p:cNvPr id="12" name="Raw bytes&#10;kernel.bin">
            <a:extLst>
              <a:ext uri="{FF2B5EF4-FFF2-40B4-BE49-F238E27FC236}">
                <a16:creationId xmlns:a16="http://schemas.microsoft.com/office/drawing/2014/main" id="{6C1DD061-E5DD-423F-8B6B-103ADCA1692B}"/>
              </a:ext>
            </a:extLst>
          </p:cNvPr>
          <p:cNvSpPr>
            <a:spLocks noGrp="1"/>
          </p:cNvSpPr>
          <p:nvPr/>
        </p:nvSpPr>
        <p:spPr>
          <a:xfrm>
            <a:off x="6419850" y="2847975"/>
            <a:ext cx="2185988" cy="895350"/>
          </a:xfrm>
          <a:prstGeom prst="rect">
            <a:avLst/>
          </a:prstGeom>
          <a:noFill/>
          <a:ln w="0">
            <a:noFill/>
          </a:ln>
        </p:spPr>
        <p:txBody>
          <a:bodyPr lIns="0" tIns="0" rIns="0" bIns="0" anchor="ctr"/>
          <a:lstStyle>
            <a:defPPr algn="ctr">
              <a:defRPr sz="1800" b="1">
                <a:solidFill>
                  <a:srgbClr val="FFFFFF"/>
                </a:solidFill>
                <a:latin typeface="Arial"/>
                <a:ea typeface="Arial"/>
                <a:cs typeface="Arial"/>
              </a:defRPr>
            </a:defPPr>
          </a:lstStyle>
          <a:p>
            <a:pPr algn="ctr">
              <a:defRPr sz="1800" b="1">
                <a:solidFill>
                  <a:srgbClr val="FFFFFF"/>
                </a:solidFill>
                <a:latin typeface="Arial"/>
                <a:ea typeface="Arial"/>
                <a:cs typeface="Arial"/>
              </a:defRPr>
            </a:pPr>
            <a:r>
              <a:rPr sz="1800" b="1">
                <a:solidFill>
                  <a:srgbClr val="FFFFFF"/>
                </a:solidFill>
                <a:latin typeface="Arial"/>
                <a:ea typeface="Arial"/>
                <a:cs typeface="Arial"/>
              </a:rPr>
              <a:t>Raw bytes</a:t>
            </a:r>
          </a:p>
          <a:p>
            <a:pPr algn="ctr">
              <a:defRPr sz="1800" b="1">
                <a:solidFill>
                  <a:srgbClr val="FFFFFF"/>
                </a:solidFill>
                <a:latin typeface="Arial"/>
                <a:ea typeface="Arial"/>
                <a:cs typeface="Arial"/>
              </a:defRPr>
            </a:pPr>
            <a:r>
              <a:rPr sz="1800" b="1">
                <a:solidFill>
                  <a:srgbClr val="FFFFFF"/>
                </a:solidFill>
                <a:latin typeface="Arial"/>
                <a:ea typeface="Arial"/>
                <a:cs typeface="Arial"/>
              </a:rPr>
              <a:t>kernel.bin</a:t>
            </a:r>
          </a:p>
        </p:txBody>
      </p:sp>
      <p:cxnSp>
        <p:nvCxnSpPr>
          <p:cNvPr id="13" name="Straight Arrow Connector 12">
            <a:extLst>
              <a:ext uri="{FF2B5EF4-FFF2-40B4-BE49-F238E27FC236}">
                <a16:creationId xmlns:a16="http://schemas.microsoft.com/office/drawing/2014/main" id="{45F75085-D809-4AB2-91FA-219B258FF68F}"/>
              </a:ext>
            </a:extLst>
          </p:cNvPr>
          <p:cNvCxnSpPr/>
          <p:nvPr/>
        </p:nvCxnSpPr>
        <p:spPr>
          <a:xfrm>
            <a:off x="8748713" y="3295650"/>
            <a:ext cx="295275" cy="0"/>
          </a:xfrm>
          <a:prstGeom prst="straightConnector1">
            <a:avLst/>
          </a:prstGeom>
          <a:ln w="19050">
            <a:solidFill>
              <a:srgbClr val="BE98F6"/>
            </a:solidFill>
            <a:prstDash val="solid"/>
            <a:tailEnd type="triangle" w="med" len="med"/>
          </a:ln>
        </p:spPr>
      </p:cxnSp>
      <p:sp>
        <p:nvSpPr>
          <p:cNvPr id="14" name="Rectangle 13">
            <a:extLst>
              <a:ext uri="{FF2B5EF4-FFF2-40B4-BE49-F238E27FC236}">
                <a16:creationId xmlns:a16="http://schemas.microsoft.com/office/drawing/2014/main" id="{7849F53D-FECD-4BEC-911B-CF500752F8AD}"/>
              </a:ext>
            </a:extLst>
          </p:cNvPr>
          <p:cNvSpPr>
            <a:spLocks noGrp="1"/>
          </p:cNvSpPr>
          <p:nvPr/>
        </p:nvSpPr>
        <p:spPr>
          <a:xfrm>
            <a:off x="9110663" y="2762250"/>
            <a:ext cx="2471738" cy="1066800"/>
          </a:xfrm>
          <a:prstGeom prst="rect">
            <a:avLst/>
          </a:prstGeom>
          <a:solidFill>
            <a:srgbClr val="2A1547"/>
          </a:solidFill>
          <a:ln w="13335">
            <a:solidFill>
              <a:srgbClr val="7D43D5"/>
            </a:solidFill>
          </a:ln>
        </p:spPr>
      </p:sp>
      <p:sp>
        <p:nvSpPr>
          <p:cNvPr id="15" name="Disk image&#10;boot.img">
            <a:extLst>
              <a:ext uri="{FF2B5EF4-FFF2-40B4-BE49-F238E27FC236}">
                <a16:creationId xmlns:a16="http://schemas.microsoft.com/office/drawing/2014/main" id="{53964FAD-6615-46CF-8414-2FECA7C69D40}"/>
              </a:ext>
            </a:extLst>
          </p:cNvPr>
          <p:cNvSpPr>
            <a:spLocks noGrp="1"/>
          </p:cNvSpPr>
          <p:nvPr/>
        </p:nvSpPr>
        <p:spPr>
          <a:xfrm>
            <a:off x="9253538" y="2847975"/>
            <a:ext cx="2185988" cy="895350"/>
          </a:xfrm>
          <a:prstGeom prst="rect">
            <a:avLst/>
          </a:prstGeom>
          <a:noFill/>
          <a:ln w="0">
            <a:noFill/>
          </a:ln>
        </p:spPr>
        <p:txBody>
          <a:bodyPr lIns="0" tIns="0" rIns="0" bIns="0" anchor="ctr"/>
          <a:lstStyle>
            <a:defPPr algn="ctr">
              <a:defRPr sz="1800" b="1">
                <a:solidFill>
                  <a:srgbClr val="FFFFFF"/>
                </a:solidFill>
                <a:latin typeface="Arial"/>
                <a:ea typeface="Arial"/>
                <a:cs typeface="Arial"/>
              </a:defRPr>
            </a:defPPr>
          </a:lstStyle>
          <a:p>
            <a:pPr algn="ctr">
              <a:defRPr sz="1800" b="1">
                <a:solidFill>
                  <a:srgbClr val="FFFFFF"/>
                </a:solidFill>
                <a:latin typeface="Arial"/>
                <a:ea typeface="Arial"/>
                <a:cs typeface="Arial"/>
              </a:defRPr>
            </a:pPr>
            <a:r>
              <a:rPr sz="1800" b="1">
                <a:solidFill>
                  <a:srgbClr val="FFFFFF"/>
                </a:solidFill>
                <a:latin typeface="Arial"/>
                <a:ea typeface="Arial"/>
                <a:cs typeface="Arial"/>
              </a:rPr>
              <a:t>Disk image</a:t>
            </a:r>
          </a:p>
          <a:p>
            <a:pPr algn="ctr">
              <a:defRPr sz="1800" b="1">
                <a:solidFill>
                  <a:srgbClr val="FFFFFF"/>
                </a:solidFill>
                <a:latin typeface="Arial"/>
                <a:ea typeface="Arial"/>
                <a:cs typeface="Arial"/>
              </a:defRPr>
            </a:pPr>
            <a:r>
              <a:rPr sz="1800" b="1">
                <a:solidFill>
                  <a:srgbClr val="FFFFFF"/>
                </a:solidFill>
                <a:latin typeface="Arial"/>
                <a:ea typeface="Arial"/>
                <a:cs typeface="Arial"/>
              </a:rPr>
              <a:t>boot.img</a:t>
            </a:r>
          </a:p>
        </p:txBody>
      </p:sp>
      <p:sp>
        <p:nvSpPr>
          <p:cNvPr id="16" name="The BIOS loader needs the flat kernel bytes,">
            <a:extLst>
              <a:ext uri="{FF2B5EF4-FFF2-40B4-BE49-F238E27FC236}">
                <a16:creationId xmlns:a16="http://schemas.microsoft.com/office/drawing/2014/main" id="{0CDAF24E-92D5-45A3-B9C1-ECCB0785CD58}"/>
              </a:ext>
            </a:extLst>
          </p:cNvPr>
          <p:cNvSpPr>
            <a:spLocks noGrp="1"/>
          </p:cNvSpPr>
          <p:nvPr/>
        </p:nvSpPr>
        <p:spPr>
          <a:xfrm>
            <a:off x="609600" y="5648325"/>
            <a:ext cx="10972800" cy="504825"/>
          </a:xfrm>
          <a:prstGeom prst="rect">
            <a:avLst/>
          </a:prstGeom>
          <a:noFill/>
          <a:ln w="0">
            <a:noFill/>
          </a:ln>
        </p:spPr>
        <p:txBody>
          <a:bodyPr lIns="0" tIns="0" rIns="0" bIns="0" anchor="ctr"/>
          <a:lstStyle>
            <a:defPPr algn="l">
              <a:defRPr sz="1725" b="0">
                <a:solidFill>
                  <a:srgbClr val="D5C9E6"/>
                </a:solidFill>
                <a:latin typeface="Arial"/>
                <a:ea typeface="Arial"/>
                <a:cs typeface="Arial"/>
              </a:defRPr>
            </a:defPPr>
          </a:lstStyle>
          <a:p>
            <a:pPr algn="l">
              <a:defRPr sz="1725" b="0">
                <a:solidFill>
                  <a:srgbClr val="D5C9E6"/>
                </a:solidFill>
                <a:latin typeface="Arial"/>
                <a:ea typeface="Arial"/>
                <a:cs typeface="Arial"/>
              </a:defRPr>
            </a:pPr>
            <a:r>
              <a:rPr sz="1725" b="0">
                <a:solidFill>
                  <a:srgbClr val="D5C9E6"/>
                </a:solidFill>
                <a:latin typeface="Arial"/>
                <a:ea typeface="Arial"/>
                <a:cs typeface="Arial"/>
              </a:rPr>
              <a:t>The BIOS loader needs the flat kernel bytes, not an ELF header.</a:t>
            </a:r>
          </a:p>
        </p:txBody>
      </p:sp>
    </p:spTree>
    <p:extLst>
      <p:ext uri="{BB962C8B-B14F-4D97-AF65-F5344CB8AC3E}">
        <p14:creationId xmlns:p14="http://schemas.microsoft.com/office/powerpoint/2010/main" val="183517908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180B2B"/>
        </a:solidFill>
        <a:effectLst/>
      </p:bgPr>
    </p:bg>
    <p:spTree>
      <p:nvGrpSpPr>
        <p:cNvPr id="1" name=""/>
        <p:cNvGrpSpPr/>
        <p:nvPr/>
      </p:nvGrpSpPr>
      <p:grpSpPr>
        <a:xfrm>
          <a:off x="0" y="0"/>
          <a:ext cx="0" cy="0"/>
          <a:chOff x="0" y="0"/>
          <a:chExt cx="0" cy="0"/>
        </a:xfrm>
      </p:grpSpPr>
      <p:sp>
        <p:nvSpPr>
          <p:cNvPr id="24" name="FOUNDATIONS">
            <a:extLst>
              <a:ext uri="{FF2B5EF4-FFF2-40B4-BE49-F238E27FC236}">
                <a16:creationId xmlns:a16="http://schemas.microsoft.com/office/drawing/2014/main" id="{1C1D2A78-DBBA-431D-A6FB-BE16A1EF73E6}"/>
              </a:ext>
            </a:extLst>
          </p:cNvPr>
          <p:cNvSpPr>
            <a:spLocks noGrp="1"/>
          </p:cNvSpPr>
          <p:nvPr/>
        </p:nvSpPr>
        <p:spPr>
          <a:xfrm>
            <a:off x="609600" y="323850"/>
            <a:ext cx="10001250" cy="228600"/>
          </a:xfrm>
          <a:prstGeom prst="rect">
            <a:avLst/>
          </a:prstGeom>
          <a:noFill/>
          <a:ln w="0">
            <a:noFill/>
          </a:ln>
        </p:spPr>
        <p:txBody>
          <a:bodyPr lIns="0" tIns="0" rIns="0" bIns="0" anchor="ctr"/>
          <a:lstStyle>
            <a:defPPr algn="l">
              <a:defRPr sz="1200" b="1">
                <a:solidFill>
                  <a:srgbClr val="BE98F6"/>
                </a:solidFill>
                <a:latin typeface="Arial"/>
                <a:ea typeface="Arial"/>
                <a:cs typeface="Arial"/>
              </a:defRPr>
            </a:defPPr>
          </a:lstStyle>
          <a:p>
            <a:pPr algn="l">
              <a:defRPr sz="1200" b="1">
                <a:solidFill>
                  <a:srgbClr val="BE98F6"/>
                </a:solidFill>
                <a:latin typeface="Arial"/>
                <a:ea typeface="Arial"/>
                <a:cs typeface="Arial"/>
              </a:defRPr>
            </a:pPr>
            <a:r>
              <a:rPr sz="1200" b="1">
                <a:solidFill>
                  <a:srgbClr val="BE98F6"/>
                </a:solidFill>
                <a:latin typeface="Arial"/>
                <a:ea typeface="Arial"/>
                <a:cs typeface="Arial"/>
              </a:rPr>
              <a:t>FOUNDATIONS</a:t>
            </a:r>
          </a:p>
        </p:txBody>
      </p:sp>
      <p:sp>
        <p:nvSpPr>
          <p:cNvPr id="2" name="Boot sequence">
            <a:extLst>
              <a:ext uri="{FF2B5EF4-FFF2-40B4-BE49-F238E27FC236}">
                <a16:creationId xmlns:a16="http://schemas.microsoft.com/office/drawing/2014/main" id="{863B81FB-FE9B-45B2-8C5C-7FE06C739109}"/>
              </a:ext>
            </a:extLst>
          </p:cNvPr>
          <p:cNvSpPr>
            <a:spLocks noGrp="1"/>
          </p:cNvSpPr>
          <p:nvPr/>
        </p:nvSpPr>
        <p:spPr>
          <a:xfrm>
            <a:off x="609600" y="876300"/>
            <a:ext cx="10972800" cy="952500"/>
          </a:xfrm>
          <a:prstGeom prst="rect">
            <a:avLst/>
          </a:prstGeom>
          <a:noFill/>
          <a:ln w="0">
            <a:noFill/>
          </a:ln>
        </p:spPr>
        <p:txBody>
          <a:bodyPr lIns="0" tIns="0" rIns="0" bIns="0" anchor="ctr"/>
          <a:lstStyle>
            <a:defPPr algn="l">
              <a:defRPr sz="3300" b="1">
                <a:solidFill>
                  <a:srgbClr val="FFFFFF"/>
                </a:solidFill>
                <a:latin typeface="Arial"/>
                <a:ea typeface="Arial"/>
                <a:cs typeface="Arial"/>
              </a:defRPr>
            </a:defPPr>
          </a:lstStyle>
          <a:p>
            <a:pPr algn="l">
              <a:defRPr sz="3300" b="1">
                <a:solidFill>
                  <a:srgbClr val="FFFFFF"/>
                </a:solidFill>
                <a:latin typeface="Arial"/>
                <a:ea typeface="Arial"/>
                <a:cs typeface="Arial"/>
              </a:defRPr>
            </a:pPr>
            <a:r>
              <a:rPr sz="3300" b="1">
                <a:solidFill>
                  <a:srgbClr val="FFFFFF"/>
                </a:solidFill>
                <a:latin typeface="Arial"/>
                <a:ea typeface="Arial"/>
                <a:cs typeface="Arial"/>
              </a:rPr>
              <a:t>Boot sequence</a:t>
            </a:r>
          </a:p>
        </p:txBody>
      </p:sp>
      <p:sp>
        <p:nvSpPr>
          <p:cNvPr id="3" name="AGENTIC OS  /  MVP TECHNICAL WALKTHROUGH">
            <a:extLst>
              <a:ext uri="{FF2B5EF4-FFF2-40B4-BE49-F238E27FC236}">
                <a16:creationId xmlns:a16="http://schemas.microsoft.com/office/drawing/2014/main" id="{C832D594-4E41-4693-8C0F-A2F9DC394069}"/>
              </a:ext>
            </a:extLst>
          </p:cNvPr>
          <p:cNvSpPr>
            <a:spLocks noGrp="1"/>
          </p:cNvSpPr>
          <p:nvPr/>
        </p:nvSpPr>
        <p:spPr>
          <a:xfrm>
            <a:off x="609600" y="6410325"/>
            <a:ext cx="10001250" cy="190500"/>
          </a:xfrm>
          <a:prstGeom prst="rect">
            <a:avLst/>
          </a:prstGeom>
          <a:noFill/>
          <a:ln w="0">
            <a:noFill/>
          </a:ln>
        </p:spPr>
        <p:txBody>
          <a:bodyPr lIns="0" tIns="0" rIns="0" bIns="0" anchor="ctr"/>
          <a:lstStyle>
            <a:defPPr algn="l">
              <a:defRPr sz="975" b="0">
                <a:solidFill>
                  <a:srgbClr val="D5C9E6"/>
                </a:solidFill>
                <a:latin typeface="Arial"/>
                <a:ea typeface="Arial"/>
                <a:cs typeface="Arial"/>
              </a:defRPr>
            </a:defPPr>
          </a:lstStyle>
          <a:p>
            <a:pPr algn="l">
              <a:defRPr sz="975" b="0">
                <a:solidFill>
                  <a:srgbClr val="D5C9E6"/>
                </a:solidFill>
                <a:latin typeface="Arial"/>
                <a:ea typeface="Arial"/>
                <a:cs typeface="Arial"/>
              </a:defRPr>
            </a:pPr>
            <a:r>
              <a:rPr sz="975" b="0">
                <a:solidFill>
                  <a:srgbClr val="D5C9E6"/>
                </a:solidFill>
                <a:latin typeface="Arial"/>
                <a:ea typeface="Arial"/>
                <a:cs typeface="Arial"/>
              </a:rPr>
              <a:t>AGENTIC OS  /  MVP TECHNICAL WALKTHROUGH</a:t>
            </a:r>
          </a:p>
        </p:txBody>
      </p:sp>
      <p:sp>
        <p:nvSpPr>
          <p:cNvPr id="4" name="08">
            <a:extLst>
              <a:ext uri="{FF2B5EF4-FFF2-40B4-BE49-F238E27FC236}">
                <a16:creationId xmlns:a16="http://schemas.microsoft.com/office/drawing/2014/main" id="{F89DF3A2-F7DD-4745-929B-82736A84E6C3}"/>
              </a:ext>
            </a:extLst>
          </p:cNvPr>
          <p:cNvSpPr>
            <a:spLocks noGrp="1"/>
          </p:cNvSpPr>
          <p:nvPr/>
        </p:nvSpPr>
        <p:spPr>
          <a:xfrm>
            <a:off x="11029950" y="6372225"/>
            <a:ext cx="552450" cy="247650"/>
          </a:xfrm>
          <a:prstGeom prst="rect">
            <a:avLst/>
          </a:prstGeom>
          <a:noFill/>
          <a:ln w="0">
            <a:noFill/>
          </a:ln>
        </p:spPr>
        <p:txBody>
          <a:bodyPr lIns="0" tIns="0" rIns="0" bIns="0" anchor="ctr"/>
          <a:lstStyle>
            <a:defPPr algn="r">
              <a:defRPr sz="1275" b="0">
                <a:solidFill>
                  <a:srgbClr val="BE98F6"/>
                </a:solidFill>
                <a:latin typeface="Arial"/>
                <a:ea typeface="Arial"/>
                <a:cs typeface="Arial"/>
              </a:defRPr>
            </a:defPPr>
          </a:lstStyle>
          <a:p>
            <a:pPr algn="r">
              <a:defRPr sz="1275" b="0">
                <a:solidFill>
                  <a:srgbClr val="BE98F6"/>
                </a:solidFill>
                <a:latin typeface="Arial"/>
                <a:ea typeface="Arial"/>
                <a:cs typeface="Arial"/>
              </a:defRPr>
            </a:pPr>
            <a:r>
              <a:rPr sz="1275" b="0">
                <a:solidFill>
                  <a:srgbClr val="BE98F6"/>
                </a:solidFill>
                <a:latin typeface="Arial"/>
                <a:ea typeface="Arial"/>
                <a:cs typeface="Arial"/>
              </a:rPr>
              <a:t>08</a:t>
            </a:r>
          </a:p>
        </p:txBody>
      </p:sp>
      <p:sp>
        <p:nvSpPr>
          <p:cNvPr id="5" name="Rectangle 4">
            <a:extLst>
              <a:ext uri="{FF2B5EF4-FFF2-40B4-BE49-F238E27FC236}">
                <a16:creationId xmlns:a16="http://schemas.microsoft.com/office/drawing/2014/main" id="{FA56BDBD-A877-4F02-81FD-3DB47630C2BA}"/>
              </a:ext>
            </a:extLst>
          </p:cNvPr>
          <p:cNvSpPr>
            <a:spLocks noGrp="1"/>
          </p:cNvSpPr>
          <p:nvPr/>
        </p:nvSpPr>
        <p:spPr>
          <a:xfrm>
            <a:off x="333375" y="2028825"/>
            <a:ext cx="2000250" cy="590550"/>
          </a:xfrm>
          <a:prstGeom prst="rect">
            <a:avLst/>
          </a:prstGeom>
          <a:solidFill>
            <a:srgbClr val="2A1547"/>
          </a:solidFill>
          <a:ln w="13335">
            <a:solidFill>
              <a:srgbClr val="7D43D5"/>
            </a:solidFill>
          </a:ln>
        </p:spPr>
      </p:sp>
      <p:sp>
        <p:nvSpPr>
          <p:cNvPr id="6" name="BIOS">
            <a:extLst>
              <a:ext uri="{FF2B5EF4-FFF2-40B4-BE49-F238E27FC236}">
                <a16:creationId xmlns:a16="http://schemas.microsoft.com/office/drawing/2014/main" id="{0ED7267D-56C8-4B7F-BE49-64FBB9F5F408}"/>
              </a:ext>
            </a:extLst>
          </p:cNvPr>
          <p:cNvSpPr>
            <a:spLocks noGrp="1"/>
          </p:cNvSpPr>
          <p:nvPr/>
        </p:nvSpPr>
        <p:spPr>
          <a:xfrm>
            <a:off x="476250" y="2114550"/>
            <a:ext cx="1714500" cy="419100"/>
          </a:xfrm>
          <a:prstGeom prst="rect">
            <a:avLst/>
          </a:prstGeom>
          <a:noFill/>
          <a:ln w="0">
            <a:noFill/>
          </a:ln>
        </p:spPr>
        <p:txBody>
          <a:bodyPr lIns="0" tIns="0" rIns="0" bIns="0" anchor="ctr"/>
          <a:lstStyle>
            <a:defPPr algn="ctr">
              <a:defRPr sz="1800" b="1">
                <a:solidFill>
                  <a:srgbClr val="FFFFFF"/>
                </a:solidFill>
                <a:latin typeface="Arial"/>
                <a:ea typeface="Arial"/>
                <a:cs typeface="Arial"/>
              </a:defRPr>
            </a:defPPr>
          </a:lstStyle>
          <a:p>
            <a:pPr algn="ctr">
              <a:defRPr sz="1800" b="1">
                <a:solidFill>
                  <a:srgbClr val="FFFFFF"/>
                </a:solidFill>
                <a:latin typeface="Arial"/>
                <a:ea typeface="Arial"/>
                <a:cs typeface="Arial"/>
              </a:defRPr>
            </a:pPr>
            <a:r>
              <a:rPr sz="1800" b="1">
                <a:solidFill>
                  <a:srgbClr val="FFFFFF"/>
                </a:solidFill>
                <a:latin typeface="Arial"/>
                <a:ea typeface="Arial"/>
                <a:cs typeface="Arial"/>
              </a:rPr>
              <a:t>BIOS</a:t>
            </a:r>
          </a:p>
        </p:txBody>
      </p:sp>
      <p:cxnSp>
        <p:nvCxnSpPr>
          <p:cNvPr id="7" name="Straight Arrow Connector 6">
            <a:extLst>
              <a:ext uri="{FF2B5EF4-FFF2-40B4-BE49-F238E27FC236}">
                <a16:creationId xmlns:a16="http://schemas.microsoft.com/office/drawing/2014/main" id="{668AAB1E-5EC5-42BE-B81E-0810D24E1120}"/>
              </a:ext>
            </a:extLst>
          </p:cNvPr>
          <p:cNvCxnSpPr/>
          <p:nvPr/>
        </p:nvCxnSpPr>
        <p:spPr>
          <a:xfrm>
            <a:off x="1333500" y="2705100"/>
            <a:ext cx="0" cy="2771775"/>
          </a:xfrm>
          <a:prstGeom prst="straightConnector1">
            <a:avLst/>
          </a:prstGeom>
          <a:ln w="19050">
            <a:solidFill>
              <a:srgbClr val="BE98F6"/>
            </a:solidFill>
            <a:prstDash val="dash"/>
            <a:tailEnd type="none" w="med" len="med"/>
          </a:ln>
        </p:spPr>
      </p:cxnSp>
      <p:sp>
        <p:nvSpPr>
          <p:cNvPr id="8" name="Rectangle 7">
            <a:extLst>
              <a:ext uri="{FF2B5EF4-FFF2-40B4-BE49-F238E27FC236}">
                <a16:creationId xmlns:a16="http://schemas.microsoft.com/office/drawing/2014/main" id="{45FD9A72-DA3C-428F-BBF9-2D854E5C95C6}"/>
              </a:ext>
            </a:extLst>
          </p:cNvPr>
          <p:cNvSpPr>
            <a:spLocks noGrp="1"/>
          </p:cNvSpPr>
          <p:nvPr/>
        </p:nvSpPr>
        <p:spPr>
          <a:xfrm>
            <a:off x="3508375" y="2028825"/>
            <a:ext cx="2000250" cy="590550"/>
          </a:xfrm>
          <a:prstGeom prst="rect">
            <a:avLst/>
          </a:prstGeom>
          <a:solidFill>
            <a:srgbClr val="2A1547"/>
          </a:solidFill>
          <a:ln w="13335">
            <a:solidFill>
              <a:srgbClr val="7D43D5"/>
            </a:solidFill>
          </a:ln>
        </p:spPr>
      </p:sp>
      <p:sp>
        <p:nvSpPr>
          <p:cNvPr id="9" name="Boot sector">
            <a:extLst>
              <a:ext uri="{FF2B5EF4-FFF2-40B4-BE49-F238E27FC236}">
                <a16:creationId xmlns:a16="http://schemas.microsoft.com/office/drawing/2014/main" id="{51C841F4-B6F0-47EC-AC1B-A8E2036EACD5}"/>
              </a:ext>
            </a:extLst>
          </p:cNvPr>
          <p:cNvSpPr>
            <a:spLocks noGrp="1"/>
          </p:cNvSpPr>
          <p:nvPr/>
        </p:nvSpPr>
        <p:spPr>
          <a:xfrm>
            <a:off x="3651250" y="2114550"/>
            <a:ext cx="1714500" cy="419100"/>
          </a:xfrm>
          <a:prstGeom prst="rect">
            <a:avLst/>
          </a:prstGeom>
          <a:noFill/>
          <a:ln w="0">
            <a:noFill/>
          </a:ln>
        </p:spPr>
        <p:txBody>
          <a:bodyPr lIns="0" tIns="0" rIns="0" bIns="0" anchor="ctr"/>
          <a:lstStyle>
            <a:defPPr algn="ctr">
              <a:defRPr sz="1800" b="1">
                <a:solidFill>
                  <a:srgbClr val="FFFFFF"/>
                </a:solidFill>
                <a:latin typeface="Arial"/>
                <a:ea typeface="Arial"/>
                <a:cs typeface="Arial"/>
              </a:defRPr>
            </a:defPPr>
          </a:lstStyle>
          <a:p>
            <a:pPr algn="ctr">
              <a:defRPr sz="1800" b="1">
                <a:solidFill>
                  <a:srgbClr val="FFFFFF"/>
                </a:solidFill>
                <a:latin typeface="Arial"/>
                <a:ea typeface="Arial"/>
                <a:cs typeface="Arial"/>
              </a:defRPr>
            </a:pPr>
            <a:r>
              <a:rPr sz="1800" b="1">
                <a:solidFill>
                  <a:srgbClr val="FFFFFF"/>
                </a:solidFill>
                <a:latin typeface="Arial"/>
                <a:ea typeface="Arial"/>
                <a:cs typeface="Arial"/>
              </a:rPr>
              <a:t>Boot sector</a:t>
            </a:r>
          </a:p>
        </p:txBody>
      </p:sp>
      <p:cxnSp>
        <p:nvCxnSpPr>
          <p:cNvPr id="10" name="Straight Arrow Connector 9">
            <a:extLst>
              <a:ext uri="{FF2B5EF4-FFF2-40B4-BE49-F238E27FC236}">
                <a16:creationId xmlns:a16="http://schemas.microsoft.com/office/drawing/2014/main" id="{B2ED4738-BA89-4506-8B45-1B351250C338}"/>
              </a:ext>
            </a:extLst>
          </p:cNvPr>
          <p:cNvCxnSpPr/>
          <p:nvPr/>
        </p:nvCxnSpPr>
        <p:spPr>
          <a:xfrm>
            <a:off x="4508500" y="2705100"/>
            <a:ext cx="0" cy="2771775"/>
          </a:xfrm>
          <a:prstGeom prst="straightConnector1">
            <a:avLst/>
          </a:prstGeom>
          <a:ln w="19050">
            <a:solidFill>
              <a:srgbClr val="BE98F6"/>
            </a:solidFill>
            <a:prstDash val="dash"/>
            <a:tailEnd type="none" w="med" len="med"/>
          </a:ln>
        </p:spPr>
      </p:cxnSp>
      <p:sp>
        <p:nvSpPr>
          <p:cNvPr id="11" name="Rectangle 10">
            <a:extLst>
              <a:ext uri="{FF2B5EF4-FFF2-40B4-BE49-F238E27FC236}">
                <a16:creationId xmlns:a16="http://schemas.microsoft.com/office/drawing/2014/main" id="{77D87F1D-69A5-4F5A-B394-485B7A9E9571}"/>
              </a:ext>
            </a:extLst>
          </p:cNvPr>
          <p:cNvSpPr>
            <a:spLocks noGrp="1"/>
          </p:cNvSpPr>
          <p:nvPr/>
        </p:nvSpPr>
        <p:spPr>
          <a:xfrm>
            <a:off x="6683375" y="2028825"/>
            <a:ext cx="2000250" cy="590550"/>
          </a:xfrm>
          <a:prstGeom prst="rect">
            <a:avLst/>
          </a:prstGeom>
          <a:solidFill>
            <a:srgbClr val="2A1547"/>
          </a:solidFill>
          <a:ln w="13335">
            <a:solidFill>
              <a:srgbClr val="7D43D5"/>
            </a:solidFill>
          </a:ln>
        </p:spPr>
      </p:sp>
      <p:sp>
        <p:nvSpPr>
          <p:cNvPr id="12" name="Kernel entry">
            <a:extLst>
              <a:ext uri="{FF2B5EF4-FFF2-40B4-BE49-F238E27FC236}">
                <a16:creationId xmlns:a16="http://schemas.microsoft.com/office/drawing/2014/main" id="{B88B4EA3-DDFA-4B0F-8181-73D860AD2724}"/>
              </a:ext>
            </a:extLst>
          </p:cNvPr>
          <p:cNvSpPr>
            <a:spLocks noGrp="1"/>
          </p:cNvSpPr>
          <p:nvPr/>
        </p:nvSpPr>
        <p:spPr>
          <a:xfrm>
            <a:off x="6826250" y="2114550"/>
            <a:ext cx="1714500" cy="419100"/>
          </a:xfrm>
          <a:prstGeom prst="rect">
            <a:avLst/>
          </a:prstGeom>
          <a:noFill/>
          <a:ln w="0">
            <a:noFill/>
          </a:ln>
        </p:spPr>
        <p:txBody>
          <a:bodyPr lIns="0" tIns="0" rIns="0" bIns="0" anchor="ctr"/>
          <a:lstStyle>
            <a:defPPr algn="ctr">
              <a:defRPr sz="1800" b="1">
                <a:solidFill>
                  <a:srgbClr val="FFFFFF"/>
                </a:solidFill>
                <a:latin typeface="Arial"/>
                <a:ea typeface="Arial"/>
                <a:cs typeface="Arial"/>
              </a:defRPr>
            </a:defPPr>
          </a:lstStyle>
          <a:p>
            <a:pPr algn="ctr">
              <a:defRPr sz="1800" b="1">
                <a:solidFill>
                  <a:srgbClr val="FFFFFF"/>
                </a:solidFill>
                <a:latin typeface="Arial"/>
                <a:ea typeface="Arial"/>
                <a:cs typeface="Arial"/>
              </a:defRPr>
            </a:pPr>
            <a:r>
              <a:rPr sz="1800" b="1">
                <a:solidFill>
                  <a:srgbClr val="FFFFFF"/>
                </a:solidFill>
                <a:latin typeface="Arial"/>
                <a:ea typeface="Arial"/>
                <a:cs typeface="Arial"/>
              </a:rPr>
              <a:t>Kernel entry</a:t>
            </a:r>
          </a:p>
        </p:txBody>
      </p:sp>
      <p:cxnSp>
        <p:nvCxnSpPr>
          <p:cNvPr id="13" name="Straight Arrow Connector 12">
            <a:extLst>
              <a:ext uri="{FF2B5EF4-FFF2-40B4-BE49-F238E27FC236}">
                <a16:creationId xmlns:a16="http://schemas.microsoft.com/office/drawing/2014/main" id="{F5B47D9E-0934-41F5-9539-FB96DE5B6FEA}"/>
              </a:ext>
            </a:extLst>
          </p:cNvPr>
          <p:cNvCxnSpPr/>
          <p:nvPr/>
        </p:nvCxnSpPr>
        <p:spPr>
          <a:xfrm>
            <a:off x="7683500" y="2705100"/>
            <a:ext cx="0" cy="2771775"/>
          </a:xfrm>
          <a:prstGeom prst="straightConnector1">
            <a:avLst/>
          </a:prstGeom>
          <a:ln w="19050">
            <a:solidFill>
              <a:srgbClr val="BE98F6"/>
            </a:solidFill>
            <a:prstDash val="dash"/>
            <a:tailEnd type="none" w="med" len="med"/>
          </a:ln>
        </p:spPr>
      </p:cxnSp>
      <p:sp>
        <p:nvSpPr>
          <p:cNvPr id="14" name="Rectangle 13">
            <a:extLst>
              <a:ext uri="{FF2B5EF4-FFF2-40B4-BE49-F238E27FC236}">
                <a16:creationId xmlns:a16="http://schemas.microsoft.com/office/drawing/2014/main" id="{F92CF0E6-2568-4DED-9C8C-79EC19B673D6}"/>
              </a:ext>
            </a:extLst>
          </p:cNvPr>
          <p:cNvSpPr>
            <a:spLocks noGrp="1"/>
          </p:cNvSpPr>
          <p:nvPr/>
        </p:nvSpPr>
        <p:spPr>
          <a:xfrm>
            <a:off x="9858375" y="2028825"/>
            <a:ext cx="2000250" cy="590550"/>
          </a:xfrm>
          <a:prstGeom prst="rect">
            <a:avLst/>
          </a:prstGeom>
          <a:solidFill>
            <a:srgbClr val="2A1547"/>
          </a:solidFill>
          <a:ln w="13335">
            <a:solidFill>
              <a:srgbClr val="7D43D5"/>
            </a:solidFill>
          </a:ln>
        </p:spPr>
      </p:sp>
      <p:sp>
        <p:nvSpPr>
          <p:cNvPr id="15" name="C kernel">
            <a:extLst>
              <a:ext uri="{FF2B5EF4-FFF2-40B4-BE49-F238E27FC236}">
                <a16:creationId xmlns:a16="http://schemas.microsoft.com/office/drawing/2014/main" id="{63CED9C6-CA14-404E-B008-6160A1DEF310}"/>
              </a:ext>
            </a:extLst>
          </p:cNvPr>
          <p:cNvSpPr>
            <a:spLocks noGrp="1"/>
          </p:cNvSpPr>
          <p:nvPr/>
        </p:nvSpPr>
        <p:spPr>
          <a:xfrm>
            <a:off x="10001250" y="2114550"/>
            <a:ext cx="1714500" cy="419100"/>
          </a:xfrm>
          <a:prstGeom prst="rect">
            <a:avLst/>
          </a:prstGeom>
          <a:noFill/>
          <a:ln w="0">
            <a:noFill/>
          </a:ln>
        </p:spPr>
        <p:txBody>
          <a:bodyPr lIns="0" tIns="0" rIns="0" bIns="0" anchor="ctr"/>
          <a:lstStyle>
            <a:defPPr algn="ctr">
              <a:defRPr sz="1800" b="1">
                <a:solidFill>
                  <a:srgbClr val="FFFFFF"/>
                </a:solidFill>
                <a:latin typeface="Arial"/>
                <a:ea typeface="Arial"/>
                <a:cs typeface="Arial"/>
              </a:defRPr>
            </a:defPPr>
          </a:lstStyle>
          <a:p>
            <a:pPr algn="ctr">
              <a:defRPr sz="1800" b="1">
                <a:solidFill>
                  <a:srgbClr val="FFFFFF"/>
                </a:solidFill>
                <a:latin typeface="Arial"/>
                <a:ea typeface="Arial"/>
                <a:cs typeface="Arial"/>
              </a:defRPr>
            </a:pPr>
            <a:r>
              <a:rPr sz="1800" b="1">
                <a:solidFill>
                  <a:srgbClr val="FFFFFF"/>
                </a:solidFill>
                <a:latin typeface="Arial"/>
                <a:ea typeface="Arial"/>
                <a:cs typeface="Arial"/>
              </a:rPr>
              <a:t>C kernel</a:t>
            </a:r>
          </a:p>
        </p:txBody>
      </p:sp>
      <p:cxnSp>
        <p:nvCxnSpPr>
          <p:cNvPr id="16" name="Straight Arrow Connector 15">
            <a:extLst>
              <a:ext uri="{FF2B5EF4-FFF2-40B4-BE49-F238E27FC236}">
                <a16:creationId xmlns:a16="http://schemas.microsoft.com/office/drawing/2014/main" id="{94CE06D9-0D22-4295-A984-A82EE5241028}"/>
              </a:ext>
            </a:extLst>
          </p:cNvPr>
          <p:cNvCxnSpPr/>
          <p:nvPr/>
        </p:nvCxnSpPr>
        <p:spPr>
          <a:xfrm>
            <a:off x="10858500" y="2705100"/>
            <a:ext cx="0" cy="2771775"/>
          </a:xfrm>
          <a:prstGeom prst="straightConnector1">
            <a:avLst/>
          </a:prstGeom>
          <a:ln w="19050">
            <a:solidFill>
              <a:srgbClr val="BE98F6"/>
            </a:solidFill>
            <a:prstDash val="dash"/>
            <a:tailEnd type="none" w="med" len="med"/>
          </a:ln>
        </p:spPr>
      </p:cxnSp>
      <p:cxnSp>
        <p:nvCxnSpPr>
          <p:cNvPr id="17" name="Straight Arrow Connector 16">
            <a:extLst>
              <a:ext uri="{FF2B5EF4-FFF2-40B4-BE49-F238E27FC236}">
                <a16:creationId xmlns:a16="http://schemas.microsoft.com/office/drawing/2014/main" id="{A1445929-98CF-4575-979E-537B7F8C9008}"/>
              </a:ext>
            </a:extLst>
          </p:cNvPr>
          <p:cNvCxnSpPr/>
          <p:nvPr/>
        </p:nvCxnSpPr>
        <p:spPr>
          <a:xfrm>
            <a:off x="1333500" y="3028950"/>
            <a:ext cx="3175000" cy="0"/>
          </a:xfrm>
          <a:prstGeom prst="straightConnector1">
            <a:avLst/>
          </a:prstGeom>
          <a:ln w="19050">
            <a:solidFill>
              <a:srgbClr val="BE98F6"/>
            </a:solidFill>
            <a:prstDash val="solid"/>
            <a:tailEnd type="triangle" w="med" len="med"/>
          </a:ln>
        </p:spPr>
      </p:cxnSp>
      <p:sp>
        <p:nvSpPr>
          <p:cNvPr id="18" name="Load boot sector at 0x7C00">
            <a:extLst>
              <a:ext uri="{FF2B5EF4-FFF2-40B4-BE49-F238E27FC236}">
                <a16:creationId xmlns:a16="http://schemas.microsoft.com/office/drawing/2014/main" id="{A0771D3A-0E4A-4F9D-8924-F2A3B3F90783}"/>
              </a:ext>
            </a:extLst>
          </p:cNvPr>
          <p:cNvSpPr>
            <a:spLocks noGrp="1"/>
          </p:cNvSpPr>
          <p:nvPr/>
        </p:nvSpPr>
        <p:spPr>
          <a:xfrm>
            <a:off x="1457325" y="2752725"/>
            <a:ext cx="2927350" cy="257175"/>
          </a:xfrm>
          <a:prstGeom prst="rect">
            <a:avLst/>
          </a:prstGeom>
          <a:noFill/>
          <a:ln w="0">
            <a:noFill/>
          </a:ln>
        </p:spPr>
        <p:txBody>
          <a:bodyPr lIns="0" tIns="0" rIns="0" bIns="0" anchor="ctr"/>
          <a:lstStyle>
            <a:defPPr algn="l">
              <a:defRPr sz="1425" b="0">
                <a:solidFill>
                  <a:srgbClr val="FFFFFF"/>
                </a:solidFill>
                <a:latin typeface="Arial"/>
                <a:ea typeface="Arial"/>
                <a:cs typeface="Arial"/>
              </a:defRPr>
            </a:defPPr>
          </a:lstStyle>
          <a:p>
            <a:pPr algn="l">
              <a:defRPr sz="1425" b="0">
                <a:solidFill>
                  <a:srgbClr val="FFFFFF"/>
                </a:solidFill>
                <a:latin typeface="Arial"/>
                <a:ea typeface="Arial"/>
                <a:cs typeface="Arial"/>
              </a:defRPr>
            </a:pPr>
            <a:r>
              <a:rPr sz="1425" b="0">
                <a:solidFill>
                  <a:srgbClr val="FFFFFF"/>
                </a:solidFill>
                <a:latin typeface="Arial"/>
                <a:ea typeface="Arial"/>
                <a:cs typeface="Arial"/>
              </a:rPr>
              <a:t>Load boot sector at 0x7C00</a:t>
            </a:r>
          </a:p>
        </p:txBody>
      </p:sp>
      <p:cxnSp>
        <p:nvCxnSpPr>
          <p:cNvPr id="19" name="Straight Arrow Connector 18">
            <a:extLst>
              <a:ext uri="{FF2B5EF4-FFF2-40B4-BE49-F238E27FC236}">
                <a16:creationId xmlns:a16="http://schemas.microsoft.com/office/drawing/2014/main" id="{EB659C6E-768A-4102-8AE4-4B650248F633}"/>
              </a:ext>
            </a:extLst>
          </p:cNvPr>
          <p:cNvCxnSpPr/>
          <p:nvPr/>
        </p:nvCxnSpPr>
        <p:spPr>
          <a:xfrm>
            <a:off x="4508500" y="3543300"/>
            <a:ext cx="3175000" cy="0"/>
          </a:xfrm>
          <a:prstGeom prst="straightConnector1">
            <a:avLst/>
          </a:prstGeom>
          <a:ln w="19050">
            <a:solidFill>
              <a:srgbClr val="BE98F6"/>
            </a:solidFill>
            <a:prstDash val="solid"/>
            <a:tailEnd type="triangle" w="med" len="med"/>
          </a:ln>
        </p:spPr>
      </p:cxnSp>
      <p:sp>
        <p:nvSpPr>
          <p:cNvPr id="20" name="Load kernel, enter 32-bit mode">
            <a:extLst>
              <a:ext uri="{FF2B5EF4-FFF2-40B4-BE49-F238E27FC236}">
                <a16:creationId xmlns:a16="http://schemas.microsoft.com/office/drawing/2014/main" id="{D44B3027-A6F8-41A0-954B-56A0677E2BD1}"/>
              </a:ext>
            </a:extLst>
          </p:cNvPr>
          <p:cNvSpPr>
            <a:spLocks noGrp="1"/>
          </p:cNvSpPr>
          <p:nvPr/>
        </p:nvSpPr>
        <p:spPr>
          <a:xfrm>
            <a:off x="4632325" y="3267075"/>
            <a:ext cx="2927350" cy="257175"/>
          </a:xfrm>
          <a:prstGeom prst="rect">
            <a:avLst/>
          </a:prstGeom>
          <a:noFill/>
          <a:ln w="0">
            <a:noFill/>
          </a:ln>
        </p:spPr>
        <p:txBody>
          <a:bodyPr lIns="0" tIns="0" rIns="0" bIns="0" anchor="ctr"/>
          <a:lstStyle>
            <a:defPPr algn="l">
              <a:defRPr sz="1425" b="0">
                <a:solidFill>
                  <a:srgbClr val="FFFFFF"/>
                </a:solidFill>
                <a:latin typeface="Arial"/>
                <a:ea typeface="Arial"/>
                <a:cs typeface="Arial"/>
              </a:defRPr>
            </a:defPPr>
          </a:lstStyle>
          <a:p>
            <a:pPr algn="l">
              <a:defRPr sz="1425" b="0">
                <a:solidFill>
                  <a:srgbClr val="FFFFFF"/>
                </a:solidFill>
                <a:latin typeface="Arial"/>
                <a:ea typeface="Arial"/>
                <a:cs typeface="Arial"/>
              </a:defRPr>
            </a:pPr>
            <a:r>
              <a:rPr sz="1425" b="0">
                <a:solidFill>
                  <a:srgbClr val="FFFFFF"/>
                </a:solidFill>
                <a:latin typeface="Arial"/>
                <a:ea typeface="Arial"/>
                <a:cs typeface="Arial"/>
              </a:rPr>
              <a:t>Load kernel, enter 32-bit mode</a:t>
            </a:r>
          </a:p>
        </p:txBody>
      </p:sp>
      <p:cxnSp>
        <p:nvCxnSpPr>
          <p:cNvPr id="21" name="Straight Arrow Connector 20">
            <a:extLst>
              <a:ext uri="{FF2B5EF4-FFF2-40B4-BE49-F238E27FC236}">
                <a16:creationId xmlns:a16="http://schemas.microsoft.com/office/drawing/2014/main" id="{1DE4004B-D868-457A-8AE1-978431BAC73E}"/>
              </a:ext>
            </a:extLst>
          </p:cNvPr>
          <p:cNvCxnSpPr/>
          <p:nvPr/>
        </p:nvCxnSpPr>
        <p:spPr>
          <a:xfrm>
            <a:off x="7683500" y="4057650"/>
            <a:ext cx="3175000" cy="0"/>
          </a:xfrm>
          <a:prstGeom prst="straightConnector1">
            <a:avLst/>
          </a:prstGeom>
          <a:ln w="19050">
            <a:solidFill>
              <a:srgbClr val="BE98F6"/>
            </a:solidFill>
            <a:prstDash val="solid"/>
            <a:tailEnd type="triangle" w="med" len="med"/>
          </a:ln>
        </p:spPr>
      </p:cxnSp>
      <p:sp>
        <p:nvSpPr>
          <p:cNvPr id="22" name="Clear BSS, then call kmain()">
            <a:extLst>
              <a:ext uri="{FF2B5EF4-FFF2-40B4-BE49-F238E27FC236}">
                <a16:creationId xmlns:a16="http://schemas.microsoft.com/office/drawing/2014/main" id="{512ED2B8-079F-423E-AE8D-0C7C7EA3A123}"/>
              </a:ext>
            </a:extLst>
          </p:cNvPr>
          <p:cNvSpPr>
            <a:spLocks noGrp="1"/>
          </p:cNvSpPr>
          <p:nvPr/>
        </p:nvSpPr>
        <p:spPr>
          <a:xfrm>
            <a:off x="7807325" y="3781425"/>
            <a:ext cx="2927350" cy="257175"/>
          </a:xfrm>
          <a:prstGeom prst="rect">
            <a:avLst/>
          </a:prstGeom>
          <a:noFill/>
          <a:ln w="0">
            <a:noFill/>
          </a:ln>
        </p:spPr>
        <p:txBody>
          <a:bodyPr lIns="0" tIns="0" rIns="0" bIns="0" anchor="ctr"/>
          <a:lstStyle>
            <a:defPPr algn="l">
              <a:defRPr sz="1425" b="0">
                <a:solidFill>
                  <a:srgbClr val="FFFFFF"/>
                </a:solidFill>
                <a:latin typeface="Arial"/>
                <a:ea typeface="Arial"/>
                <a:cs typeface="Arial"/>
              </a:defRPr>
            </a:defPPr>
          </a:lstStyle>
          <a:p>
            <a:pPr algn="l">
              <a:defRPr sz="1425" b="0">
                <a:solidFill>
                  <a:srgbClr val="FFFFFF"/>
                </a:solidFill>
                <a:latin typeface="Arial"/>
                <a:ea typeface="Arial"/>
                <a:cs typeface="Arial"/>
              </a:defRPr>
            </a:pPr>
            <a:r>
              <a:rPr sz="1425" b="0">
                <a:solidFill>
                  <a:srgbClr val="FFFFFF"/>
                </a:solidFill>
                <a:latin typeface="Arial"/>
                <a:ea typeface="Arial"/>
                <a:cs typeface="Arial"/>
              </a:rPr>
              <a:t>Clear BSS, then call kmain()</a:t>
            </a:r>
          </a:p>
        </p:txBody>
      </p:sp>
      <p:sp>
        <p:nvSpPr>
          <p:cNvPr id="23" name="Execution moves from 16-bit BIOS code to the">
            <a:extLst>
              <a:ext uri="{FF2B5EF4-FFF2-40B4-BE49-F238E27FC236}">
                <a16:creationId xmlns:a16="http://schemas.microsoft.com/office/drawing/2014/main" id="{44A1E2C4-E992-4D43-9CB5-F4501AF2416E}"/>
              </a:ext>
            </a:extLst>
          </p:cNvPr>
          <p:cNvSpPr>
            <a:spLocks noGrp="1"/>
          </p:cNvSpPr>
          <p:nvPr/>
        </p:nvSpPr>
        <p:spPr>
          <a:xfrm>
            <a:off x="609600" y="5648325"/>
            <a:ext cx="10972800" cy="504825"/>
          </a:xfrm>
          <a:prstGeom prst="rect">
            <a:avLst/>
          </a:prstGeom>
          <a:noFill/>
          <a:ln w="0">
            <a:noFill/>
          </a:ln>
        </p:spPr>
        <p:txBody>
          <a:bodyPr lIns="0" tIns="0" rIns="0" bIns="0" anchor="ctr"/>
          <a:lstStyle>
            <a:defPPr algn="l">
              <a:defRPr sz="1725" b="0">
                <a:solidFill>
                  <a:srgbClr val="D5C9E6"/>
                </a:solidFill>
                <a:latin typeface="Arial"/>
                <a:ea typeface="Arial"/>
                <a:cs typeface="Arial"/>
              </a:defRPr>
            </a:defPPr>
          </a:lstStyle>
          <a:p>
            <a:pPr algn="l">
              <a:defRPr sz="1725" b="0">
                <a:solidFill>
                  <a:srgbClr val="D5C9E6"/>
                </a:solidFill>
                <a:latin typeface="Arial"/>
                <a:ea typeface="Arial"/>
                <a:cs typeface="Arial"/>
              </a:defRPr>
            </a:pPr>
            <a:r>
              <a:rPr sz="1725" b="0">
                <a:solidFill>
                  <a:srgbClr val="D5C9E6"/>
                </a:solidFill>
                <a:latin typeface="Arial"/>
                <a:ea typeface="Arial"/>
                <a:cs typeface="Arial"/>
              </a:rPr>
              <a:t>Execution moves from 16-bit BIOS code to the 32-bit C kernel.</a:t>
            </a:r>
          </a:p>
        </p:txBody>
      </p:sp>
    </p:spTree>
    <p:extLst>
      <p:ext uri="{BB962C8B-B14F-4D97-AF65-F5344CB8AC3E}">
        <p14:creationId xmlns:p14="http://schemas.microsoft.com/office/powerpoint/2010/main" val="86677000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180B2B"/>
        </a:solidFill>
        <a:effectLst/>
      </p:bgPr>
    </p:bg>
    <p:spTree>
      <p:nvGrpSpPr>
        <p:cNvPr id="1" name=""/>
        <p:cNvGrpSpPr/>
        <p:nvPr/>
      </p:nvGrpSpPr>
      <p:grpSpPr>
        <a:xfrm>
          <a:off x="0" y="0"/>
          <a:ext cx="0" cy="0"/>
          <a:chOff x="0" y="0"/>
          <a:chExt cx="0" cy="0"/>
        </a:xfrm>
      </p:grpSpPr>
      <p:sp>
        <p:nvSpPr>
          <p:cNvPr id="17" name="FOUNDATIONS">
            <a:extLst>
              <a:ext uri="{FF2B5EF4-FFF2-40B4-BE49-F238E27FC236}">
                <a16:creationId xmlns:a16="http://schemas.microsoft.com/office/drawing/2014/main" id="{EAB9F839-CA6C-49A9-8031-7C5E3525225A}"/>
              </a:ext>
            </a:extLst>
          </p:cNvPr>
          <p:cNvSpPr>
            <a:spLocks noGrp="1"/>
          </p:cNvSpPr>
          <p:nvPr/>
        </p:nvSpPr>
        <p:spPr>
          <a:xfrm>
            <a:off x="609600" y="323850"/>
            <a:ext cx="10001250" cy="228600"/>
          </a:xfrm>
          <a:prstGeom prst="rect">
            <a:avLst/>
          </a:prstGeom>
          <a:noFill/>
          <a:ln w="0">
            <a:noFill/>
          </a:ln>
        </p:spPr>
        <p:txBody>
          <a:bodyPr lIns="0" tIns="0" rIns="0" bIns="0" anchor="ctr"/>
          <a:lstStyle>
            <a:defPPr algn="l">
              <a:defRPr sz="1200" b="1">
                <a:solidFill>
                  <a:srgbClr val="BE98F6"/>
                </a:solidFill>
                <a:latin typeface="Arial"/>
                <a:ea typeface="Arial"/>
                <a:cs typeface="Arial"/>
              </a:defRPr>
            </a:defPPr>
          </a:lstStyle>
          <a:p>
            <a:pPr algn="l">
              <a:defRPr sz="1200" b="1">
                <a:solidFill>
                  <a:srgbClr val="BE98F6"/>
                </a:solidFill>
                <a:latin typeface="Arial"/>
                <a:ea typeface="Arial"/>
                <a:cs typeface="Arial"/>
              </a:defRPr>
            </a:pPr>
            <a:r>
              <a:rPr sz="1200" b="1">
                <a:solidFill>
                  <a:srgbClr val="BE98F6"/>
                </a:solidFill>
                <a:latin typeface="Arial"/>
                <a:ea typeface="Arial"/>
                <a:cs typeface="Arial"/>
              </a:rPr>
              <a:t>FOUNDATIONS</a:t>
            </a:r>
          </a:p>
        </p:txBody>
      </p:sp>
      <p:sp>
        <p:nvSpPr>
          <p:cNvPr id="2" name="Kernel initialization order">
            <a:extLst>
              <a:ext uri="{FF2B5EF4-FFF2-40B4-BE49-F238E27FC236}">
                <a16:creationId xmlns:a16="http://schemas.microsoft.com/office/drawing/2014/main" id="{CF5C399E-2E48-40B4-A89B-61F3E69169AA}"/>
              </a:ext>
            </a:extLst>
          </p:cNvPr>
          <p:cNvSpPr>
            <a:spLocks noGrp="1"/>
          </p:cNvSpPr>
          <p:nvPr/>
        </p:nvSpPr>
        <p:spPr>
          <a:xfrm>
            <a:off x="609600" y="876300"/>
            <a:ext cx="10972800" cy="952500"/>
          </a:xfrm>
          <a:prstGeom prst="rect">
            <a:avLst/>
          </a:prstGeom>
          <a:noFill/>
          <a:ln w="0">
            <a:noFill/>
          </a:ln>
        </p:spPr>
        <p:txBody>
          <a:bodyPr lIns="0" tIns="0" rIns="0" bIns="0" anchor="ctr"/>
          <a:lstStyle>
            <a:defPPr algn="l">
              <a:defRPr sz="3300" b="1">
                <a:solidFill>
                  <a:srgbClr val="FFFFFF"/>
                </a:solidFill>
                <a:latin typeface="Arial"/>
                <a:ea typeface="Arial"/>
                <a:cs typeface="Arial"/>
              </a:defRPr>
            </a:defPPr>
          </a:lstStyle>
          <a:p>
            <a:pPr algn="l">
              <a:defRPr sz="3300" b="1">
                <a:solidFill>
                  <a:srgbClr val="FFFFFF"/>
                </a:solidFill>
                <a:latin typeface="Arial"/>
                <a:ea typeface="Arial"/>
                <a:cs typeface="Arial"/>
              </a:defRPr>
            </a:pPr>
            <a:r>
              <a:rPr sz="3300" b="1">
                <a:solidFill>
                  <a:srgbClr val="FFFFFF"/>
                </a:solidFill>
                <a:latin typeface="Arial"/>
                <a:ea typeface="Arial"/>
                <a:cs typeface="Arial"/>
              </a:rPr>
              <a:t>Kernel initialization order</a:t>
            </a:r>
          </a:p>
        </p:txBody>
      </p:sp>
      <p:sp>
        <p:nvSpPr>
          <p:cNvPr id="3" name="AGENTIC OS  /  MVP TECHNICAL WALKTHROUGH">
            <a:extLst>
              <a:ext uri="{FF2B5EF4-FFF2-40B4-BE49-F238E27FC236}">
                <a16:creationId xmlns:a16="http://schemas.microsoft.com/office/drawing/2014/main" id="{E004C8EA-3AD3-4955-94B8-B0D13258D850}"/>
              </a:ext>
            </a:extLst>
          </p:cNvPr>
          <p:cNvSpPr>
            <a:spLocks noGrp="1"/>
          </p:cNvSpPr>
          <p:nvPr/>
        </p:nvSpPr>
        <p:spPr>
          <a:xfrm>
            <a:off x="609600" y="6410325"/>
            <a:ext cx="10001250" cy="190500"/>
          </a:xfrm>
          <a:prstGeom prst="rect">
            <a:avLst/>
          </a:prstGeom>
          <a:noFill/>
          <a:ln w="0">
            <a:noFill/>
          </a:ln>
        </p:spPr>
        <p:txBody>
          <a:bodyPr lIns="0" tIns="0" rIns="0" bIns="0" anchor="ctr"/>
          <a:lstStyle>
            <a:defPPr algn="l">
              <a:defRPr sz="975" b="0">
                <a:solidFill>
                  <a:srgbClr val="D5C9E6"/>
                </a:solidFill>
                <a:latin typeface="Arial"/>
                <a:ea typeface="Arial"/>
                <a:cs typeface="Arial"/>
              </a:defRPr>
            </a:defPPr>
          </a:lstStyle>
          <a:p>
            <a:pPr algn="l">
              <a:defRPr sz="975" b="0">
                <a:solidFill>
                  <a:srgbClr val="D5C9E6"/>
                </a:solidFill>
                <a:latin typeface="Arial"/>
                <a:ea typeface="Arial"/>
                <a:cs typeface="Arial"/>
              </a:defRPr>
            </a:pPr>
            <a:r>
              <a:rPr sz="975" b="0">
                <a:solidFill>
                  <a:srgbClr val="D5C9E6"/>
                </a:solidFill>
                <a:latin typeface="Arial"/>
                <a:ea typeface="Arial"/>
                <a:cs typeface="Arial"/>
              </a:rPr>
              <a:t>AGENTIC OS  /  MVP TECHNICAL WALKTHROUGH</a:t>
            </a:r>
          </a:p>
        </p:txBody>
      </p:sp>
      <p:sp>
        <p:nvSpPr>
          <p:cNvPr id="4" name="09">
            <a:extLst>
              <a:ext uri="{FF2B5EF4-FFF2-40B4-BE49-F238E27FC236}">
                <a16:creationId xmlns:a16="http://schemas.microsoft.com/office/drawing/2014/main" id="{0A24B5E5-DD1D-4DDA-B17D-232464959504}"/>
              </a:ext>
            </a:extLst>
          </p:cNvPr>
          <p:cNvSpPr>
            <a:spLocks noGrp="1"/>
          </p:cNvSpPr>
          <p:nvPr/>
        </p:nvSpPr>
        <p:spPr>
          <a:xfrm>
            <a:off x="11029950" y="6372225"/>
            <a:ext cx="552450" cy="247650"/>
          </a:xfrm>
          <a:prstGeom prst="rect">
            <a:avLst/>
          </a:prstGeom>
          <a:noFill/>
          <a:ln w="0">
            <a:noFill/>
          </a:ln>
        </p:spPr>
        <p:txBody>
          <a:bodyPr lIns="0" tIns="0" rIns="0" bIns="0" anchor="ctr"/>
          <a:lstStyle>
            <a:defPPr algn="r">
              <a:defRPr sz="1275" b="0">
                <a:solidFill>
                  <a:srgbClr val="BE98F6"/>
                </a:solidFill>
                <a:latin typeface="Arial"/>
                <a:ea typeface="Arial"/>
                <a:cs typeface="Arial"/>
              </a:defRPr>
            </a:defPPr>
          </a:lstStyle>
          <a:p>
            <a:pPr algn="r">
              <a:defRPr sz="1275" b="0">
                <a:solidFill>
                  <a:srgbClr val="BE98F6"/>
                </a:solidFill>
                <a:latin typeface="Arial"/>
                <a:ea typeface="Arial"/>
                <a:cs typeface="Arial"/>
              </a:defRPr>
            </a:pPr>
            <a:r>
              <a:rPr sz="1275" b="0">
                <a:solidFill>
                  <a:srgbClr val="BE98F6"/>
                </a:solidFill>
                <a:latin typeface="Arial"/>
                <a:ea typeface="Arial"/>
                <a:cs typeface="Arial"/>
              </a:rPr>
              <a:t>09</a:t>
            </a:r>
          </a:p>
        </p:txBody>
      </p:sp>
      <p:sp>
        <p:nvSpPr>
          <p:cNvPr id="5" name="Rectangle 4">
            <a:extLst>
              <a:ext uri="{FF2B5EF4-FFF2-40B4-BE49-F238E27FC236}">
                <a16:creationId xmlns:a16="http://schemas.microsoft.com/office/drawing/2014/main" id="{E68D621D-EA3E-4011-A5BC-BB6EE584FDB9}"/>
              </a:ext>
            </a:extLst>
          </p:cNvPr>
          <p:cNvSpPr>
            <a:spLocks noGrp="1"/>
          </p:cNvSpPr>
          <p:nvPr/>
        </p:nvSpPr>
        <p:spPr>
          <a:xfrm>
            <a:off x="609600" y="2762250"/>
            <a:ext cx="2471738" cy="1066800"/>
          </a:xfrm>
          <a:prstGeom prst="rect">
            <a:avLst/>
          </a:prstGeom>
          <a:solidFill>
            <a:srgbClr val="2A1547"/>
          </a:solidFill>
          <a:ln w="13335">
            <a:solidFill>
              <a:srgbClr val="7D43D5"/>
            </a:solidFill>
          </a:ln>
        </p:spPr>
      </p:sp>
      <p:sp>
        <p:nvSpPr>
          <p:cNvPr id="6" name="Hardware&#10;VGA + keys">
            <a:extLst>
              <a:ext uri="{FF2B5EF4-FFF2-40B4-BE49-F238E27FC236}">
                <a16:creationId xmlns:a16="http://schemas.microsoft.com/office/drawing/2014/main" id="{00A0B559-E1FB-4E4F-9D8E-93C2D69C7F44}"/>
              </a:ext>
            </a:extLst>
          </p:cNvPr>
          <p:cNvSpPr>
            <a:spLocks noGrp="1"/>
          </p:cNvSpPr>
          <p:nvPr/>
        </p:nvSpPr>
        <p:spPr>
          <a:xfrm>
            <a:off x="752475" y="2847975"/>
            <a:ext cx="2185988" cy="895350"/>
          </a:xfrm>
          <a:prstGeom prst="rect">
            <a:avLst/>
          </a:prstGeom>
          <a:noFill/>
          <a:ln w="0">
            <a:noFill/>
          </a:ln>
        </p:spPr>
        <p:txBody>
          <a:bodyPr lIns="0" tIns="0" rIns="0" bIns="0" anchor="ctr"/>
          <a:lstStyle>
            <a:defPPr algn="ctr">
              <a:defRPr sz="1800" b="1">
                <a:solidFill>
                  <a:srgbClr val="FFFFFF"/>
                </a:solidFill>
                <a:latin typeface="Arial"/>
                <a:ea typeface="Arial"/>
                <a:cs typeface="Arial"/>
              </a:defRPr>
            </a:defPPr>
          </a:lstStyle>
          <a:p>
            <a:pPr algn="ctr">
              <a:defRPr sz="1800" b="1">
                <a:solidFill>
                  <a:srgbClr val="FFFFFF"/>
                </a:solidFill>
                <a:latin typeface="Arial"/>
                <a:ea typeface="Arial"/>
                <a:cs typeface="Arial"/>
              </a:defRPr>
            </a:pPr>
            <a:r>
              <a:rPr sz="1800" b="1">
                <a:solidFill>
                  <a:srgbClr val="FFFFFF"/>
                </a:solidFill>
                <a:latin typeface="Arial"/>
                <a:ea typeface="Arial"/>
                <a:cs typeface="Arial"/>
              </a:rPr>
              <a:t>Hardware</a:t>
            </a:r>
          </a:p>
          <a:p>
            <a:pPr algn="ctr">
              <a:defRPr sz="1800" b="1">
                <a:solidFill>
                  <a:srgbClr val="FFFFFF"/>
                </a:solidFill>
                <a:latin typeface="Arial"/>
                <a:ea typeface="Arial"/>
                <a:cs typeface="Arial"/>
              </a:defRPr>
            </a:pPr>
            <a:r>
              <a:rPr sz="1800" b="1">
                <a:solidFill>
                  <a:srgbClr val="FFFFFF"/>
                </a:solidFill>
                <a:latin typeface="Arial"/>
                <a:ea typeface="Arial"/>
                <a:cs typeface="Arial"/>
              </a:rPr>
              <a:t>VGA + keys</a:t>
            </a:r>
          </a:p>
        </p:txBody>
      </p:sp>
      <p:cxnSp>
        <p:nvCxnSpPr>
          <p:cNvPr id="7" name="Straight Arrow Connector 6">
            <a:extLst>
              <a:ext uri="{FF2B5EF4-FFF2-40B4-BE49-F238E27FC236}">
                <a16:creationId xmlns:a16="http://schemas.microsoft.com/office/drawing/2014/main" id="{CD692A0A-B7F0-414E-B7C1-D9EECE850462}"/>
              </a:ext>
            </a:extLst>
          </p:cNvPr>
          <p:cNvCxnSpPr/>
          <p:nvPr/>
        </p:nvCxnSpPr>
        <p:spPr>
          <a:xfrm>
            <a:off x="3081338" y="3295650"/>
            <a:ext cx="295275" cy="0"/>
          </a:xfrm>
          <a:prstGeom prst="straightConnector1">
            <a:avLst/>
          </a:prstGeom>
          <a:ln w="19050">
            <a:solidFill>
              <a:srgbClr val="BE98F6"/>
            </a:solidFill>
            <a:prstDash val="solid"/>
            <a:tailEnd type="triangle" w="med" len="med"/>
          </a:ln>
        </p:spPr>
      </p:cxnSp>
      <p:sp>
        <p:nvSpPr>
          <p:cNvPr id="8" name="Rectangle 7">
            <a:extLst>
              <a:ext uri="{FF2B5EF4-FFF2-40B4-BE49-F238E27FC236}">
                <a16:creationId xmlns:a16="http://schemas.microsoft.com/office/drawing/2014/main" id="{64F1F617-94E8-4C82-B2D8-FB0CA2E4CAA1}"/>
              </a:ext>
            </a:extLst>
          </p:cNvPr>
          <p:cNvSpPr>
            <a:spLocks noGrp="1"/>
          </p:cNvSpPr>
          <p:nvPr/>
        </p:nvSpPr>
        <p:spPr>
          <a:xfrm>
            <a:off x="3443288" y="2762250"/>
            <a:ext cx="2471738" cy="1066800"/>
          </a:xfrm>
          <a:prstGeom prst="rect">
            <a:avLst/>
          </a:prstGeom>
          <a:solidFill>
            <a:srgbClr val="2A1547"/>
          </a:solidFill>
          <a:ln w="13335">
            <a:solidFill>
              <a:srgbClr val="7D43D5"/>
            </a:solidFill>
          </a:ln>
        </p:spPr>
      </p:sp>
      <p:sp>
        <p:nvSpPr>
          <p:cNvPr id="9" name="Memory&#10;heap + pages">
            <a:extLst>
              <a:ext uri="{FF2B5EF4-FFF2-40B4-BE49-F238E27FC236}">
                <a16:creationId xmlns:a16="http://schemas.microsoft.com/office/drawing/2014/main" id="{FC9359F6-9810-40E3-9F8C-5A4443B7E338}"/>
              </a:ext>
            </a:extLst>
          </p:cNvPr>
          <p:cNvSpPr>
            <a:spLocks noGrp="1"/>
          </p:cNvSpPr>
          <p:nvPr/>
        </p:nvSpPr>
        <p:spPr>
          <a:xfrm>
            <a:off x="3586163" y="2847975"/>
            <a:ext cx="2185988" cy="895350"/>
          </a:xfrm>
          <a:prstGeom prst="rect">
            <a:avLst/>
          </a:prstGeom>
          <a:noFill/>
          <a:ln w="0">
            <a:noFill/>
          </a:ln>
        </p:spPr>
        <p:txBody>
          <a:bodyPr lIns="0" tIns="0" rIns="0" bIns="0" anchor="ctr"/>
          <a:lstStyle>
            <a:defPPr algn="ctr">
              <a:defRPr sz="1800" b="1">
                <a:solidFill>
                  <a:srgbClr val="FFFFFF"/>
                </a:solidFill>
                <a:latin typeface="Arial"/>
                <a:ea typeface="Arial"/>
                <a:cs typeface="Arial"/>
              </a:defRPr>
            </a:defPPr>
          </a:lstStyle>
          <a:p>
            <a:pPr algn="ctr">
              <a:defRPr sz="1800" b="1">
                <a:solidFill>
                  <a:srgbClr val="FFFFFF"/>
                </a:solidFill>
                <a:latin typeface="Arial"/>
                <a:ea typeface="Arial"/>
                <a:cs typeface="Arial"/>
              </a:defRPr>
            </a:pPr>
            <a:r>
              <a:rPr sz="1800" b="1">
                <a:solidFill>
                  <a:srgbClr val="FFFFFF"/>
                </a:solidFill>
                <a:latin typeface="Arial"/>
                <a:ea typeface="Arial"/>
                <a:cs typeface="Arial"/>
              </a:rPr>
              <a:t>Memory</a:t>
            </a:r>
          </a:p>
          <a:p>
            <a:pPr algn="ctr">
              <a:defRPr sz="1800" b="1">
                <a:solidFill>
                  <a:srgbClr val="FFFFFF"/>
                </a:solidFill>
                <a:latin typeface="Arial"/>
                <a:ea typeface="Arial"/>
                <a:cs typeface="Arial"/>
              </a:defRPr>
            </a:pPr>
            <a:r>
              <a:rPr sz="1800" b="1">
                <a:solidFill>
                  <a:srgbClr val="FFFFFF"/>
                </a:solidFill>
                <a:latin typeface="Arial"/>
                <a:ea typeface="Arial"/>
                <a:cs typeface="Arial"/>
              </a:rPr>
              <a:t>heap + pages</a:t>
            </a:r>
          </a:p>
        </p:txBody>
      </p:sp>
      <p:cxnSp>
        <p:nvCxnSpPr>
          <p:cNvPr id="10" name="Straight Arrow Connector 9">
            <a:extLst>
              <a:ext uri="{FF2B5EF4-FFF2-40B4-BE49-F238E27FC236}">
                <a16:creationId xmlns:a16="http://schemas.microsoft.com/office/drawing/2014/main" id="{D001B65F-DC18-4568-A8B1-1CF4DE2432F5}"/>
              </a:ext>
            </a:extLst>
          </p:cNvPr>
          <p:cNvCxnSpPr/>
          <p:nvPr/>
        </p:nvCxnSpPr>
        <p:spPr>
          <a:xfrm>
            <a:off x="5915025" y="3295650"/>
            <a:ext cx="295275" cy="0"/>
          </a:xfrm>
          <a:prstGeom prst="straightConnector1">
            <a:avLst/>
          </a:prstGeom>
          <a:ln w="19050">
            <a:solidFill>
              <a:srgbClr val="BE98F6"/>
            </a:solidFill>
            <a:prstDash val="solid"/>
            <a:tailEnd type="triangle" w="med" len="med"/>
          </a:ln>
        </p:spPr>
      </p:cxnSp>
      <p:sp>
        <p:nvSpPr>
          <p:cNvPr id="11" name="Rectangle 10">
            <a:extLst>
              <a:ext uri="{FF2B5EF4-FFF2-40B4-BE49-F238E27FC236}">
                <a16:creationId xmlns:a16="http://schemas.microsoft.com/office/drawing/2014/main" id="{DCBB063D-E473-49CB-AF01-27243DAEE9E7}"/>
              </a:ext>
            </a:extLst>
          </p:cNvPr>
          <p:cNvSpPr>
            <a:spLocks noGrp="1"/>
          </p:cNvSpPr>
          <p:nvPr/>
        </p:nvSpPr>
        <p:spPr>
          <a:xfrm>
            <a:off x="6276975" y="2762250"/>
            <a:ext cx="2471738" cy="1066800"/>
          </a:xfrm>
          <a:prstGeom prst="rect">
            <a:avLst/>
          </a:prstGeom>
          <a:solidFill>
            <a:srgbClr val="2A1547"/>
          </a:solidFill>
          <a:ln w="13335">
            <a:solidFill>
              <a:srgbClr val="7D43D5"/>
            </a:solidFill>
          </a:ln>
        </p:spPr>
      </p:sp>
      <p:sp>
        <p:nvSpPr>
          <p:cNvPr id="12" name="Interrupts&#10;GDT + IDT">
            <a:extLst>
              <a:ext uri="{FF2B5EF4-FFF2-40B4-BE49-F238E27FC236}">
                <a16:creationId xmlns:a16="http://schemas.microsoft.com/office/drawing/2014/main" id="{B4E6465F-300E-4D9E-B874-3DFB17893F5D}"/>
              </a:ext>
            </a:extLst>
          </p:cNvPr>
          <p:cNvSpPr>
            <a:spLocks noGrp="1"/>
          </p:cNvSpPr>
          <p:nvPr/>
        </p:nvSpPr>
        <p:spPr>
          <a:xfrm>
            <a:off x="6419850" y="2847975"/>
            <a:ext cx="2185988" cy="895350"/>
          </a:xfrm>
          <a:prstGeom prst="rect">
            <a:avLst/>
          </a:prstGeom>
          <a:noFill/>
          <a:ln w="0">
            <a:noFill/>
          </a:ln>
        </p:spPr>
        <p:txBody>
          <a:bodyPr lIns="0" tIns="0" rIns="0" bIns="0" anchor="ctr"/>
          <a:lstStyle>
            <a:defPPr algn="ctr">
              <a:defRPr sz="1800" b="1">
                <a:solidFill>
                  <a:srgbClr val="FFFFFF"/>
                </a:solidFill>
                <a:latin typeface="Arial"/>
                <a:ea typeface="Arial"/>
                <a:cs typeface="Arial"/>
              </a:defRPr>
            </a:defPPr>
          </a:lstStyle>
          <a:p>
            <a:pPr algn="ctr">
              <a:defRPr sz="1800" b="1">
                <a:solidFill>
                  <a:srgbClr val="FFFFFF"/>
                </a:solidFill>
                <a:latin typeface="Arial"/>
                <a:ea typeface="Arial"/>
                <a:cs typeface="Arial"/>
              </a:defRPr>
            </a:pPr>
            <a:r>
              <a:rPr sz="1800" b="1">
                <a:solidFill>
                  <a:srgbClr val="FFFFFF"/>
                </a:solidFill>
                <a:latin typeface="Arial"/>
                <a:ea typeface="Arial"/>
                <a:cs typeface="Arial"/>
              </a:rPr>
              <a:t>Interrupts</a:t>
            </a:r>
          </a:p>
          <a:p>
            <a:pPr algn="ctr">
              <a:defRPr sz="1800" b="1">
                <a:solidFill>
                  <a:srgbClr val="FFFFFF"/>
                </a:solidFill>
                <a:latin typeface="Arial"/>
                <a:ea typeface="Arial"/>
                <a:cs typeface="Arial"/>
              </a:defRPr>
            </a:pPr>
            <a:r>
              <a:rPr sz="1800" b="1">
                <a:solidFill>
                  <a:srgbClr val="FFFFFF"/>
                </a:solidFill>
                <a:latin typeface="Arial"/>
                <a:ea typeface="Arial"/>
                <a:cs typeface="Arial"/>
              </a:rPr>
              <a:t>GDT + IDT</a:t>
            </a:r>
          </a:p>
        </p:txBody>
      </p:sp>
      <p:cxnSp>
        <p:nvCxnSpPr>
          <p:cNvPr id="13" name="Straight Arrow Connector 12">
            <a:extLst>
              <a:ext uri="{FF2B5EF4-FFF2-40B4-BE49-F238E27FC236}">
                <a16:creationId xmlns:a16="http://schemas.microsoft.com/office/drawing/2014/main" id="{25746364-7D34-4976-918C-783B68984F31}"/>
              </a:ext>
            </a:extLst>
          </p:cNvPr>
          <p:cNvCxnSpPr/>
          <p:nvPr/>
        </p:nvCxnSpPr>
        <p:spPr>
          <a:xfrm>
            <a:off x="8748713" y="3295650"/>
            <a:ext cx="295275" cy="0"/>
          </a:xfrm>
          <a:prstGeom prst="straightConnector1">
            <a:avLst/>
          </a:prstGeom>
          <a:ln w="19050">
            <a:solidFill>
              <a:srgbClr val="BE98F6"/>
            </a:solidFill>
            <a:prstDash val="solid"/>
            <a:tailEnd type="triangle" w="med" len="med"/>
          </a:ln>
        </p:spPr>
      </p:cxnSp>
      <p:sp>
        <p:nvSpPr>
          <p:cNvPr id="14" name="Rectangle 13">
            <a:extLst>
              <a:ext uri="{FF2B5EF4-FFF2-40B4-BE49-F238E27FC236}">
                <a16:creationId xmlns:a16="http://schemas.microsoft.com/office/drawing/2014/main" id="{93A7D259-289A-49F6-8328-3E9E99B93FDB}"/>
              </a:ext>
            </a:extLst>
          </p:cNvPr>
          <p:cNvSpPr>
            <a:spLocks noGrp="1"/>
          </p:cNvSpPr>
          <p:nvPr/>
        </p:nvSpPr>
        <p:spPr>
          <a:xfrm>
            <a:off x="9110663" y="2762250"/>
            <a:ext cx="2471738" cy="1066800"/>
          </a:xfrm>
          <a:prstGeom prst="rect">
            <a:avLst/>
          </a:prstGeom>
          <a:solidFill>
            <a:srgbClr val="2A1547"/>
          </a:solidFill>
          <a:ln w="13335">
            <a:solidFill>
              <a:srgbClr val="7D43D5"/>
            </a:solidFill>
          </a:ln>
        </p:spPr>
      </p:sp>
      <p:sp>
        <p:nvSpPr>
          <p:cNvPr id="15" name="Scheduler&#10;state setup">
            <a:extLst>
              <a:ext uri="{FF2B5EF4-FFF2-40B4-BE49-F238E27FC236}">
                <a16:creationId xmlns:a16="http://schemas.microsoft.com/office/drawing/2014/main" id="{A5B7CEAF-7EA6-4F76-9076-CBA71D2963A7}"/>
              </a:ext>
            </a:extLst>
          </p:cNvPr>
          <p:cNvSpPr>
            <a:spLocks noGrp="1"/>
          </p:cNvSpPr>
          <p:nvPr/>
        </p:nvSpPr>
        <p:spPr>
          <a:xfrm>
            <a:off x="9253538" y="2847975"/>
            <a:ext cx="2185988" cy="895350"/>
          </a:xfrm>
          <a:prstGeom prst="rect">
            <a:avLst/>
          </a:prstGeom>
          <a:noFill/>
          <a:ln w="0">
            <a:noFill/>
          </a:ln>
        </p:spPr>
        <p:txBody>
          <a:bodyPr lIns="0" tIns="0" rIns="0" bIns="0" anchor="ctr"/>
          <a:lstStyle>
            <a:defPPr algn="ctr">
              <a:defRPr sz="1800" b="1">
                <a:solidFill>
                  <a:srgbClr val="FFFFFF"/>
                </a:solidFill>
                <a:latin typeface="Arial"/>
                <a:ea typeface="Arial"/>
                <a:cs typeface="Arial"/>
              </a:defRPr>
            </a:defPPr>
          </a:lstStyle>
          <a:p>
            <a:pPr algn="ctr">
              <a:defRPr sz="1800" b="1">
                <a:solidFill>
                  <a:srgbClr val="FFFFFF"/>
                </a:solidFill>
                <a:latin typeface="Arial"/>
                <a:ea typeface="Arial"/>
                <a:cs typeface="Arial"/>
              </a:defRPr>
            </a:pPr>
            <a:r>
              <a:rPr sz="1800" b="1">
                <a:solidFill>
                  <a:srgbClr val="FFFFFF"/>
                </a:solidFill>
                <a:latin typeface="Arial"/>
                <a:ea typeface="Arial"/>
                <a:cs typeface="Arial"/>
              </a:rPr>
              <a:t>Scheduler</a:t>
            </a:r>
          </a:p>
          <a:p>
            <a:pPr algn="ctr">
              <a:defRPr sz="1800" b="1">
                <a:solidFill>
                  <a:srgbClr val="FFFFFF"/>
                </a:solidFill>
                <a:latin typeface="Arial"/>
                <a:ea typeface="Arial"/>
                <a:cs typeface="Arial"/>
              </a:defRPr>
            </a:pPr>
            <a:r>
              <a:rPr sz="1800" b="1">
                <a:solidFill>
                  <a:srgbClr val="FFFFFF"/>
                </a:solidFill>
                <a:latin typeface="Arial"/>
                <a:ea typeface="Arial"/>
                <a:cs typeface="Arial"/>
              </a:rPr>
              <a:t>state setup</a:t>
            </a:r>
          </a:p>
        </p:txBody>
      </p:sp>
      <p:sp>
        <p:nvSpPr>
          <p:cNvPr id="16" name="Then: login, network initialization, RAMFS i">
            <a:extLst>
              <a:ext uri="{FF2B5EF4-FFF2-40B4-BE49-F238E27FC236}">
                <a16:creationId xmlns:a16="http://schemas.microsoft.com/office/drawing/2014/main" id="{49043792-F7CD-4CB1-B633-9AABD7E53041}"/>
              </a:ext>
            </a:extLst>
          </p:cNvPr>
          <p:cNvSpPr>
            <a:spLocks noGrp="1"/>
          </p:cNvSpPr>
          <p:nvPr/>
        </p:nvSpPr>
        <p:spPr>
          <a:xfrm>
            <a:off x="857250" y="4495800"/>
            <a:ext cx="10477500" cy="762000"/>
          </a:xfrm>
          <a:prstGeom prst="rect">
            <a:avLst/>
          </a:prstGeom>
          <a:noFill/>
          <a:ln w="0">
            <a:noFill/>
          </a:ln>
        </p:spPr>
        <p:txBody>
          <a:bodyPr lIns="0" tIns="0" rIns="0" bIns="0" anchor="ctr"/>
          <a:lstStyle>
            <a:defPPr algn="l">
              <a:defRPr sz="2250" b="1">
                <a:solidFill>
                  <a:srgbClr val="BE98F6"/>
                </a:solidFill>
                <a:latin typeface="Arial"/>
                <a:ea typeface="Arial"/>
                <a:cs typeface="Arial"/>
              </a:defRPr>
            </a:defPPr>
          </a:lstStyle>
          <a:p>
            <a:pPr algn="l">
              <a:defRPr sz="2250" b="1">
                <a:solidFill>
                  <a:srgbClr val="BE98F6"/>
                </a:solidFill>
                <a:latin typeface="Arial"/>
                <a:ea typeface="Arial"/>
                <a:cs typeface="Arial"/>
              </a:defRPr>
            </a:pPr>
            <a:r>
              <a:rPr sz="2250" b="1">
                <a:solidFill>
                  <a:srgbClr val="BE98F6"/>
                </a:solidFill>
                <a:latin typeface="Arial"/>
                <a:ea typeface="Arial"/>
                <a:cs typeface="Arial"/>
              </a:rPr>
              <a:t>Then: login, network initialization, RAMFS initialization and shell</a:t>
            </a:r>
          </a:p>
        </p:txBody>
      </p:sp>
    </p:spTree>
    <p:extLst>
      <p:ext uri="{BB962C8B-B14F-4D97-AF65-F5344CB8AC3E}">
        <p14:creationId xmlns:p14="http://schemas.microsoft.com/office/powerpoint/2010/main" val="205508871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8" name="FOUNDATIONS">
            <a:extLst>
              <a:ext uri="{FF2B5EF4-FFF2-40B4-BE49-F238E27FC236}">
                <a16:creationId xmlns:a16="http://schemas.microsoft.com/office/drawing/2014/main" id="{22FB02FC-03F3-46DF-AB5D-0135C4C01D71}"/>
              </a:ext>
            </a:extLst>
          </p:cNvPr>
          <p:cNvSpPr>
            <a:spLocks noGrp="1"/>
          </p:cNvSpPr>
          <p:nvPr/>
        </p:nvSpPr>
        <p:spPr>
          <a:xfrm>
            <a:off x="609600" y="323850"/>
            <a:ext cx="10001250" cy="228600"/>
          </a:xfrm>
          <a:prstGeom prst="rect">
            <a:avLst/>
          </a:prstGeom>
          <a:noFill/>
          <a:ln w="0">
            <a:noFill/>
          </a:ln>
        </p:spPr>
        <p:txBody>
          <a:bodyPr lIns="0" tIns="0" rIns="0" bIns="0" anchor="ctr"/>
          <a:lstStyle>
            <a:defPPr algn="l">
              <a:defRPr sz="1200" b="1">
                <a:solidFill>
                  <a:srgbClr val="7D43D5"/>
                </a:solidFill>
                <a:latin typeface="Arial"/>
                <a:ea typeface="Arial"/>
                <a:cs typeface="Arial"/>
              </a:defRPr>
            </a:defPPr>
          </a:lstStyle>
          <a:p>
            <a:pPr algn="l">
              <a:defRPr sz="1200" b="1">
                <a:solidFill>
                  <a:srgbClr val="7D43D5"/>
                </a:solidFill>
                <a:latin typeface="Arial"/>
                <a:ea typeface="Arial"/>
                <a:cs typeface="Arial"/>
              </a:defRPr>
            </a:pPr>
            <a:r>
              <a:rPr sz="1200" b="1">
                <a:solidFill>
                  <a:srgbClr val="7D43D5"/>
                </a:solidFill>
                <a:latin typeface="Arial"/>
                <a:ea typeface="Arial"/>
                <a:cs typeface="Arial"/>
              </a:rPr>
              <a:t>FOUNDATIONS</a:t>
            </a:r>
          </a:p>
        </p:txBody>
      </p:sp>
      <p:sp>
        <p:nvSpPr>
          <p:cNvPr id="2" name="Memory layout">
            <a:extLst>
              <a:ext uri="{FF2B5EF4-FFF2-40B4-BE49-F238E27FC236}">
                <a16:creationId xmlns:a16="http://schemas.microsoft.com/office/drawing/2014/main" id="{3C5FA027-79C5-4D13-B043-8259CF96476C}"/>
              </a:ext>
            </a:extLst>
          </p:cNvPr>
          <p:cNvSpPr>
            <a:spLocks noGrp="1"/>
          </p:cNvSpPr>
          <p:nvPr/>
        </p:nvSpPr>
        <p:spPr>
          <a:xfrm>
            <a:off x="609600" y="876300"/>
            <a:ext cx="10972800" cy="952500"/>
          </a:xfrm>
          <a:prstGeom prst="rect">
            <a:avLst/>
          </a:prstGeom>
          <a:noFill/>
          <a:ln w="0">
            <a:noFill/>
          </a:ln>
        </p:spPr>
        <p:txBody>
          <a:bodyPr lIns="0" tIns="0" rIns="0" bIns="0" anchor="ctr"/>
          <a:lstStyle>
            <a:defPPr algn="l">
              <a:defRPr sz="3300" b="1">
                <a:solidFill>
                  <a:srgbClr val="251139"/>
                </a:solidFill>
                <a:latin typeface="Arial"/>
                <a:ea typeface="Arial"/>
                <a:cs typeface="Arial"/>
              </a:defRPr>
            </a:defPPr>
          </a:lstStyle>
          <a:p>
            <a:pPr algn="l">
              <a:defRPr sz="3300" b="1">
                <a:solidFill>
                  <a:srgbClr val="251139"/>
                </a:solidFill>
                <a:latin typeface="Arial"/>
                <a:ea typeface="Arial"/>
                <a:cs typeface="Arial"/>
              </a:defRPr>
            </a:pPr>
            <a:r>
              <a:rPr sz="3300" b="1">
                <a:solidFill>
                  <a:srgbClr val="251139"/>
                </a:solidFill>
                <a:latin typeface="Arial"/>
                <a:ea typeface="Arial"/>
                <a:cs typeface="Arial"/>
              </a:rPr>
              <a:t>Memory layout</a:t>
            </a:r>
          </a:p>
        </p:txBody>
      </p:sp>
      <p:sp>
        <p:nvSpPr>
          <p:cNvPr id="3" name="AGENTIC OS  /  MVP TECHNICAL WALKTHROUGH">
            <a:extLst>
              <a:ext uri="{FF2B5EF4-FFF2-40B4-BE49-F238E27FC236}">
                <a16:creationId xmlns:a16="http://schemas.microsoft.com/office/drawing/2014/main" id="{326CFAEA-DF94-41F0-B46B-AFB762656348}"/>
              </a:ext>
            </a:extLst>
          </p:cNvPr>
          <p:cNvSpPr>
            <a:spLocks noGrp="1"/>
          </p:cNvSpPr>
          <p:nvPr/>
        </p:nvSpPr>
        <p:spPr>
          <a:xfrm>
            <a:off x="609600" y="6410325"/>
            <a:ext cx="10001250" cy="190500"/>
          </a:xfrm>
          <a:prstGeom prst="rect">
            <a:avLst/>
          </a:prstGeom>
          <a:noFill/>
          <a:ln w="0">
            <a:noFill/>
          </a:ln>
        </p:spPr>
        <p:txBody>
          <a:bodyPr lIns="0" tIns="0" rIns="0" bIns="0" anchor="ctr"/>
          <a:lstStyle>
            <a:defPPr algn="l">
              <a:defRPr sz="975" b="0">
                <a:solidFill>
                  <a:srgbClr val="7D43D5"/>
                </a:solidFill>
                <a:latin typeface="Arial"/>
                <a:ea typeface="Arial"/>
                <a:cs typeface="Arial"/>
              </a:defRPr>
            </a:defPPr>
          </a:lstStyle>
          <a:p>
            <a:pPr algn="l">
              <a:defRPr sz="975" b="0">
                <a:solidFill>
                  <a:srgbClr val="7D43D5"/>
                </a:solidFill>
                <a:latin typeface="Arial"/>
                <a:ea typeface="Arial"/>
                <a:cs typeface="Arial"/>
              </a:defRPr>
            </a:pPr>
            <a:r>
              <a:rPr sz="975" b="0">
                <a:solidFill>
                  <a:srgbClr val="7D43D5"/>
                </a:solidFill>
                <a:latin typeface="Arial"/>
                <a:ea typeface="Arial"/>
                <a:cs typeface="Arial"/>
              </a:rPr>
              <a:t>AGENTIC OS  /  MVP TECHNICAL WALKTHROUGH</a:t>
            </a:r>
          </a:p>
        </p:txBody>
      </p:sp>
      <p:sp>
        <p:nvSpPr>
          <p:cNvPr id="4" name="10">
            <a:extLst>
              <a:ext uri="{FF2B5EF4-FFF2-40B4-BE49-F238E27FC236}">
                <a16:creationId xmlns:a16="http://schemas.microsoft.com/office/drawing/2014/main" id="{99BC1B24-6AD0-44D0-94E7-051B40C924D3}"/>
              </a:ext>
            </a:extLst>
          </p:cNvPr>
          <p:cNvSpPr>
            <a:spLocks noGrp="1"/>
          </p:cNvSpPr>
          <p:nvPr/>
        </p:nvSpPr>
        <p:spPr>
          <a:xfrm>
            <a:off x="11029950" y="6372225"/>
            <a:ext cx="552450" cy="247650"/>
          </a:xfrm>
          <a:prstGeom prst="rect">
            <a:avLst/>
          </a:prstGeom>
          <a:noFill/>
          <a:ln w="0">
            <a:noFill/>
          </a:ln>
        </p:spPr>
        <p:txBody>
          <a:bodyPr lIns="0" tIns="0" rIns="0" bIns="0" anchor="ctr"/>
          <a:lstStyle>
            <a:defPPr algn="r">
              <a:defRPr sz="1275" b="0">
                <a:solidFill>
                  <a:srgbClr val="7D43D5"/>
                </a:solidFill>
                <a:latin typeface="Arial"/>
                <a:ea typeface="Arial"/>
                <a:cs typeface="Arial"/>
              </a:defRPr>
            </a:defPPr>
          </a:lstStyle>
          <a:p>
            <a:pPr algn="r">
              <a:defRPr sz="1275" b="0">
                <a:solidFill>
                  <a:srgbClr val="7D43D5"/>
                </a:solidFill>
                <a:latin typeface="Arial"/>
                <a:ea typeface="Arial"/>
                <a:cs typeface="Arial"/>
              </a:defRPr>
            </a:pPr>
            <a:r>
              <a:rPr sz="1275" b="0">
                <a:solidFill>
                  <a:srgbClr val="7D43D5"/>
                </a:solidFill>
                <a:latin typeface="Arial"/>
                <a:ea typeface="Arial"/>
                <a:cs typeface="Arial"/>
              </a:rPr>
              <a:t>10</a:t>
            </a:r>
          </a:p>
        </p:txBody>
      </p:sp>
      <p:sp>
        <p:nvSpPr>
          <p:cNvPr id="5" name="Rectangle 4">
            <a:extLst>
              <a:ext uri="{FF2B5EF4-FFF2-40B4-BE49-F238E27FC236}">
                <a16:creationId xmlns:a16="http://schemas.microsoft.com/office/drawing/2014/main" id="{8A71DC74-0B47-43D5-BA28-1555F60B90ED}"/>
              </a:ext>
            </a:extLst>
          </p:cNvPr>
          <p:cNvSpPr>
            <a:spLocks noGrp="1"/>
          </p:cNvSpPr>
          <p:nvPr/>
        </p:nvSpPr>
        <p:spPr>
          <a:xfrm>
            <a:off x="609600" y="2057400"/>
            <a:ext cx="2667000" cy="619125"/>
          </a:xfrm>
          <a:prstGeom prst="rect">
            <a:avLst/>
          </a:prstGeom>
          <a:solidFill>
            <a:srgbClr val="F2EBFC"/>
          </a:solidFill>
          <a:ln w="13335">
            <a:solidFill>
              <a:srgbClr val="7D43D5"/>
            </a:solidFill>
          </a:ln>
        </p:spPr>
      </p:sp>
      <p:sp>
        <p:nvSpPr>
          <p:cNvPr id="6" name="0x00010000">
            <a:extLst>
              <a:ext uri="{FF2B5EF4-FFF2-40B4-BE49-F238E27FC236}">
                <a16:creationId xmlns:a16="http://schemas.microsoft.com/office/drawing/2014/main" id="{0BB6136A-56F3-4308-98D7-408B1F0A3E57}"/>
              </a:ext>
            </a:extLst>
          </p:cNvPr>
          <p:cNvSpPr>
            <a:spLocks noGrp="1"/>
          </p:cNvSpPr>
          <p:nvPr/>
        </p:nvSpPr>
        <p:spPr>
          <a:xfrm>
            <a:off x="752475" y="2143125"/>
            <a:ext cx="2381250" cy="447675"/>
          </a:xfrm>
          <a:prstGeom prst="rect">
            <a:avLst/>
          </a:prstGeom>
          <a:noFill/>
          <a:ln w="0">
            <a:noFill/>
          </a:ln>
        </p:spPr>
        <p:txBody>
          <a:bodyPr lIns="0" tIns="0" rIns="0" bIns="0" anchor="ctr"/>
          <a:lstStyle>
            <a:defPPr algn="ctr">
              <a:defRPr sz="1800" b="1">
                <a:solidFill>
                  <a:srgbClr val="251139"/>
                </a:solidFill>
                <a:latin typeface="Arial"/>
                <a:ea typeface="Arial"/>
                <a:cs typeface="Arial"/>
              </a:defRPr>
            </a:defPPr>
          </a:lstStyle>
          <a:p>
            <a:pPr algn="ctr">
              <a:defRPr sz="1800" b="1">
                <a:solidFill>
                  <a:srgbClr val="251139"/>
                </a:solidFill>
                <a:latin typeface="Arial"/>
                <a:ea typeface="Arial"/>
                <a:cs typeface="Arial"/>
              </a:defRPr>
            </a:pPr>
            <a:r>
              <a:rPr sz="1800" b="1">
                <a:solidFill>
                  <a:srgbClr val="251139"/>
                </a:solidFill>
                <a:latin typeface="Arial"/>
                <a:ea typeface="Arial"/>
                <a:cs typeface="Arial"/>
              </a:rPr>
              <a:t>0x00010000</a:t>
            </a:r>
          </a:p>
        </p:txBody>
      </p:sp>
      <p:sp>
        <p:nvSpPr>
          <p:cNvPr id="7" name="Kernel code, data and BSS">
            <a:extLst>
              <a:ext uri="{FF2B5EF4-FFF2-40B4-BE49-F238E27FC236}">
                <a16:creationId xmlns:a16="http://schemas.microsoft.com/office/drawing/2014/main" id="{727497CD-478B-4E73-AA0E-8E39596CFE5B}"/>
              </a:ext>
            </a:extLst>
          </p:cNvPr>
          <p:cNvSpPr>
            <a:spLocks noGrp="1"/>
          </p:cNvSpPr>
          <p:nvPr/>
        </p:nvSpPr>
        <p:spPr>
          <a:xfrm>
            <a:off x="3676650" y="2057400"/>
            <a:ext cx="7572375" cy="619125"/>
          </a:xfrm>
          <a:prstGeom prst="rect">
            <a:avLst/>
          </a:prstGeom>
          <a:noFill/>
          <a:ln w="0">
            <a:noFill/>
          </a:ln>
        </p:spPr>
        <p:txBody>
          <a:bodyPr lIns="0" tIns="0" rIns="0" bIns="0" anchor="ctr"/>
          <a:lstStyle>
            <a:defPPr algn="l">
              <a:defRPr sz="2175" b="0">
                <a:solidFill>
                  <a:srgbClr val="251139"/>
                </a:solidFill>
                <a:latin typeface="Arial"/>
                <a:ea typeface="Arial"/>
                <a:cs typeface="Arial"/>
              </a:defRPr>
            </a:defPPr>
          </a:lstStyle>
          <a:p>
            <a:pPr algn="l">
              <a:defRPr sz="2175" b="0">
                <a:solidFill>
                  <a:srgbClr val="251139"/>
                </a:solidFill>
                <a:latin typeface="Arial"/>
                <a:ea typeface="Arial"/>
                <a:cs typeface="Arial"/>
              </a:defRPr>
            </a:pPr>
            <a:r>
              <a:rPr sz="2175" b="0">
                <a:solidFill>
                  <a:srgbClr val="251139"/>
                </a:solidFill>
                <a:latin typeface="Arial"/>
                <a:ea typeface="Arial"/>
                <a:cs typeface="Arial"/>
              </a:rPr>
              <a:t>Kernel code, data and BSS</a:t>
            </a:r>
          </a:p>
        </p:txBody>
      </p:sp>
      <p:sp>
        <p:nvSpPr>
          <p:cNvPr id="8" name="Rectangle 7">
            <a:extLst>
              <a:ext uri="{FF2B5EF4-FFF2-40B4-BE49-F238E27FC236}">
                <a16:creationId xmlns:a16="http://schemas.microsoft.com/office/drawing/2014/main" id="{2EDE4875-0F90-4A42-AD36-84DAE1B6E1D2}"/>
              </a:ext>
            </a:extLst>
          </p:cNvPr>
          <p:cNvSpPr>
            <a:spLocks noGrp="1"/>
          </p:cNvSpPr>
          <p:nvPr/>
        </p:nvSpPr>
        <p:spPr>
          <a:xfrm>
            <a:off x="609600" y="2876550"/>
            <a:ext cx="2667000" cy="619125"/>
          </a:xfrm>
          <a:prstGeom prst="rect">
            <a:avLst/>
          </a:prstGeom>
          <a:solidFill>
            <a:srgbClr val="F2EBFC"/>
          </a:solidFill>
          <a:ln w="13335">
            <a:solidFill>
              <a:srgbClr val="7D43D5"/>
            </a:solidFill>
          </a:ln>
        </p:spPr>
      </p:sp>
      <p:sp>
        <p:nvSpPr>
          <p:cNvPr id="9" name="0x000B8000">
            <a:extLst>
              <a:ext uri="{FF2B5EF4-FFF2-40B4-BE49-F238E27FC236}">
                <a16:creationId xmlns:a16="http://schemas.microsoft.com/office/drawing/2014/main" id="{D99BB8AA-78AE-4CE6-9044-A807909FEAD0}"/>
              </a:ext>
            </a:extLst>
          </p:cNvPr>
          <p:cNvSpPr>
            <a:spLocks noGrp="1"/>
          </p:cNvSpPr>
          <p:nvPr/>
        </p:nvSpPr>
        <p:spPr>
          <a:xfrm>
            <a:off x="752475" y="2962275"/>
            <a:ext cx="2381250" cy="447675"/>
          </a:xfrm>
          <a:prstGeom prst="rect">
            <a:avLst/>
          </a:prstGeom>
          <a:noFill/>
          <a:ln w="0">
            <a:noFill/>
          </a:ln>
        </p:spPr>
        <p:txBody>
          <a:bodyPr lIns="0" tIns="0" rIns="0" bIns="0" anchor="ctr"/>
          <a:lstStyle>
            <a:defPPr algn="ctr">
              <a:defRPr sz="1800" b="1">
                <a:solidFill>
                  <a:srgbClr val="251139"/>
                </a:solidFill>
                <a:latin typeface="Arial"/>
                <a:ea typeface="Arial"/>
                <a:cs typeface="Arial"/>
              </a:defRPr>
            </a:defPPr>
          </a:lstStyle>
          <a:p>
            <a:pPr algn="ctr">
              <a:defRPr sz="1800" b="1">
                <a:solidFill>
                  <a:srgbClr val="251139"/>
                </a:solidFill>
                <a:latin typeface="Arial"/>
                <a:ea typeface="Arial"/>
                <a:cs typeface="Arial"/>
              </a:defRPr>
            </a:pPr>
            <a:r>
              <a:rPr sz="1800" b="1">
                <a:solidFill>
                  <a:srgbClr val="251139"/>
                </a:solidFill>
                <a:latin typeface="Arial"/>
                <a:ea typeface="Arial"/>
                <a:cs typeface="Arial"/>
              </a:rPr>
              <a:t>0x000B8000</a:t>
            </a:r>
          </a:p>
        </p:txBody>
      </p:sp>
      <p:sp>
        <p:nvSpPr>
          <p:cNvPr id="10" name="VGA text memory">
            <a:extLst>
              <a:ext uri="{FF2B5EF4-FFF2-40B4-BE49-F238E27FC236}">
                <a16:creationId xmlns:a16="http://schemas.microsoft.com/office/drawing/2014/main" id="{AD115EAF-47B5-406B-978E-51CDC664BCCF}"/>
              </a:ext>
            </a:extLst>
          </p:cNvPr>
          <p:cNvSpPr>
            <a:spLocks noGrp="1"/>
          </p:cNvSpPr>
          <p:nvPr/>
        </p:nvSpPr>
        <p:spPr>
          <a:xfrm>
            <a:off x="3676650" y="2876550"/>
            <a:ext cx="7572375" cy="619125"/>
          </a:xfrm>
          <a:prstGeom prst="rect">
            <a:avLst/>
          </a:prstGeom>
          <a:noFill/>
          <a:ln w="0">
            <a:noFill/>
          </a:ln>
        </p:spPr>
        <p:txBody>
          <a:bodyPr lIns="0" tIns="0" rIns="0" bIns="0" anchor="ctr"/>
          <a:lstStyle>
            <a:defPPr algn="l">
              <a:defRPr sz="2175" b="0">
                <a:solidFill>
                  <a:srgbClr val="251139"/>
                </a:solidFill>
                <a:latin typeface="Arial"/>
                <a:ea typeface="Arial"/>
                <a:cs typeface="Arial"/>
              </a:defRPr>
            </a:defPPr>
          </a:lstStyle>
          <a:p>
            <a:pPr algn="l">
              <a:defRPr sz="2175" b="0">
                <a:solidFill>
                  <a:srgbClr val="251139"/>
                </a:solidFill>
                <a:latin typeface="Arial"/>
                <a:ea typeface="Arial"/>
                <a:cs typeface="Arial"/>
              </a:defRPr>
            </a:pPr>
            <a:r>
              <a:rPr sz="2175" b="0">
                <a:solidFill>
                  <a:srgbClr val="251139"/>
                </a:solidFill>
                <a:latin typeface="Arial"/>
                <a:ea typeface="Arial"/>
                <a:cs typeface="Arial"/>
              </a:rPr>
              <a:t>VGA text memory</a:t>
            </a:r>
          </a:p>
        </p:txBody>
      </p:sp>
      <p:sp>
        <p:nvSpPr>
          <p:cNvPr id="11" name="Rectangle 10">
            <a:extLst>
              <a:ext uri="{FF2B5EF4-FFF2-40B4-BE49-F238E27FC236}">
                <a16:creationId xmlns:a16="http://schemas.microsoft.com/office/drawing/2014/main" id="{DFF1F64A-2D80-4A37-AED3-3D4A6FAAB85D}"/>
              </a:ext>
            </a:extLst>
          </p:cNvPr>
          <p:cNvSpPr>
            <a:spLocks noGrp="1"/>
          </p:cNvSpPr>
          <p:nvPr/>
        </p:nvSpPr>
        <p:spPr>
          <a:xfrm>
            <a:off x="609600" y="3695700"/>
            <a:ext cx="2667000" cy="619125"/>
          </a:xfrm>
          <a:prstGeom prst="rect">
            <a:avLst/>
          </a:prstGeom>
          <a:solidFill>
            <a:srgbClr val="F2EBFC"/>
          </a:solidFill>
          <a:ln w="13335">
            <a:solidFill>
              <a:srgbClr val="7D43D5"/>
            </a:solidFill>
          </a:ln>
        </p:spPr>
      </p:sp>
      <p:sp>
        <p:nvSpPr>
          <p:cNvPr id="12" name="0x00400000">
            <a:extLst>
              <a:ext uri="{FF2B5EF4-FFF2-40B4-BE49-F238E27FC236}">
                <a16:creationId xmlns:a16="http://schemas.microsoft.com/office/drawing/2014/main" id="{1CEF101B-CE41-4140-A295-C75D32C9E25C}"/>
              </a:ext>
            </a:extLst>
          </p:cNvPr>
          <p:cNvSpPr>
            <a:spLocks noGrp="1"/>
          </p:cNvSpPr>
          <p:nvPr/>
        </p:nvSpPr>
        <p:spPr>
          <a:xfrm>
            <a:off x="752475" y="3781425"/>
            <a:ext cx="2381250" cy="447675"/>
          </a:xfrm>
          <a:prstGeom prst="rect">
            <a:avLst/>
          </a:prstGeom>
          <a:noFill/>
          <a:ln w="0">
            <a:noFill/>
          </a:ln>
        </p:spPr>
        <p:txBody>
          <a:bodyPr lIns="0" tIns="0" rIns="0" bIns="0" anchor="ctr"/>
          <a:lstStyle>
            <a:defPPr algn="ctr">
              <a:defRPr sz="1800" b="1">
                <a:solidFill>
                  <a:srgbClr val="251139"/>
                </a:solidFill>
                <a:latin typeface="Arial"/>
                <a:ea typeface="Arial"/>
                <a:cs typeface="Arial"/>
              </a:defRPr>
            </a:defPPr>
          </a:lstStyle>
          <a:p>
            <a:pPr algn="ctr">
              <a:defRPr sz="1800" b="1">
                <a:solidFill>
                  <a:srgbClr val="251139"/>
                </a:solidFill>
                <a:latin typeface="Arial"/>
                <a:ea typeface="Arial"/>
                <a:cs typeface="Arial"/>
              </a:defRPr>
            </a:pPr>
            <a:r>
              <a:rPr sz="1800" b="1">
                <a:solidFill>
                  <a:srgbClr val="251139"/>
                </a:solidFill>
                <a:latin typeface="Arial"/>
                <a:ea typeface="Arial"/>
                <a:cs typeface="Arial"/>
              </a:rPr>
              <a:t>0x00400000</a:t>
            </a:r>
          </a:p>
        </p:txBody>
      </p:sp>
      <p:sp>
        <p:nvSpPr>
          <p:cNvPr id="13" name="Heap starts at 4 MiB">
            <a:extLst>
              <a:ext uri="{FF2B5EF4-FFF2-40B4-BE49-F238E27FC236}">
                <a16:creationId xmlns:a16="http://schemas.microsoft.com/office/drawing/2014/main" id="{63F8CF37-7F60-42AE-9F53-EBF075D89BDF}"/>
              </a:ext>
            </a:extLst>
          </p:cNvPr>
          <p:cNvSpPr>
            <a:spLocks noGrp="1"/>
          </p:cNvSpPr>
          <p:nvPr/>
        </p:nvSpPr>
        <p:spPr>
          <a:xfrm>
            <a:off x="3676650" y="3695700"/>
            <a:ext cx="7572375" cy="619125"/>
          </a:xfrm>
          <a:prstGeom prst="rect">
            <a:avLst/>
          </a:prstGeom>
          <a:noFill/>
          <a:ln w="0">
            <a:noFill/>
          </a:ln>
        </p:spPr>
        <p:txBody>
          <a:bodyPr lIns="0" tIns="0" rIns="0" bIns="0" anchor="ctr"/>
          <a:lstStyle>
            <a:defPPr algn="l">
              <a:defRPr sz="2175" b="0">
                <a:solidFill>
                  <a:srgbClr val="251139"/>
                </a:solidFill>
                <a:latin typeface="Arial"/>
                <a:ea typeface="Arial"/>
                <a:cs typeface="Arial"/>
              </a:defRPr>
            </a:defPPr>
          </a:lstStyle>
          <a:p>
            <a:pPr algn="l">
              <a:defRPr sz="2175" b="0">
                <a:solidFill>
                  <a:srgbClr val="251139"/>
                </a:solidFill>
                <a:latin typeface="Arial"/>
                <a:ea typeface="Arial"/>
                <a:cs typeface="Arial"/>
              </a:defRPr>
            </a:pPr>
            <a:r>
              <a:rPr sz="2175" b="0">
                <a:solidFill>
                  <a:srgbClr val="251139"/>
                </a:solidFill>
                <a:latin typeface="Arial"/>
                <a:ea typeface="Arial"/>
                <a:cs typeface="Arial"/>
              </a:rPr>
              <a:t>Heap starts at 4 MiB</a:t>
            </a:r>
          </a:p>
        </p:txBody>
      </p:sp>
      <p:sp>
        <p:nvSpPr>
          <p:cNvPr id="14" name="Rectangle 13">
            <a:extLst>
              <a:ext uri="{FF2B5EF4-FFF2-40B4-BE49-F238E27FC236}">
                <a16:creationId xmlns:a16="http://schemas.microsoft.com/office/drawing/2014/main" id="{19287C8D-F9A6-44AC-9FCE-1FD3FC98AAF8}"/>
              </a:ext>
            </a:extLst>
          </p:cNvPr>
          <p:cNvSpPr>
            <a:spLocks noGrp="1"/>
          </p:cNvSpPr>
          <p:nvPr/>
        </p:nvSpPr>
        <p:spPr>
          <a:xfrm>
            <a:off x="609600" y="4514850"/>
            <a:ext cx="2667000" cy="619125"/>
          </a:xfrm>
          <a:prstGeom prst="rect">
            <a:avLst/>
          </a:prstGeom>
          <a:solidFill>
            <a:srgbClr val="F2EBFC"/>
          </a:solidFill>
          <a:ln w="13335">
            <a:solidFill>
              <a:srgbClr val="7D43D5"/>
            </a:solidFill>
          </a:ln>
        </p:spPr>
      </p:sp>
      <p:sp>
        <p:nvSpPr>
          <p:cNvPr id="15" name="0x00800000">
            <a:extLst>
              <a:ext uri="{FF2B5EF4-FFF2-40B4-BE49-F238E27FC236}">
                <a16:creationId xmlns:a16="http://schemas.microsoft.com/office/drawing/2014/main" id="{83F99C38-888F-4BDC-A2A7-C0B578AB83C5}"/>
              </a:ext>
            </a:extLst>
          </p:cNvPr>
          <p:cNvSpPr>
            <a:spLocks noGrp="1"/>
          </p:cNvSpPr>
          <p:nvPr/>
        </p:nvSpPr>
        <p:spPr>
          <a:xfrm>
            <a:off x="752475" y="4600575"/>
            <a:ext cx="2381250" cy="447675"/>
          </a:xfrm>
          <a:prstGeom prst="rect">
            <a:avLst/>
          </a:prstGeom>
          <a:noFill/>
          <a:ln w="0">
            <a:noFill/>
          </a:ln>
        </p:spPr>
        <p:txBody>
          <a:bodyPr lIns="0" tIns="0" rIns="0" bIns="0" anchor="ctr"/>
          <a:lstStyle>
            <a:defPPr algn="ctr">
              <a:defRPr sz="1800" b="1">
                <a:solidFill>
                  <a:srgbClr val="251139"/>
                </a:solidFill>
                <a:latin typeface="Arial"/>
                <a:ea typeface="Arial"/>
                <a:cs typeface="Arial"/>
              </a:defRPr>
            </a:defPPr>
          </a:lstStyle>
          <a:p>
            <a:pPr algn="ctr">
              <a:defRPr sz="1800" b="1">
                <a:solidFill>
                  <a:srgbClr val="251139"/>
                </a:solidFill>
                <a:latin typeface="Arial"/>
                <a:ea typeface="Arial"/>
                <a:cs typeface="Arial"/>
              </a:defRPr>
            </a:pPr>
            <a:r>
              <a:rPr sz="1800" b="1">
                <a:solidFill>
                  <a:srgbClr val="251139"/>
                </a:solidFill>
                <a:latin typeface="Arial"/>
                <a:ea typeface="Arial"/>
                <a:cs typeface="Arial"/>
              </a:rPr>
              <a:t>0x00800000</a:t>
            </a:r>
          </a:p>
        </p:txBody>
      </p:sp>
      <p:sp>
        <p:nvSpPr>
          <p:cNvPr id="16" name="Heap ends at 8 MiB">
            <a:extLst>
              <a:ext uri="{FF2B5EF4-FFF2-40B4-BE49-F238E27FC236}">
                <a16:creationId xmlns:a16="http://schemas.microsoft.com/office/drawing/2014/main" id="{1095A0D1-0124-4599-9F78-BD3AADB36BD6}"/>
              </a:ext>
            </a:extLst>
          </p:cNvPr>
          <p:cNvSpPr>
            <a:spLocks noGrp="1"/>
          </p:cNvSpPr>
          <p:nvPr/>
        </p:nvSpPr>
        <p:spPr>
          <a:xfrm>
            <a:off x="3676650" y="4514850"/>
            <a:ext cx="7572375" cy="619125"/>
          </a:xfrm>
          <a:prstGeom prst="rect">
            <a:avLst/>
          </a:prstGeom>
          <a:noFill/>
          <a:ln w="0">
            <a:noFill/>
          </a:ln>
        </p:spPr>
        <p:txBody>
          <a:bodyPr lIns="0" tIns="0" rIns="0" bIns="0" anchor="ctr"/>
          <a:lstStyle>
            <a:defPPr algn="l">
              <a:defRPr sz="2175" b="0">
                <a:solidFill>
                  <a:srgbClr val="251139"/>
                </a:solidFill>
                <a:latin typeface="Arial"/>
                <a:ea typeface="Arial"/>
                <a:cs typeface="Arial"/>
              </a:defRPr>
            </a:defPPr>
          </a:lstStyle>
          <a:p>
            <a:pPr algn="l">
              <a:defRPr sz="2175" b="0">
                <a:solidFill>
                  <a:srgbClr val="251139"/>
                </a:solidFill>
                <a:latin typeface="Arial"/>
                <a:ea typeface="Arial"/>
                <a:cs typeface="Arial"/>
              </a:defRPr>
            </a:pPr>
            <a:r>
              <a:rPr sz="2175" b="0">
                <a:solidFill>
                  <a:srgbClr val="251139"/>
                </a:solidFill>
                <a:latin typeface="Arial"/>
                <a:ea typeface="Arial"/>
                <a:cs typeface="Arial"/>
              </a:rPr>
              <a:t>Heap ends at 8 MiB</a:t>
            </a:r>
          </a:p>
        </p:txBody>
      </p:sp>
      <p:sp>
        <p:nvSpPr>
          <p:cNvPr id="17" name="4 KiB pages. A 16 KiB kernel stack. Files al">
            <a:extLst>
              <a:ext uri="{FF2B5EF4-FFF2-40B4-BE49-F238E27FC236}">
                <a16:creationId xmlns:a16="http://schemas.microsoft.com/office/drawing/2014/main" id="{CF618DF2-AD4D-4620-8B3F-6D07D90EF4E8}"/>
              </a:ext>
            </a:extLst>
          </p:cNvPr>
          <p:cNvSpPr>
            <a:spLocks noGrp="1"/>
          </p:cNvSpPr>
          <p:nvPr/>
        </p:nvSpPr>
        <p:spPr>
          <a:xfrm>
            <a:off x="609600" y="5648325"/>
            <a:ext cx="10972800" cy="504825"/>
          </a:xfrm>
          <a:prstGeom prst="rect">
            <a:avLst/>
          </a:prstGeom>
          <a:noFill/>
          <a:ln w="0">
            <a:noFill/>
          </a:ln>
        </p:spPr>
        <p:txBody>
          <a:bodyPr lIns="0" tIns="0" rIns="0" bIns="0" anchor="ctr"/>
          <a:lstStyle>
            <a:defPPr algn="l">
              <a:defRPr sz="1725" b="0">
                <a:solidFill>
                  <a:srgbClr val="7D43D5"/>
                </a:solidFill>
                <a:latin typeface="Arial"/>
                <a:ea typeface="Arial"/>
                <a:cs typeface="Arial"/>
              </a:defRPr>
            </a:defPPr>
          </a:lstStyle>
          <a:p>
            <a:pPr algn="l">
              <a:defRPr sz="1725" b="0">
                <a:solidFill>
                  <a:srgbClr val="7D43D5"/>
                </a:solidFill>
                <a:latin typeface="Arial"/>
                <a:ea typeface="Arial"/>
                <a:cs typeface="Arial"/>
              </a:defRPr>
            </a:pPr>
            <a:r>
              <a:rPr sz="1725" b="0">
                <a:solidFill>
                  <a:srgbClr val="7D43D5"/>
                </a:solidFill>
                <a:latin typeface="Arial"/>
                <a:ea typeface="Arial"/>
                <a:cs typeface="Arial"/>
              </a:rPr>
              <a:t>4 KiB pages. A 16 KiB kernel stack. Files allocate their contents from the heap.</a:t>
            </a:r>
          </a:p>
        </p:txBody>
      </p:sp>
    </p:spTree>
    <p:extLst>
      <p:ext uri="{BB962C8B-B14F-4D97-AF65-F5344CB8AC3E}">
        <p14:creationId xmlns:p14="http://schemas.microsoft.com/office/powerpoint/2010/main" val="5088347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180B2B"/>
        </a:solidFill>
        <a:effectLst/>
      </p:bgPr>
    </p:bg>
    <p:spTree>
      <p:nvGrpSpPr>
        <p:cNvPr id="1" name=""/>
        <p:cNvGrpSpPr/>
        <p:nvPr/>
      </p:nvGrpSpPr>
      <p:grpSpPr>
        <a:xfrm>
          <a:off x="0" y="0"/>
          <a:ext cx="0" cy="0"/>
          <a:chOff x="0" y="0"/>
          <a:chExt cx="0" cy="0"/>
        </a:xfrm>
      </p:grpSpPr>
      <p:sp>
        <p:nvSpPr>
          <p:cNvPr id="17" name="FOUNDATIONS">
            <a:extLst>
              <a:ext uri="{FF2B5EF4-FFF2-40B4-BE49-F238E27FC236}">
                <a16:creationId xmlns:a16="http://schemas.microsoft.com/office/drawing/2014/main" id="{521BB10B-1E7D-4762-97E1-2BDF371FD09D}"/>
              </a:ext>
            </a:extLst>
          </p:cNvPr>
          <p:cNvSpPr>
            <a:spLocks noGrp="1"/>
          </p:cNvSpPr>
          <p:nvPr/>
        </p:nvSpPr>
        <p:spPr>
          <a:xfrm>
            <a:off x="609600" y="323850"/>
            <a:ext cx="10001250" cy="228600"/>
          </a:xfrm>
          <a:prstGeom prst="rect">
            <a:avLst/>
          </a:prstGeom>
          <a:noFill/>
          <a:ln w="0">
            <a:noFill/>
          </a:ln>
        </p:spPr>
        <p:txBody>
          <a:bodyPr lIns="0" tIns="0" rIns="0" bIns="0" anchor="ctr"/>
          <a:lstStyle>
            <a:defPPr algn="l">
              <a:defRPr sz="1200" b="1">
                <a:solidFill>
                  <a:srgbClr val="BE98F6"/>
                </a:solidFill>
                <a:latin typeface="Arial"/>
                <a:ea typeface="Arial"/>
                <a:cs typeface="Arial"/>
              </a:defRPr>
            </a:defPPr>
          </a:lstStyle>
          <a:p>
            <a:pPr algn="l">
              <a:defRPr sz="1200" b="1">
                <a:solidFill>
                  <a:srgbClr val="BE98F6"/>
                </a:solidFill>
                <a:latin typeface="Arial"/>
                <a:ea typeface="Arial"/>
                <a:cs typeface="Arial"/>
              </a:defRPr>
            </a:pPr>
            <a:r>
              <a:rPr sz="1200" b="1">
                <a:solidFill>
                  <a:srgbClr val="BE98F6"/>
                </a:solidFill>
                <a:latin typeface="Arial"/>
                <a:ea typeface="Arial"/>
                <a:cs typeface="Arial"/>
              </a:rPr>
              <a:t>FOUNDATIONS</a:t>
            </a:r>
          </a:p>
        </p:txBody>
      </p:sp>
      <p:sp>
        <p:nvSpPr>
          <p:cNvPr id="2" name="Keyboard input and screen output">
            <a:extLst>
              <a:ext uri="{FF2B5EF4-FFF2-40B4-BE49-F238E27FC236}">
                <a16:creationId xmlns:a16="http://schemas.microsoft.com/office/drawing/2014/main" id="{90342E10-42DD-4158-865F-F6AFC592A20D}"/>
              </a:ext>
            </a:extLst>
          </p:cNvPr>
          <p:cNvSpPr>
            <a:spLocks noGrp="1"/>
          </p:cNvSpPr>
          <p:nvPr/>
        </p:nvSpPr>
        <p:spPr>
          <a:xfrm>
            <a:off x="609600" y="876300"/>
            <a:ext cx="10972800" cy="952500"/>
          </a:xfrm>
          <a:prstGeom prst="rect">
            <a:avLst/>
          </a:prstGeom>
          <a:noFill/>
          <a:ln w="0">
            <a:noFill/>
          </a:ln>
        </p:spPr>
        <p:txBody>
          <a:bodyPr lIns="0" tIns="0" rIns="0" bIns="0" anchor="ctr"/>
          <a:lstStyle>
            <a:defPPr algn="l">
              <a:defRPr sz="3300" b="1">
                <a:solidFill>
                  <a:srgbClr val="FFFFFF"/>
                </a:solidFill>
                <a:latin typeface="Arial"/>
                <a:ea typeface="Arial"/>
                <a:cs typeface="Arial"/>
              </a:defRPr>
            </a:defPPr>
          </a:lstStyle>
          <a:p>
            <a:pPr algn="l">
              <a:defRPr sz="3300" b="1">
                <a:solidFill>
                  <a:srgbClr val="FFFFFF"/>
                </a:solidFill>
                <a:latin typeface="Arial"/>
                <a:ea typeface="Arial"/>
                <a:cs typeface="Arial"/>
              </a:defRPr>
            </a:pPr>
            <a:r>
              <a:rPr sz="3300" b="1">
                <a:solidFill>
                  <a:srgbClr val="FFFFFF"/>
                </a:solidFill>
                <a:latin typeface="Arial"/>
                <a:ea typeface="Arial"/>
                <a:cs typeface="Arial"/>
              </a:rPr>
              <a:t>Keyboard input and screen output</a:t>
            </a:r>
          </a:p>
        </p:txBody>
      </p:sp>
      <p:sp>
        <p:nvSpPr>
          <p:cNvPr id="3" name="AGENTIC OS  /  MVP TECHNICAL WALKTHROUGH">
            <a:extLst>
              <a:ext uri="{FF2B5EF4-FFF2-40B4-BE49-F238E27FC236}">
                <a16:creationId xmlns:a16="http://schemas.microsoft.com/office/drawing/2014/main" id="{8672EF2C-C6CF-4777-AEFE-BB07AA0793F9}"/>
              </a:ext>
            </a:extLst>
          </p:cNvPr>
          <p:cNvSpPr>
            <a:spLocks noGrp="1"/>
          </p:cNvSpPr>
          <p:nvPr/>
        </p:nvSpPr>
        <p:spPr>
          <a:xfrm>
            <a:off x="609600" y="6410325"/>
            <a:ext cx="10001250" cy="190500"/>
          </a:xfrm>
          <a:prstGeom prst="rect">
            <a:avLst/>
          </a:prstGeom>
          <a:noFill/>
          <a:ln w="0">
            <a:noFill/>
          </a:ln>
        </p:spPr>
        <p:txBody>
          <a:bodyPr lIns="0" tIns="0" rIns="0" bIns="0" anchor="ctr"/>
          <a:lstStyle>
            <a:defPPr algn="l">
              <a:defRPr sz="975" b="0">
                <a:solidFill>
                  <a:srgbClr val="D5C9E6"/>
                </a:solidFill>
                <a:latin typeface="Arial"/>
                <a:ea typeface="Arial"/>
                <a:cs typeface="Arial"/>
              </a:defRPr>
            </a:defPPr>
          </a:lstStyle>
          <a:p>
            <a:pPr algn="l">
              <a:defRPr sz="975" b="0">
                <a:solidFill>
                  <a:srgbClr val="D5C9E6"/>
                </a:solidFill>
                <a:latin typeface="Arial"/>
                <a:ea typeface="Arial"/>
                <a:cs typeface="Arial"/>
              </a:defRPr>
            </a:pPr>
            <a:r>
              <a:rPr sz="975" b="0">
                <a:solidFill>
                  <a:srgbClr val="D5C9E6"/>
                </a:solidFill>
                <a:latin typeface="Arial"/>
                <a:ea typeface="Arial"/>
                <a:cs typeface="Arial"/>
              </a:rPr>
              <a:t>AGENTIC OS  /  MVP TECHNICAL WALKTHROUGH</a:t>
            </a:r>
          </a:p>
        </p:txBody>
      </p:sp>
      <p:sp>
        <p:nvSpPr>
          <p:cNvPr id="4" name="11">
            <a:extLst>
              <a:ext uri="{FF2B5EF4-FFF2-40B4-BE49-F238E27FC236}">
                <a16:creationId xmlns:a16="http://schemas.microsoft.com/office/drawing/2014/main" id="{863C632F-0A17-4740-A3D0-305125431DED}"/>
              </a:ext>
            </a:extLst>
          </p:cNvPr>
          <p:cNvSpPr>
            <a:spLocks noGrp="1"/>
          </p:cNvSpPr>
          <p:nvPr/>
        </p:nvSpPr>
        <p:spPr>
          <a:xfrm>
            <a:off x="11029950" y="6372225"/>
            <a:ext cx="552450" cy="247650"/>
          </a:xfrm>
          <a:prstGeom prst="rect">
            <a:avLst/>
          </a:prstGeom>
          <a:noFill/>
          <a:ln w="0">
            <a:noFill/>
          </a:ln>
        </p:spPr>
        <p:txBody>
          <a:bodyPr lIns="0" tIns="0" rIns="0" bIns="0" anchor="ctr"/>
          <a:lstStyle>
            <a:defPPr algn="r">
              <a:defRPr sz="1275" b="0">
                <a:solidFill>
                  <a:srgbClr val="BE98F6"/>
                </a:solidFill>
                <a:latin typeface="Arial"/>
                <a:ea typeface="Arial"/>
                <a:cs typeface="Arial"/>
              </a:defRPr>
            </a:defPPr>
          </a:lstStyle>
          <a:p>
            <a:pPr algn="r">
              <a:defRPr sz="1275" b="0">
                <a:solidFill>
                  <a:srgbClr val="BE98F6"/>
                </a:solidFill>
                <a:latin typeface="Arial"/>
                <a:ea typeface="Arial"/>
                <a:cs typeface="Arial"/>
              </a:defRPr>
            </a:pPr>
            <a:r>
              <a:rPr sz="1275" b="0">
                <a:solidFill>
                  <a:srgbClr val="BE98F6"/>
                </a:solidFill>
                <a:latin typeface="Arial"/>
                <a:ea typeface="Arial"/>
                <a:cs typeface="Arial"/>
              </a:rPr>
              <a:t>11</a:t>
            </a:r>
          </a:p>
        </p:txBody>
      </p:sp>
      <p:sp>
        <p:nvSpPr>
          <p:cNvPr id="5" name="Rectangle 4">
            <a:extLst>
              <a:ext uri="{FF2B5EF4-FFF2-40B4-BE49-F238E27FC236}">
                <a16:creationId xmlns:a16="http://schemas.microsoft.com/office/drawing/2014/main" id="{2D9D9E6C-7AF6-4442-89DF-23A0BF7389A6}"/>
              </a:ext>
            </a:extLst>
          </p:cNvPr>
          <p:cNvSpPr>
            <a:spLocks noGrp="1"/>
          </p:cNvSpPr>
          <p:nvPr/>
        </p:nvSpPr>
        <p:spPr>
          <a:xfrm>
            <a:off x="609600" y="2762250"/>
            <a:ext cx="2471738" cy="1066800"/>
          </a:xfrm>
          <a:prstGeom prst="rect">
            <a:avLst/>
          </a:prstGeom>
          <a:solidFill>
            <a:srgbClr val="2A1547"/>
          </a:solidFill>
          <a:ln w="13335">
            <a:solidFill>
              <a:srgbClr val="7D43D5"/>
            </a:solidFill>
          </a:ln>
        </p:spPr>
      </p:sp>
      <p:sp>
        <p:nvSpPr>
          <p:cNvPr id="6" name="PS/2&#10;keyboard">
            <a:extLst>
              <a:ext uri="{FF2B5EF4-FFF2-40B4-BE49-F238E27FC236}">
                <a16:creationId xmlns:a16="http://schemas.microsoft.com/office/drawing/2014/main" id="{3A0BA3DB-DFAF-4EA0-8EE9-EA2651932DF2}"/>
              </a:ext>
            </a:extLst>
          </p:cNvPr>
          <p:cNvSpPr>
            <a:spLocks noGrp="1"/>
          </p:cNvSpPr>
          <p:nvPr/>
        </p:nvSpPr>
        <p:spPr>
          <a:xfrm>
            <a:off x="752475" y="2847975"/>
            <a:ext cx="2185988" cy="895350"/>
          </a:xfrm>
          <a:prstGeom prst="rect">
            <a:avLst/>
          </a:prstGeom>
          <a:noFill/>
          <a:ln w="0">
            <a:noFill/>
          </a:ln>
        </p:spPr>
        <p:txBody>
          <a:bodyPr lIns="0" tIns="0" rIns="0" bIns="0" anchor="ctr"/>
          <a:lstStyle>
            <a:defPPr algn="ctr">
              <a:defRPr sz="1800" b="1">
                <a:solidFill>
                  <a:srgbClr val="FFFFFF"/>
                </a:solidFill>
                <a:latin typeface="Arial"/>
                <a:ea typeface="Arial"/>
                <a:cs typeface="Arial"/>
              </a:defRPr>
            </a:defPPr>
          </a:lstStyle>
          <a:p>
            <a:pPr algn="ctr">
              <a:defRPr sz="1800" b="1">
                <a:solidFill>
                  <a:srgbClr val="FFFFFF"/>
                </a:solidFill>
                <a:latin typeface="Arial"/>
                <a:ea typeface="Arial"/>
                <a:cs typeface="Arial"/>
              </a:defRPr>
            </a:pPr>
            <a:r>
              <a:rPr sz="1800" b="1">
                <a:solidFill>
                  <a:srgbClr val="FFFFFF"/>
                </a:solidFill>
                <a:latin typeface="Arial"/>
                <a:ea typeface="Arial"/>
                <a:cs typeface="Arial"/>
              </a:rPr>
              <a:t>PS/2</a:t>
            </a:r>
          </a:p>
          <a:p>
            <a:pPr algn="ctr">
              <a:defRPr sz="1800" b="1">
                <a:solidFill>
                  <a:srgbClr val="FFFFFF"/>
                </a:solidFill>
                <a:latin typeface="Arial"/>
                <a:ea typeface="Arial"/>
                <a:cs typeface="Arial"/>
              </a:defRPr>
            </a:pPr>
            <a:r>
              <a:rPr sz="1800" b="1">
                <a:solidFill>
                  <a:srgbClr val="FFFFFF"/>
                </a:solidFill>
                <a:latin typeface="Arial"/>
                <a:ea typeface="Arial"/>
                <a:cs typeface="Arial"/>
              </a:rPr>
              <a:t>keyboard</a:t>
            </a:r>
          </a:p>
        </p:txBody>
      </p:sp>
      <p:cxnSp>
        <p:nvCxnSpPr>
          <p:cNvPr id="7" name="Straight Arrow Connector 6">
            <a:extLst>
              <a:ext uri="{FF2B5EF4-FFF2-40B4-BE49-F238E27FC236}">
                <a16:creationId xmlns:a16="http://schemas.microsoft.com/office/drawing/2014/main" id="{59A732A3-CD43-405A-9498-85858111D207}"/>
              </a:ext>
            </a:extLst>
          </p:cNvPr>
          <p:cNvCxnSpPr/>
          <p:nvPr/>
        </p:nvCxnSpPr>
        <p:spPr>
          <a:xfrm>
            <a:off x="3081338" y="3295650"/>
            <a:ext cx="295275" cy="0"/>
          </a:xfrm>
          <a:prstGeom prst="straightConnector1">
            <a:avLst/>
          </a:prstGeom>
          <a:ln w="19050">
            <a:solidFill>
              <a:srgbClr val="BE98F6"/>
            </a:solidFill>
            <a:prstDash val="solid"/>
            <a:tailEnd type="triangle" w="med" len="med"/>
          </a:ln>
        </p:spPr>
      </p:cxnSp>
      <p:sp>
        <p:nvSpPr>
          <p:cNvPr id="8" name="Rectangle 7">
            <a:extLst>
              <a:ext uri="{FF2B5EF4-FFF2-40B4-BE49-F238E27FC236}">
                <a16:creationId xmlns:a16="http://schemas.microsoft.com/office/drawing/2014/main" id="{5DDC31FB-3BBA-421E-8D11-A998C279C9C9}"/>
              </a:ext>
            </a:extLst>
          </p:cNvPr>
          <p:cNvSpPr>
            <a:spLocks noGrp="1"/>
          </p:cNvSpPr>
          <p:nvPr/>
        </p:nvSpPr>
        <p:spPr>
          <a:xfrm>
            <a:off x="3443288" y="2762250"/>
            <a:ext cx="2471738" cy="1066800"/>
          </a:xfrm>
          <a:prstGeom prst="rect">
            <a:avLst/>
          </a:prstGeom>
          <a:solidFill>
            <a:srgbClr val="2A1547"/>
          </a:solidFill>
          <a:ln w="13335">
            <a:solidFill>
              <a:srgbClr val="7D43D5"/>
            </a:solidFill>
          </a:ln>
        </p:spPr>
      </p:sp>
      <p:sp>
        <p:nvSpPr>
          <p:cNvPr id="9" name="IRQ1&#10;handler">
            <a:extLst>
              <a:ext uri="{FF2B5EF4-FFF2-40B4-BE49-F238E27FC236}">
                <a16:creationId xmlns:a16="http://schemas.microsoft.com/office/drawing/2014/main" id="{1E3D662C-8541-4458-A10C-412809652D1E}"/>
              </a:ext>
            </a:extLst>
          </p:cNvPr>
          <p:cNvSpPr>
            <a:spLocks noGrp="1"/>
          </p:cNvSpPr>
          <p:nvPr/>
        </p:nvSpPr>
        <p:spPr>
          <a:xfrm>
            <a:off x="3586163" y="2847975"/>
            <a:ext cx="2185988" cy="895350"/>
          </a:xfrm>
          <a:prstGeom prst="rect">
            <a:avLst/>
          </a:prstGeom>
          <a:noFill/>
          <a:ln w="0">
            <a:noFill/>
          </a:ln>
        </p:spPr>
        <p:txBody>
          <a:bodyPr lIns="0" tIns="0" rIns="0" bIns="0" anchor="ctr"/>
          <a:lstStyle>
            <a:defPPr algn="ctr">
              <a:defRPr sz="1800" b="1">
                <a:solidFill>
                  <a:srgbClr val="FFFFFF"/>
                </a:solidFill>
                <a:latin typeface="Arial"/>
                <a:ea typeface="Arial"/>
                <a:cs typeface="Arial"/>
              </a:defRPr>
            </a:defPPr>
          </a:lstStyle>
          <a:p>
            <a:pPr algn="ctr">
              <a:defRPr sz="1800" b="1">
                <a:solidFill>
                  <a:srgbClr val="FFFFFF"/>
                </a:solidFill>
                <a:latin typeface="Arial"/>
                <a:ea typeface="Arial"/>
                <a:cs typeface="Arial"/>
              </a:defRPr>
            </a:pPr>
            <a:r>
              <a:rPr sz="1800" b="1">
                <a:solidFill>
                  <a:srgbClr val="FFFFFF"/>
                </a:solidFill>
                <a:latin typeface="Arial"/>
                <a:ea typeface="Arial"/>
                <a:cs typeface="Arial"/>
              </a:rPr>
              <a:t>IRQ1</a:t>
            </a:r>
          </a:p>
          <a:p>
            <a:pPr algn="ctr">
              <a:defRPr sz="1800" b="1">
                <a:solidFill>
                  <a:srgbClr val="FFFFFF"/>
                </a:solidFill>
                <a:latin typeface="Arial"/>
                <a:ea typeface="Arial"/>
                <a:cs typeface="Arial"/>
              </a:defRPr>
            </a:pPr>
            <a:r>
              <a:rPr sz="1800" b="1">
                <a:solidFill>
                  <a:srgbClr val="FFFFFF"/>
                </a:solidFill>
                <a:latin typeface="Arial"/>
                <a:ea typeface="Arial"/>
                <a:cs typeface="Arial"/>
              </a:rPr>
              <a:t>handler</a:t>
            </a:r>
          </a:p>
        </p:txBody>
      </p:sp>
      <p:cxnSp>
        <p:nvCxnSpPr>
          <p:cNvPr id="10" name="Straight Arrow Connector 9">
            <a:extLst>
              <a:ext uri="{FF2B5EF4-FFF2-40B4-BE49-F238E27FC236}">
                <a16:creationId xmlns:a16="http://schemas.microsoft.com/office/drawing/2014/main" id="{A93D0D60-8197-45AA-8865-4012AAC851AA}"/>
              </a:ext>
            </a:extLst>
          </p:cNvPr>
          <p:cNvCxnSpPr/>
          <p:nvPr/>
        </p:nvCxnSpPr>
        <p:spPr>
          <a:xfrm>
            <a:off x="5915025" y="3295650"/>
            <a:ext cx="295275" cy="0"/>
          </a:xfrm>
          <a:prstGeom prst="straightConnector1">
            <a:avLst/>
          </a:prstGeom>
          <a:ln w="19050">
            <a:solidFill>
              <a:srgbClr val="BE98F6"/>
            </a:solidFill>
            <a:prstDash val="solid"/>
            <a:tailEnd type="triangle" w="med" len="med"/>
          </a:ln>
        </p:spPr>
      </p:cxnSp>
      <p:sp>
        <p:nvSpPr>
          <p:cNvPr id="11" name="Rectangle 10">
            <a:extLst>
              <a:ext uri="{FF2B5EF4-FFF2-40B4-BE49-F238E27FC236}">
                <a16:creationId xmlns:a16="http://schemas.microsoft.com/office/drawing/2014/main" id="{081A4B54-60F6-444D-B29C-745ED6526988}"/>
              </a:ext>
            </a:extLst>
          </p:cNvPr>
          <p:cNvSpPr>
            <a:spLocks noGrp="1"/>
          </p:cNvSpPr>
          <p:nvPr/>
        </p:nvSpPr>
        <p:spPr>
          <a:xfrm>
            <a:off x="6276975" y="2762250"/>
            <a:ext cx="2471738" cy="1066800"/>
          </a:xfrm>
          <a:prstGeom prst="rect">
            <a:avLst/>
          </a:prstGeom>
          <a:solidFill>
            <a:srgbClr val="2A1547"/>
          </a:solidFill>
          <a:ln w="13335">
            <a:solidFill>
              <a:srgbClr val="7D43D5"/>
            </a:solidFill>
          </a:ln>
        </p:spPr>
      </p:sp>
      <p:sp>
        <p:nvSpPr>
          <p:cNvPr id="12" name="Line input&#10;buffer">
            <a:extLst>
              <a:ext uri="{FF2B5EF4-FFF2-40B4-BE49-F238E27FC236}">
                <a16:creationId xmlns:a16="http://schemas.microsoft.com/office/drawing/2014/main" id="{2BCEEFB3-5DC4-4911-8A69-286CDAA22E5B}"/>
              </a:ext>
            </a:extLst>
          </p:cNvPr>
          <p:cNvSpPr>
            <a:spLocks noGrp="1"/>
          </p:cNvSpPr>
          <p:nvPr/>
        </p:nvSpPr>
        <p:spPr>
          <a:xfrm>
            <a:off x="6419850" y="2847975"/>
            <a:ext cx="2185988" cy="895350"/>
          </a:xfrm>
          <a:prstGeom prst="rect">
            <a:avLst/>
          </a:prstGeom>
          <a:noFill/>
          <a:ln w="0">
            <a:noFill/>
          </a:ln>
        </p:spPr>
        <p:txBody>
          <a:bodyPr lIns="0" tIns="0" rIns="0" bIns="0" anchor="ctr"/>
          <a:lstStyle>
            <a:defPPr algn="ctr">
              <a:defRPr sz="1800" b="1">
                <a:solidFill>
                  <a:srgbClr val="FFFFFF"/>
                </a:solidFill>
                <a:latin typeface="Arial"/>
                <a:ea typeface="Arial"/>
                <a:cs typeface="Arial"/>
              </a:defRPr>
            </a:defPPr>
          </a:lstStyle>
          <a:p>
            <a:pPr algn="ctr">
              <a:defRPr sz="1800" b="1">
                <a:solidFill>
                  <a:srgbClr val="FFFFFF"/>
                </a:solidFill>
                <a:latin typeface="Arial"/>
                <a:ea typeface="Arial"/>
                <a:cs typeface="Arial"/>
              </a:defRPr>
            </a:pPr>
            <a:r>
              <a:rPr sz="1800" b="1">
                <a:solidFill>
                  <a:srgbClr val="FFFFFF"/>
                </a:solidFill>
                <a:latin typeface="Arial"/>
                <a:ea typeface="Arial"/>
                <a:cs typeface="Arial"/>
              </a:rPr>
              <a:t>Line input</a:t>
            </a:r>
          </a:p>
          <a:p>
            <a:pPr algn="ctr">
              <a:defRPr sz="1800" b="1">
                <a:solidFill>
                  <a:srgbClr val="FFFFFF"/>
                </a:solidFill>
                <a:latin typeface="Arial"/>
                <a:ea typeface="Arial"/>
                <a:cs typeface="Arial"/>
              </a:defRPr>
            </a:pPr>
            <a:r>
              <a:rPr sz="1800" b="1">
                <a:solidFill>
                  <a:srgbClr val="FFFFFF"/>
                </a:solidFill>
                <a:latin typeface="Arial"/>
                <a:ea typeface="Arial"/>
                <a:cs typeface="Arial"/>
              </a:rPr>
              <a:t>buffer</a:t>
            </a:r>
          </a:p>
        </p:txBody>
      </p:sp>
      <p:cxnSp>
        <p:nvCxnSpPr>
          <p:cNvPr id="13" name="Straight Arrow Connector 12">
            <a:extLst>
              <a:ext uri="{FF2B5EF4-FFF2-40B4-BE49-F238E27FC236}">
                <a16:creationId xmlns:a16="http://schemas.microsoft.com/office/drawing/2014/main" id="{5B268DFD-C744-4273-B750-8B5E3B58FD75}"/>
              </a:ext>
            </a:extLst>
          </p:cNvPr>
          <p:cNvCxnSpPr/>
          <p:nvPr/>
        </p:nvCxnSpPr>
        <p:spPr>
          <a:xfrm>
            <a:off x="8748713" y="3295650"/>
            <a:ext cx="295275" cy="0"/>
          </a:xfrm>
          <a:prstGeom prst="straightConnector1">
            <a:avLst/>
          </a:prstGeom>
          <a:ln w="19050">
            <a:solidFill>
              <a:srgbClr val="BE98F6"/>
            </a:solidFill>
            <a:prstDash val="solid"/>
            <a:tailEnd type="triangle" w="med" len="med"/>
          </a:ln>
        </p:spPr>
      </p:cxnSp>
      <p:sp>
        <p:nvSpPr>
          <p:cNvPr id="14" name="Rectangle 13">
            <a:extLst>
              <a:ext uri="{FF2B5EF4-FFF2-40B4-BE49-F238E27FC236}">
                <a16:creationId xmlns:a16="http://schemas.microsoft.com/office/drawing/2014/main" id="{5807AA01-CDAD-4FAE-ACAE-1673B85983EE}"/>
              </a:ext>
            </a:extLst>
          </p:cNvPr>
          <p:cNvSpPr>
            <a:spLocks noGrp="1"/>
          </p:cNvSpPr>
          <p:nvPr/>
        </p:nvSpPr>
        <p:spPr>
          <a:xfrm>
            <a:off x="9110663" y="2762250"/>
            <a:ext cx="2471738" cy="1066800"/>
          </a:xfrm>
          <a:prstGeom prst="rect">
            <a:avLst/>
          </a:prstGeom>
          <a:solidFill>
            <a:srgbClr val="2A1547"/>
          </a:solidFill>
          <a:ln w="13335">
            <a:solidFill>
              <a:srgbClr val="7D43D5"/>
            </a:solidFill>
          </a:ln>
        </p:spPr>
      </p:sp>
      <p:sp>
        <p:nvSpPr>
          <p:cNvPr id="15" name="Shell&#10;dispatch">
            <a:extLst>
              <a:ext uri="{FF2B5EF4-FFF2-40B4-BE49-F238E27FC236}">
                <a16:creationId xmlns:a16="http://schemas.microsoft.com/office/drawing/2014/main" id="{8A6321D4-7892-4F91-9FC5-CFFBE18743F6}"/>
              </a:ext>
            </a:extLst>
          </p:cNvPr>
          <p:cNvSpPr>
            <a:spLocks noGrp="1"/>
          </p:cNvSpPr>
          <p:nvPr/>
        </p:nvSpPr>
        <p:spPr>
          <a:xfrm>
            <a:off x="9253538" y="2847975"/>
            <a:ext cx="2185988" cy="895350"/>
          </a:xfrm>
          <a:prstGeom prst="rect">
            <a:avLst/>
          </a:prstGeom>
          <a:noFill/>
          <a:ln w="0">
            <a:noFill/>
          </a:ln>
        </p:spPr>
        <p:txBody>
          <a:bodyPr lIns="0" tIns="0" rIns="0" bIns="0" anchor="ctr"/>
          <a:lstStyle>
            <a:defPPr algn="ctr">
              <a:defRPr sz="1800" b="1">
                <a:solidFill>
                  <a:srgbClr val="FFFFFF"/>
                </a:solidFill>
                <a:latin typeface="Arial"/>
                <a:ea typeface="Arial"/>
                <a:cs typeface="Arial"/>
              </a:defRPr>
            </a:defPPr>
          </a:lstStyle>
          <a:p>
            <a:pPr algn="ctr">
              <a:defRPr sz="1800" b="1">
                <a:solidFill>
                  <a:srgbClr val="FFFFFF"/>
                </a:solidFill>
                <a:latin typeface="Arial"/>
                <a:ea typeface="Arial"/>
                <a:cs typeface="Arial"/>
              </a:defRPr>
            </a:pPr>
            <a:r>
              <a:rPr sz="1800" b="1">
                <a:solidFill>
                  <a:srgbClr val="FFFFFF"/>
                </a:solidFill>
                <a:latin typeface="Arial"/>
                <a:ea typeface="Arial"/>
                <a:cs typeface="Arial"/>
              </a:rPr>
              <a:t>Shell</a:t>
            </a:r>
          </a:p>
          <a:p>
            <a:pPr algn="ctr">
              <a:defRPr sz="1800" b="1">
                <a:solidFill>
                  <a:srgbClr val="FFFFFF"/>
                </a:solidFill>
                <a:latin typeface="Arial"/>
                <a:ea typeface="Arial"/>
                <a:cs typeface="Arial"/>
              </a:defRPr>
            </a:pPr>
            <a:r>
              <a:rPr sz="1800" b="1">
                <a:solidFill>
                  <a:srgbClr val="FFFFFF"/>
                </a:solidFill>
                <a:latin typeface="Arial"/>
                <a:ea typeface="Arial"/>
                <a:cs typeface="Arial"/>
              </a:rPr>
              <a:t>dispatch</a:t>
            </a:r>
          </a:p>
        </p:txBody>
      </p:sp>
      <p:sp>
        <p:nvSpPr>
          <p:cNvPr id="16" name="VGA text output displays the prompt, command">
            <a:extLst>
              <a:ext uri="{FF2B5EF4-FFF2-40B4-BE49-F238E27FC236}">
                <a16:creationId xmlns:a16="http://schemas.microsoft.com/office/drawing/2014/main" id="{C9051C90-C7AD-4A60-BAB3-216B4E21C9FE}"/>
              </a:ext>
            </a:extLst>
          </p:cNvPr>
          <p:cNvSpPr>
            <a:spLocks noGrp="1"/>
          </p:cNvSpPr>
          <p:nvPr/>
        </p:nvSpPr>
        <p:spPr>
          <a:xfrm>
            <a:off x="609600" y="5648325"/>
            <a:ext cx="10972800" cy="504825"/>
          </a:xfrm>
          <a:prstGeom prst="rect">
            <a:avLst/>
          </a:prstGeom>
          <a:noFill/>
          <a:ln w="0">
            <a:noFill/>
          </a:ln>
        </p:spPr>
        <p:txBody>
          <a:bodyPr lIns="0" tIns="0" rIns="0" bIns="0" anchor="ctr"/>
          <a:lstStyle>
            <a:defPPr algn="l">
              <a:defRPr sz="1725" b="0">
                <a:solidFill>
                  <a:srgbClr val="D5C9E6"/>
                </a:solidFill>
                <a:latin typeface="Arial"/>
                <a:ea typeface="Arial"/>
                <a:cs typeface="Arial"/>
              </a:defRPr>
            </a:defPPr>
          </a:lstStyle>
          <a:p>
            <a:pPr algn="l">
              <a:defRPr sz="1725" b="0">
                <a:solidFill>
                  <a:srgbClr val="D5C9E6"/>
                </a:solidFill>
                <a:latin typeface="Arial"/>
                <a:ea typeface="Arial"/>
                <a:cs typeface="Arial"/>
              </a:defRPr>
            </a:pPr>
            <a:r>
              <a:rPr sz="1725" b="0">
                <a:solidFill>
                  <a:srgbClr val="D5C9E6"/>
                </a:solidFill>
                <a:latin typeface="Arial"/>
                <a:ea typeface="Arial"/>
                <a:cs typeface="Arial"/>
              </a:rPr>
              <a:t>VGA text output displays the prompt, command results and errors.</a:t>
            </a:r>
          </a:p>
        </p:txBody>
      </p:sp>
    </p:spTree>
    <p:extLst>
      <p:ext uri="{BB962C8B-B14F-4D97-AF65-F5344CB8AC3E}">
        <p14:creationId xmlns:p14="http://schemas.microsoft.com/office/powerpoint/2010/main" val="88221020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3" name="FILESYSTEM">
            <a:extLst>
              <a:ext uri="{FF2B5EF4-FFF2-40B4-BE49-F238E27FC236}">
                <a16:creationId xmlns:a16="http://schemas.microsoft.com/office/drawing/2014/main" id="{9490602B-2B29-46BB-A36C-BC448E23DC9B}"/>
              </a:ext>
            </a:extLst>
          </p:cNvPr>
          <p:cNvSpPr>
            <a:spLocks noGrp="1"/>
          </p:cNvSpPr>
          <p:nvPr/>
        </p:nvSpPr>
        <p:spPr>
          <a:xfrm>
            <a:off x="609600" y="323850"/>
            <a:ext cx="10001250" cy="228600"/>
          </a:xfrm>
          <a:prstGeom prst="rect">
            <a:avLst/>
          </a:prstGeom>
          <a:noFill/>
          <a:ln w="0">
            <a:noFill/>
          </a:ln>
        </p:spPr>
        <p:txBody>
          <a:bodyPr lIns="0" tIns="0" rIns="0" bIns="0" anchor="ctr"/>
          <a:lstStyle>
            <a:defPPr algn="l">
              <a:defRPr sz="1200" b="1">
                <a:solidFill>
                  <a:srgbClr val="7D43D5"/>
                </a:solidFill>
                <a:latin typeface="Arial"/>
                <a:ea typeface="Arial"/>
                <a:cs typeface="Arial"/>
              </a:defRPr>
            </a:defPPr>
          </a:lstStyle>
          <a:p>
            <a:pPr algn="l">
              <a:defRPr sz="1200" b="1">
                <a:solidFill>
                  <a:srgbClr val="7D43D5"/>
                </a:solidFill>
                <a:latin typeface="Arial"/>
                <a:ea typeface="Arial"/>
                <a:cs typeface="Arial"/>
              </a:defRPr>
            </a:pPr>
            <a:r>
              <a:rPr sz="1200" b="1">
                <a:solidFill>
                  <a:srgbClr val="7D43D5"/>
                </a:solidFill>
                <a:latin typeface="Arial"/>
                <a:ea typeface="Arial"/>
                <a:cs typeface="Arial"/>
              </a:rPr>
              <a:t>FILESYSTEM</a:t>
            </a:r>
          </a:p>
        </p:txBody>
      </p:sp>
      <p:sp>
        <p:nvSpPr>
          <p:cNvPr id="2" name="Shell command surface">
            <a:extLst>
              <a:ext uri="{FF2B5EF4-FFF2-40B4-BE49-F238E27FC236}">
                <a16:creationId xmlns:a16="http://schemas.microsoft.com/office/drawing/2014/main" id="{F63C735D-2173-48CD-8DC2-9FFC424C5586}"/>
              </a:ext>
            </a:extLst>
          </p:cNvPr>
          <p:cNvSpPr>
            <a:spLocks noGrp="1"/>
          </p:cNvSpPr>
          <p:nvPr/>
        </p:nvSpPr>
        <p:spPr>
          <a:xfrm>
            <a:off x="609600" y="876300"/>
            <a:ext cx="10972800" cy="952500"/>
          </a:xfrm>
          <a:prstGeom prst="rect">
            <a:avLst/>
          </a:prstGeom>
          <a:noFill/>
          <a:ln w="0">
            <a:noFill/>
          </a:ln>
        </p:spPr>
        <p:txBody>
          <a:bodyPr lIns="0" tIns="0" rIns="0" bIns="0" anchor="ctr"/>
          <a:lstStyle>
            <a:defPPr algn="l">
              <a:defRPr sz="3300" b="1">
                <a:solidFill>
                  <a:srgbClr val="251139"/>
                </a:solidFill>
                <a:latin typeface="Arial"/>
                <a:ea typeface="Arial"/>
                <a:cs typeface="Arial"/>
              </a:defRPr>
            </a:defPPr>
          </a:lstStyle>
          <a:p>
            <a:pPr algn="l">
              <a:defRPr sz="3300" b="1">
                <a:solidFill>
                  <a:srgbClr val="251139"/>
                </a:solidFill>
                <a:latin typeface="Arial"/>
                <a:ea typeface="Arial"/>
                <a:cs typeface="Arial"/>
              </a:defRPr>
            </a:pPr>
            <a:r>
              <a:rPr sz="3300" b="1">
                <a:solidFill>
                  <a:srgbClr val="251139"/>
                </a:solidFill>
                <a:latin typeface="Arial"/>
                <a:ea typeface="Arial"/>
                <a:cs typeface="Arial"/>
              </a:rPr>
              <a:t>Shell command surface</a:t>
            </a:r>
          </a:p>
        </p:txBody>
      </p:sp>
      <p:sp>
        <p:nvSpPr>
          <p:cNvPr id="3" name="AGENTIC OS  /  MVP TECHNICAL WALKTHROUGH">
            <a:extLst>
              <a:ext uri="{FF2B5EF4-FFF2-40B4-BE49-F238E27FC236}">
                <a16:creationId xmlns:a16="http://schemas.microsoft.com/office/drawing/2014/main" id="{4C29D3DC-657F-4EEC-B541-3C7A1E28FBAA}"/>
              </a:ext>
            </a:extLst>
          </p:cNvPr>
          <p:cNvSpPr>
            <a:spLocks noGrp="1"/>
          </p:cNvSpPr>
          <p:nvPr/>
        </p:nvSpPr>
        <p:spPr>
          <a:xfrm>
            <a:off x="609600" y="6410325"/>
            <a:ext cx="10001250" cy="190500"/>
          </a:xfrm>
          <a:prstGeom prst="rect">
            <a:avLst/>
          </a:prstGeom>
          <a:noFill/>
          <a:ln w="0">
            <a:noFill/>
          </a:ln>
        </p:spPr>
        <p:txBody>
          <a:bodyPr lIns="0" tIns="0" rIns="0" bIns="0" anchor="ctr"/>
          <a:lstStyle>
            <a:defPPr algn="l">
              <a:defRPr sz="975" b="0">
                <a:solidFill>
                  <a:srgbClr val="7D43D5"/>
                </a:solidFill>
                <a:latin typeface="Arial"/>
                <a:ea typeface="Arial"/>
                <a:cs typeface="Arial"/>
              </a:defRPr>
            </a:defPPr>
          </a:lstStyle>
          <a:p>
            <a:pPr algn="l">
              <a:defRPr sz="975" b="0">
                <a:solidFill>
                  <a:srgbClr val="7D43D5"/>
                </a:solidFill>
                <a:latin typeface="Arial"/>
                <a:ea typeface="Arial"/>
                <a:cs typeface="Arial"/>
              </a:defRPr>
            </a:pPr>
            <a:r>
              <a:rPr sz="975" b="0">
                <a:solidFill>
                  <a:srgbClr val="7D43D5"/>
                </a:solidFill>
                <a:latin typeface="Arial"/>
                <a:ea typeface="Arial"/>
                <a:cs typeface="Arial"/>
              </a:rPr>
              <a:t>AGENTIC OS  /  MVP TECHNICAL WALKTHROUGH</a:t>
            </a:r>
          </a:p>
        </p:txBody>
      </p:sp>
      <p:sp>
        <p:nvSpPr>
          <p:cNvPr id="4" name="12">
            <a:extLst>
              <a:ext uri="{FF2B5EF4-FFF2-40B4-BE49-F238E27FC236}">
                <a16:creationId xmlns:a16="http://schemas.microsoft.com/office/drawing/2014/main" id="{2E9BAB3F-BFCC-4CA0-B66B-B8E9A1B46C2A}"/>
              </a:ext>
            </a:extLst>
          </p:cNvPr>
          <p:cNvSpPr>
            <a:spLocks noGrp="1"/>
          </p:cNvSpPr>
          <p:nvPr/>
        </p:nvSpPr>
        <p:spPr>
          <a:xfrm>
            <a:off x="11029950" y="6372225"/>
            <a:ext cx="552450" cy="247650"/>
          </a:xfrm>
          <a:prstGeom prst="rect">
            <a:avLst/>
          </a:prstGeom>
          <a:noFill/>
          <a:ln w="0">
            <a:noFill/>
          </a:ln>
        </p:spPr>
        <p:txBody>
          <a:bodyPr lIns="0" tIns="0" rIns="0" bIns="0" anchor="ctr"/>
          <a:lstStyle>
            <a:defPPr algn="r">
              <a:defRPr sz="1275" b="0">
                <a:solidFill>
                  <a:srgbClr val="7D43D5"/>
                </a:solidFill>
                <a:latin typeface="Arial"/>
                <a:ea typeface="Arial"/>
                <a:cs typeface="Arial"/>
              </a:defRPr>
            </a:defPPr>
          </a:lstStyle>
          <a:p>
            <a:pPr algn="r">
              <a:defRPr sz="1275" b="0">
                <a:solidFill>
                  <a:srgbClr val="7D43D5"/>
                </a:solidFill>
                <a:latin typeface="Arial"/>
                <a:ea typeface="Arial"/>
                <a:cs typeface="Arial"/>
              </a:defRPr>
            </a:pPr>
            <a:r>
              <a:rPr sz="1275" b="0">
                <a:solidFill>
                  <a:srgbClr val="7D43D5"/>
                </a:solidFill>
                <a:latin typeface="Arial"/>
                <a:ea typeface="Arial"/>
                <a:cs typeface="Arial"/>
              </a:rPr>
              <a:t>12</a:t>
            </a:r>
          </a:p>
        </p:txBody>
      </p:sp>
      <p:sp>
        <p:nvSpPr>
          <p:cNvPr id="5" name="Navigate">
            <a:extLst>
              <a:ext uri="{FF2B5EF4-FFF2-40B4-BE49-F238E27FC236}">
                <a16:creationId xmlns:a16="http://schemas.microsoft.com/office/drawing/2014/main" id="{83916476-CBB2-4F89-A980-4CC912F5CB48}"/>
              </a:ext>
            </a:extLst>
          </p:cNvPr>
          <p:cNvSpPr>
            <a:spLocks noGrp="1"/>
          </p:cNvSpPr>
          <p:nvPr/>
        </p:nvSpPr>
        <p:spPr>
          <a:xfrm>
            <a:off x="609600" y="2000250"/>
            <a:ext cx="3048000" cy="428625"/>
          </a:xfrm>
          <a:prstGeom prst="rect">
            <a:avLst/>
          </a:prstGeom>
          <a:noFill/>
          <a:ln w="0">
            <a:noFill/>
          </a:ln>
        </p:spPr>
        <p:txBody>
          <a:bodyPr lIns="0" tIns="0" rIns="0" bIns="0" anchor="ctr"/>
          <a:lstStyle>
            <a:defPPr algn="l">
              <a:defRPr sz="2100" b="1">
                <a:solidFill>
                  <a:srgbClr val="7D43D5"/>
                </a:solidFill>
                <a:latin typeface="Arial"/>
                <a:ea typeface="Arial"/>
                <a:cs typeface="Arial"/>
              </a:defRPr>
            </a:defPPr>
          </a:lstStyle>
          <a:p>
            <a:pPr algn="l">
              <a:defRPr sz="2100" b="1">
                <a:solidFill>
                  <a:srgbClr val="7D43D5"/>
                </a:solidFill>
                <a:latin typeface="Arial"/>
                <a:ea typeface="Arial"/>
                <a:cs typeface="Arial"/>
              </a:defRPr>
            </a:pPr>
            <a:r>
              <a:rPr sz="2100" b="1">
                <a:solidFill>
                  <a:srgbClr val="7D43D5"/>
                </a:solidFill>
                <a:latin typeface="Arial"/>
                <a:ea typeface="Arial"/>
                <a:cs typeface="Arial"/>
              </a:rPr>
              <a:t>Navigate</a:t>
            </a:r>
          </a:p>
        </p:txBody>
      </p:sp>
      <p:sp>
        <p:nvSpPr>
          <p:cNvPr id="6" name="help    pwd    cd    ls">
            <a:extLst>
              <a:ext uri="{FF2B5EF4-FFF2-40B4-BE49-F238E27FC236}">
                <a16:creationId xmlns:a16="http://schemas.microsoft.com/office/drawing/2014/main" id="{4EC66E6D-20B2-442D-9FA8-2FB672BFC7CB}"/>
              </a:ext>
            </a:extLst>
          </p:cNvPr>
          <p:cNvSpPr>
            <a:spLocks noGrp="1"/>
          </p:cNvSpPr>
          <p:nvPr/>
        </p:nvSpPr>
        <p:spPr>
          <a:xfrm>
            <a:off x="3943350" y="2000250"/>
            <a:ext cx="7639050" cy="714375"/>
          </a:xfrm>
          <a:prstGeom prst="rect">
            <a:avLst/>
          </a:prstGeom>
          <a:noFill/>
          <a:ln w="0">
            <a:noFill/>
          </a:ln>
        </p:spPr>
        <p:txBody>
          <a:bodyPr lIns="0" tIns="0" rIns="0" bIns="0" anchor="ctr"/>
          <a:lstStyle>
            <a:defPPr algn="l">
              <a:defRPr sz="2025" b="0">
                <a:solidFill>
                  <a:srgbClr val="251139"/>
                </a:solidFill>
                <a:latin typeface="Arial"/>
                <a:ea typeface="Arial"/>
                <a:cs typeface="Arial"/>
              </a:defRPr>
            </a:defPPr>
          </a:lstStyle>
          <a:p>
            <a:pPr algn="l">
              <a:defRPr sz="2025" b="0">
                <a:solidFill>
                  <a:srgbClr val="251139"/>
                </a:solidFill>
                <a:latin typeface="Arial"/>
                <a:ea typeface="Arial"/>
                <a:cs typeface="Arial"/>
              </a:defRPr>
            </a:pPr>
            <a:r>
              <a:rPr sz="2025" b="0">
                <a:solidFill>
                  <a:srgbClr val="251139"/>
                </a:solidFill>
                <a:latin typeface="Arial"/>
                <a:ea typeface="Arial"/>
                <a:cs typeface="Arial"/>
              </a:rPr>
              <a:t>help    pwd    cd    ls</a:t>
            </a:r>
          </a:p>
        </p:txBody>
      </p:sp>
      <p:sp>
        <p:nvSpPr>
          <p:cNvPr id="7" name="Create and read">
            <a:extLst>
              <a:ext uri="{FF2B5EF4-FFF2-40B4-BE49-F238E27FC236}">
                <a16:creationId xmlns:a16="http://schemas.microsoft.com/office/drawing/2014/main" id="{BFE02742-5C9A-49B3-AD92-F69DF2A0BC6D}"/>
              </a:ext>
            </a:extLst>
          </p:cNvPr>
          <p:cNvSpPr>
            <a:spLocks noGrp="1"/>
          </p:cNvSpPr>
          <p:nvPr/>
        </p:nvSpPr>
        <p:spPr>
          <a:xfrm>
            <a:off x="609600" y="2895600"/>
            <a:ext cx="3048000" cy="428625"/>
          </a:xfrm>
          <a:prstGeom prst="rect">
            <a:avLst/>
          </a:prstGeom>
          <a:noFill/>
          <a:ln w="0">
            <a:noFill/>
          </a:ln>
        </p:spPr>
        <p:txBody>
          <a:bodyPr lIns="0" tIns="0" rIns="0" bIns="0" anchor="ctr"/>
          <a:lstStyle>
            <a:defPPr algn="l">
              <a:defRPr sz="2100" b="1">
                <a:solidFill>
                  <a:srgbClr val="7D43D5"/>
                </a:solidFill>
                <a:latin typeface="Arial"/>
                <a:ea typeface="Arial"/>
                <a:cs typeface="Arial"/>
              </a:defRPr>
            </a:defPPr>
          </a:lstStyle>
          <a:p>
            <a:pPr algn="l">
              <a:defRPr sz="2100" b="1">
                <a:solidFill>
                  <a:srgbClr val="7D43D5"/>
                </a:solidFill>
                <a:latin typeface="Arial"/>
                <a:ea typeface="Arial"/>
                <a:cs typeface="Arial"/>
              </a:defRPr>
            </a:pPr>
            <a:r>
              <a:rPr sz="2100" b="1">
                <a:solidFill>
                  <a:srgbClr val="7D43D5"/>
                </a:solidFill>
                <a:latin typeface="Arial"/>
                <a:ea typeface="Arial"/>
                <a:cs typeface="Arial"/>
              </a:rPr>
              <a:t>Create and read</a:t>
            </a:r>
          </a:p>
        </p:txBody>
      </p:sp>
      <p:sp>
        <p:nvSpPr>
          <p:cNvPr id="8" name="mkdir    touch    cat">
            <a:extLst>
              <a:ext uri="{FF2B5EF4-FFF2-40B4-BE49-F238E27FC236}">
                <a16:creationId xmlns:a16="http://schemas.microsoft.com/office/drawing/2014/main" id="{8C1B542A-C69D-4E50-AC19-8A399CDD30A0}"/>
              </a:ext>
            </a:extLst>
          </p:cNvPr>
          <p:cNvSpPr>
            <a:spLocks noGrp="1"/>
          </p:cNvSpPr>
          <p:nvPr/>
        </p:nvSpPr>
        <p:spPr>
          <a:xfrm>
            <a:off x="3943350" y="2895600"/>
            <a:ext cx="7639050" cy="714375"/>
          </a:xfrm>
          <a:prstGeom prst="rect">
            <a:avLst/>
          </a:prstGeom>
          <a:noFill/>
          <a:ln w="0">
            <a:noFill/>
          </a:ln>
        </p:spPr>
        <p:txBody>
          <a:bodyPr lIns="0" tIns="0" rIns="0" bIns="0" anchor="ctr"/>
          <a:lstStyle>
            <a:defPPr algn="l">
              <a:defRPr sz="2025" b="0">
                <a:solidFill>
                  <a:srgbClr val="251139"/>
                </a:solidFill>
                <a:latin typeface="Arial"/>
                <a:ea typeface="Arial"/>
                <a:cs typeface="Arial"/>
              </a:defRPr>
            </a:defPPr>
          </a:lstStyle>
          <a:p>
            <a:pPr algn="l">
              <a:defRPr sz="2025" b="0">
                <a:solidFill>
                  <a:srgbClr val="251139"/>
                </a:solidFill>
                <a:latin typeface="Arial"/>
                <a:ea typeface="Arial"/>
                <a:cs typeface="Arial"/>
              </a:defRPr>
            </a:pPr>
            <a:r>
              <a:rPr sz="2025" b="0">
                <a:solidFill>
                  <a:srgbClr val="251139"/>
                </a:solidFill>
                <a:latin typeface="Arial"/>
                <a:ea typeface="Arial"/>
                <a:cs typeface="Arial"/>
              </a:rPr>
              <a:t>mkdir    touch    cat</a:t>
            </a:r>
          </a:p>
        </p:txBody>
      </p:sp>
      <p:sp>
        <p:nvSpPr>
          <p:cNvPr id="9" name="Update and delete">
            <a:extLst>
              <a:ext uri="{FF2B5EF4-FFF2-40B4-BE49-F238E27FC236}">
                <a16:creationId xmlns:a16="http://schemas.microsoft.com/office/drawing/2014/main" id="{B4B1A81D-B62D-401A-B572-C6DAD2A8AC85}"/>
              </a:ext>
            </a:extLst>
          </p:cNvPr>
          <p:cNvSpPr>
            <a:spLocks noGrp="1"/>
          </p:cNvSpPr>
          <p:nvPr/>
        </p:nvSpPr>
        <p:spPr>
          <a:xfrm>
            <a:off x="609600" y="3790950"/>
            <a:ext cx="3048000" cy="428625"/>
          </a:xfrm>
          <a:prstGeom prst="rect">
            <a:avLst/>
          </a:prstGeom>
          <a:noFill/>
          <a:ln w="0">
            <a:noFill/>
          </a:ln>
        </p:spPr>
        <p:txBody>
          <a:bodyPr lIns="0" tIns="0" rIns="0" bIns="0" anchor="ctr"/>
          <a:lstStyle>
            <a:defPPr algn="l">
              <a:defRPr sz="2100" b="1">
                <a:solidFill>
                  <a:srgbClr val="7D43D5"/>
                </a:solidFill>
                <a:latin typeface="Arial"/>
                <a:ea typeface="Arial"/>
                <a:cs typeface="Arial"/>
              </a:defRPr>
            </a:defPPr>
          </a:lstStyle>
          <a:p>
            <a:pPr algn="l">
              <a:defRPr sz="2100" b="1">
                <a:solidFill>
                  <a:srgbClr val="7D43D5"/>
                </a:solidFill>
                <a:latin typeface="Arial"/>
                <a:ea typeface="Arial"/>
                <a:cs typeface="Arial"/>
              </a:defRPr>
            </a:pPr>
            <a:r>
              <a:rPr sz="2100" b="1">
                <a:solidFill>
                  <a:srgbClr val="7D43D5"/>
                </a:solidFill>
                <a:latin typeface="Arial"/>
                <a:ea typeface="Arial"/>
                <a:cs typeface="Arial"/>
              </a:rPr>
              <a:t>Update and delete</a:t>
            </a:r>
          </a:p>
        </p:txBody>
      </p:sp>
      <p:sp>
        <p:nvSpPr>
          <p:cNvPr id="10" name="write    rm">
            <a:extLst>
              <a:ext uri="{FF2B5EF4-FFF2-40B4-BE49-F238E27FC236}">
                <a16:creationId xmlns:a16="http://schemas.microsoft.com/office/drawing/2014/main" id="{43CC9948-A193-4246-9D5B-CA071302EB0B}"/>
              </a:ext>
            </a:extLst>
          </p:cNvPr>
          <p:cNvSpPr>
            <a:spLocks noGrp="1"/>
          </p:cNvSpPr>
          <p:nvPr/>
        </p:nvSpPr>
        <p:spPr>
          <a:xfrm>
            <a:off x="3943350" y="3790950"/>
            <a:ext cx="7639050" cy="714375"/>
          </a:xfrm>
          <a:prstGeom prst="rect">
            <a:avLst/>
          </a:prstGeom>
          <a:noFill/>
          <a:ln w="0">
            <a:noFill/>
          </a:ln>
        </p:spPr>
        <p:txBody>
          <a:bodyPr lIns="0" tIns="0" rIns="0" bIns="0" anchor="ctr"/>
          <a:lstStyle>
            <a:defPPr algn="l">
              <a:defRPr sz="2025" b="0">
                <a:solidFill>
                  <a:srgbClr val="251139"/>
                </a:solidFill>
                <a:latin typeface="Arial"/>
                <a:ea typeface="Arial"/>
                <a:cs typeface="Arial"/>
              </a:defRPr>
            </a:defPPr>
          </a:lstStyle>
          <a:p>
            <a:pPr algn="l">
              <a:defRPr sz="2025" b="0">
                <a:solidFill>
                  <a:srgbClr val="251139"/>
                </a:solidFill>
                <a:latin typeface="Arial"/>
                <a:ea typeface="Arial"/>
                <a:cs typeface="Arial"/>
              </a:defRPr>
            </a:pPr>
            <a:r>
              <a:rPr sz="2025" b="0">
                <a:solidFill>
                  <a:srgbClr val="251139"/>
                </a:solidFill>
                <a:latin typeface="Arial"/>
                <a:ea typeface="Arial"/>
                <a:cs typeface="Arial"/>
              </a:rPr>
              <a:t>write    rm</a:t>
            </a:r>
          </a:p>
        </p:txBody>
      </p:sp>
      <p:sp>
        <p:nvSpPr>
          <p:cNvPr id="11" name="Network probe">
            <a:extLst>
              <a:ext uri="{FF2B5EF4-FFF2-40B4-BE49-F238E27FC236}">
                <a16:creationId xmlns:a16="http://schemas.microsoft.com/office/drawing/2014/main" id="{D5209E1D-31D3-4D40-A3C2-EAB820124FE1}"/>
              </a:ext>
            </a:extLst>
          </p:cNvPr>
          <p:cNvSpPr>
            <a:spLocks noGrp="1"/>
          </p:cNvSpPr>
          <p:nvPr/>
        </p:nvSpPr>
        <p:spPr>
          <a:xfrm>
            <a:off x="609600" y="4686300"/>
            <a:ext cx="3048000" cy="428625"/>
          </a:xfrm>
          <a:prstGeom prst="rect">
            <a:avLst/>
          </a:prstGeom>
          <a:noFill/>
          <a:ln w="0">
            <a:noFill/>
          </a:ln>
        </p:spPr>
        <p:txBody>
          <a:bodyPr lIns="0" tIns="0" rIns="0" bIns="0" anchor="ctr"/>
          <a:lstStyle>
            <a:defPPr algn="l">
              <a:defRPr sz="2100" b="1">
                <a:solidFill>
                  <a:srgbClr val="7D43D5"/>
                </a:solidFill>
                <a:latin typeface="Arial"/>
                <a:ea typeface="Arial"/>
                <a:cs typeface="Arial"/>
              </a:defRPr>
            </a:defPPr>
          </a:lstStyle>
          <a:p>
            <a:pPr algn="l">
              <a:defRPr sz="2100" b="1">
                <a:solidFill>
                  <a:srgbClr val="7D43D5"/>
                </a:solidFill>
                <a:latin typeface="Arial"/>
                <a:ea typeface="Arial"/>
                <a:cs typeface="Arial"/>
              </a:defRPr>
            </a:pPr>
            <a:r>
              <a:rPr sz="2100" b="1">
                <a:solidFill>
                  <a:srgbClr val="7D43D5"/>
                </a:solidFill>
                <a:latin typeface="Arial"/>
                <a:ea typeface="Arial"/>
                <a:cs typeface="Arial"/>
              </a:rPr>
              <a:t>Network probe</a:t>
            </a:r>
          </a:p>
        </p:txBody>
      </p:sp>
      <p:sp>
        <p:nvSpPr>
          <p:cNvPr id="12" name="tcpping &lt;ipv4&gt; [port]">
            <a:extLst>
              <a:ext uri="{FF2B5EF4-FFF2-40B4-BE49-F238E27FC236}">
                <a16:creationId xmlns:a16="http://schemas.microsoft.com/office/drawing/2014/main" id="{73FC7DE6-87C5-48F2-B808-28094571BD55}"/>
              </a:ext>
            </a:extLst>
          </p:cNvPr>
          <p:cNvSpPr>
            <a:spLocks noGrp="1"/>
          </p:cNvSpPr>
          <p:nvPr/>
        </p:nvSpPr>
        <p:spPr>
          <a:xfrm>
            <a:off x="3943350" y="4686300"/>
            <a:ext cx="7639050" cy="714375"/>
          </a:xfrm>
          <a:prstGeom prst="rect">
            <a:avLst/>
          </a:prstGeom>
          <a:noFill/>
          <a:ln w="0">
            <a:noFill/>
          </a:ln>
        </p:spPr>
        <p:txBody>
          <a:bodyPr lIns="0" tIns="0" rIns="0" bIns="0" anchor="ctr"/>
          <a:lstStyle>
            <a:defPPr algn="l">
              <a:defRPr sz="2025" b="0">
                <a:solidFill>
                  <a:srgbClr val="251139"/>
                </a:solidFill>
                <a:latin typeface="Arial"/>
                <a:ea typeface="Arial"/>
                <a:cs typeface="Arial"/>
              </a:defRPr>
            </a:defPPr>
          </a:lstStyle>
          <a:p>
            <a:pPr algn="l">
              <a:defRPr sz="2025" b="0">
                <a:solidFill>
                  <a:srgbClr val="251139"/>
                </a:solidFill>
                <a:latin typeface="Arial"/>
                <a:ea typeface="Arial"/>
                <a:cs typeface="Arial"/>
              </a:defRPr>
            </a:pPr>
            <a:r>
              <a:rPr sz="2025" b="0">
                <a:solidFill>
                  <a:srgbClr val="251139"/>
                </a:solidFill>
                <a:latin typeface="Arial"/>
                <a:ea typeface="Arial"/>
                <a:cs typeface="Arial"/>
              </a:rPr>
              <a:t>tcpping &lt;ipv4&gt; [port]</a:t>
            </a:r>
          </a:p>
        </p:txBody>
      </p:sp>
    </p:spTree>
    <p:extLst>
      <p:ext uri="{BB962C8B-B14F-4D97-AF65-F5344CB8AC3E}">
        <p14:creationId xmlns:p14="http://schemas.microsoft.com/office/powerpoint/2010/main" val="191783156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180B2B"/>
        </a:solidFill>
        <a:effectLst/>
      </p:bgPr>
    </p:bg>
    <p:spTree>
      <p:nvGrpSpPr>
        <p:cNvPr id="1" name=""/>
        <p:cNvGrpSpPr/>
        <p:nvPr/>
      </p:nvGrpSpPr>
      <p:grpSpPr>
        <a:xfrm>
          <a:off x="0" y="0"/>
          <a:ext cx="0" cy="0"/>
          <a:chOff x="0" y="0"/>
          <a:chExt cx="0" cy="0"/>
        </a:xfrm>
      </p:grpSpPr>
      <p:sp>
        <p:nvSpPr>
          <p:cNvPr id="19" name="FILESYSTEM">
            <a:extLst>
              <a:ext uri="{FF2B5EF4-FFF2-40B4-BE49-F238E27FC236}">
                <a16:creationId xmlns:a16="http://schemas.microsoft.com/office/drawing/2014/main" id="{6865CDFE-3A30-42CE-9B6A-C35B7FF62EC5}"/>
              </a:ext>
            </a:extLst>
          </p:cNvPr>
          <p:cNvSpPr>
            <a:spLocks noGrp="1"/>
          </p:cNvSpPr>
          <p:nvPr/>
        </p:nvSpPr>
        <p:spPr>
          <a:xfrm>
            <a:off x="609600" y="323850"/>
            <a:ext cx="10001250" cy="228600"/>
          </a:xfrm>
          <a:prstGeom prst="rect">
            <a:avLst/>
          </a:prstGeom>
          <a:noFill/>
          <a:ln w="0">
            <a:noFill/>
          </a:ln>
        </p:spPr>
        <p:txBody>
          <a:bodyPr lIns="0" tIns="0" rIns="0" bIns="0" anchor="ctr"/>
          <a:lstStyle>
            <a:defPPr algn="l">
              <a:defRPr sz="1200" b="1">
                <a:solidFill>
                  <a:srgbClr val="BE98F6"/>
                </a:solidFill>
                <a:latin typeface="Arial"/>
                <a:ea typeface="Arial"/>
                <a:cs typeface="Arial"/>
              </a:defRPr>
            </a:defPPr>
          </a:lstStyle>
          <a:p>
            <a:pPr algn="l">
              <a:defRPr sz="1200" b="1">
                <a:solidFill>
                  <a:srgbClr val="BE98F6"/>
                </a:solidFill>
                <a:latin typeface="Arial"/>
                <a:ea typeface="Arial"/>
                <a:cs typeface="Arial"/>
              </a:defRPr>
            </a:pPr>
            <a:r>
              <a:rPr sz="1200" b="1">
                <a:solidFill>
                  <a:srgbClr val="BE98F6"/>
                </a:solidFill>
                <a:latin typeface="Arial"/>
                <a:ea typeface="Arial"/>
                <a:cs typeface="Arial"/>
              </a:rPr>
              <a:t>FILESYSTEM</a:t>
            </a:r>
          </a:p>
        </p:txBody>
      </p:sp>
      <p:sp>
        <p:nvSpPr>
          <p:cNvPr id="2" name="RAM filesystem model">
            <a:extLst>
              <a:ext uri="{FF2B5EF4-FFF2-40B4-BE49-F238E27FC236}">
                <a16:creationId xmlns:a16="http://schemas.microsoft.com/office/drawing/2014/main" id="{851CB3C5-ED44-41B6-8618-3B00E9021E1F}"/>
              </a:ext>
            </a:extLst>
          </p:cNvPr>
          <p:cNvSpPr>
            <a:spLocks noGrp="1"/>
          </p:cNvSpPr>
          <p:nvPr/>
        </p:nvSpPr>
        <p:spPr>
          <a:xfrm>
            <a:off x="609600" y="876300"/>
            <a:ext cx="10972800" cy="952500"/>
          </a:xfrm>
          <a:prstGeom prst="rect">
            <a:avLst/>
          </a:prstGeom>
          <a:noFill/>
          <a:ln w="0">
            <a:noFill/>
          </a:ln>
        </p:spPr>
        <p:txBody>
          <a:bodyPr lIns="0" tIns="0" rIns="0" bIns="0" anchor="ctr"/>
          <a:lstStyle>
            <a:defPPr algn="l">
              <a:defRPr sz="3300" b="1">
                <a:solidFill>
                  <a:srgbClr val="FFFFFF"/>
                </a:solidFill>
                <a:latin typeface="Arial"/>
                <a:ea typeface="Arial"/>
                <a:cs typeface="Arial"/>
              </a:defRPr>
            </a:defPPr>
          </a:lstStyle>
          <a:p>
            <a:pPr algn="l">
              <a:defRPr sz="3300" b="1">
                <a:solidFill>
                  <a:srgbClr val="FFFFFF"/>
                </a:solidFill>
                <a:latin typeface="Arial"/>
                <a:ea typeface="Arial"/>
                <a:cs typeface="Arial"/>
              </a:defRPr>
            </a:pPr>
            <a:r>
              <a:rPr sz="3300" b="1">
                <a:solidFill>
                  <a:srgbClr val="FFFFFF"/>
                </a:solidFill>
                <a:latin typeface="Arial"/>
                <a:ea typeface="Arial"/>
                <a:cs typeface="Arial"/>
              </a:rPr>
              <a:t>RAM filesystem model</a:t>
            </a:r>
          </a:p>
        </p:txBody>
      </p:sp>
      <p:sp>
        <p:nvSpPr>
          <p:cNvPr id="3" name="AGENTIC OS  /  MVP TECHNICAL WALKTHROUGH">
            <a:extLst>
              <a:ext uri="{FF2B5EF4-FFF2-40B4-BE49-F238E27FC236}">
                <a16:creationId xmlns:a16="http://schemas.microsoft.com/office/drawing/2014/main" id="{67F20987-CDDD-45C0-AD7D-74014D24E4C8}"/>
              </a:ext>
            </a:extLst>
          </p:cNvPr>
          <p:cNvSpPr>
            <a:spLocks noGrp="1"/>
          </p:cNvSpPr>
          <p:nvPr/>
        </p:nvSpPr>
        <p:spPr>
          <a:xfrm>
            <a:off x="609600" y="6410325"/>
            <a:ext cx="10001250" cy="190500"/>
          </a:xfrm>
          <a:prstGeom prst="rect">
            <a:avLst/>
          </a:prstGeom>
          <a:noFill/>
          <a:ln w="0">
            <a:noFill/>
          </a:ln>
        </p:spPr>
        <p:txBody>
          <a:bodyPr lIns="0" tIns="0" rIns="0" bIns="0" anchor="ctr"/>
          <a:lstStyle>
            <a:defPPr algn="l">
              <a:defRPr sz="975" b="0">
                <a:solidFill>
                  <a:srgbClr val="D5C9E6"/>
                </a:solidFill>
                <a:latin typeface="Arial"/>
                <a:ea typeface="Arial"/>
                <a:cs typeface="Arial"/>
              </a:defRPr>
            </a:defPPr>
          </a:lstStyle>
          <a:p>
            <a:pPr algn="l">
              <a:defRPr sz="975" b="0">
                <a:solidFill>
                  <a:srgbClr val="D5C9E6"/>
                </a:solidFill>
                <a:latin typeface="Arial"/>
                <a:ea typeface="Arial"/>
                <a:cs typeface="Arial"/>
              </a:defRPr>
            </a:pPr>
            <a:r>
              <a:rPr sz="975" b="0">
                <a:solidFill>
                  <a:srgbClr val="D5C9E6"/>
                </a:solidFill>
                <a:latin typeface="Arial"/>
                <a:ea typeface="Arial"/>
                <a:cs typeface="Arial"/>
              </a:rPr>
              <a:t>AGENTIC OS  /  MVP TECHNICAL WALKTHROUGH</a:t>
            </a:r>
          </a:p>
        </p:txBody>
      </p:sp>
      <p:sp>
        <p:nvSpPr>
          <p:cNvPr id="4" name="13">
            <a:extLst>
              <a:ext uri="{FF2B5EF4-FFF2-40B4-BE49-F238E27FC236}">
                <a16:creationId xmlns:a16="http://schemas.microsoft.com/office/drawing/2014/main" id="{10120877-3B6D-4159-A030-48962822BF7E}"/>
              </a:ext>
            </a:extLst>
          </p:cNvPr>
          <p:cNvSpPr>
            <a:spLocks noGrp="1"/>
          </p:cNvSpPr>
          <p:nvPr/>
        </p:nvSpPr>
        <p:spPr>
          <a:xfrm>
            <a:off x="11029950" y="6372225"/>
            <a:ext cx="552450" cy="247650"/>
          </a:xfrm>
          <a:prstGeom prst="rect">
            <a:avLst/>
          </a:prstGeom>
          <a:noFill/>
          <a:ln w="0">
            <a:noFill/>
          </a:ln>
        </p:spPr>
        <p:txBody>
          <a:bodyPr lIns="0" tIns="0" rIns="0" bIns="0" anchor="ctr"/>
          <a:lstStyle>
            <a:defPPr algn="r">
              <a:defRPr sz="1275" b="0">
                <a:solidFill>
                  <a:srgbClr val="BE98F6"/>
                </a:solidFill>
                <a:latin typeface="Arial"/>
                <a:ea typeface="Arial"/>
                <a:cs typeface="Arial"/>
              </a:defRPr>
            </a:defPPr>
          </a:lstStyle>
          <a:p>
            <a:pPr algn="r">
              <a:defRPr sz="1275" b="0">
                <a:solidFill>
                  <a:srgbClr val="BE98F6"/>
                </a:solidFill>
                <a:latin typeface="Arial"/>
                <a:ea typeface="Arial"/>
                <a:cs typeface="Arial"/>
              </a:defRPr>
            </a:pPr>
            <a:r>
              <a:rPr sz="1275" b="0">
                <a:solidFill>
                  <a:srgbClr val="BE98F6"/>
                </a:solidFill>
                <a:latin typeface="Arial"/>
                <a:ea typeface="Arial"/>
                <a:cs typeface="Arial"/>
              </a:rPr>
              <a:t>13</a:t>
            </a:r>
          </a:p>
        </p:txBody>
      </p:sp>
      <p:sp>
        <p:nvSpPr>
          <p:cNvPr id="5" name="Rectangle 4">
            <a:extLst>
              <a:ext uri="{FF2B5EF4-FFF2-40B4-BE49-F238E27FC236}">
                <a16:creationId xmlns:a16="http://schemas.microsoft.com/office/drawing/2014/main" id="{375C8D5D-03BD-45FF-AB12-0B76A63827EE}"/>
              </a:ext>
            </a:extLst>
          </p:cNvPr>
          <p:cNvSpPr>
            <a:spLocks noGrp="1"/>
          </p:cNvSpPr>
          <p:nvPr/>
        </p:nvSpPr>
        <p:spPr>
          <a:xfrm>
            <a:off x="781050" y="2533650"/>
            <a:ext cx="1428750" cy="714375"/>
          </a:xfrm>
          <a:prstGeom prst="rect">
            <a:avLst/>
          </a:prstGeom>
          <a:solidFill>
            <a:srgbClr val="2A1547"/>
          </a:solidFill>
          <a:ln w="13335">
            <a:solidFill>
              <a:srgbClr val="7D43D5"/>
            </a:solidFill>
          </a:ln>
        </p:spPr>
      </p:sp>
      <p:sp>
        <p:nvSpPr>
          <p:cNvPr id="6" name="/">
            <a:extLst>
              <a:ext uri="{FF2B5EF4-FFF2-40B4-BE49-F238E27FC236}">
                <a16:creationId xmlns:a16="http://schemas.microsoft.com/office/drawing/2014/main" id="{6CCBFCEC-5B56-4CB4-B267-E16127AD23EF}"/>
              </a:ext>
            </a:extLst>
          </p:cNvPr>
          <p:cNvSpPr>
            <a:spLocks noGrp="1"/>
          </p:cNvSpPr>
          <p:nvPr/>
        </p:nvSpPr>
        <p:spPr>
          <a:xfrm>
            <a:off x="923925" y="2619375"/>
            <a:ext cx="1143000" cy="542925"/>
          </a:xfrm>
          <a:prstGeom prst="rect">
            <a:avLst/>
          </a:prstGeom>
          <a:noFill/>
          <a:ln w="0">
            <a:noFill/>
          </a:ln>
        </p:spPr>
        <p:txBody>
          <a:bodyPr lIns="0" tIns="0" rIns="0" bIns="0" anchor="ctr"/>
          <a:lstStyle>
            <a:defPPr algn="ctr">
              <a:defRPr sz="1800" b="1">
                <a:solidFill>
                  <a:srgbClr val="FFFFFF"/>
                </a:solidFill>
                <a:latin typeface="Arial"/>
                <a:ea typeface="Arial"/>
                <a:cs typeface="Arial"/>
              </a:defRPr>
            </a:defPPr>
          </a:lstStyle>
          <a:p>
            <a:pPr algn="ctr">
              <a:defRPr sz="1800" b="1">
                <a:solidFill>
                  <a:srgbClr val="FFFFFF"/>
                </a:solidFill>
                <a:latin typeface="Arial"/>
                <a:ea typeface="Arial"/>
                <a:cs typeface="Arial"/>
              </a:defRPr>
            </a:pPr>
            <a:r>
              <a:rPr sz="1800" b="1">
                <a:solidFill>
                  <a:srgbClr val="FFFFFF"/>
                </a:solidFill>
                <a:latin typeface="Arial"/>
                <a:ea typeface="Arial"/>
                <a:cs typeface="Arial"/>
              </a:rPr>
              <a:t>/</a:t>
            </a:r>
          </a:p>
        </p:txBody>
      </p:sp>
      <p:sp>
        <p:nvSpPr>
          <p:cNvPr id="7" name="Rectangle 6">
            <a:extLst>
              <a:ext uri="{FF2B5EF4-FFF2-40B4-BE49-F238E27FC236}">
                <a16:creationId xmlns:a16="http://schemas.microsoft.com/office/drawing/2014/main" id="{023044C0-FDC7-4347-880A-2B7257B67FD8}"/>
              </a:ext>
            </a:extLst>
          </p:cNvPr>
          <p:cNvSpPr>
            <a:spLocks noGrp="1"/>
          </p:cNvSpPr>
          <p:nvPr/>
        </p:nvSpPr>
        <p:spPr>
          <a:xfrm>
            <a:off x="3286125" y="2533650"/>
            <a:ext cx="2333625" cy="714375"/>
          </a:xfrm>
          <a:prstGeom prst="rect">
            <a:avLst/>
          </a:prstGeom>
          <a:solidFill>
            <a:srgbClr val="2A1547"/>
          </a:solidFill>
          <a:ln w="13335">
            <a:solidFill>
              <a:srgbClr val="7D43D5"/>
            </a:solidFill>
          </a:ln>
        </p:spPr>
      </p:sp>
      <p:sp>
        <p:nvSpPr>
          <p:cNvPr id="8" name="/notes">
            <a:extLst>
              <a:ext uri="{FF2B5EF4-FFF2-40B4-BE49-F238E27FC236}">
                <a16:creationId xmlns:a16="http://schemas.microsoft.com/office/drawing/2014/main" id="{B27D06C1-C94B-4EEB-AFEF-BFF8534CE324}"/>
              </a:ext>
            </a:extLst>
          </p:cNvPr>
          <p:cNvSpPr>
            <a:spLocks noGrp="1"/>
          </p:cNvSpPr>
          <p:nvPr/>
        </p:nvSpPr>
        <p:spPr>
          <a:xfrm>
            <a:off x="3429000" y="2619375"/>
            <a:ext cx="2047875" cy="542925"/>
          </a:xfrm>
          <a:prstGeom prst="rect">
            <a:avLst/>
          </a:prstGeom>
          <a:noFill/>
          <a:ln w="0">
            <a:noFill/>
          </a:ln>
        </p:spPr>
        <p:txBody>
          <a:bodyPr lIns="0" tIns="0" rIns="0" bIns="0" anchor="ctr"/>
          <a:lstStyle>
            <a:defPPr algn="ctr">
              <a:defRPr sz="1800" b="1">
                <a:solidFill>
                  <a:srgbClr val="FFFFFF"/>
                </a:solidFill>
                <a:latin typeface="Arial"/>
                <a:ea typeface="Arial"/>
                <a:cs typeface="Arial"/>
              </a:defRPr>
            </a:defPPr>
          </a:lstStyle>
          <a:p>
            <a:pPr algn="ctr">
              <a:defRPr sz="1800" b="1">
                <a:solidFill>
                  <a:srgbClr val="FFFFFF"/>
                </a:solidFill>
                <a:latin typeface="Arial"/>
                <a:ea typeface="Arial"/>
                <a:cs typeface="Arial"/>
              </a:defRPr>
            </a:pPr>
            <a:r>
              <a:rPr sz="1800" b="1">
                <a:solidFill>
                  <a:srgbClr val="FFFFFF"/>
                </a:solidFill>
                <a:latin typeface="Arial"/>
                <a:ea typeface="Arial"/>
                <a:cs typeface="Arial"/>
              </a:rPr>
              <a:t>/notes</a:t>
            </a:r>
          </a:p>
        </p:txBody>
      </p:sp>
      <p:sp>
        <p:nvSpPr>
          <p:cNvPr id="9" name="Rectangle 8">
            <a:extLst>
              <a:ext uri="{FF2B5EF4-FFF2-40B4-BE49-F238E27FC236}">
                <a16:creationId xmlns:a16="http://schemas.microsoft.com/office/drawing/2014/main" id="{D7B62E2E-AA44-4049-AFFB-CD9F6FD8549A}"/>
              </a:ext>
            </a:extLst>
          </p:cNvPr>
          <p:cNvSpPr>
            <a:spLocks noGrp="1"/>
          </p:cNvSpPr>
          <p:nvPr/>
        </p:nvSpPr>
        <p:spPr>
          <a:xfrm>
            <a:off x="6934200" y="2171700"/>
            <a:ext cx="3429000" cy="714375"/>
          </a:xfrm>
          <a:prstGeom prst="rect">
            <a:avLst/>
          </a:prstGeom>
          <a:solidFill>
            <a:srgbClr val="2A1547"/>
          </a:solidFill>
          <a:ln w="13335">
            <a:solidFill>
              <a:srgbClr val="7D43D5"/>
            </a:solidFill>
          </a:ln>
        </p:spPr>
      </p:sp>
      <p:sp>
        <p:nvSpPr>
          <p:cNvPr id="10" name="demo.txt">
            <a:extLst>
              <a:ext uri="{FF2B5EF4-FFF2-40B4-BE49-F238E27FC236}">
                <a16:creationId xmlns:a16="http://schemas.microsoft.com/office/drawing/2014/main" id="{21B35E72-4973-46AC-B24D-6024ABFA5E57}"/>
              </a:ext>
            </a:extLst>
          </p:cNvPr>
          <p:cNvSpPr>
            <a:spLocks noGrp="1"/>
          </p:cNvSpPr>
          <p:nvPr/>
        </p:nvSpPr>
        <p:spPr>
          <a:xfrm>
            <a:off x="7077075" y="2257425"/>
            <a:ext cx="3143250" cy="542925"/>
          </a:xfrm>
          <a:prstGeom prst="rect">
            <a:avLst/>
          </a:prstGeom>
          <a:noFill/>
          <a:ln w="0">
            <a:noFill/>
          </a:ln>
        </p:spPr>
        <p:txBody>
          <a:bodyPr lIns="0" tIns="0" rIns="0" bIns="0" anchor="ctr"/>
          <a:lstStyle>
            <a:defPPr algn="ctr">
              <a:defRPr sz="1800" b="1">
                <a:solidFill>
                  <a:srgbClr val="FFFFFF"/>
                </a:solidFill>
                <a:latin typeface="Arial"/>
                <a:ea typeface="Arial"/>
                <a:cs typeface="Arial"/>
              </a:defRPr>
            </a:defPPr>
          </a:lstStyle>
          <a:p>
            <a:pPr algn="ctr">
              <a:defRPr sz="1800" b="1">
                <a:solidFill>
                  <a:srgbClr val="FFFFFF"/>
                </a:solidFill>
                <a:latin typeface="Arial"/>
                <a:ea typeface="Arial"/>
                <a:cs typeface="Arial"/>
              </a:defRPr>
            </a:pPr>
            <a:r>
              <a:rPr sz="1800" b="1">
                <a:solidFill>
                  <a:srgbClr val="FFFFFF"/>
                </a:solidFill>
                <a:latin typeface="Arial"/>
                <a:ea typeface="Arial"/>
                <a:cs typeface="Arial"/>
              </a:rPr>
              <a:t>demo.txt</a:t>
            </a:r>
          </a:p>
        </p:txBody>
      </p:sp>
      <p:sp>
        <p:nvSpPr>
          <p:cNvPr id="11" name="Rectangle 10">
            <a:extLst>
              <a:ext uri="{FF2B5EF4-FFF2-40B4-BE49-F238E27FC236}">
                <a16:creationId xmlns:a16="http://schemas.microsoft.com/office/drawing/2014/main" id="{4FFB5A04-0F6F-4EFB-8C25-B1971D5362AB}"/>
              </a:ext>
            </a:extLst>
          </p:cNvPr>
          <p:cNvSpPr>
            <a:spLocks noGrp="1"/>
          </p:cNvSpPr>
          <p:nvPr/>
        </p:nvSpPr>
        <p:spPr>
          <a:xfrm>
            <a:off x="6934200" y="3524250"/>
            <a:ext cx="3429000" cy="714375"/>
          </a:xfrm>
          <a:prstGeom prst="rect">
            <a:avLst/>
          </a:prstGeom>
          <a:solidFill>
            <a:srgbClr val="2A1547"/>
          </a:solidFill>
          <a:ln w="13335">
            <a:solidFill>
              <a:srgbClr val="7D43D5"/>
            </a:solidFill>
          </a:ln>
        </p:spPr>
      </p:sp>
      <p:sp>
        <p:nvSpPr>
          <p:cNvPr id="12" name="ideas.txt">
            <a:extLst>
              <a:ext uri="{FF2B5EF4-FFF2-40B4-BE49-F238E27FC236}">
                <a16:creationId xmlns:a16="http://schemas.microsoft.com/office/drawing/2014/main" id="{F252FBC2-59ED-4AD3-99D5-CB37C9330A9E}"/>
              </a:ext>
            </a:extLst>
          </p:cNvPr>
          <p:cNvSpPr>
            <a:spLocks noGrp="1"/>
          </p:cNvSpPr>
          <p:nvPr/>
        </p:nvSpPr>
        <p:spPr>
          <a:xfrm>
            <a:off x="7077075" y="3609975"/>
            <a:ext cx="3143250" cy="542925"/>
          </a:xfrm>
          <a:prstGeom prst="rect">
            <a:avLst/>
          </a:prstGeom>
          <a:noFill/>
          <a:ln w="0">
            <a:noFill/>
          </a:ln>
        </p:spPr>
        <p:txBody>
          <a:bodyPr lIns="0" tIns="0" rIns="0" bIns="0" anchor="ctr"/>
          <a:lstStyle>
            <a:defPPr algn="ctr">
              <a:defRPr sz="1800" b="1">
                <a:solidFill>
                  <a:srgbClr val="FFFFFF"/>
                </a:solidFill>
                <a:latin typeface="Arial"/>
                <a:ea typeface="Arial"/>
                <a:cs typeface="Arial"/>
              </a:defRPr>
            </a:defPPr>
          </a:lstStyle>
          <a:p>
            <a:pPr algn="ctr">
              <a:defRPr sz="1800" b="1">
                <a:solidFill>
                  <a:srgbClr val="FFFFFF"/>
                </a:solidFill>
                <a:latin typeface="Arial"/>
                <a:ea typeface="Arial"/>
                <a:cs typeface="Arial"/>
              </a:defRPr>
            </a:pPr>
            <a:r>
              <a:rPr sz="1800" b="1">
                <a:solidFill>
                  <a:srgbClr val="FFFFFF"/>
                </a:solidFill>
                <a:latin typeface="Arial"/>
                <a:ea typeface="Arial"/>
                <a:cs typeface="Arial"/>
              </a:rPr>
              <a:t>ideas.txt</a:t>
            </a:r>
          </a:p>
        </p:txBody>
      </p:sp>
      <p:cxnSp>
        <p:nvCxnSpPr>
          <p:cNvPr id="13" name="Straight Arrow Connector 12">
            <a:extLst>
              <a:ext uri="{FF2B5EF4-FFF2-40B4-BE49-F238E27FC236}">
                <a16:creationId xmlns:a16="http://schemas.microsoft.com/office/drawing/2014/main" id="{8A3DFE10-5395-40A2-AC8A-387AEBAC867B}"/>
              </a:ext>
            </a:extLst>
          </p:cNvPr>
          <p:cNvCxnSpPr/>
          <p:nvPr/>
        </p:nvCxnSpPr>
        <p:spPr>
          <a:xfrm>
            <a:off x="2209800" y="2895600"/>
            <a:ext cx="1000125" cy="0"/>
          </a:xfrm>
          <a:prstGeom prst="straightConnector1">
            <a:avLst/>
          </a:prstGeom>
          <a:ln w="19050">
            <a:solidFill>
              <a:srgbClr val="BE98F6"/>
            </a:solidFill>
            <a:prstDash val="solid"/>
            <a:tailEnd type="triangle" w="med" len="med"/>
          </a:ln>
        </p:spPr>
      </p:cxnSp>
      <p:cxnSp>
        <p:nvCxnSpPr>
          <p:cNvPr id="14" name="Straight Arrow Connector 13">
            <a:extLst>
              <a:ext uri="{FF2B5EF4-FFF2-40B4-BE49-F238E27FC236}">
                <a16:creationId xmlns:a16="http://schemas.microsoft.com/office/drawing/2014/main" id="{02090660-C1EF-497E-9D59-E56FBE32B508}"/>
              </a:ext>
            </a:extLst>
          </p:cNvPr>
          <p:cNvCxnSpPr/>
          <p:nvPr/>
        </p:nvCxnSpPr>
        <p:spPr>
          <a:xfrm flipV="1">
            <a:off x="5619750" y="2543175"/>
            <a:ext cx="1219200" cy="352425"/>
          </a:xfrm>
          <a:prstGeom prst="straightConnector1">
            <a:avLst/>
          </a:prstGeom>
          <a:ln w="19050">
            <a:solidFill>
              <a:srgbClr val="BE98F6"/>
            </a:solidFill>
            <a:prstDash val="solid"/>
            <a:tailEnd type="triangle" w="med" len="med"/>
          </a:ln>
        </p:spPr>
      </p:cxnSp>
      <p:cxnSp>
        <p:nvCxnSpPr>
          <p:cNvPr id="15" name="Straight Arrow Connector 14">
            <a:extLst>
              <a:ext uri="{FF2B5EF4-FFF2-40B4-BE49-F238E27FC236}">
                <a16:creationId xmlns:a16="http://schemas.microsoft.com/office/drawing/2014/main" id="{6112AF62-1745-476C-AB02-2327626E29AC}"/>
              </a:ext>
            </a:extLst>
          </p:cNvPr>
          <p:cNvCxnSpPr/>
          <p:nvPr/>
        </p:nvCxnSpPr>
        <p:spPr>
          <a:xfrm>
            <a:off x="5619750" y="2895600"/>
            <a:ext cx="1219200" cy="981075"/>
          </a:xfrm>
          <a:prstGeom prst="straightConnector1">
            <a:avLst/>
          </a:prstGeom>
          <a:ln w="19050">
            <a:solidFill>
              <a:srgbClr val="BE98F6"/>
            </a:solidFill>
            <a:prstDash val="solid"/>
            <a:tailEnd type="triangle" w="med" len="med"/>
          </a:ln>
        </p:spPr>
      </p:cxnSp>
      <p:sp>
        <p:nvSpPr>
          <p:cNvPr id="16" name="96 entry slots">
            <a:extLst>
              <a:ext uri="{FF2B5EF4-FFF2-40B4-BE49-F238E27FC236}">
                <a16:creationId xmlns:a16="http://schemas.microsoft.com/office/drawing/2014/main" id="{D7883E0E-C6A3-4CF5-9AFD-969A3171B307}"/>
              </a:ext>
            </a:extLst>
          </p:cNvPr>
          <p:cNvSpPr>
            <a:spLocks noGrp="1"/>
          </p:cNvSpPr>
          <p:nvPr/>
        </p:nvSpPr>
        <p:spPr>
          <a:xfrm>
            <a:off x="685800" y="4505325"/>
            <a:ext cx="3714750" cy="666750"/>
          </a:xfrm>
          <a:prstGeom prst="rect">
            <a:avLst/>
          </a:prstGeom>
          <a:noFill/>
          <a:ln w="0">
            <a:noFill/>
          </a:ln>
        </p:spPr>
        <p:txBody>
          <a:bodyPr lIns="0" tIns="0" rIns="0" bIns="0" anchor="ctr"/>
          <a:lstStyle>
            <a:defPPr algn="l">
              <a:defRPr sz="3000" b="1">
                <a:solidFill>
                  <a:srgbClr val="BE98F6"/>
                </a:solidFill>
                <a:latin typeface="Arial"/>
                <a:ea typeface="Arial"/>
                <a:cs typeface="Arial"/>
              </a:defRPr>
            </a:defPPr>
          </a:lstStyle>
          <a:p>
            <a:pPr algn="l">
              <a:defRPr sz="3000" b="1">
                <a:solidFill>
                  <a:srgbClr val="BE98F6"/>
                </a:solidFill>
                <a:latin typeface="Arial"/>
                <a:ea typeface="Arial"/>
                <a:cs typeface="Arial"/>
              </a:defRPr>
            </a:pPr>
            <a:r>
              <a:rPr sz="3000" b="1">
                <a:solidFill>
                  <a:srgbClr val="BE98F6"/>
                </a:solidFill>
                <a:latin typeface="Arial"/>
                <a:ea typeface="Arial"/>
                <a:cs typeface="Arial"/>
              </a:rPr>
              <a:t>96 entry slots</a:t>
            </a:r>
          </a:p>
        </p:txBody>
      </p:sp>
      <p:sp>
        <p:nvSpPr>
          <p:cNvPr id="17" name="RAM-backed data&#10;Cleared on restart">
            <a:extLst>
              <a:ext uri="{FF2B5EF4-FFF2-40B4-BE49-F238E27FC236}">
                <a16:creationId xmlns:a16="http://schemas.microsoft.com/office/drawing/2014/main" id="{882ED700-21D5-41E7-8FFE-E10A41A62D79}"/>
              </a:ext>
            </a:extLst>
          </p:cNvPr>
          <p:cNvSpPr>
            <a:spLocks noGrp="1"/>
          </p:cNvSpPr>
          <p:nvPr/>
        </p:nvSpPr>
        <p:spPr>
          <a:xfrm>
            <a:off x="6477000" y="4562475"/>
            <a:ext cx="4857750" cy="857250"/>
          </a:xfrm>
          <a:prstGeom prst="rect">
            <a:avLst/>
          </a:prstGeom>
          <a:noFill/>
          <a:ln w="0">
            <a:noFill/>
          </a:ln>
        </p:spPr>
        <p:txBody>
          <a:bodyPr lIns="0" tIns="0" rIns="0" bIns="0" anchor="ctr"/>
          <a:lstStyle>
            <a:defPPr algn="l">
              <a:defRPr sz="2250" b="0">
                <a:solidFill>
                  <a:srgbClr val="FFFFFF"/>
                </a:solidFill>
                <a:latin typeface="Arial"/>
                <a:ea typeface="Arial"/>
                <a:cs typeface="Arial"/>
              </a:defRPr>
            </a:defPPr>
          </a:lstStyle>
          <a:p>
            <a:pPr algn="l">
              <a:defRPr sz="2250" b="0">
                <a:solidFill>
                  <a:srgbClr val="FFFFFF"/>
                </a:solidFill>
                <a:latin typeface="Arial"/>
                <a:ea typeface="Arial"/>
                <a:cs typeface="Arial"/>
              </a:defRPr>
            </a:pPr>
            <a:r>
              <a:rPr sz="2250" b="0">
                <a:solidFill>
                  <a:srgbClr val="FFFFFF"/>
                </a:solidFill>
                <a:latin typeface="Arial"/>
                <a:ea typeface="Arial"/>
                <a:cs typeface="Arial"/>
              </a:rPr>
              <a:t>RAM-backed data</a:t>
            </a:r>
          </a:p>
          <a:p>
            <a:pPr algn="l">
              <a:defRPr sz="2250" b="0">
                <a:solidFill>
                  <a:srgbClr val="FFFFFF"/>
                </a:solidFill>
                <a:latin typeface="Arial"/>
                <a:ea typeface="Arial"/>
                <a:cs typeface="Arial"/>
              </a:defRPr>
            </a:pPr>
            <a:r>
              <a:rPr sz="2250" b="0">
                <a:solidFill>
                  <a:srgbClr val="FFFFFF"/>
                </a:solidFill>
                <a:latin typeface="Arial"/>
                <a:ea typeface="Arial"/>
                <a:cs typeface="Arial"/>
              </a:rPr>
              <a:t>Cleared on restart</a:t>
            </a:r>
          </a:p>
        </p:txBody>
      </p:sp>
      <p:sp>
        <p:nvSpPr>
          <p:cNvPr id="18" name="Each file stores a normalized path, byte len">
            <a:extLst>
              <a:ext uri="{FF2B5EF4-FFF2-40B4-BE49-F238E27FC236}">
                <a16:creationId xmlns:a16="http://schemas.microsoft.com/office/drawing/2014/main" id="{B5BCBB09-5F2B-4627-A084-E4639C41B735}"/>
              </a:ext>
            </a:extLst>
          </p:cNvPr>
          <p:cNvSpPr>
            <a:spLocks noGrp="1"/>
          </p:cNvSpPr>
          <p:nvPr/>
        </p:nvSpPr>
        <p:spPr>
          <a:xfrm>
            <a:off x="609600" y="5648325"/>
            <a:ext cx="10972800" cy="504825"/>
          </a:xfrm>
          <a:prstGeom prst="rect">
            <a:avLst/>
          </a:prstGeom>
          <a:noFill/>
          <a:ln w="0">
            <a:noFill/>
          </a:ln>
        </p:spPr>
        <p:txBody>
          <a:bodyPr lIns="0" tIns="0" rIns="0" bIns="0" anchor="ctr"/>
          <a:lstStyle>
            <a:defPPr algn="l">
              <a:defRPr sz="1725" b="0">
                <a:solidFill>
                  <a:srgbClr val="D5C9E6"/>
                </a:solidFill>
                <a:latin typeface="Arial"/>
                <a:ea typeface="Arial"/>
                <a:cs typeface="Arial"/>
              </a:defRPr>
            </a:defPPr>
          </a:lstStyle>
          <a:p>
            <a:pPr algn="l">
              <a:defRPr sz="1725" b="0">
                <a:solidFill>
                  <a:srgbClr val="D5C9E6"/>
                </a:solidFill>
                <a:latin typeface="Arial"/>
                <a:ea typeface="Arial"/>
                <a:cs typeface="Arial"/>
              </a:defRPr>
            </a:pPr>
            <a:r>
              <a:rPr sz="1725" b="0">
                <a:solidFill>
                  <a:srgbClr val="D5C9E6"/>
                </a:solidFill>
                <a:latin typeface="Arial"/>
                <a:ea typeface="Arial"/>
                <a:cs typeface="Arial"/>
              </a:rPr>
              <a:t>Each file stores a normalized path, byte length and pointer to its contents.</a:t>
            </a:r>
          </a:p>
        </p:txBody>
      </p:sp>
    </p:spTree>
    <p:extLst>
      <p:ext uri="{BB962C8B-B14F-4D97-AF65-F5344CB8AC3E}">
        <p14:creationId xmlns:p14="http://schemas.microsoft.com/office/powerpoint/2010/main" val="6791846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180B2B"/>
        </a:solidFill>
        <a:effectLst/>
      </p:bgPr>
    </p:bg>
    <p:spTree>
      <p:nvGrpSpPr>
        <p:cNvPr id="1" name=""/>
        <p:cNvGrpSpPr/>
        <p:nvPr/>
      </p:nvGrpSpPr>
      <p:grpSpPr>
        <a:xfrm>
          <a:off x="0" y="0"/>
          <a:ext cx="0" cy="0"/>
          <a:chOff x="0" y="0"/>
          <a:chExt cx="0" cy="0"/>
        </a:xfrm>
      </p:grpSpPr>
      <p:sp>
        <p:nvSpPr>
          <p:cNvPr id="13" name="FILESYSTEM">
            <a:extLst>
              <a:ext uri="{FF2B5EF4-FFF2-40B4-BE49-F238E27FC236}">
                <a16:creationId xmlns:a16="http://schemas.microsoft.com/office/drawing/2014/main" id="{DDAED7DA-973A-4126-BB2A-B08F653E25BE}"/>
              </a:ext>
            </a:extLst>
          </p:cNvPr>
          <p:cNvSpPr>
            <a:spLocks noGrp="1"/>
          </p:cNvSpPr>
          <p:nvPr/>
        </p:nvSpPr>
        <p:spPr>
          <a:xfrm>
            <a:off x="609600" y="323850"/>
            <a:ext cx="10001250" cy="228600"/>
          </a:xfrm>
          <a:prstGeom prst="rect">
            <a:avLst/>
          </a:prstGeom>
          <a:noFill/>
          <a:ln w="0">
            <a:noFill/>
          </a:ln>
        </p:spPr>
        <p:txBody>
          <a:bodyPr lIns="0" tIns="0" rIns="0" bIns="0" anchor="ctr"/>
          <a:lstStyle>
            <a:defPPr algn="l">
              <a:defRPr sz="1200" b="1">
                <a:solidFill>
                  <a:srgbClr val="BE98F6"/>
                </a:solidFill>
                <a:latin typeface="Arial"/>
                <a:ea typeface="Arial"/>
                <a:cs typeface="Arial"/>
              </a:defRPr>
            </a:defPPr>
          </a:lstStyle>
          <a:p>
            <a:pPr algn="l">
              <a:defRPr sz="1200" b="1">
                <a:solidFill>
                  <a:srgbClr val="BE98F6"/>
                </a:solidFill>
                <a:latin typeface="Arial"/>
                <a:ea typeface="Arial"/>
                <a:cs typeface="Arial"/>
              </a:defRPr>
            </a:pPr>
            <a:r>
              <a:rPr sz="1200" b="1">
                <a:solidFill>
                  <a:srgbClr val="BE98F6"/>
                </a:solidFill>
                <a:latin typeface="Arial"/>
                <a:ea typeface="Arial"/>
                <a:cs typeface="Arial"/>
              </a:rPr>
              <a:t>FILESYSTEM</a:t>
            </a:r>
          </a:p>
        </p:txBody>
      </p:sp>
      <p:sp>
        <p:nvSpPr>
          <p:cNvPr id="2" name="File CRUD maps directly to RAMFS">
            <a:extLst>
              <a:ext uri="{FF2B5EF4-FFF2-40B4-BE49-F238E27FC236}">
                <a16:creationId xmlns:a16="http://schemas.microsoft.com/office/drawing/2014/main" id="{F24A694B-6E6D-472B-8346-47CD1D72C581}"/>
              </a:ext>
            </a:extLst>
          </p:cNvPr>
          <p:cNvSpPr>
            <a:spLocks noGrp="1"/>
          </p:cNvSpPr>
          <p:nvPr/>
        </p:nvSpPr>
        <p:spPr>
          <a:xfrm>
            <a:off x="609600" y="876300"/>
            <a:ext cx="10972800" cy="952500"/>
          </a:xfrm>
          <a:prstGeom prst="rect">
            <a:avLst/>
          </a:prstGeom>
          <a:noFill/>
          <a:ln w="0">
            <a:noFill/>
          </a:ln>
        </p:spPr>
        <p:txBody>
          <a:bodyPr lIns="0" tIns="0" rIns="0" bIns="0" anchor="ctr"/>
          <a:lstStyle>
            <a:defPPr algn="l">
              <a:defRPr sz="3300" b="1">
                <a:solidFill>
                  <a:srgbClr val="FFFFFF"/>
                </a:solidFill>
                <a:latin typeface="Arial"/>
                <a:ea typeface="Arial"/>
                <a:cs typeface="Arial"/>
              </a:defRPr>
            </a:defPPr>
          </a:lstStyle>
          <a:p>
            <a:pPr algn="l">
              <a:defRPr sz="3300" b="1">
                <a:solidFill>
                  <a:srgbClr val="FFFFFF"/>
                </a:solidFill>
                <a:latin typeface="Arial"/>
                <a:ea typeface="Arial"/>
                <a:cs typeface="Arial"/>
              </a:defRPr>
            </a:pPr>
            <a:r>
              <a:rPr sz="3300" b="1">
                <a:solidFill>
                  <a:srgbClr val="FFFFFF"/>
                </a:solidFill>
                <a:latin typeface="Arial"/>
                <a:ea typeface="Arial"/>
                <a:cs typeface="Arial"/>
              </a:rPr>
              <a:t>File CRUD maps directly to RAMFS</a:t>
            </a:r>
          </a:p>
        </p:txBody>
      </p:sp>
      <p:sp>
        <p:nvSpPr>
          <p:cNvPr id="3" name="AGENTIC OS  /  MVP TECHNICAL WALKTHROUGH">
            <a:extLst>
              <a:ext uri="{FF2B5EF4-FFF2-40B4-BE49-F238E27FC236}">
                <a16:creationId xmlns:a16="http://schemas.microsoft.com/office/drawing/2014/main" id="{E7E9B3DE-B1AC-4480-8C2D-8C5AE33A6035}"/>
              </a:ext>
            </a:extLst>
          </p:cNvPr>
          <p:cNvSpPr>
            <a:spLocks noGrp="1"/>
          </p:cNvSpPr>
          <p:nvPr/>
        </p:nvSpPr>
        <p:spPr>
          <a:xfrm>
            <a:off x="609600" y="6410325"/>
            <a:ext cx="10001250" cy="190500"/>
          </a:xfrm>
          <a:prstGeom prst="rect">
            <a:avLst/>
          </a:prstGeom>
          <a:noFill/>
          <a:ln w="0">
            <a:noFill/>
          </a:ln>
        </p:spPr>
        <p:txBody>
          <a:bodyPr lIns="0" tIns="0" rIns="0" bIns="0" anchor="ctr"/>
          <a:lstStyle>
            <a:defPPr algn="l">
              <a:defRPr sz="975" b="0">
                <a:solidFill>
                  <a:srgbClr val="D5C9E6"/>
                </a:solidFill>
                <a:latin typeface="Arial"/>
                <a:ea typeface="Arial"/>
                <a:cs typeface="Arial"/>
              </a:defRPr>
            </a:defPPr>
          </a:lstStyle>
          <a:p>
            <a:pPr algn="l">
              <a:defRPr sz="975" b="0">
                <a:solidFill>
                  <a:srgbClr val="D5C9E6"/>
                </a:solidFill>
                <a:latin typeface="Arial"/>
                <a:ea typeface="Arial"/>
                <a:cs typeface="Arial"/>
              </a:defRPr>
            </a:pPr>
            <a:r>
              <a:rPr sz="975" b="0">
                <a:solidFill>
                  <a:srgbClr val="D5C9E6"/>
                </a:solidFill>
                <a:latin typeface="Arial"/>
                <a:ea typeface="Arial"/>
                <a:cs typeface="Arial"/>
              </a:rPr>
              <a:t>AGENTIC OS  /  MVP TECHNICAL WALKTHROUGH</a:t>
            </a:r>
          </a:p>
        </p:txBody>
      </p:sp>
      <p:sp>
        <p:nvSpPr>
          <p:cNvPr id="4" name="14">
            <a:extLst>
              <a:ext uri="{FF2B5EF4-FFF2-40B4-BE49-F238E27FC236}">
                <a16:creationId xmlns:a16="http://schemas.microsoft.com/office/drawing/2014/main" id="{B4078FAF-D6B6-49BF-9A5E-3F353B9271F0}"/>
              </a:ext>
            </a:extLst>
          </p:cNvPr>
          <p:cNvSpPr>
            <a:spLocks noGrp="1"/>
          </p:cNvSpPr>
          <p:nvPr/>
        </p:nvSpPr>
        <p:spPr>
          <a:xfrm>
            <a:off x="11029950" y="6372225"/>
            <a:ext cx="552450" cy="247650"/>
          </a:xfrm>
          <a:prstGeom prst="rect">
            <a:avLst/>
          </a:prstGeom>
          <a:noFill/>
          <a:ln w="0">
            <a:noFill/>
          </a:ln>
        </p:spPr>
        <p:txBody>
          <a:bodyPr lIns="0" tIns="0" rIns="0" bIns="0" anchor="ctr"/>
          <a:lstStyle>
            <a:defPPr algn="r">
              <a:defRPr sz="1275" b="0">
                <a:solidFill>
                  <a:srgbClr val="BE98F6"/>
                </a:solidFill>
                <a:latin typeface="Arial"/>
                <a:ea typeface="Arial"/>
                <a:cs typeface="Arial"/>
              </a:defRPr>
            </a:defPPr>
          </a:lstStyle>
          <a:p>
            <a:pPr algn="r">
              <a:defRPr sz="1275" b="0">
                <a:solidFill>
                  <a:srgbClr val="BE98F6"/>
                </a:solidFill>
                <a:latin typeface="Arial"/>
                <a:ea typeface="Arial"/>
                <a:cs typeface="Arial"/>
              </a:defRPr>
            </a:pPr>
            <a:r>
              <a:rPr sz="1275" b="0">
                <a:solidFill>
                  <a:srgbClr val="BE98F6"/>
                </a:solidFill>
                <a:latin typeface="Arial"/>
                <a:ea typeface="Arial"/>
                <a:cs typeface="Arial"/>
              </a:rPr>
              <a:t>14</a:t>
            </a:r>
          </a:p>
        </p:txBody>
      </p:sp>
      <p:sp>
        <p:nvSpPr>
          <p:cNvPr id="5" name="CREATE">
            <a:extLst>
              <a:ext uri="{FF2B5EF4-FFF2-40B4-BE49-F238E27FC236}">
                <a16:creationId xmlns:a16="http://schemas.microsoft.com/office/drawing/2014/main" id="{61440F2D-7019-47AA-8256-777A4735A661}"/>
              </a:ext>
            </a:extLst>
          </p:cNvPr>
          <p:cNvSpPr>
            <a:spLocks noGrp="1"/>
          </p:cNvSpPr>
          <p:nvPr/>
        </p:nvSpPr>
        <p:spPr>
          <a:xfrm>
            <a:off x="609600" y="1990725"/>
            <a:ext cx="3048000" cy="428625"/>
          </a:xfrm>
          <a:prstGeom prst="rect">
            <a:avLst/>
          </a:prstGeom>
          <a:noFill/>
          <a:ln w="0">
            <a:noFill/>
          </a:ln>
        </p:spPr>
        <p:txBody>
          <a:bodyPr lIns="0" tIns="0" rIns="0" bIns="0" anchor="ctr"/>
          <a:lstStyle>
            <a:defPPr algn="l">
              <a:defRPr sz="2100" b="1">
                <a:solidFill>
                  <a:srgbClr val="BE98F6"/>
                </a:solidFill>
                <a:latin typeface="Arial"/>
                <a:ea typeface="Arial"/>
                <a:cs typeface="Arial"/>
              </a:defRPr>
            </a:defPPr>
          </a:lstStyle>
          <a:p>
            <a:pPr algn="l">
              <a:defRPr sz="2100" b="1">
                <a:solidFill>
                  <a:srgbClr val="BE98F6"/>
                </a:solidFill>
                <a:latin typeface="Arial"/>
                <a:ea typeface="Arial"/>
                <a:cs typeface="Arial"/>
              </a:defRPr>
            </a:pPr>
            <a:r>
              <a:rPr sz="2100" b="1">
                <a:solidFill>
                  <a:srgbClr val="BE98F6"/>
                </a:solidFill>
                <a:latin typeface="Arial"/>
                <a:ea typeface="Arial"/>
                <a:cs typeface="Arial"/>
              </a:rPr>
              <a:t>CREATE</a:t>
            </a:r>
          </a:p>
        </p:txBody>
      </p:sp>
      <p:sp>
        <p:nvSpPr>
          <p:cNvPr id="6" name="touch  /  ramfs_create_empty_file()">
            <a:extLst>
              <a:ext uri="{FF2B5EF4-FFF2-40B4-BE49-F238E27FC236}">
                <a16:creationId xmlns:a16="http://schemas.microsoft.com/office/drawing/2014/main" id="{85DE5E10-0EDC-46F7-A86B-E62CADF10E4B}"/>
              </a:ext>
            </a:extLst>
          </p:cNvPr>
          <p:cNvSpPr>
            <a:spLocks noGrp="1"/>
          </p:cNvSpPr>
          <p:nvPr/>
        </p:nvSpPr>
        <p:spPr>
          <a:xfrm>
            <a:off x="3943350" y="1990725"/>
            <a:ext cx="7639050" cy="714375"/>
          </a:xfrm>
          <a:prstGeom prst="rect">
            <a:avLst/>
          </a:prstGeom>
          <a:noFill/>
          <a:ln w="0">
            <a:noFill/>
          </a:ln>
        </p:spPr>
        <p:txBody>
          <a:bodyPr lIns="0" tIns="0" rIns="0" bIns="0" anchor="ctr"/>
          <a:lstStyle>
            <a:defPPr algn="l">
              <a:defRPr sz="2025" b="0">
                <a:solidFill>
                  <a:srgbClr val="FFFFFF"/>
                </a:solidFill>
                <a:latin typeface="Arial"/>
                <a:ea typeface="Arial"/>
                <a:cs typeface="Arial"/>
              </a:defRPr>
            </a:defPPr>
          </a:lstStyle>
          <a:p>
            <a:pPr algn="l">
              <a:defRPr sz="2025" b="0">
                <a:solidFill>
                  <a:srgbClr val="FFFFFF"/>
                </a:solidFill>
                <a:latin typeface="Arial"/>
                <a:ea typeface="Arial"/>
                <a:cs typeface="Arial"/>
              </a:defRPr>
            </a:pPr>
            <a:r>
              <a:rPr sz="2025" b="0">
                <a:solidFill>
                  <a:srgbClr val="FFFFFF"/>
                </a:solidFill>
                <a:latin typeface="Arial"/>
                <a:ea typeface="Arial"/>
                <a:cs typeface="Arial"/>
              </a:rPr>
              <a:t>touch  /  ramfs_create_empty_file()</a:t>
            </a:r>
          </a:p>
        </p:txBody>
      </p:sp>
      <p:sp>
        <p:nvSpPr>
          <p:cNvPr id="7" name="READ">
            <a:extLst>
              <a:ext uri="{FF2B5EF4-FFF2-40B4-BE49-F238E27FC236}">
                <a16:creationId xmlns:a16="http://schemas.microsoft.com/office/drawing/2014/main" id="{4376A273-5F94-4928-A70D-FF6E0016F58A}"/>
              </a:ext>
            </a:extLst>
          </p:cNvPr>
          <p:cNvSpPr>
            <a:spLocks noGrp="1"/>
          </p:cNvSpPr>
          <p:nvPr/>
        </p:nvSpPr>
        <p:spPr>
          <a:xfrm>
            <a:off x="609600" y="2886075"/>
            <a:ext cx="3048000" cy="428625"/>
          </a:xfrm>
          <a:prstGeom prst="rect">
            <a:avLst/>
          </a:prstGeom>
          <a:noFill/>
          <a:ln w="0">
            <a:noFill/>
          </a:ln>
        </p:spPr>
        <p:txBody>
          <a:bodyPr lIns="0" tIns="0" rIns="0" bIns="0" anchor="ctr"/>
          <a:lstStyle>
            <a:defPPr algn="l">
              <a:defRPr sz="2100" b="1">
                <a:solidFill>
                  <a:srgbClr val="BE98F6"/>
                </a:solidFill>
                <a:latin typeface="Arial"/>
                <a:ea typeface="Arial"/>
                <a:cs typeface="Arial"/>
              </a:defRPr>
            </a:defPPr>
          </a:lstStyle>
          <a:p>
            <a:pPr algn="l">
              <a:defRPr sz="2100" b="1">
                <a:solidFill>
                  <a:srgbClr val="BE98F6"/>
                </a:solidFill>
                <a:latin typeface="Arial"/>
                <a:ea typeface="Arial"/>
                <a:cs typeface="Arial"/>
              </a:defRPr>
            </a:pPr>
            <a:r>
              <a:rPr sz="2100" b="1">
                <a:solidFill>
                  <a:srgbClr val="BE98F6"/>
                </a:solidFill>
                <a:latin typeface="Arial"/>
                <a:ea typeface="Arial"/>
                <a:cs typeface="Arial"/>
              </a:rPr>
              <a:t>READ</a:t>
            </a:r>
          </a:p>
        </p:txBody>
      </p:sp>
      <p:sp>
        <p:nvSpPr>
          <p:cNvPr id="8" name="cat  /  ramfs_read_file()">
            <a:extLst>
              <a:ext uri="{FF2B5EF4-FFF2-40B4-BE49-F238E27FC236}">
                <a16:creationId xmlns:a16="http://schemas.microsoft.com/office/drawing/2014/main" id="{681C341E-5CF4-4407-BD45-8E4FF96DF304}"/>
              </a:ext>
            </a:extLst>
          </p:cNvPr>
          <p:cNvSpPr>
            <a:spLocks noGrp="1"/>
          </p:cNvSpPr>
          <p:nvPr/>
        </p:nvSpPr>
        <p:spPr>
          <a:xfrm>
            <a:off x="3943350" y="2886075"/>
            <a:ext cx="7639050" cy="714375"/>
          </a:xfrm>
          <a:prstGeom prst="rect">
            <a:avLst/>
          </a:prstGeom>
          <a:noFill/>
          <a:ln w="0">
            <a:noFill/>
          </a:ln>
        </p:spPr>
        <p:txBody>
          <a:bodyPr lIns="0" tIns="0" rIns="0" bIns="0" anchor="ctr"/>
          <a:lstStyle>
            <a:defPPr algn="l">
              <a:defRPr sz="2025" b="0">
                <a:solidFill>
                  <a:srgbClr val="FFFFFF"/>
                </a:solidFill>
                <a:latin typeface="Arial"/>
                <a:ea typeface="Arial"/>
                <a:cs typeface="Arial"/>
              </a:defRPr>
            </a:defPPr>
          </a:lstStyle>
          <a:p>
            <a:pPr algn="l">
              <a:defRPr sz="2025" b="0">
                <a:solidFill>
                  <a:srgbClr val="FFFFFF"/>
                </a:solidFill>
                <a:latin typeface="Arial"/>
                <a:ea typeface="Arial"/>
                <a:cs typeface="Arial"/>
              </a:defRPr>
            </a:pPr>
            <a:r>
              <a:rPr sz="2025" b="0">
                <a:solidFill>
                  <a:srgbClr val="FFFFFF"/>
                </a:solidFill>
                <a:latin typeface="Arial"/>
                <a:ea typeface="Arial"/>
                <a:cs typeface="Arial"/>
              </a:rPr>
              <a:t>cat  /  ramfs_read_file()</a:t>
            </a:r>
          </a:p>
        </p:txBody>
      </p:sp>
      <p:sp>
        <p:nvSpPr>
          <p:cNvPr id="9" name="UPDATE">
            <a:extLst>
              <a:ext uri="{FF2B5EF4-FFF2-40B4-BE49-F238E27FC236}">
                <a16:creationId xmlns:a16="http://schemas.microsoft.com/office/drawing/2014/main" id="{88E6BA5B-CF32-4943-A394-3C20D081CD09}"/>
              </a:ext>
            </a:extLst>
          </p:cNvPr>
          <p:cNvSpPr>
            <a:spLocks noGrp="1"/>
          </p:cNvSpPr>
          <p:nvPr/>
        </p:nvSpPr>
        <p:spPr>
          <a:xfrm>
            <a:off x="609600" y="3781425"/>
            <a:ext cx="3048000" cy="428625"/>
          </a:xfrm>
          <a:prstGeom prst="rect">
            <a:avLst/>
          </a:prstGeom>
          <a:noFill/>
          <a:ln w="0">
            <a:noFill/>
          </a:ln>
        </p:spPr>
        <p:txBody>
          <a:bodyPr lIns="0" tIns="0" rIns="0" bIns="0" anchor="ctr"/>
          <a:lstStyle>
            <a:defPPr algn="l">
              <a:defRPr sz="2100" b="1">
                <a:solidFill>
                  <a:srgbClr val="BE98F6"/>
                </a:solidFill>
                <a:latin typeface="Arial"/>
                <a:ea typeface="Arial"/>
                <a:cs typeface="Arial"/>
              </a:defRPr>
            </a:defPPr>
          </a:lstStyle>
          <a:p>
            <a:pPr algn="l">
              <a:defRPr sz="2100" b="1">
                <a:solidFill>
                  <a:srgbClr val="BE98F6"/>
                </a:solidFill>
                <a:latin typeface="Arial"/>
                <a:ea typeface="Arial"/>
                <a:cs typeface="Arial"/>
              </a:defRPr>
            </a:pPr>
            <a:r>
              <a:rPr sz="2100" b="1">
                <a:solidFill>
                  <a:srgbClr val="BE98F6"/>
                </a:solidFill>
                <a:latin typeface="Arial"/>
                <a:ea typeface="Arial"/>
                <a:cs typeface="Arial"/>
              </a:rPr>
              <a:t>UPDATE</a:t>
            </a:r>
          </a:p>
        </p:txBody>
      </p:sp>
      <p:sp>
        <p:nvSpPr>
          <p:cNvPr id="10" name="write  /  ramfs_write_file()">
            <a:extLst>
              <a:ext uri="{FF2B5EF4-FFF2-40B4-BE49-F238E27FC236}">
                <a16:creationId xmlns:a16="http://schemas.microsoft.com/office/drawing/2014/main" id="{4C956A0B-EEB1-4FAB-90D1-2A96BE36826E}"/>
              </a:ext>
            </a:extLst>
          </p:cNvPr>
          <p:cNvSpPr>
            <a:spLocks noGrp="1"/>
          </p:cNvSpPr>
          <p:nvPr/>
        </p:nvSpPr>
        <p:spPr>
          <a:xfrm>
            <a:off x="3943350" y="3781425"/>
            <a:ext cx="7639050" cy="714375"/>
          </a:xfrm>
          <a:prstGeom prst="rect">
            <a:avLst/>
          </a:prstGeom>
          <a:noFill/>
          <a:ln w="0">
            <a:noFill/>
          </a:ln>
        </p:spPr>
        <p:txBody>
          <a:bodyPr lIns="0" tIns="0" rIns="0" bIns="0" anchor="ctr"/>
          <a:lstStyle>
            <a:defPPr algn="l">
              <a:defRPr sz="2025" b="0">
                <a:solidFill>
                  <a:srgbClr val="FFFFFF"/>
                </a:solidFill>
                <a:latin typeface="Arial"/>
                <a:ea typeface="Arial"/>
                <a:cs typeface="Arial"/>
              </a:defRPr>
            </a:defPPr>
          </a:lstStyle>
          <a:p>
            <a:pPr algn="l">
              <a:defRPr sz="2025" b="0">
                <a:solidFill>
                  <a:srgbClr val="FFFFFF"/>
                </a:solidFill>
                <a:latin typeface="Arial"/>
                <a:ea typeface="Arial"/>
                <a:cs typeface="Arial"/>
              </a:defRPr>
            </a:pPr>
            <a:r>
              <a:rPr sz="2025" b="0">
                <a:solidFill>
                  <a:srgbClr val="FFFFFF"/>
                </a:solidFill>
                <a:latin typeface="Arial"/>
                <a:ea typeface="Arial"/>
                <a:cs typeface="Arial"/>
              </a:rPr>
              <a:t>write  /  ramfs_write_file()</a:t>
            </a:r>
          </a:p>
        </p:txBody>
      </p:sp>
      <p:sp>
        <p:nvSpPr>
          <p:cNvPr id="11" name="DELETE">
            <a:extLst>
              <a:ext uri="{FF2B5EF4-FFF2-40B4-BE49-F238E27FC236}">
                <a16:creationId xmlns:a16="http://schemas.microsoft.com/office/drawing/2014/main" id="{395E3849-20A7-4D7D-B4F0-72D780A3B795}"/>
              </a:ext>
            </a:extLst>
          </p:cNvPr>
          <p:cNvSpPr>
            <a:spLocks noGrp="1"/>
          </p:cNvSpPr>
          <p:nvPr/>
        </p:nvSpPr>
        <p:spPr>
          <a:xfrm>
            <a:off x="609600" y="4676775"/>
            <a:ext cx="3048000" cy="428625"/>
          </a:xfrm>
          <a:prstGeom prst="rect">
            <a:avLst/>
          </a:prstGeom>
          <a:noFill/>
          <a:ln w="0">
            <a:noFill/>
          </a:ln>
        </p:spPr>
        <p:txBody>
          <a:bodyPr lIns="0" tIns="0" rIns="0" bIns="0" anchor="ctr"/>
          <a:lstStyle>
            <a:defPPr algn="l">
              <a:defRPr sz="2100" b="1">
                <a:solidFill>
                  <a:srgbClr val="BE98F6"/>
                </a:solidFill>
                <a:latin typeface="Arial"/>
                <a:ea typeface="Arial"/>
                <a:cs typeface="Arial"/>
              </a:defRPr>
            </a:defPPr>
          </a:lstStyle>
          <a:p>
            <a:pPr algn="l">
              <a:defRPr sz="2100" b="1">
                <a:solidFill>
                  <a:srgbClr val="BE98F6"/>
                </a:solidFill>
                <a:latin typeface="Arial"/>
                <a:ea typeface="Arial"/>
                <a:cs typeface="Arial"/>
              </a:defRPr>
            </a:pPr>
            <a:r>
              <a:rPr sz="2100" b="1">
                <a:solidFill>
                  <a:srgbClr val="BE98F6"/>
                </a:solidFill>
                <a:latin typeface="Arial"/>
                <a:ea typeface="Arial"/>
                <a:cs typeface="Arial"/>
              </a:rPr>
              <a:t>DELETE</a:t>
            </a:r>
          </a:p>
        </p:txBody>
      </p:sp>
      <p:sp>
        <p:nvSpPr>
          <p:cNvPr id="12" name="rm  /  ramfs_unlink()">
            <a:extLst>
              <a:ext uri="{FF2B5EF4-FFF2-40B4-BE49-F238E27FC236}">
                <a16:creationId xmlns:a16="http://schemas.microsoft.com/office/drawing/2014/main" id="{AE3BFB97-C0EA-4E67-9C3E-51FE9B678A16}"/>
              </a:ext>
            </a:extLst>
          </p:cNvPr>
          <p:cNvSpPr>
            <a:spLocks noGrp="1"/>
          </p:cNvSpPr>
          <p:nvPr/>
        </p:nvSpPr>
        <p:spPr>
          <a:xfrm>
            <a:off x="3943350" y="4676775"/>
            <a:ext cx="7639050" cy="714375"/>
          </a:xfrm>
          <a:prstGeom prst="rect">
            <a:avLst/>
          </a:prstGeom>
          <a:noFill/>
          <a:ln w="0">
            <a:noFill/>
          </a:ln>
        </p:spPr>
        <p:txBody>
          <a:bodyPr lIns="0" tIns="0" rIns="0" bIns="0" anchor="ctr"/>
          <a:lstStyle>
            <a:defPPr algn="l">
              <a:defRPr sz="2025" b="0">
                <a:solidFill>
                  <a:srgbClr val="FFFFFF"/>
                </a:solidFill>
                <a:latin typeface="Arial"/>
                <a:ea typeface="Arial"/>
                <a:cs typeface="Arial"/>
              </a:defRPr>
            </a:defPPr>
          </a:lstStyle>
          <a:p>
            <a:pPr algn="l">
              <a:defRPr sz="2025" b="0">
                <a:solidFill>
                  <a:srgbClr val="FFFFFF"/>
                </a:solidFill>
                <a:latin typeface="Arial"/>
                <a:ea typeface="Arial"/>
                <a:cs typeface="Arial"/>
              </a:defRPr>
            </a:pPr>
            <a:r>
              <a:rPr sz="2025" b="0">
                <a:solidFill>
                  <a:srgbClr val="FFFFFF"/>
                </a:solidFill>
                <a:latin typeface="Arial"/>
                <a:ea typeface="Arial"/>
                <a:cs typeface="Arial"/>
              </a:rPr>
              <a:t>rm  /  ramfs_unlink()</a:t>
            </a:r>
          </a:p>
        </p:txBody>
      </p:sp>
    </p:spTree>
    <p:extLst>
      <p:ext uri="{BB962C8B-B14F-4D97-AF65-F5344CB8AC3E}">
        <p14:creationId xmlns:p14="http://schemas.microsoft.com/office/powerpoint/2010/main" val="113456778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180B2B"/>
        </a:solidFill>
        <a:effectLst/>
      </p:bgPr>
    </p:bg>
    <p:spTree>
      <p:nvGrpSpPr>
        <p:cNvPr id="1" name=""/>
        <p:cNvGrpSpPr/>
        <p:nvPr/>
      </p:nvGrpSpPr>
      <p:grpSpPr>
        <a:xfrm>
          <a:off x="0" y="0"/>
          <a:ext cx="0" cy="0"/>
          <a:chOff x="0" y="0"/>
          <a:chExt cx="0" cy="0"/>
        </a:xfrm>
      </p:grpSpPr>
      <p:sp>
        <p:nvSpPr>
          <p:cNvPr id="28" name="FILESYSTEM">
            <a:extLst>
              <a:ext uri="{FF2B5EF4-FFF2-40B4-BE49-F238E27FC236}">
                <a16:creationId xmlns:a16="http://schemas.microsoft.com/office/drawing/2014/main" id="{1D2A99CD-94CE-40A8-AA97-39E077FABFB3}"/>
              </a:ext>
            </a:extLst>
          </p:cNvPr>
          <p:cNvSpPr>
            <a:spLocks noGrp="1"/>
          </p:cNvSpPr>
          <p:nvPr/>
        </p:nvSpPr>
        <p:spPr>
          <a:xfrm>
            <a:off x="609600" y="323850"/>
            <a:ext cx="10001250" cy="228600"/>
          </a:xfrm>
          <a:prstGeom prst="rect">
            <a:avLst/>
          </a:prstGeom>
          <a:noFill/>
          <a:ln w="0">
            <a:noFill/>
          </a:ln>
        </p:spPr>
        <p:txBody>
          <a:bodyPr lIns="0" tIns="0" rIns="0" bIns="0" anchor="ctr"/>
          <a:lstStyle>
            <a:defPPr algn="l">
              <a:defRPr sz="1200" b="1">
                <a:solidFill>
                  <a:srgbClr val="BE98F6"/>
                </a:solidFill>
                <a:latin typeface="Arial"/>
                <a:ea typeface="Arial"/>
                <a:cs typeface="Arial"/>
              </a:defRPr>
            </a:defPPr>
          </a:lstStyle>
          <a:p>
            <a:pPr algn="l">
              <a:defRPr sz="1200" b="1">
                <a:solidFill>
                  <a:srgbClr val="BE98F6"/>
                </a:solidFill>
                <a:latin typeface="Arial"/>
                <a:ea typeface="Arial"/>
                <a:cs typeface="Arial"/>
              </a:defRPr>
            </a:pPr>
            <a:r>
              <a:rPr sz="1200" b="1">
                <a:solidFill>
                  <a:srgbClr val="BE98F6"/>
                </a:solidFill>
                <a:latin typeface="Arial"/>
                <a:ea typeface="Arial"/>
                <a:cs typeface="Arial"/>
              </a:rPr>
              <a:t>FILESYSTEM</a:t>
            </a:r>
          </a:p>
        </p:txBody>
      </p:sp>
      <p:sp>
        <p:nvSpPr>
          <p:cNvPr id="2" name="File write sequence">
            <a:extLst>
              <a:ext uri="{FF2B5EF4-FFF2-40B4-BE49-F238E27FC236}">
                <a16:creationId xmlns:a16="http://schemas.microsoft.com/office/drawing/2014/main" id="{9779608E-1D56-41D7-9422-58916671D09A}"/>
              </a:ext>
            </a:extLst>
          </p:cNvPr>
          <p:cNvSpPr>
            <a:spLocks noGrp="1"/>
          </p:cNvSpPr>
          <p:nvPr/>
        </p:nvSpPr>
        <p:spPr>
          <a:xfrm>
            <a:off x="609600" y="876300"/>
            <a:ext cx="10972800" cy="952500"/>
          </a:xfrm>
          <a:prstGeom prst="rect">
            <a:avLst/>
          </a:prstGeom>
          <a:noFill/>
          <a:ln w="0">
            <a:noFill/>
          </a:ln>
        </p:spPr>
        <p:txBody>
          <a:bodyPr lIns="0" tIns="0" rIns="0" bIns="0" anchor="ctr"/>
          <a:lstStyle>
            <a:defPPr algn="l">
              <a:defRPr sz="3300" b="1">
                <a:solidFill>
                  <a:srgbClr val="FFFFFF"/>
                </a:solidFill>
                <a:latin typeface="Arial"/>
                <a:ea typeface="Arial"/>
                <a:cs typeface="Arial"/>
              </a:defRPr>
            </a:defPPr>
          </a:lstStyle>
          <a:p>
            <a:pPr algn="l">
              <a:defRPr sz="3300" b="1">
                <a:solidFill>
                  <a:srgbClr val="FFFFFF"/>
                </a:solidFill>
                <a:latin typeface="Arial"/>
                <a:ea typeface="Arial"/>
                <a:cs typeface="Arial"/>
              </a:defRPr>
            </a:pPr>
            <a:r>
              <a:rPr sz="3300" b="1">
                <a:solidFill>
                  <a:srgbClr val="FFFFFF"/>
                </a:solidFill>
                <a:latin typeface="Arial"/>
                <a:ea typeface="Arial"/>
                <a:cs typeface="Arial"/>
              </a:rPr>
              <a:t>File write sequence</a:t>
            </a:r>
          </a:p>
        </p:txBody>
      </p:sp>
      <p:sp>
        <p:nvSpPr>
          <p:cNvPr id="3" name="AGENTIC OS  /  MVP TECHNICAL WALKTHROUGH">
            <a:extLst>
              <a:ext uri="{FF2B5EF4-FFF2-40B4-BE49-F238E27FC236}">
                <a16:creationId xmlns:a16="http://schemas.microsoft.com/office/drawing/2014/main" id="{89A6324F-C48D-460A-9CEA-130DF9385895}"/>
              </a:ext>
            </a:extLst>
          </p:cNvPr>
          <p:cNvSpPr>
            <a:spLocks noGrp="1"/>
          </p:cNvSpPr>
          <p:nvPr/>
        </p:nvSpPr>
        <p:spPr>
          <a:xfrm>
            <a:off x="609600" y="6410325"/>
            <a:ext cx="10001250" cy="190500"/>
          </a:xfrm>
          <a:prstGeom prst="rect">
            <a:avLst/>
          </a:prstGeom>
          <a:noFill/>
          <a:ln w="0">
            <a:noFill/>
          </a:ln>
        </p:spPr>
        <p:txBody>
          <a:bodyPr lIns="0" tIns="0" rIns="0" bIns="0" anchor="ctr"/>
          <a:lstStyle>
            <a:defPPr algn="l">
              <a:defRPr sz="975" b="0">
                <a:solidFill>
                  <a:srgbClr val="D5C9E6"/>
                </a:solidFill>
                <a:latin typeface="Arial"/>
                <a:ea typeface="Arial"/>
                <a:cs typeface="Arial"/>
              </a:defRPr>
            </a:defPPr>
          </a:lstStyle>
          <a:p>
            <a:pPr algn="l">
              <a:defRPr sz="975" b="0">
                <a:solidFill>
                  <a:srgbClr val="D5C9E6"/>
                </a:solidFill>
                <a:latin typeface="Arial"/>
                <a:ea typeface="Arial"/>
                <a:cs typeface="Arial"/>
              </a:defRPr>
            </a:pPr>
            <a:r>
              <a:rPr sz="975" b="0">
                <a:solidFill>
                  <a:srgbClr val="D5C9E6"/>
                </a:solidFill>
                <a:latin typeface="Arial"/>
                <a:ea typeface="Arial"/>
                <a:cs typeface="Arial"/>
              </a:rPr>
              <a:t>AGENTIC OS  /  MVP TECHNICAL WALKTHROUGH</a:t>
            </a:r>
          </a:p>
        </p:txBody>
      </p:sp>
      <p:sp>
        <p:nvSpPr>
          <p:cNvPr id="4" name="15">
            <a:extLst>
              <a:ext uri="{FF2B5EF4-FFF2-40B4-BE49-F238E27FC236}">
                <a16:creationId xmlns:a16="http://schemas.microsoft.com/office/drawing/2014/main" id="{B9DAC086-DF35-4E0D-886B-1939455A440B}"/>
              </a:ext>
            </a:extLst>
          </p:cNvPr>
          <p:cNvSpPr>
            <a:spLocks noGrp="1"/>
          </p:cNvSpPr>
          <p:nvPr/>
        </p:nvSpPr>
        <p:spPr>
          <a:xfrm>
            <a:off x="11029950" y="6372225"/>
            <a:ext cx="552450" cy="247650"/>
          </a:xfrm>
          <a:prstGeom prst="rect">
            <a:avLst/>
          </a:prstGeom>
          <a:noFill/>
          <a:ln w="0">
            <a:noFill/>
          </a:ln>
        </p:spPr>
        <p:txBody>
          <a:bodyPr lIns="0" tIns="0" rIns="0" bIns="0" anchor="ctr"/>
          <a:lstStyle>
            <a:defPPr algn="r">
              <a:defRPr sz="1275" b="0">
                <a:solidFill>
                  <a:srgbClr val="BE98F6"/>
                </a:solidFill>
                <a:latin typeface="Arial"/>
                <a:ea typeface="Arial"/>
                <a:cs typeface="Arial"/>
              </a:defRPr>
            </a:defPPr>
          </a:lstStyle>
          <a:p>
            <a:pPr algn="r">
              <a:defRPr sz="1275" b="0">
                <a:solidFill>
                  <a:srgbClr val="BE98F6"/>
                </a:solidFill>
                <a:latin typeface="Arial"/>
                <a:ea typeface="Arial"/>
                <a:cs typeface="Arial"/>
              </a:defRPr>
            </a:pPr>
            <a:r>
              <a:rPr sz="1275" b="0">
                <a:solidFill>
                  <a:srgbClr val="BE98F6"/>
                </a:solidFill>
                <a:latin typeface="Arial"/>
                <a:ea typeface="Arial"/>
                <a:cs typeface="Arial"/>
              </a:rPr>
              <a:t>15</a:t>
            </a:r>
          </a:p>
        </p:txBody>
      </p:sp>
      <p:sp>
        <p:nvSpPr>
          <p:cNvPr id="5" name="Rectangle 4">
            <a:extLst>
              <a:ext uri="{FF2B5EF4-FFF2-40B4-BE49-F238E27FC236}">
                <a16:creationId xmlns:a16="http://schemas.microsoft.com/office/drawing/2014/main" id="{22815437-0D65-4DB4-BBAA-F5105B975E57}"/>
              </a:ext>
            </a:extLst>
          </p:cNvPr>
          <p:cNvSpPr>
            <a:spLocks noGrp="1"/>
          </p:cNvSpPr>
          <p:nvPr/>
        </p:nvSpPr>
        <p:spPr>
          <a:xfrm>
            <a:off x="333375" y="2028825"/>
            <a:ext cx="2000250" cy="590550"/>
          </a:xfrm>
          <a:prstGeom prst="rect">
            <a:avLst/>
          </a:prstGeom>
          <a:solidFill>
            <a:srgbClr val="2A1547"/>
          </a:solidFill>
          <a:ln w="13335">
            <a:solidFill>
              <a:srgbClr val="7D43D5"/>
            </a:solidFill>
          </a:ln>
        </p:spPr>
      </p:sp>
      <p:sp>
        <p:nvSpPr>
          <p:cNvPr id="6" name="User">
            <a:extLst>
              <a:ext uri="{FF2B5EF4-FFF2-40B4-BE49-F238E27FC236}">
                <a16:creationId xmlns:a16="http://schemas.microsoft.com/office/drawing/2014/main" id="{D36DB59C-CE11-47C4-AF87-6AC8639598F7}"/>
              </a:ext>
            </a:extLst>
          </p:cNvPr>
          <p:cNvSpPr>
            <a:spLocks noGrp="1"/>
          </p:cNvSpPr>
          <p:nvPr/>
        </p:nvSpPr>
        <p:spPr>
          <a:xfrm>
            <a:off x="476250" y="2114550"/>
            <a:ext cx="1714500" cy="419100"/>
          </a:xfrm>
          <a:prstGeom prst="rect">
            <a:avLst/>
          </a:prstGeom>
          <a:noFill/>
          <a:ln w="0">
            <a:noFill/>
          </a:ln>
        </p:spPr>
        <p:txBody>
          <a:bodyPr lIns="0" tIns="0" rIns="0" bIns="0" anchor="ctr"/>
          <a:lstStyle>
            <a:defPPr algn="ctr">
              <a:defRPr sz="1800" b="1">
                <a:solidFill>
                  <a:srgbClr val="FFFFFF"/>
                </a:solidFill>
                <a:latin typeface="Arial"/>
                <a:ea typeface="Arial"/>
                <a:cs typeface="Arial"/>
              </a:defRPr>
            </a:defPPr>
          </a:lstStyle>
          <a:p>
            <a:pPr algn="ctr">
              <a:defRPr sz="1800" b="1">
                <a:solidFill>
                  <a:srgbClr val="FFFFFF"/>
                </a:solidFill>
                <a:latin typeface="Arial"/>
                <a:ea typeface="Arial"/>
                <a:cs typeface="Arial"/>
              </a:defRPr>
            </a:pPr>
            <a:r>
              <a:rPr sz="1800" b="1">
                <a:solidFill>
                  <a:srgbClr val="FFFFFF"/>
                </a:solidFill>
                <a:latin typeface="Arial"/>
                <a:ea typeface="Arial"/>
                <a:cs typeface="Arial"/>
              </a:rPr>
              <a:t>User</a:t>
            </a:r>
          </a:p>
        </p:txBody>
      </p:sp>
      <p:cxnSp>
        <p:nvCxnSpPr>
          <p:cNvPr id="7" name="Straight Arrow Connector 6">
            <a:extLst>
              <a:ext uri="{FF2B5EF4-FFF2-40B4-BE49-F238E27FC236}">
                <a16:creationId xmlns:a16="http://schemas.microsoft.com/office/drawing/2014/main" id="{B23A4F67-E856-4BF6-8023-8ECFB5273A50}"/>
              </a:ext>
            </a:extLst>
          </p:cNvPr>
          <p:cNvCxnSpPr/>
          <p:nvPr/>
        </p:nvCxnSpPr>
        <p:spPr>
          <a:xfrm>
            <a:off x="1333500" y="2705100"/>
            <a:ext cx="0" cy="2771775"/>
          </a:xfrm>
          <a:prstGeom prst="straightConnector1">
            <a:avLst/>
          </a:prstGeom>
          <a:ln w="19050">
            <a:solidFill>
              <a:srgbClr val="BE98F6"/>
            </a:solidFill>
            <a:prstDash val="dash"/>
            <a:tailEnd type="none" w="med" len="med"/>
          </a:ln>
        </p:spPr>
      </p:cxnSp>
      <p:sp>
        <p:nvSpPr>
          <p:cNvPr id="8" name="Rectangle 7">
            <a:extLst>
              <a:ext uri="{FF2B5EF4-FFF2-40B4-BE49-F238E27FC236}">
                <a16:creationId xmlns:a16="http://schemas.microsoft.com/office/drawing/2014/main" id="{A0F87083-93BE-4563-B2CF-B9553A039E61}"/>
              </a:ext>
            </a:extLst>
          </p:cNvPr>
          <p:cNvSpPr>
            <a:spLocks noGrp="1"/>
          </p:cNvSpPr>
          <p:nvPr/>
        </p:nvSpPr>
        <p:spPr>
          <a:xfrm>
            <a:off x="3508375" y="2028825"/>
            <a:ext cx="2000250" cy="590550"/>
          </a:xfrm>
          <a:prstGeom prst="rect">
            <a:avLst/>
          </a:prstGeom>
          <a:solidFill>
            <a:srgbClr val="2A1547"/>
          </a:solidFill>
          <a:ln w="13335">
            <a:solidFill>
              <a:srgbClr val="7D43D5"/>
            </a:solidFill>
          </a:ln>
        </p:spPr>
      </p:sp>
      <p:sp>
        <p:nvSpPr>
          <p:cNvPr id="9" name="Shell">
            <a:extLst>
              <a:ext uri="{FF2B5EF4-FFF2-40B4-BE49-F238E27FC236}">
                <a16:creationId xmlns:a16="http://schemas.microsoft.com/office/drawing/2014/main" id="{965A7B3A-E542-482A-B86A-FABD9565D3BB}"/>
              </a:ext>
            </a:extLst>
          </p:cNvPr>
          <p:cNvSpPr>
            <a:spLocks noGrp="1"/>
          </p:cNvSpPr>
          <p:nvPr/>
        </p:nvSpPr>
        <p:spPr>
          <a:xfrm>
            <a:off x="3651250" y="2114550"/>
            <a:ext cx="1714500" cy="419100"/>
          </a:xfrm>
          <a:prstGeom prst="rect">
            <a:avLst/>
          </a:prstGeom>
          <a:noFill/>
          <a:ln w="0">
            <a:noFill/>
          </a:ln>
        </p:spPr>
        <p:txBody>
          <a:bodyPr lIns="0" tIns="0" rIns="0" bIns="0" anchor="ctr"/>
          <a:lstStyle>
            <a:defPPr algn="ctr">
              <a:defRPr sz="1800" b="1">
                <a:solidFill>
                  <a:srgbClr val="FFFFFF"/>
                </a:solidFill>
                <a:latin typeface="Arial"/>
                <a:ea typeface="Arial"/>
                <a:cs typeface="Arial"/>
              </a:defRPr>
            </a:defPPr>
          </a:lstStyle>
          <a:p>
            <a:pPr algn="ctr">
              <a:defRPr sz="1800" b="1">
                <a:solidFill>
                  <a:srgbClr val="FFFFFF"/>
                </a:solidFill>
                <a:latin typeface="Arial"/>
                <a:ea typeface="Arial"/>
                <a:cs typeface="Arial"/>
              </a:defRPr>
            </a:pPr>
            <a:r>
              <a:rPr sz="1800" b="1">
                <a:solidFill>
                  <a:srgbClr val="FFFFFF"/>
                </a:solidFill>
                <a:latin typeface="Arial"/>
                <a:ea typeface="Arial"/>
                <a:cs typeface="Arial"/>
              </a:rPr>
              <a:t>Shell</a:t>
            </a:r>
          </a:p>
        </p:txBody>
      </p:sp>
      <p:cxnSp>
        <p:nvCxnSpPr>
          <p:cNvPr id="10" name="Straight Arrow Connector 9">
            <a:extLst>
              <a:ext uri="{FF2B5EF4-FFF2-40B4-BE49-F238E27FC236}">
                <a16:creationId xmlns:a16="http://schemas.microsoft.com/office/drawing/2014/main" id="{4E4DC3A6-DD74-4587-A6CE-CC5575628312}"/>
              </a:ext>
            </a:extLst>
          </p:cNvPr>
          <p:cNvCxnSpPr/>
          <p:nvPr/>
        </p:nvCxnSpPr>
        <p:spPr>
          <a:xfrm>
            <a:off x="4508500" y="2705100"/>
            <a:ext cx="0" cy="2771775"/>
          </a:xfrm>
          <a:prstGeom prst="straightConnector1">
            <a:avLst/>
          </a:prstGeom>
          <a:ln w="19050">
            <a:solidFill>
              <a:srgbClr val="BE98F6"/>
            </a:solidFill>
            <a:prstDash val="dash"/>
            <a:tailEnd type="none" w="med" len="med"/>
          </a:ln>
        </p:spPr>
      </p:cxnSp>
      <p:sp>
        <p:nvSpPr>
          <p:cNvPr id="11" name="Rectangle 10">
            <a:extLst>
              <a:ext uri="{FF2B5EF4-FFF2-40B4-BE49-F238E27FC236}">
                <a16:creationId xmlns:a16="http://schemas.microsoft.com/office/drawing/2014/main" id="{982B3AEB-B52E-4A35-811A-D7EC1B0D99DF}"/>
              </a:ext>
            </a:extLst>
          </p:cNvPr>
          <p:cNvSpPr>
            <a:spLocks noGrp="1"/>
          </p:cNvSpPr>
          <p:nvPr/>
        </p:nvSpPr>
        <p:spPr>
          <a:xfrm>
            <a:off x="6683375" y="2028825"/>
            <a:ext cx="2000250" cy="590550"/>
          </a:xfrm>
          <a:prstGeom prst="rect">
            <a:avLst/>
          </a:prstGeom>
          <a:solidFill>
            <a:srgbClr val="2A1547"/>
          </a:solidFill>
          <a:ln w="13335">
            <a:solidFill>
              <a:srgbClr val="7D43D5"/>
            </a:solidFill>
          </a:ln>
        </p:spPr>
      </p:sp>
      <p:sp>
        <p:nvSpPr>
          <p:cNvPr id="12" name="RAMFS">
            <a:extLst>
              <a:ext uri="{FF2B5EF4-FFF2-40B4-BE49-F238E27FC236}">
                <a16:creationId xmlns:a16="http://schemas.microsoft.com/office/drawing/2014/main" id="{23C2DB29-3B15-4117-AFA6-B3AACF6C6AE3}"/>
              </a:ext>
            </a:extLst>
          </p:cNvPr>
          <p:cNvSpPr>
            <a:spLocks noGrp="1"/>
          </p:cNvSpPr>
          <p:nvPr/>
        </p:nvSpPr>
        <p:spPr>
          <a:xfrm>
            <a:off x="6826250" y="2114550"/>
            <a:ext cx="1714500" cy="419100"/>
          </a:xfrm>
          <a:prstGeom prst="rect">
            <a:avLst/>
          </a:prstGeom>
          <a:noFill/>
          <a:ln w="0">
            <a:noFill/>
          </a:ln>
        </p:spPr>
        <p:txBody>
          <a:bodyPr lIns="0" tIns="0" rIns="0" bIns="0" anchor="ctr"/>
          <a:lstStyle>
            <a:defPPr algn="ctr">
              <a:defRPr sz="1800" b="1">
                <a:solidFill>
                  <a:srgbClr val="FFFFFF"/>
                </a:solidFill>
                <a:latin typeface="Arial"/>
                <a:ea typeface="Arial"/>
                <a:cs typeface="Arial"/>
              </a:defRPr>
            </a:defPPr>
          </a:lstStyle>
          <a:p>
            <a:pPr algn="ctr">
              <a:defRPr sz="1800" b="1">
                <a:solidFill>
                  <a:srgbClr val="FFFFFF"/>
                </a:solidFill>
                <a:latin typeface="Arial"/>
                <a:ea typeface="Arial"/>
                <a:cs typeface="Arial"/>
              </a:defRPr>
            </a:pPr>
            <a:r>
              <a:rPr sz="1800" b="1">
                <a:solidFill>
                  <a:srgbClr val="FFFFFF"/>
                </a:solidFill>
                <a:latin typeface="Arial"/>
                <a:ea typeface="Arial"/>
                <a:cs typeface="Arial"/>
              </a:rPr>
              <a:t>RAMFS</a:t>
            </a:r>
          </a:p>
        </p:txBody>
      </p:sp>
      <p:cxnSp>
        <p:nvCxnSpPr>
          <p:cNvPr id="13" name="Straight Arrow Connector 12">
            <a:extLst>
              <a:ext uri="{FF2B5EF4-FFF2-40B4-BE49-F238E27FC236}">
                <a16:creationId xmlns:a16="http://schemas.microsoft.com/office/drawing/2014/main" id="{317DED0B-8153-49EF-A120-A4B292EF71C4}"/>
              </a:ext>
            </a:extLst>
          </p:cNvPr>
          <p:cNvCxnSpPr/>
          <p:nvPr/>
        </p:nvCxnSpPr>
        <p:spPr>
          <a:xfrm>
            <a:off x="7683500" y="2705100"/>
            <a:ext cx="0" cy="2771775"/>
          </a:xfrm>
          <a:prstGeom prst="straightConnector1">
            <a:avLst/>
          </a:prstGeom>
          <a:ln w="19050">
            <a:solidFill>
              <a:srgbClr val="BE98F6"/>
            </a:solidFill>
            <a:prstDash val="dash"/>
            <a:tailEnd type="none" w="med" len="med"/>
          </a:ln>
        </p:spPr>
      </p:cxnSp>
      <p:sp>
        <p:nvSpPr>
          <p:cNvPr id="14" name="Rectangle 13">
            <a:extLst>
              <a:ext uri="{FF2B5EF4-FFF2-40B4-BE49-F238E27FC236}">
                <a16:creationId xmlns:a16="http://schemas.microsoft.com/office/drawing/2014/main" id="{E87EE731-0FD7-405D-9324-BA2DF5DC8949}"/>
              </a:ext>
            </a:extLst>
          </p:cNvPr>
          <p:cNvSpPr>
            <a:spLocks noGrp="1"/>
          </p:cNvSpPr>
          <p:nvPr/>
        </p:nvSpPr>
        <p:spPr>
          <a:xfrm>
            <a:off x="9858375" y="2028825"/>
            <a:ext cx="2000250" cy="590550"/>
          </a:xfrm>
          <a:prstGeom prst="rect">
            <a:avLst/>
          </a:prstGeom>
          <a:solidFill>
            <a:srgbClr val="2A1547"/>
          </a:solidFill>
          <a:ln w="13335">
            <a:solidFill>
              <a:srgbClr val="7D43D5"/>
            </a:solidFill>
          </a:ln>
        </p:spPr>
      </p:sp>
      <p:sp>
        <p:nvSpPr>
          <p:cNvPr id="15" name="Heap">
            <a:extLst>
              <a:ext uri="{FF2B5EF4-FFF2-40B4-BE49-F238E27FC236}">
                <a16:creationId xmlns:a16="http://schemas.microsoft.com/office/drawing/2014/main" id="{C63C73DE-A65F-4BEA-9CD3-706CD3278650}"/>
              </a:ext>
            </a:extLst>
          </p:cNvPr>
          <p:cNvSpPr>
            <a:spLocks noGrp="1"/>
          </p:cNvSpPr>
          <p:nvPr/>
        </p:nvSpPr>
        <p:spPr>
          <a:xfrm>
            <a:off x="10001250" y="2114550"/>
            <a:ext cx="1714500" cy="419100"/>
          </a:xfrm>
          <a:prstGeom prst="rect">
            <a:avLst/>
          </a:prstGeom>
          <a:noFill/>
          <a:ln w="0">
            <a:noFill/>
          </a:ln>
        </p:spPr>
        <p:txBody>
          <a:bodyPr lIns="0" tIns="0" rIns="0" bIns="0" anchor="ctr"/>
          <a:lstStyle>
            <a:defPPr algn="ctr">
              <a:defRPr sz="1800" b="1">
                <a:solidFill>
                  <a:srgbClr val="FFFFFF"/>
                </a:solidFill>
                <a:latin typeface="Arial"/>
                <a:ea typeface="Arial"/>
                <a:cs typeface="Arial"/>
              </a:defRPr>
            </a:defPPr>
          </a:lstStyle>
          <a:p>
            <a:pPr algn="ctr">
              <a:defRPr sz="1800" b="1">
                <a:solidFill>
                  <a:srgbClr val="FFFFFF"/>
                </a:solidFill>
                <a:latin typeface="Arial"/>
                <a:ea typeface="Arial"/>
                <a:cs typeface="Arial"/>
              </a:defRPr>
            </a:pPr>
            <a:r>
              <a:rPr sz="1800" b="1">
                <a:solidFill>
                  <a:srgbClr val="FFFFFF"/>
                </a:solidFill>
                <a:latin typeface="Arial"/>
                <a:ea typeface="Arial"/>
                <a:cs typeface="Arial"/>
              </a:rPr>
              <a:t>Heap</a:t>
            </a:r>
          </a:p>
        </p:txBody>
      </p:sp>
      <p:cxnSp>
        <p:nvCxnSpPr>
          <p:cNvPr id="16" name="Straight Arrow Connector 15">
            <a:extLst>
              <a:ext uri="{FF2B5EF4-FFF2-40B4-BE49-F238E27FC236}">
                <a16:creationId xmlns:a16="http://schemas.microsoft.com/office/drawing/2014/main" id="{3C9A39AE-C978-4B67-A0FF-0617A03CE85A}"/>
              </a:ext>
            </a:extLst>
          </p:cNvPr>
          <p:cNvCxnSpPr/>
          <p:nvPr/>
        </p:nvCxnSpPr>
        <p:spPr>
          <a:xfrm>
            <a:off x="10858500" y="2705100"/>
            <a:ext cx="0" cy="2771775"/>
          </a:xfrm>
          <a:prstGeom prst="straightConnector1">
            <a:avLst/>
          </a:prstGeom>
          <a:ln w="19050">
            <a:solidFill>
              <a:srgbClr val="BE98F6"/>
            </a:solidFill>
            <a:prstDash val="dash"/>
            <a:tailEnd type="none" w="med" len="med"/>
          </a:ln>
        </p:spPr>
      </p:cxnSp>
      <p:cxnSp>
        <p:nvCxnSpPr>
          <p:cNvPr id="17" name="Straight Arrow Connector 16">
            <a:extLst>
              <a:ext uri="{FF2B5EF4-FFF2-40B4-BE49-F238E27FC236}">
                <a16:creationId xmlns:a16="http://schemas.microsoft.com/office/drawing/2014/main" id="{21900C75-277F-47C3-B91E-F9442977B920}"/>
              </a:ext>
            </a:extLst>
          </p:cNvPr>
          <p:cNvCxnSpPr/>
          <p:nvPr/>
        </p:nvCxnSpPr>
        <p:spPr>
          <a:xfrm>
            <a:off x="1333500" y="3028950"/>
            <a:ext cx="3175000" cy="0"/>
          </a:xfrm>
          <a:prstGeom prst="straightConnector1">
            <a:avLst/>
          </a:prstGeom>
          <a:ln w="19050">
            <a:solidFill>
              <a:srgbClr val="BE98F6"/>
            </a:solidFill>
            <a:prstDash val="solid"/>
            <a:tailEnd type="triangle" w="med" len="med"/>
          </a:ln>
        </p:spPr>
      </p:cxnSp>
      <p:sp>
        <p:nvSpPr>
          <p:cNvPr id="18" name="write /notes/demo.txt hello">
            <a:extLst>
              <a:ext uri="{FF2B5EF4-FFF2-40B4-BE49-F238E27FC236}">
                <a16:creationId xmlns:a16="http://schemas.microsoft.com/office/drawing/2014/main" id="{6B187329-CDB6-4FCB-905F-B7D3CDE98711}"/>
              </a:ext>
            </a:extLst>
          </p:cNvPr>
          <p:cNvSpPr>
            <a:spLocks noGrp="1"/>
          </p:cNvSpPr>
          <p:nvPr/>
        </p:nvSpPr>
        <p:spPr>
          <a:xfrm>
            <a:off x="1457325" y="2752725"/>
            <a:ext cx="2927350" cy="257175"/>
          </a:xfrm>
          <a:prstGeom prst="rect">
            <a:avLst/>
          </a:prstGeom>
          <a:noFill/>
          <a:ln w="0">
            <a:noFill/>
          </a:ln>
        </p:spPr>
        <p:txBody>
          <a:bodyPr lIns="0" tIns="0" rIns="0" bIns="0" anchor="ctr"/>
          <a:lstStyle>
            <a:defPPr algn="l">
              <a:defRPr sz="1425" b="0">
                <a:solidFill>
                  <a:srgbClr val="FFFFFF"/>
                </a:solidFill>
                <a:latin typeface="Arial"/>
                <a:ea typeface="Arial"/>
                <a:cs typeface="Arial"/>
              </a:defRPr>
            </a:defPPr>
          </a:lstStyle>
          <a:p>
            <a:pPr algn="l">
              <a:defRPr sz="1425" b="0">
                <a:solidFill>
                  <a:srgbClr val="FFFFFF"/>
                </a:solidFill>
                <a:latin typeface="Arial"/>
                <a:ea typeface="Arial"/>
                <a:cs typeface="Arial"/>
              </a:defRPr>
            </a:pPr>
            <a:r>
              <a:rPr sz="1425" b="0">
                <a:solidFill>
                  <a:srgbClr val="FFFFFF"/>
                </a:solidFill>
                <a:latin typeface="Arial"/>
                <a:ea typeface="Arial"/>
                <a:cs typeface="Arial"/>
              </a:rPr>
              <a:t>write /notes/demo.txt hello</a:t>
            </a:r>
          </a:p>
        </p:txBody>
      </p:sp>
      <p:cxnSp>
        <p:nvCxnSpPr>
          <p:cNvPr id="19" name="Straight Arrow Connector 18">
            <a:extLst>
              <a:ext uri="{FF2B5EF4-FFF2-40B4-BE49-F238E27FC236}">
                <a16:creationId xmlns:a16="http://schemas.microsoft.com/office/drawing/2014/main" id="{2540880C-9FC1-42BE-9197-0BC04E177E18}"/>
              </a:ext>
            </a:extLst>
          </p:cNvPr>
          <p:cNvCxnSpPr/>
          <p:nvPr/>
        </p:nvCxnSpPr>
        <p:spPr>
          <a:xfrm>
            <a:off x="4508500" y="3543300"/>
            <a:ext cx="3175000" cy="0"/>
          </a:xfrm>
          <a:prstGeom prst="straightConnector1">
            <a:avLst/>
          </a:prstGeom>
          <a:ln w="19050">
            <a:solidFill>
              <a:srgbClr val="BE98F6"/>
            </a:solidFill>
            <a:prstDash val="solid"/>
            <a:tailEnd type="triangle" w="med" len="med"/>
          </a:ln>
        </p:spPr>
      </p:cxnSp>
      <p:sp>
        <p:nvSpPr>
          <p:cNvPr id="20" name="Resolve path and call write">
            <a:extLst>
              <a:ext uri="{FF2B5EF4-FFF2-40B4-BE49-F238E27FC236}">
                <a16:creationId xmlns:a16="http://schemas.microsoft.com/office/drawing/2014/main" id="{F5EB1E5D-84E2-43D8-8D0D-4144C75C21B9}"/>
              </a:ext>
            </a:extLst>
          </p:cNvPr>
          <p:cNvSpPr>
            <a:spLocks noGrp="1"/>
          </p:cNvSpPr>
          <p:nvPr/>
        </p:nvSpPr>
        <p:spPr>
          <a:xfrm>
            <a:off x="4632325" y="3267075"/>
            <a:ext cx="2927350" cy="257175"/>
          </a:xfrm>
          <a:prstGeom prst="rect">
            <a:avLst/>
          </a:prstGeom>
          <a:noFill/>
          <a:ln w="0">
            <a:noFill/>
          </a:ln>
        </p:spPr>
        <p:txBody>
          <a:bodyPr lIns="0" tIns="0" rIns="0" bIns="0" anchor="ctr"/>
          <a:lstStyle>
            <a:defPPr algn="l">
              <a:defRPr sz="1425" b="0">
                <a:solidFill>
                  <a:srgbClr val="FFFFFF"/>
                </a:solidFill>
                <a:latin typeface="Arial"/>
                <a:ea typeface="Arial"/>
                <a:cs typeface="Arial"/>
              </a:defRPr>
            </a:defPPr>
          </a:lstStyle>
          <a:p>
            <a:pPr algn="l">
              <a:defRPr sz="1425" b="0">
                <a:solidFill>
                  <a:srgbClr val="FFFFFF"/>
                </a:solidFill>
                <a:latin typeface="Arial"/>
                <a:ea typeface="Arial"/>
                <a:cs typeface="Arial"/>
              </a:defRPr>
            </a:pPr>
            <a:r>
              <a:rPr sz="1425" b="0">
                <a:solidFill>
                  <a:srgbClr val="FFFFFF"/>
                </a:solidFill>
                <a:latin typeface="Arial"/>
                <a:ea typeface="Arial"/>
                <a:cs typeface="Arial"/>
              </a:rPr>
              <a:t>Resolve path and call write</a:t>
            </a:r>
          </a:p>
        </p:txBody>
      </p:sp>
      <p:cxnSp>
        <p:nvCxnSpPr>
          <p:cNvPr id="21" name="Straight Arrow Connector 20">
            <a:extLst>
              <a:ext uri="{FF2B5EF4-FFF2-40B4-BE49-F238E27FC236}">
                <a16:creationId xmlns:a16="http://schemas.microsoft.com/office/drawing/2014/main" id="{81F1031A-748F-4DF3-A200-8F92227ADCB6}"/>
              </a:ext>
            </a:extLst>
          </p:cNvPr>
          <p:cNvCxnSpPr/>
          <p:nvPr/>
        </p:nvCxnSpPr>
        <p:spPr>
          <a:xfrm>
            <a:off x="7683500" y="4057650"/>
            <a:ext cx="3175000" cy="0"/>
          </a:xfrm>
          <a:prstGeom prst="straightConnector1">
            <a:avLst/>
          </a:prstGeom>
          <a:ln w="19050">
            <a:solidFill>
              <a:srgbClr val="BE98F6"/>
            </a:solidFill>
            <a:prstDash val="solid"/>
            <a:tailEnd type="triangle" w="med" len="med"/>
          </a:ln>
        </p:spPr>
      </p:cxnSp>
      <p:sp>
        <p:nvSpPr>
          <p:cNvPr id="22" name="Allocate and copy new bytes">
            <a:extLst>
              <a:ext uri="{FF2B5EF4-FFF2-40B4-BE49-F238E27FC236}">
                <a16:creationId xmlns:a16="http://schemas.microsoft.com/office/drawing/2014/main" id="{A8D8EBBC-4CE8-423A-B0E6-B82E8B011F70}"/>
              </a:ext>
            </a:extLst>
          </p:cNvPr>
          <p:cNvSpPr>
            <a:spLocks noGrp="1"/>
          </p:cNvSpPr>
          <p:nvPr/>
        </p:nvSpPr>
        <p:spPr>
          <a:xfrm>
            <a:off x="7807325" y="3781425"/>
            <a:ext cx="2927350" cy="257175"/>
          </a:xfrm>
          <a:prstGeom prst="rect">
            <a:avLst/>
          </a:prstGeom>
          <a:noFill/>
          <a:ln w="0">
            <a:noFill/>
          </a:ln>
        </p:spPr>
        <p:txBody>
          <a:bodyPr lIns="0" tIns="0" rIns="0" bIns="0" anchor="ctr"/>
          <a:lstStyle>
            <a:defPPr algn="l">
              <a:defRPr sz="1425" b="0">
                <a:solidFill>
                  <a:srgbClr val="FFFFFF"/>
                </a:solidFill>
                <a:latin typeface="Arial"/>
                <a:ea typeface="Arial"/>
                <a:cs typeface="Arial"/>
              </a:defRPr>
            </a:defPPr>
          </a:lstStyle>
          <a:p>
            <a:pPr algn="l">
              <a:defRPr sz="1425" b="0">
                <a:solidFill>
                  <a:srgbClr val="FFFFFF"/>
                </a:solidFill>
                <a:latin typeface="Arial"/>
                <a:ea typeface="Arial"/>
                <a:cs typeface="Arial"/>
              </a:defRPr>
            </a:pPr>
            <a:r>
              <a:rPr sz="1425" b="0">
                <a:solidFill>
                  <a:srgbClr val="FFFFFF"/>
                </a:solidFill>
                <a:latin typeface="Arial"/>
                <a:ea typeface="Arial"/>
                <a:cs typeface="Arial"/>
              </a:rPr>
              <a:t>Allocate and copy new bytes</a:t>
            </a:r>
          </a:p>
        </p:txBody>
      </p:sp>
      <p:cxnSp>
        <p:nvCxnSpPr>
          <p:cNvPr id="23" name="Straight Arrow Connector 22">
            <a:extLst>
              <a:ext uri="{FF2B5EF4-FFF2-40B4-BE49-F238E27FC236}">
                <a16:creationId xmlns:a16="http://schemas.microsoft.com/office/drawing/2014/main" id="{A05B8F44-ACEC-471B-9FD6-B6AD64B28EAE}"/>
              </a:ext>
            </a:extLst>
          </p:cNvPr>
          <p:cNvCxnSpPr/>
          <p:nvPr/>
        </p:nvCxnSpPr>
        <p:spPr>
          <a:xfrm flipH="1">
            <a:off x="7683500" y="4572000"/>
            <a:ext cx="3175000" cy="0"/>
          </a:xfrm>
          <a:prstGeom prst="straightConnector1">
            <a:avLst/>
          </a:prstGeom>
          <a:ln w="19050">
            <a:solidFill>
              <a:srgbClr val="BE98F6"/>
            </a:solidFill>
            <a:prstDash val="solid"/>
            <a:tailEnd type="triangle" w="med" len="med"/>
          </a:ln>
        </p:spPr>
      </p:cxnSp>
      <p:sp>
        <p:nvSpPr>
          <p:cNvPr id="24" name="Return buffer">
            <a:extLst>
              <a:ext uri="{FF2B5EF4-FFF2-40B4-BE49-F238E27FC236}">
                <a16:creationId xmlns:a16="http://schemas.microsoft.com/office/drawing/2014/main" id="{6674CF1E-AD78-4AA6-918E-EC048B59073C}"/>
              </a:ext>
            </a:extLst>
          </p:cNvPr>
          <p:cNvSpPr>
            <a:spLocks noGrp="1"/>
          </p:cNvSpPr>
          <p:nvPr/>
        </p:nvSpPr>
        <p:spPr>
          <a:xfrm>
            <a:off x="7807325" y="4295775"/>
            <a:ext cx="2927350" cy="257175"/>
          </a:xfrm>
          <a:prstGeom prst="rect">
            <a:avLst/>
          </a:prstGeom>
          <a:noFill/>
          <a:ln w="0">
            <a:noFill/>
          </a:ln>
        </p:spPr>
        <p:txBody>
          <a:bodyPr lIns="0" tIns="0" rIns="0" bIns="0" anchor="ctr"/>
          <a:lstStyle>
            <a:defPPr algn="l">
              <a:defRPr sz="1425" b="0">
                <a:solidFill>
                  <a:srgbClr val="FFFFFF"/>
                </a:solidFill>
                <a:latin typeface="Arial"/>
                <a:ea typeface="Arial"/>
                <a:cs typeface="Arial"/>
              </a:defRPr>
            </a:defPPr>
          </a:lstStyle>
          <a:p>
            <a:pPr algn="l">
              <a:defRPr sz="1425" b="0">
                <a:solidFill>
                  <a:srgbClr val="FFFFFF"/>
                </a:solidFill>
                <a:latin typeface="Arial"/>
                <a:ea typeface="Arial"/>
                <a:cs typeface="Arial"/>
              </a:defRPr>
            </a:pPr>
            <a:r>
              <a:rPr sz="1425" b="0">
                <a:solidFill>
                  <a:srgbClr val="FFFFFF"/>
                </a:solidFill>
                <a:latin typeface="Arial"/>
                <a:ea typeface="Arial"/>
                <a:cs typeface="Arial"/>
              </a:rPr>
              <a:t>Return buffer</a:t>
            </a:r>
          </a:p>
        </p:txBody>
      </p:sp>
      <p:cxnSp>
        <p:nvCxnSpPr>
          <p:cNvPr id="25" name="Straight Arrow Connector 24">
            <a:extLst>
              <a:ext uri="{FF2B5EF4-FFF2-40B4-BE49-F238E27FC236}">
                <a16:creationId xmlns:a16="http://schemas.microsoft.com/office/drawing/2014/main" id="{65BDCA77-D836-4C36-BFA0-DD254633F446}"/>
              </a:ext>
            </a:extLst>
          </p:cNvPr>
          <p:cNvCxnSpPr/>
          <p:nvPr/>
        </p:nvCxnSpPr>
        <p:spPr>
          <a:xfrm flipH="1">
            <a:off x="4508500" y="5086350"/>
            <a:ext cx="3175000" cy="0"/>
          </a:xfrm>
          <a:prstGeom prst="straightConnector1">
            <a:avLst/>
          </a:prstGeom>
          <a:ln w="19050">
            <a:solidFill>
              <a:srgbClr val="BE98F6"/>
            </a:solidFill>
            <a:prstDash val="solid"/>
            <a:tailEnd type="triangle" w="med" len="med"/>
          </a:ln>
        </p:spPr>
      </p:cxnSp>
      <p:sp>
        <p:nvSpPr>
          <p:cNvPr id="26" name="Replace entry data, return status">
            <a:extLst>
              <a:ext uri="{FF2B5EF4-FFF2-40B4-BE49-F238E27FC236}">
                <a16:creationId xmlns:a16="http://schemas.microsoft.com/office/drawing/2014/main" id="{E1166F4D-A57C-4285-A22E-E2304F09BBD3}"/>
              </a:ext>
            </a:extLst>
          </p:cNvPr>
          <p:cNvSpPr>
            <a:spLocks noGrp="1"/>
          </p:cNvSpPr>
          <p:nvPr/>
        </p:nvSpPr>
        <p:spPr>
          <a:xfrm>
            <a:off x="4632325" y="4810125"/>
            <a:ext cx="2927350" cy="257175"/>
          </a:xfrm>
          <a:prstGeom prst="rect">
            <a:avLst/>
          </a:prstGeom>
          <a:noFill/>
          <a:ln w="0">
            <a:noFill/>
          </a:ln>
        </p:spPr>
        <p:txBody>
          <a:bodyPr lIns="0" tIns="0" rIns="0" bIns="0" anchor="ctr"/>
          <a:lstStyle>
            <a:defPPr algn="l">
              <a:defRPr sz="1425" b="0">
                <a:solidFill>
                  <a:srgbClr val="FFFFFF"/>
                </a:solidFill>
                <a:latin typeface="Arial"/>
                <a:ea typeface="Arial"/>
                <a:cs typeface="Arial"/>
              </a:defRPr>
            </a:defPPr>
          </a:lstStyle>
          <a:p>
            <a:pPr algn="l">
              <a:defRPr sz="1425" b="0">
                <a:solidFill>
                  <a:srgbClr val="FFFFFF"/>
                </a:solidFill>
                <a:latin typeface="Arial"/>
                <a:ea typeface="Arial"/>
                <a:cs typeface="Arial"/>
              </a:defRPr>
            </a:pPr>
            <a:r>
              <a:rPr sz="1425" b="0">
                <a:solidFill>
                  <a:srgbClr val="FFFFFF"/>
                </a:solidFill>
                <a:latin typeface="Arial"/>
                <a:ea typeface="Arial"/>
                <a:cs typeface="Arial"/>
              </a:rPr>
              <a:t>Replace entry data, return status</a:t>
            </a:r>
          </a:p>
        </p:txBody>
      </p:sp>
      <p:sp>
        <p:nvSpPr>
          <p:cNvPr id="27" name="The shell handles text. RAMFS owns the file ">
            <a:extLst>
              <a:ext uri="{FF2B5EF4-FFF2-40B4-BE49-F238E27FC236}">
                <a16:creationId xmlns:a16="http://schemas.microsoft.com/office/drawing/2014/main" id="{83E6CE32-3B9C-4728-9D5E-3468B4E67D85}"/>
              </a:ext>
            </a:extLst>
          </p:cNvPr>
          <p:cNvSpPr>
            <a:spLocks noGrp="1"/>
          </p:cNvSpPr>
          <p:nvPr/>
        </p:nvSpPr>
        <p:spPr>
          <a:xfrm>
            <a:off x="609600" y="5648325"/>
            <a:ext cx="10972800" cy="504825"/>
          </a:xfrm>
          <a:prstGeom prst="rect">
            <a:avLst/>
          </a:prstGeom>
          <a:noFill/>
          <a:ln w="0">
            <a:noFill/>
          </a:ln>
        </p:spPr>
        <p:txBody>
          <a:bodyPr lIns="0" tIns="0" rIns="0" bIns="0" anchor="ctr"/>
          <a:lstStyle>
            <a:defPPr algn="l">
              <a:defRPr sz="1725" b="0">
                <a:solidFill>
                  <a:srgbClr val="D5C9E6"/>
                </a:solidFill>
                <a:latin typeface="Arial"/>
                <a:ea typeface="Arial"/>
                <a:cs typeface="Arial"/>
              </a:defRPr>
            </a:defPPr>
          </a:lstStyle>
          <a:p>
            <a:pPr algn="l">
              <a:defRPr sz="1725" b="0">
                <a:solidFill>
                  <a:srgbClr val="D5C9E6"/>
                </a:solidFill>
                <a:latin typeface="Arial"/>
                <a:ea typeface="Arial"/>
                <a:cs typeface="Arial"/>
              </a:defRPr>
            </a:pPr>
            <a:r>
              <a:rPr sz="1725" b="0">
                <a:solidFill>
                  <a:srgbClr val="D5C9E6"/>
                </a:solidFill>
                <a:latin typeface="Arial"/>
                <a:ea typeface="Arial"/>
                <a:cs typeface="Arial"/>
              </a:rPr>
              <a:t>The shell handles text. RAMFS owns the file state.</a:t>
            </a:r>
          </a:p>
        </p:txBody>
      </p:sp>
    </p:spTree>
    <p:extLst>
      <p:ext uri="{BB962C8B-B14F-4D97-AF65-F5344CB8AC3E}">
        <p14:creationId xmlns:p14="http://schemas.microsoft.com/office/powerpoint/2010/main" val="124379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2" name="FOUNDATIONS">
            <a:extLst>
              <a:ext uri="{FF2B5EF4-FFF2-40B4-BE49-F238E27FC236}">
                <a16:creationId xmlns:a16="http://schemas.microsoft.com/office/drawing/2014/main" id="{4D941877-10D3-43C8-8383-CD02AF968EAB}"/>
              </a:ext>
            </a:extLst>
          </p:cNvPr>
          <p:cNvSpPr>
            <a:spLocks noGrp="1"/>
          </p:cNvSpPr>
          <p:nvPr/>
        </p:nvSpPr>
        <p:spPr>
          <a:xfrm>
            <a:off x="609600" y="323850"/>
            <a:ext cx="10001250" cy="228600"/>
          </a:xfrm>
          <a:prstGeom prst="rect">
            <a:avLst/>
          </a:prstGeom>
          <a:noFill/>
          <a:ln w="0">
            <a:noFill/>
          </a:ln>
        </p:spPr>
        <p:txBody>
          <a:bodyPr lIns="0" tIns="0" rIns="0" bIns="0" anchor="ctr"/>
          <a:lstStyle>
            <a:defPPr algn="l">
              <a:defRPr sz="1200" b="1">
                <a:solidFill>
                  <a:srgbClr val="7D43D5"/>
                </a:solidFill>
                <a:latin typeface="Arial"/>
                <a:ea typeface="Arial"/>
                <a:cs typeface="Arial"/>
              </a:defRPr>
            </a:defPPr>
          </a:lstStyle>
          <a:p>
            <a:pPr algn="l">
              <a:defRPr sz="1200" b="1">
                <a:solidFill>
                  <a:srgbClr val="7D43D5"/>
                </a:solidFill>
                <a:latin typeface="Arial"/>
                <a:ea typeface="Arial"/>
                <a:cs typeface="Arial"/>
              </a:defRPr>
            </a:pPr>
            <a:r>
              <a:rPr sz="1200" b="1">
                <a:solidFill>
                  <a:srgbClr val="7D43D5"/>
                </a:solidFill>
                <a:latin typeface="Arial"/>
                <a:ea typeface="Arial"/>
                <a:cs typeface="Arial"/>
              </a:rPr>
              <a:t>FOUNDATIONS</a:t>
            </a:r>
          </a:p>
        </p:txBody>
      </p:sp>
      <p:sp>
        <p:nvSpPr>
          <p:cNvPr id="2" name="Runtime boundaries">
            <a:extLst>
              <a:ext uri="{FF2B5EF4-FFF2-40B4-BE49-F238E27FC236}">
                <a16:creationId xmlns:a16="http://schemas.microsoft.com/office/drawing/2014/main" id="{BCEEF992-4178-46B4-9170-A42784D132DD}"/>
              </a:ext>
            </a:extLst>
          </p:cNvPr>
          <p:cNvSpPr>
            <a:spLocks noGrp="1"/>
          </p:cNvSpPr>
          <p:nvPr/>
        </p:nvSpPr>
        <p:spPr>
          <a:xfrm>
            <a:off x="609600" y="876300"/>
            <a:ext cx="10972800" cy="952500"/>
          </a:xfrm>
          <a:prstGeom prst="rect">
            <a:avLst/>
          </a:prstGeom>
          <a:noFill/>
          <a:ln w="0">
            <a:noFill/>
          </a:ln>
        </p:spPr>
        <p:txBody>
          <a:bodyPr lIns="0" tIns="0" rIns="0" bIns="0" anchor="ctr"/>
          <a:lstStyle>
            <a:defPPr algn="l">
              <a:defRPr sz="3300" b="1">
                <a:solidFill>
                  <a:srgbClr val="251139"/>
                </a:solidFill>
                <a:latin typeface="Arial"/>
                <a:ea typeface="Arial"/>
                <a:cs typeface="Arial"/>
              </a:defRPr>
            </a:defPPr>
          </a:lstStyle>
          <a:p>
            <a:pPr algn="l">
              <a:defRPr sz="3300" b="1">
                <a:solidFill>
                  <a:srgbClr val="251139"/>
                </a:solidFill>
                <a:latin typeface="Arial"/>
                <a:ea typeface="Arial"/>
                <a:cs typeface="Arial"/>
              </a:defRPr>
            </a:pPr>
            <a:r>
              <a:rPr sz="3300" b="1">
                <a:solidFill>
                  <a:srgbClr val="251139"/>
                </a:solidFill>
                <a:latin typeface="Arial"/>
                <a:ea typeface="Arial"/>
                <a:cs typeface="Arial"/>
              </a:rPr>
              <a:t>Runtime boundaries</a:t>
            </a:r>
          </a:p>
        </p:txBody>
      </p:sp>
      <p:sp>
        <p:nvSpPr>
          <p:cNvPr id="3" name="AGENTIC OS  /  MVP TECHNICAL WALKTHROUGH">
            <a:extLst>
              <a:ext uri="{FF2B5EF4-FFF2-40B4-BE49-F238E27FC236}">
                <a16:creationId xmlns:a16="http://schemas.microsoft.com/office/drawing/2014/main" id="{BD654686-3867-4857-A993-18F8256B1E49}"/>
              </a:ext>
            </a:extLst>
          </p:cNvPr>
          <p:cNvSpPr>
            <a:spLocks noGrp="1"/>
          </p:cNvSpPr>
          <p:nvPr/>
        </p:nvSpPr>
        <p:spPr>
          <a:xfrm>
            <a:off x="609600" y="6410325"/>
            <a:ext cx="10001250" cy="190500"/>
          </a:xfrm>
          <a:prstGeom prst="rect">
            <a:avLst/>
          </a:prstGeom>
          <a:noFill/>
          <a:ln w="0">
            <a:noFill/>
          </a:ln>
        </p:spPr>
        <p:txBody>
          <a:bodyPr lIns="0" tIns="0" rIns="0" bIns="0" anchor="ctr"/>
          <a:lstStyle>
            <a:defPPr algn="l">
              <a:defRPr sz="975" b="0">
                <a:solidFill>
                  <a:srgbClr val="7D43D5"/>
                </a:solidFill>
                <a:latin typeface="Arial"/>
                <a:ea typeface="Arial"/>
                <a:cs typeface="Arial"/>
              </a:defRPr>
            </a:defPPr>
          </a:lstStyle>
          <a:p>
            <a:pPr algn="l">
              <a:defRPr sz="975" b="0">
                <a:solidFill>
                  <a:srgbClr val="7D43D5"/>
                </a:solidFill>
                <a:latin typeface="Arial"/>
                <a:ea typeface="Arial"/>
                <a:cs typeface="Arial"/>
              </a:defRPr>
            </a:pPr>
            <a:r>
              <a:rPr sz="975" b="0">
                <a:solidFill>
                  <a:srgbClr val="7D43D5"/>
                </a:solidFill>
                <a:latin typeface="Arial"/>
                <a:ea typeface="Arial"/>
                <a:cs typeface="Arial"/>
              </a:rPr>
              <a:t>AGENTIC OS  /  MVP TECHNICAL WALKTHROUGH</a:t>
            </a:r>
          </a:p>
        </p:txBody>
      </p:sp>
      <p:sp>
        <p:nvSpPr>
          <p:cNvPr id="4" name="16">
            <a:extLst>
              <a:ext uri="{FF2B5EF4-FFF2-40B4-BE49-F238E27FC236}">
                <a16:creationId xmlns:a16="http://schemas.microsoft.com/office/drawing/2014/main" id="{A5B50891-2AB0-4D7E-8AAD-0F7053151903}"/>
              </a:ext>
            </a:extLst>
          </p:cNvPr>
          <p:cNvSpPr>
            <a:spLocks noGrp="1"/>
          </p:cNvSpPr>
          <p:nvPr/>
        </p:nvSpPr>
        <p:spPr>
          <a:xfrm>
            <a:off x="11029950" y="6372225"/>
            <a:ext cx="552450" cy="247650"/>
          </a:xfrm>
          <a:prstGeom prst="rect">
            <a:avLst/>
          </a:prstGeom>
          <a:noFill/>
          <a:ln w="0">
            <a:noFill/>
          </a:ln>
        </p:spPr>
        <p:txBody>
          <a:bodyPr lIns="0" tIns="0" rIns="0" bIns="0" anchor="ctr"/>
          <a:lstStyle>
            <a:defPPr algn="r">
              <a:defRPr sz="1275" b="0">
                <a:solidFill>
                  <a:srgbClr val="7D43D5"/>
                </a:solidFill>
                <a:latin typeface="Arial"/>
                <a:ea typeface="Arial"/>
                <a:cs typeface="Arial"/>
              </a:defRPr>
            </a:defPPr>
          </a:lstStyle>
          <a:p>
            <a:pPr algn="r">
              <a:defRPr sz="1275" b="0">
                <a:solidFill>
                  <a:srgbClr val="7D43D5"/>
                </a:solidFill>
                <a:latin typeface="Arial"/>
                <a:ea typeface="Arial"/>
                <a:cs typeface="Arial"/>
              </a:defRPr>
            </a:pPr>
            <a:r>
              <a:rPr sz="1275" b="0">
                <a:solidFill>
                  <a:srgbClr val="7D43D5"/>
                </a:solidFill>
                <a:latin typeface="Arial"/>
                <a:ea typeface="Arial"/>
                <a:cs typeface="Arial"/>
              </a:rPr>
              <a:t>16</a:t>
            </a:r>
          </a:p>
        </p:txBody>
      </p:sp>
      <p:sp>
        <p:nvSpPr>
          <p:cNvPr id="5" name="Execution">
            <a:extLst>
              <a:ext uri="{FF2B5EF4-FFF2-40B4-BE49-F238E27FC236}">
                <a16:creationId xmlns:a16="http://schemas.microsoft.com/office/drawing/2014/main" id="{A8DD2FD1-F043-4443-8677-C2BA29ABB546}"/>
              </a:ext>
            </a:extLst>
          </p:cNvPr>
          <p:cNvSpPr>
            <a:spLocks noGrp="1"/>
          </p:cNvSpPr>
          <p:nvPr/>
        </p:nvSpPr>
        <p:spPr>
          <a:xfrm>
            <a:off x="609600" y="2152650"/>
            <a:ext cx="3048000" cy="428625"/>
          </a:xfrm>
          <a:prstGeom prst="rect">
            <a:avLst/>
          </a:prstGeom>
          <a:noFill/>
          <a:ln w="0">
            <a:noFill/>
          </a:ln>
        </p:spPr>
        <p:txBody>
          <a:bodyPr lIns="0" tIns="0" rIns="0" bIns="0" anchor="ctr"/>
          <a:lstStyle>
            <a:defPPr algn="l">
              <a:defRPr sz="2100" b="1">
                <a:solidFill>
                  <a:srgbClr val="7D43D5"/>
                </a:solidFill>
                <a:latin typeface="Arial"/>
                <a:ea typeface="Arial"/>
                <a:cs typeface="Arial"/>
              </a:defRPr>
            </a:defPPr>
          </a:lstStyle>
          <a:p>
            <a:pPr algn="l">
              <a:defRPr sz="2100" b="1">
                <a:solidFill>
                  <a:srgbClr val="7D43D5"/>
                </a:solidFill>
                <a:latin typeface="Arial"/>
                <a:ea typeface="Arial"/>
                <a:cs typeface="Arial"/>
              </a:defRPr>
            </a:pPr>
            <a:r>
              <a:rPr sz="2100" b="1">
                <a:solidFill>
                  <a:srgbClr val="7D43D5"/>
                </a:solidFill>
                <a:latin typeface="Arial"/>
                <a:ea typeface="Arial"/>
                <a:cs typeface="Arial"/>
              </a:rPr>
              <a:t>Execution</a:t>
            </a:r>
          </a:p>
        </p:txBody>
      </p:sp>
      <p:sp>
        <p:nvSpPr>
          <p:cNvPr id="6" name="The interactive shell runs inside the kernel">
            <a:extLst>
              <a:ext uri="{FF2B5EF4-FFF2-40B4-BE49-F238E27FC236}">
                <a16:creationId xmlns:a16="http://schemas.microsoft.com/office/drawing/2014/main" id="{8C22A5D5-4347-43D4-9687-457A36F54E29}"/>
              </a:ext>
            </a:extLst>
          </p:cNvPr>
          <p:cNvSpPr>
            <a:spLocks noGrp="1"/>
          </p:cNvSpPr>
          <p:nvPr/>
        </p:nvSpPr>
        <p:spPr>
          <a:xfrm>
            <a:off x="3943350" y="2152650"/>
            <a:ext cx="7639050" cy="714375"/>
          </a:xfrm>
          <a:prstGeom prst="rect">
            <a:avLst/>
          </a:prstGeom>
          <a:noFill/>
          <a:ln w="0">
            <a:noFill/>
          </a:ln>
        </p:spPr>
        <p:txBody>
          <a:bodyPr lIns="0" tIns="0" rIns="0" bIns="0" anchor="ctr"/>
          <a:lstStyle>
            <a:defPPr algn="l">
              <a:defRPr sz="2025" b="0">
                <a:solidFill>
                  <a:srgbClr val="251139"/>
                </a:solidFill>
                <a:latin typeface="Arial"/>
                <a:ea typeface="Arial"/>
                <a:cs typeface="Arial"/>
              </a:defRPr>
            </a:defPPr>
          </a:lstStyle>
          <a:p>
            <a:pPr algn="l">
              <a:defRPr sz="2025" b="0">
                <a:solidFill>
                  <a:srgbClr val="251139"/>
                </a:solidFill>
                <a:latin typeface="Arial"/>
                <a:ea typeface="Arial"/>
                <a:cs typeface="Arial"/>
              </a:defRPr>
            </a:pPr>
            <a:r>
              <a:rPr sz="2025" b="0">
                <a:solidFill>
                  <a:srgbClr val="251139"/>
                </a:solidFill>
                <a:latin typeface="Arial"/>
                <a:ea typeface="Arial"/>
                <a:cs typeface="Arial"/>
              </a:rPr>
              <a:t>The interactive shell runs inside the kernel</a:t>
            </a:r>
          </a:p>
        </p:txBody>
      </p:sp>
      <p:sp>
        <p:nvSpPr>
          <p:cNvPr id="7" name="Scheduling">
            <a:extLst>
              <a:ext uri="{FF2B5EF4-FFF2-40B4-BE49-F238E27FC236}">
                <a16:creationId xmlns:a16="http://schemas.microsoft.com/office/drawing/2014/main" id="{82F57E1A-2374-44B5-B7B8-E0C76C893FFF}"/>
              </a:ext>
            </a:extLst>
          </p:cNvPr>
          <p:cNvSpPr>
            <a:spLocks noGrp="1"/>
          </p:cNvSpPr>
          <p:nvPr/>
        </p:nvSpPr>
        <p:spPr>
          <a:xfrm>
            <a:off x="609600" y="3219450"/>
            <a:ext cx="3048000" cy="428625"/>
          </a:xfrm>
          <a:prstGeom prst="rect">
            <a:avLst/>
          </a:prstGeom>
          <a:noFill/>
          <a:ln w="0">
            <a:noFill/>
          </a:ln>
        </p:spPr>
        <p:txBody>
          <a:bodyPr lIns="0" tIns="0" rIns="0" bIns="0" anchor="ctr"/>
          <a:lstStyle>
            <a:defPPr algn="l">
              <a:defRPr sz="2100" b="1">
                <a:solidFill>
                  <a:srgbClr val="7D43D5"/>
                </a:solidFill>
                <a:latin typeface="Arial"/>
                <a:ea typeface="Arial"/>
                <a:cs typeface="Arial"/>
              </a:defRPr>
            </a:defPPr>
          </a:lstStyle>
          <a:p>
            <a:pPr algn="l">
              <a:defRPr sz="2100" b="1">
                <a:solidFill>
                  <a:srgbClr val="7D43D5"/>
                </a:solidFill>
                <a:latin typeface="Arial"/>
                <a:ea typeface="Arial"/>
                <a:cs typeface="Arial"/>
              </a:defRPr>
            </a:pPr>
            <a:r>
              <a:rPr sz="2100" b="1">
                <a:solidFill>
                  <a:srgbClr val="7D43D5"/>
                </a:solidFill>
                <a:latin typeface="Arial"/>
                <a:ea typeface="Arial"/>
                <a:cs typeface="Arial"/>
              </a:rPr>
              <a:t>Scheduling</a:t>
            </a:r>
          </a:p>
        </p:txBody>
      </p:sp>
      <p:sp>
        <p:nvSpPr>
          <p:cNvPr id="8" name="Task structures exist; agent jobs are logica">
            <a:extLst>
              <a:ext uri="{FF2B5EF4-FFF2-40B4-BE49-F238E27FC236}">
                <a16:creationId xmlns:a16="http://schemas.microsoft.com/office/drawing/2014/main" id="{99EF3570-7528-4BBB-B528-E3F0A3558EB5}"/>
              </a:ext>
            </a:extLst>
          </p:cNvPr>
          <p:cNvSpPr>
            <a:spLocks noGrp="1"/>
          </p:cNvSpPr>
          <p:nvPr/>
        </p:nvSpPr>
        <p:spPr>
          <a:xfrm>
            <a:off x="3943350" y="3219450"/>
            <a:ext cx="7639050" cy="714375"/>
          </a:xfrm>
          <a:prstGeom prst="rect">
            <a:avLst/>
          </a:prstGeom>
          <a:noFill/>
          <a:ln w="0">
            <a:noFill/>
          </a:ln>
        </p:spPr>
        <p:txBody>
          <a:bodyPr lIns="0" tIns="0" rIns="0" bIns="0" anchor="ctr"/>
          <a:lstStyle>
            <a:defPPr algn="l">
              <a:defRPr sz="2025" b="0">
                <a:solidFill>
                  <a:srgbClr val="251139"/>
                </a:solidFill>
                <a:latin typeface="Arial"/>
                <a:ea typeface="Arial"/>
                <a:cs typeface="Arial"/>
              </a:defRPr>
            </a:defPPr>
          </a:lstStyle>
          <a:p>
            <a:pPr algn="l">
              <a:defRPr sz="2025" b="0">
                <a:solidFill>
                  <a:srgbClr val="251139"/>
                </a:solidFill>
                <a:latin typeface="Arial"/>
                <a:ea typeface="Arial"/>
                <a:cs typeface="Arial"/>
              </a:defRPr>
            </a:pPr>
            <a:r>
              <a:rPr sz="2025" b="0">
                <a:solidFill>
                  <a:srgbClr val="251139"/>
                </a:solidFill>
                <a:latin typeface="Arial"/>
                <a:ea typeface="Arial"/>
                <a:cs typeface="Arial"/>
              </a:rPr>
              <a:t>Task structures exist; agent jobs are logical workflows</a:t>
            </a:r>
          </a:p>
        </p:txBody>
      </p:sp>
      <p:sp>
        <p:nvSpPr>
          <p:cNvPr id="9" name="Storage">
            <a:extLst>
              <a:ext uri="{FF2B5EF4-FFF2-40B4-BE49-F238E27FC236}">
                <a16:creationId xmlns:a16="http://schemas.microsoft.com/office/drawing/2014/main" id="{EA677046-6DAB-4773-B6BF-B7C61652ED84}"/>
              </a:ext>
            </a:extLst>
          </p:cNvPr>
          <p:cNvSpPr>
            <a:spLocks noGrp="1"/>
          </p:cNvSpPr>
          <p:nvPr/>
        </p:nvSpPr>
        <p:spPr>
          <a:xfrm>
            <a:off x="609600" y="4286250"/>
            <a:ext cx="3048000" cy="428625"/>
          </a:xfrm>
          <a:prstGeom prst="rect">
            <a:avLst/>
          </a:prstGeom>
          <a:noFill/>
          <a:ln w="0">
            <a:noFill/>
          </a:ln>
        </p:spPr>
        <p:txBody>
          <a:bodyPr lIns="0" tIns="0" rIns="0" bIns="0" anchor="ctr"/>
          <a:lstStyle>
            <a:defPPr algn="l">
              <a:defRPr sz="2100" b="1">
                <a:solidFill>
                  <a:srgbClr val="7D43D5"/>
                </a:solidFill>
                <a:latin typeface="Arial"/>
                <a:ea typeface="Arial"/>
                <a:cs typeface="Arial"/>
              </a:defRPr>
            </a:defPPr>
          </a:lstStyle>
          <a:p>
            <a:pPr algn="l">
              <a:defRPr sz="2100" b="1">
                <a:solidFill>
                  <a:srgbClr val="7D43D5"/>
                </a:solidFill>
                <a:latin typeface="Arial"/>
                <a:ea typeface="Arial"/>
                <a:cs typeface="Arial"/>
              </a:defRPr>
            </a:pPr>
            <a:r>
              <a:rPr sz="2100" b="1">
                <a:solidFill>
                  <a:srgbClr val="7D43D5"/>
                </a:solidFill>
                <a:latin typeface="Arial"/>
                <a:ea typeface="Arial"/>
                <a:cs typeface="Arial"/>
              </a:rPr>
              <a:t>Storage</a:t>
            </a:r>
          </a:p>
        </p:txBody>
      </p:sp>
      <p:sp>
        <p:nvSpPr>
          <p:cNvPr id="10" name="Files live in RAM and disappear after restar">
            <a:extLst>
              <a:ext uri="{FF2B5EF4-FFF2-40B4-BE49-F238E27FC236}">
                <a16:creationId xmlns:a16="http://schemas.microsoft.com/office/drawing/2014/main" id="{1AE4622D-8C39-44B7-A452-2FEF32858F4C}"/>
              </a:ext>
            </a:extLst>
          </p:cNvPr>
          <p:cNvSpPr>
            <a:spLocks noGrp="1"/>
          </p:cNvSpPr>
          <p:nvPr/>
        </p:nvSpPr>
        <p:spPr>
          <a:xfrm>
            <a:off x="3943350" y="4286250"/>
            <a:ext cx="7639050" cy="714375"/>
          </a:xfrm>
          <a:prstGeom prst="rect">
            <a:avLst/>
          </a:prstGeom>
          <a:noFill/>
          <a:ln w="0">
            <a:noFill/>
          </a:ln>
        </p:spPr>
        <p:txBody>
          <a:bodyPr lIns="0" tIns="0" rIns="0" bIns="0" anchor="ctr"/>
          <a:lstStyle>
            <a:defPPr algn="l">
              <a:defRPr sz="2025" b="0">
                <a:solidFill>
                  <a:srgbClr val="251139"/>
                </a:solidFill>
                <a:latin typeface="Arial"/>
                <a:ea typeface="Arial"/>
                <a:cs typeface="Arial"/>
              </a:defRPr>
            </a:defPPr>
          </a:lstStyle>
          <a:p>
            <a:pPr algn="l">
              <a:defRPr sz="2025" b="0">
                <a:solidFill>
                  <a:srgbClr val="251139"/>
                </a:solidFill>
                <a:latin typeface="Arial"/>
                <a:ea typeface="Arial"/>
                <a:cs typeface="Arial"/>
              </a:defRPr>
            </a:pPr>
            <a:r>
              <a:rPr sz="2025" b="0">
                <a:solidFill>
                  <a:srgbClr val="251139"/>
                </a:solidFill>
                <a:latin typeface="Arial"/>
                <a:ea typeface="Arial"/>
                <a:cs typeface="Arial"/>
              </a:rPr>
              <a:t>Files live in RAM and disappear after restart</a:t>
            </a:r>
          </a:p>
        </p:txBody>
      </p:sp>
      <p:sp>
        <p:nvSpPr>
          <p:cNvPr id="11" name="The MVP keeps the execution model small and ">
            <a:extLst>
              <a:ext uri="{FF2B5EF4-FFF2-40B4-BE49-F238E27FC236}">
                <a16:creationId xmlns:a16="http://schemas.microsoft.com/office/drawing/2014/main" id="{590F6978-F3A7-4D90-832A-E4C90FED3D89}"/>
              </a:ext>
            </a:extLst>
          </p:cNvPr>
          <p:cNvSpPr>
            <a:spLocks noGrp="1"/>
          </p:cNvSpPr>
          <p:nvPr/>
        </p:nvSpPr>
        <p:spPr>
          <a:xfrm>
            <a:off x="609600" y="5648325"/>
            <a:ext cx="10972800" cy="504825"/>
          </a:xfrm>
          <a:prstGeom prst="rect">
            <a:avLst/>
          </a:prstGeom>
          <a:noFill/>
          <a:ln w="0">
            <a:noFill/>
          </a:ln>
        </p:spPr>
        <p:txBody>
          <a:bodyPr lIns="0" tIns="0" rIns="0" bIns="0" anchor="ctr"/>
          <a:lstStyle>
            <a:defPPr algn="l">
              <a:defRPr sz="1725" b="0">
                <a:solidFill>
                  <a:srgbClr val="7D43D5"/>
                </a:solidFill>
                <a:latin typeface="Arial"/>
                <a:ea typeface="Arial"/>
                <a:cs typeface="Arial"/>
              </a:defRPr>
            </a:defPPr>
          </a:lstStyle>
          <a:p>
            <a:pPr algn="l">
              <a:defRPr sz="1725" b="0">
                <a:solidFill>
                  <a:srgbClr val="7D43D5"/>
                </a:solidFill>
                <a:latin typeface="Arial"/>
                <a:ea typeface="Arial"/>
                <a:cs typeface="Arial"/>
              </a:defRPr>
            </a:pPr>
            <a:r>
              <a:rPr sz="1725" b="0">
                <a:solidFill>
                  <a:srgbClr val="7D43D5"/>
                </a:solidFill>
                <a:latin typeface="Arial"/>
                <a:ea typeface="Arial"/>
                <a:cs typeface="Arial"/>
              </a:rPr>
              <a:t>The MVP keeps the execution model small and explicit.</a:t>
            </a:r>
          </a:p>
        </p:txBody>
      </p:sp>
    </p:spTree>
    <p:extLst>
      <p:ext uri="{BB962C8B-B14F-4D97-AF65-F5344CB8AC3E}">
        <p14:creationId xmlns:p14="http://schemas.microsoft.com/office/powerpoint/2010/main" val="209302689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180B2B"/>
        </a:solidFill>
        <a:effectLst/>
      </p:bgPr>
    </p:bg>
    <p:spTree>
      <p:nvGrpSpPr>
        <p:cNvPr id="1" name=""/>
        <p:cNvGrpSpPr/>
        <p:nvPr/>
      </p:nvGrpSpPr>
      <p:grpSpPr>
        <a:xfrm>
          <a:off x="0" y="0"/>
          <a:ext cx="0" cy="0"/>
          <a:chOff x="0" y="0"/>
          <a:chExt cx="0" cy="0"/>
        </a:xfrm>
      </p:grpSpPr>
      <p:sp>
        <p:nvSpPr>
          <p:cNvPr id="17" name="NETWORKING">
            <a:extLst>
              <a:ext uri="{FF2B5EF4-FFF2-40B4-BE49-F238E27FC236}">
                <a16:creationId xmlns:a16="http://schemas.microsoft.com/office/drawing/2014/main" id="{FFCD1794-FB45-4338-BFB2-0A6B99B19E7F}"/>
              </a:ext>
            </a:extLst>
          </p:cNvPr>
          <p:cNvSpPr>
            <a:spLocks noGrp="1"/>
          </p:cNvSpPr>
          <p:nvPr/>
        </p:nvSpPr>
        <p:spPr>
          <a:xfrm>
            <a:off x="609600" y="323850"/>
            <a:ext cx="10001250" cy="228600"/>
          </a:xfrm>
          <a:prstGeom prst="rect">
            <a:avLst/>
          </a:prstGeom>
          <a:noFill/>
          <a:ln w="0">
            <a:noFill/>
          </a:ln>
        </p:spPr>
        <p:txBody>
          <a:bodyPr lIns="0" tIns="0" rIns="0" bIns="0" anchor="ctr"/>
          <a:lstStyle>
            <a:defPPr algn="l">
              <a:defRPr sz="1200" b="1">
                <a:solidFill>
                  <a:srgbClr val="BE98F6"/>
                </a:solidFill>
                <a:latin typeface="Arial"/>
                <a:ea typeface="Arial"/>
                <a:cs typeface="Arial"/>
              </a:defRPr>
            </a:defPPr>
          </a:lstStyle>
          <a:p>
            <a:pPr algn="l">
              <a:defRPr sz="1200" b="1">
                <a:solidFill>
                  <a:srgbClr val="BE98F6"/>
                </a:solidFill>
                <a:latin typeface="Arial"/>
                <a:ea typeface="Arial"/>
                <a:cs typeface="Arial"/>
              </a:defRPr>
            </a:pPr>
            <a:r>
              <a:rPr sz="1200" b="1">
                <a:solidFill>
                  <a:srgbClr val="BE98F6"/>
                </a:solidFill>
                <a:latin typeface="Arial"/>
                <a:ea typeface="Arial"/>
                <a:cs typeface="Arial"/>
              </a:rPr>
              <a:t>NETWORKING</a:t>
            </a:r>
          </a:p>
        </p:txBody>
      </p:sp>
      <p:sp>
        <p:nvSpPr>
          <p:cNvPr id="2" name="Guest networking stack">
            <a:extLst>
              <a:ext uri="{FF2B5EF4-FFF2-40B4-BE49-F238E27FC236}">
                <a16:creationId xmlns:a16="http://schemas.microsoft.com/office/drawing/2014/main" id="{F2DFD31E-0DBB-42E7-8C21-BF8379064B96}"/>
              </a:ext>
            </a:extLst>
          </p:cNvPr>
          <p:cNvSpPr>
            <a:spLocks noGrp="1"/>
          </p:cNvSpPr>
          <p:nvPr/>
        </p:nvSpPr>
        <p:spPr>
          <a:xfrm>
            <a:off x="609600" y="876300"/>
            <a:ext cx="10972800" cy="952500"/>
          </a:xfrm>
          <a:prstGeom prst="rect">
            <a:avLst/>
          </a:prstGeom>
          <a:noFill/>
          <a:ln w="0">
            <a:noFill/>
          </a:ln>
        </p:spPr>
        <p:txBody>
          <a:bodyPr lIns="0" tIns="0" rIns="0" bIns="0" anchor="ctr"/>
          <a:lstStyle>
            <a:defPPr algn="l">
              <a:defRPr sz="3300" b="1">
                <a:solidFill>
                  <a:srgbClr val="FFFFFF"/>
                </a:solidFill>
                <a:latin typeface="Arial"/>
                <a:ea typeface="Arial"/>
                <a:cs typeface="Arial"/>
              </a:defRPr>
            </a:defPPr>
          </a:lstStyle>
          <a:p>
            <a:pPr algn="l">
              <a:defRPr sz="3300" b="1">
                <a:solidFill>
                  <a:srgbClr val="FFFFFF"/>
                </a:solidFill>
                <a:latin typeface="Arial"/>
                <a:ea typeface="Arial"/>
                <a:cs typeface="Arial"/>
              </a:defRPr>
            </a:pPr>
            <a:r>
              <a:rPr sz="3300" b="1">
                <a:solidFill>
                  <a:srgbClr val="FFFFFF"/>
                </a:solidFill>
                <a:latin typeface="Arial"/>
                <a:ea typeface="Arial"/>
                <a:cs typeface="Arial"/>
              </a:rPr>
              <a:t>Guest networking stack</a:t>
            </a:r>
          </a:p>
        </p:txBody>
      </p:sp>
      <p:sp>
        <p:nvSpPr>
          <p:cNvPr id="3" name="AGENTIC OS  /  MVP TECHNICAL WALKTHROUGH">
            <a:extLst>
              <a:ext uri="{FF2B5EF4-FFF2-40B4-BE49-F238E27FC236}">
                <a16:creationId xmlns:a16="http://schemas.microsoft.com/office/drawing/2014/main" id="{50B45E10-FE98-472F-9819-3A504A6F54F9}"/>
              </a:ext>
            </a:extLst>
          </p:cNvPr>
          <p:cNvSpPr>
            <a:spLocks noGrp="1"/>
          </p:cNvSpPr>
          <p:nvPr/>
        </p:nvSpPr>
        <p:spPr>
          <a:xfrm>
            <a:off x="609600" y="6410325"/>
            <a:ext cx="10001250" cy="190500"/>
          </a:xfrm>
          <a:prstGeom prst="rect">
            <a:avLst/>
          </a:prstGeom>
          <a:noFill/>
          <a:ln w="0">
            <a:noFill/>
          </a:ln>
        </p:spPr>
        <p:txBody>
          <a:bodyPr lIns="0" tIns="0" rIns="0" bIns="0" anchor="ctr"/>
          <a:lstStyle>
            <a:defPPr algn="l">
              <a:defRPr sz="975" b="0">
                <a:solidFill>
                  <a:srgbClr val="D5C9E6"/>
                </a:solidFill>
                <a:latin typeface="Arial"/>
                <a:ea typeface="Arial"/>
                <a:cs typeface="Arial"/>
              </a:defRPr>
            </a:defPPr>
          </a:lstStyle>
          <a:p>
            <a:pPr algn="l">
              <a:defRPr sz="975" b="0">
                <a:solidFill>
                  <a:srgbClr val="D5C9E6"/>
                </a:solidFill>
                <a:latin typeface="Arial"/>
                <a:ea typeface="Arial"/>
                <a:cs typeface="Arial"/>
              </a:defRPr>
            </a:pPr>
            <a:r>
              <a:rPr sz="975" b="0">
                <a:solidFill>
                  <a:srgbClr val="D5C9E6"/>
                </a:solidFill>
                <a:latin typeface="Arial"/>
                <a:ea typeface="Arial"/>
                <a:cs typeface="Arial"/>
              </a:rPr>
              <a:t>AGENTIC OS  /  MVP TECHNICAL WALKTHROUGH</a:t>
            </a:r>
          </a:p>
        </p:txBody>
      </p:sp>
      <p:sp>
        <p:nvSpPr>
          <p:cNvPr id="4" name="17">
            <a:extLst>
              <a:ext uri="{FF2B5EF4-FFF2-40B4-BE49-F238E27FC236}">
                <a16:creationId xmlns:a16="http://schemas.microsoft.com/office/drawing/2014/main" id="{040159FC-3F2F-4B79-A39A-19A5C052D07F}"/>
              </a:ext>
            </a:extLst>
          </p:cNvPr>
          <p:cNvSpPr>
            <a:spLocks noGrp="1"/>
          </p:cNvSpPr>
          <p:nvPr/>
        </p:nvSpPr>
        <p:spPr>
          <a:xfrm>
            <a:off x="11029950" y="6372225"/>
            <a:ext cx="552450" cy="247650"/>
          </a:xfrm>
          <a:prstGeom prst="rect">
            <a:avLst/>
          </a:prstGeom>
          <a:noFill/>
          <a:ln w="0">
            <a:noFill/>
          </a:ln>
        </p:spPr>
        <p:txBody>
          <a:bodyPr lIns="0" tIns="0" rIns="0" bIns="0" anchor="ctr"/>
          <a:lstStyle>
            <a:defPPr algn="r">
              <a:defRPr sz="1275" b="0">
                <a:solidFill>
                  <a:srgbClr val="BE98F6"/>
                </a:solidFill>
                <a:latin typeface="Arial"/>
                <a:ea typeface="Arial"/>
                <a:cs typeface="Arial"/>
              </a:defRPr>
            </a:defPPr>
          </a:lstStyle>
          <a:p>
            <a:pPr algn="r">
              <a:defRPr sz="1275" b="0">
                <a:solidFill>
                  <a:srgbClr val="BE98F6"/>
                </a:solidFill>
                <a:latin typeface="Arial"/>
                <a:ea typeface="Arial"/>
                <a:cs typeface="Arial"/>
              </a:defRPr>
            </a:pPr>
            <a:r>
              <a:rPr sz="1275" b="0">
                <a:solidFill>
                  <a:srgbClr val="BE98F6"/>
                </a:solidFill>
                <a:latin typeface="Arial"/>
                <a:ea typeface="Arial"/>
                <a:cs typeface="Arial"/>
              </a:rPr>
              <a:t>17</a:t>
            </a:r>
          </a:p>
        </p:txBody>
      </p:sp>
      <p:sp>
        <p:nvSpPr>
          <p:cNvPr id="5" name="Rectangle 4">
            <a:extLst>
              <a:ext uri="{FF2B5EF4-FFF2-40B4-BE49-F238E27FC236}">
                <a16:creationId xmlns:a16="http://schemas.microsoft.com/office/drawing/2014/main" id="{8BB038EC-7137-472B-9D99-B764716E5B33}"/>
              </a:ext>
            </a:extLst>
          </p:cNvPr>
          <p:cNvSpPr>
            <a:spLocks noGrp="1"/>
          </p:cNvSpPr>
          <p:nvPr/>
        </p:nvSpPr>
        <p:spPr>
          <a:xfrm>
            <a:off x="609600" y="2762250"/>
            <a:ext cx="2471738" cy="1066800"/>
          </a:xfrm>
          <a:prstGeom prst="rect">
            <a:avLst/>
          </a:prstGeom>
          <a:solidFill>
            <a:srgbClr val="2A1547"/>
          </a:solidFill>
          <a:ln w="13335">
            <a:solidFill>
              <a:srgbClr val="7D43D5"/>
            </a:solidFill>
          </a:ln>
        </p:spPr>
      </p:sp>
      <p:sp>
        <p:nvSpPr>
          <p:cNvPr id="6" name="NE2000&#10;I/O driver">
            <a:extLst>
              <a:ext uri="{FF2B5EF4-FFF2-40B4-BE49-F238E27FC236}">
                <a16:creationId xmlns:a16="http://schemas.microsoft.com/office/drawing/2014/main" id="{F1AA111F-DC05-4C11-9AEF-FDF4B5A1170C}"/>
              </a:ext>
            </a:extLst>
          </p:cNvPr>
          <p:cNvSpPr>
            <a:spLocks noGrp="1"/>
          </p:cNvSpPr>
          <p:nvPr/>
        </p:nvSpPr>
        <p:spPr>
          <a:xfrm>
            <a:off x="752475" y="2847975"/>
            <a:ext cx="2185988" cy="895350"/>
          </a:xfrm>
          <a:prstGeom prst="rect">
            <a:avLst/>
          </a:prstGeom>
          <a:noFill/>
          <a:ln w="0">
            <a:noFill/>
          </a:ln>
        </p:spPr>
        <p:txBody>
          <a:bodyPr lIns="0" tIns="0" rIns="0" bIns="0" anchor="ctr"/>
          <a:lstStyle>
            <a:defPPr algn="ctr">
              <a:defRPr sz="1800" b="1">
                <a:solidFill>
                  <a:srgbClr val="FFFFFF"/>
                </a:solidFill>
                <a:latin typeface="Arial"/>
                <a:ea typeface="Arial"/>
                <a:cs typeface="Arial"/>
              </a:defRPr>
            </a:defPPr>
          </a:lstStyle>
          <a:p>
            <a:pPr algn="ctr">
              <a:defRPr sz="1800" b="1">
                <a:solidFill>
                  <a:srgbClr val="FFFFFF"/>
                </a:solidFill>
                <a:latin typeface="Arial"/>
                <a:ea typeface="Arial"/>
                <a:cs typeface="Arial"/>
              </a:defRPr>
            </a:pPr>
            <a:r>
              <a:rPr sz="1800" b="1">
                <a:solidFill>
                  <a:srgbClr val="FFFFFF"/>
                </a:solidFill>
                <a:latin typeface="Arial"/>
                <a:ea typeface="Arial"/>
                <a:cs typeface="Arial"/>
              </a:rPr>
              <a:t>NE2000</a:t>
            </a:r>
          </a:p>
          <a:p>
            <a:pPr algn="ctr">
              <a:defRPr sz="1800" b="1">
                <a:solidFill>
                  <a:srgbClr val="FFFFFF"/>
                </a:solidFill>
                <a:latin typeface="Arial"/>
                <a:ea typeface="Arial"/>
                <a:cs typeface="Arial"/>
              </a:defRPr>
            </a:pPr>
            <a:r>
              <a:rPr sz="1800" b="1">
                <a:solidFill>
                  <a:srgbClr val="FFFFFF"/>
                </a:solidFill>
                <a:latin typeface="Arial"/>
                <a:ea typeface="Arial"/>
                <a:cs typeface="Arial"/>
              </a:rPr>
              <a:t>I/O driver</a:t>
            </a:r>
          </a:p>
        </p:txBody>
      </p:sp>
      <p:cxnSp>
        <p:nvCxnSpPr>
          <p:cNvPr id="7" name="Straight Arrow Connector 6">
            <a:extLst>
              <a:ext uri="{FF2B5EF4-FFF2-40B4-BE49-F238E27FC236}">
                <a16:creationId xmlns:a16="http://schemas.microsoft.com/office/drawing/2014/main" id="{05B30A62-2C9C-4F78-94DF-00EAA237339B}"/>
              </a:ext>
            </a:extLst>
          </p:cNvPr>
          <p:cNvCxnSpPr/>
          <p:nvPr/>
        </p:nvCxnSpPr>
        <p:spPr>
          <a:xfrm>
            <a:off x="3081338" y="3295650"/>
            <a:ext cx="295275" cy="0"/>
          </a:xfrm>
          <a:prstGeom prst="straightConnector1">
            <a:avLst/>
          </a:prstGeom>
          <a:ln w="19050">
            <a:solidFill>
              <a:srgbClr val="BE98F6"/>
            </a:solidFill>
            <a:prstDash val="solid"/>
            <a:tailEnd type="triangle" w="med" len="med"/>
          </a:ln>
        </p:spPr>
      </p:cxnSp>
      <p:sp>
        <p:nvSpPr>
          <p:cNvPr id="8" name="Rectangle 7">
            <a:extLst>
              <a:ext uri="{FF2B5EF4-FFF2-40B4-BE49-F238E27FC236}">
                <a16:creationId xmlns:a16="http://schemas.microsoft.com/office/drawing/2014/main" id="{4F033757-6DEF-45ED-9FEF-4C9A112DE4AA}"/>
              </a:ext>
            </a:extLst>
          </p:cNvPr>
          <p:cNvSpPr>
            <a:spLocks noGrp="1"/>
          </p:cNvSpPr>
          <p:nvPr/>
        </p:nvSpPr>
        <p:spPr>
          <a:xfrm>
            <a:off x="3443288" y="2762250"/>
            <a:ext cx="2471738" cy="1066800"/>
          </a:xfrm>
          <a:prstGeom prst="rect">
            <a:avLst/>
          </a:prstGeom>
          <a:solidFill>
            <a:srgbClr val="2A1547"/>
          </a:solidFill>
          <a:ln w="13335">
            <a:solidFill>
              <a:srgbClr val="7D43D5"/>
            </a:solidFill>
          </a:ln>
        </p:spPr>
      </p:sp>
      <p:sp>
        <p:nvSpPr>
          <p:cNvPr id="9" name="Ethernet&#10;frames">
            <a:extLst>
              <a:ext uri="{FF2B5EF4-FFF2-40B4-BE49-F238E27FC236}">
                <a16:creationId xmlns:a16="http://schemas.microsoft.com/office/drawing/2014/main" id="{2C3CDD62-C12C-4A6B-A57C-0DBB2EC62E49}"/>
              </a:ext>
            </a:extLst>
          </p:cNvPr>
          <p:cNvSpPr>
            <a:spLocks noGrp="1"/>
          </p:cNvSpPr>
          <p:nvPr/>
        </p:nvSpPr>
        <p:spPr>
          <a:xfrm>
            <a:off x="3586163" y="2847975"/>
            <a:ext cx="2185988" cy="895350"/>
          </a:xfrm>
          <a:prstGeom prst="rect">
            <a:avLst/>
          </a:prstGeom>
          <a:noFill/>
          <a:ln w="0">
            <a:noFill/>
          </a:ln>
        </p:spPr>
        <p:txBody>
          <a:bodyPr lIns="0" tIns="0" rIns="0" bIns="0" anchor="ctr"/>
          <a:lstStyle>
            <a:defPPr algn="ctr">
              <a:defRPr sz="1800" b="1">
                <a:solidFill>
                  <a:srgbClr val="FFFFFF"/>
                </a:solidFill>
                <a:latin typeface="Arial"/>
                <a:ea typeface="Arial"/>
                <a:cs typeface="Arial"/>
              </a:defRPr>
            </a:defPPr>
          </a:lstStyle>
          <a:p>
            <a:pPr algn="ctr">
              <a:defRPr sz="1800" b="1">
                <a:solidFill>
                  <a:srgbClr val="FFFFFF"/>
                </a:solidFill>
                <a:latin typeface="Arial"/>
                <a:ea typeface="Arial"/>
                <a:cs typeface="Arial"/>
              </a:defRPr>
            </a:pPr>
            <a:r>
              <a:rPr sz="1800" b="1">
                <a:solidFill>
                  <a:srgbClr val="FFFFFF"/>
                </a:solidFill>
                <a:latin typeface="Arial"/>
                <a:ea typeface="Arial"/>
                <a:cs typeface="Arial"/>
              </a:rPr>
              <a:t>Ethernet</a:t>
            </a:r>
          </a:p>
          <a:p>
            <a:pPr algn="ctr">
              <a:defRPr sz="1800" b="1">
                <a:solidFill>
                  <a:srgbClr val="FFFFFF"/>
                </a:solidFill>
                <a:latin typeface="Arial"/>
                <a:ea typeface="Arial"/>
                <a:cs typeface="Arial"/>
              </a:defRPr>
            </a:pPr>
            <a:r>
              <a:rPr sz="1800" b="1">
                <a:solidFill>
                  <a:srgbClr val="FFFFFF"/>
                </a:solidFill>
                <a:latin typeface="Arial"/>
                <a:ea typeface="Arial"/>
                <a:cs typeface="Arial"/>
              </a:rPr>
              <a:t>frames</a:t>
            </a:r>
          </a:p>
        </p:txBody>
      </p:sp>
      <p:cxnSp>
        <p:nvCxnSpPr>
          <p:cNvPr id="10" name="Straight Arrow Connector 9">
            <a:extLst>
              <a:ext uri="{FF2B5EF4-FFF2-40B4-BE49-F238E27FC236}">
                <a16:creationId xmlns:a16="http://schemas.microsoft.com/office/drawing/2014/main" id="{30950D7D-1759-4DF6-A1C2-16B017C810A1}"/>
              </a:ext>
            </a:extLst>
          </p:cNvPr>
          <p:cNvCxnSpPr/>
          <p:nvPr/>
        </p:nvCxnSpPr>
        <p:spPr>
          <a:xfrm>
            <a:off x="5915025" y="3295650"/>
            <a:ext cx="295275" cy="0"/>
          </a:xfrm>
          <a:prstGeom prst="straightConnector1">
            <a:avLst/>
          </a:prstGeom>
          <a:ln w="19050">
            <a:solidFill>
              <a:srgbClr val="BE98F6"/>
            </a:solidFill>
            <a:prstDash val="solid"/>
            <a:tailEnd type="triangle" w="med" len="med"/>
          </a:ln>
        </p:spPr>
      </p:cxnSp>
      <p:sp>
        <p:nvSpPr>
          <p:cNvPr id="11" name="Rectangle 10">
            <a:extLst>
              <a:ext uri="{FF2B5EF4-FFF2-40B4-BE49-F238E27FC236}">
                <a16:creationId xmlns:a16="http://schemas.microsoft.com/office/drawing/2014/main" id="{C6EAE13B-FB46-4B1C-9189-8B247FCF4B15}"/>
              </a:ext>
            </a:extLst>
          </p:cNvPr>
          <p:cNvSpPr>
            <a:spLocks noGrp="1"/>
          </p:cNvSpPr>
          <p:nvPr/>
        </p:nvSpPr>
        <p:spPr>
          <a:xfrm>
            <a:off x="6276975" y="2762250"/>
            <a:ext cx="2471738" cy="1066800"/>
          </a:xfrm>
          <a:prstGeom prst="rect">
            <a:avLst/>
          </a:prstGeom>
          <a:solidFill>
            <a:srgbClr val="2A1547"/>
          </a:solidFill>
          <a:ln w="13335">
            <a:solidFill>
              <a:srgbClr val="7D43D5"/>
            </a:solidFill>
          </a:ln>
        </p:spPr>
      </p:sp>
      <p:sp>
        <p:nvSpPr>
          <p:cNvPr id="12" name="ARP + IPv4&#10;addressing">
            <a:extLst>
              <a:ext uri="{FF2B5EF4-FFF2-40B4-BE49-F238E27FC236}">
                <a16:creationId xmlns:a16="http://schemas.microsoft.com/office/drawing/2014/main" id="{B4D3DA67-BCE5-482F-BC19-88BA74A188FE}"/>
              </a:ext>
            </a:extLst>
          </p:cNvPr>
          <p:cNvSpPr>
            <a:spLocks noGrp="1"/>
          </p:cNvSpPr>
          <p:nvPr/>
        </p:nvSpPr>
        <p:spPr>
          <a:xfrm>
            <a:off x="6419850" y="2847975"/>
            <a:ext cx="2185988" cy="895350"/>
          </a:xfrm>
          <a:prstGeom prst="rect">
            <a:avLst/>
          </a:prstGeom>
          <a:noFill/>
          <a:ln w="0">
            <a:noFill/>
          </a:ln>
        </p:spPr>
        <p:txBody>
          <a:bodyPr lIns="0" tIns="0" rIns="0" bIns="0" anchor="ctr"/>
          <a:lstStyle>
            <a:defPPr algn="ctr">
              <a:defRPr sz="1800" b="1">
                <a:solidFill>
                  <a:srgbClr val="FFFFFF"/>
                </a:solidFill>
                <a:latin typeface="Arial"/>
                <a:ea typeface="Arial"/>
                <a:cs typeface="Arial"/>
              </a:defRPr>
            </a:defPPr>
          </a:lstStyle>
          <a:p>
            <a:pPr algn="ctr">
              <a:defRPr sz="1800" b="1">
                <a:solidFill>
                  <a:srgbClr val="FFFFFF"/>
                </a:solidFill>
                <a:latin typeface="Arial"/>
                <a:ea typeface="Arial"/>
                <a:cs typeface="Arial"/>
              </a:defRPr>
            </a:pPr>
            <a:r>
              <a:rPr sz="1800" b="1">
                <a:solidFill>
                  <a:srgbClr val="FFFFFF"/>
                </a:solidFill>
                <a:latin typeface="Arial"/>
                <a:ea typeface="Arial"/>
                <a:cs typeface="Arial"/>
              </a:rPr>
              <a:t>ARP + IPv4</a:t>
            </a:r>
          </a:p>
          <a:p>
            <a:pPr algn="ctr">
              <a:defRPr sz="1800" b="1">
                <a:solidFill>
                  <a:srgbClr val="FFFFFF"/>
                </a:solidFill>
                <a:latin typeface="Arial"/>
                <a:ea typeface="Arial"/>
                <a:cs typeface="Arial"/>
              </a:defRPr>
            </a:pPr>
            <a:r>
              <a:rPr sz="1800" b="1">
                <a:solidFill>
                  <a:srgbClr val="FFFFFF"/>
                </a:solidFill>
                <a:latin typeface="Arial"/>
                <a:ea typeface="Arial"/>
                <a:cs typeface="Arial"/>
              </a:rPr>
              <a:t>addressing</a:t>
            </a:r>
          </a:p>
        </p:txBody>
      </p:sp>
      <p:cxnSp>
        <p:nvCxnSpPr>
          <p:cNvPr id="13" name="Straight Arrow Connector 12">
            <a:extLst>
              <a:ext uri="{FF2B5EF4-FFF2-40B4-BE49-F238E27FC236}">
                <a16:creationId xmlns:a16="http://schemas.microsoft.com/office/drawing/2014/main" id="{1C249D2D-6EE5-4666-B77C-E1CCCB3A36C9}"/>
              </a:ext>
            </a:extLst>
          </p:cNvPr>
          <p:cNvCxnSpPr/>
          <p:nvPr/>
        </p:nvCxnSpPr>
        <p:spPr>
          <a:xfrm>
            <a:off x="8748713" y="3295650"/>
            <a:ext cx="295275" cy="0"/>
          </a:xfrm>
          <a:prstGeom prst="straightConnector1">
            <a:avLst/>
          </a:prstGeom>
          <a:ln w="19050">
            <a:solidFill>
              <a:srgbClr val="BE98F6"/>
            </a:solidFill>
            <a:prstDash val="solid"/>
            <a:tailEnd type="triangle" w="med" len="med"/>
          </a:ln>
        </p:spPr>
      </p:cxnSp>
      <p:sp>
        <p:nvSpPr>
          <p:cNvPr id="14" name="Rectangle 13">
            <a:extLst>
              <a:ext uri="{FF2B5EF4-FFF2-40B4-BE49-F238E27FC236}">
                <a16:creationId xmlns:a16="http://schemas.microsoft.com/office/drawing/2014/main" id="{1D94E1D1-03BD-456F-AA52-81EE054866E2}"/>
              </a:ext>
            </a:extLst>
          </p:cNvPr>
          <p:cNvSpPr>
            <a:spLocks noGrp="1"/>
          </p:cNvSpPr>
          <p:nvPr/>
        </p:nvSpPr>
        <p:spPr>
          <a:xfrm>
            <a:off x="9110663" y="2762250"/>
            <a:ext cx="2471738" cy="1066800"/>
          </a:xfrm>
          <a:prstGeom prst="rect">
            <a:avLst/>
          </a:prstGeom>
          <a:solidFill>
            <a:srgbClr val="2A1547"/>
          </a:solidFill>
          <a:ln w="13335">
            <a:solidFill>
              <a:srgbClr val="7D43D5"/>
            </a:solidFill>
          </a:ln>
        </p:spPr>
      </p:sp>
      <p:sp>
        <p:nvSpPr>
          <p:cNvPr id="15" name="TCP SYN&#10;probe">
            <a:extLst>
              <a:ext uri="{FF2B5EF4-FFF2-40B4-BE49-F238E27FC236}">
                <a16:creationId xmlns:a16="http://schemas.microsoft.com/office/drawing/2014/main" id="{EBC68704-2391-4F22-93DD-49D79F1A9111}"/>
              </a:ext>
            </a:extLst>
          </p:cNvPr>
          <p:cNvSpPr>
            <a:spLocks noGrp="1"/>
          </p:cNvSpPr>
          <p:nvPr/>
        </p:nvSpPr>
        <p:spPr>
          <a:xfrm>
            <a:off x="9253538" y="2847975"/>
            <a:ext cx="2185988" cy="895350"/>
          </a:xfrm>
          <a:prstGeom prst="rect">
            <a:avLst/>
          </a:prstGeom>
          <a:noFill/>
          <a:ln w="0">
            <a:noFill/>
          </a:ln>
        </p:spPr>
        <p:txBody>
          <a:bodyPr lIns="0" tIns="0" rIns="0" bIns="0" anchor="ctr"/>
          <a:lstStyle>
            <a:defPPr algn="ctr">
              <a:defRPr sz="1800" b="1">
                <a:solidFill>
                  <a:srgbClr val="FFFFFF"/>
                </a:solidFill>
                <a:latin typeface="Arial"/>
                <a:ea typeface="Arial"/>
                <a:cs typeface="Arial"/>
              </a:defRPr>
            </a:defPPr>
          </a:lstStyle>
          <a:p>
            <a:pPr algn="ctr">
              <a:defRPr sz="1800" b="1">
                <a:solidFill>
                  <a:srgbClr val="FFFFFF"/>
                </a:solidFill>
                <a:latin typeface="Arial"/>
                <a:ea typeface="Arial"/>
                <a:cs typeface="Arial"/>
              </a:defRPr>
            </a:pPr>
            <a:r>
              <a:rPr sz="1800" b="1">
                <a:solidFill>
                  <a:srgbClr val="FFFFFF"/>
                </a:solidFill>
                <a:latin typeface="Arial"/>
                <a:ea typeface="Arial"/>
                <a:cs typeface="Arial"/>
              </a:rPr>
              <a:t>TCP SYN</a:t>
            </a:r>
          </a:p>
          <a:p>
            <a:pPr algn="ctr">
              <a:defRPr sz="1800" b="1">
                <a:solidFill>
                  <a:srgbClr val="FFFFFF"/>
                </a:solidFill>
                <a:latin typeface="Arial"/>
                <a:ea typeface="Arial"/>
                <a:cs typeface="Arial"/>
              </a:defRPr>
            </a:pPr>
            <a:r>
              <a:rPr sz="1800" b="1">
                <a:solidFill>
                  <a:srgbClr val="FFFFFF"/>
                </a:solidFill>
                <a:latin typeface="Arial"/>
                <a:ea typeface="Arial"/>
                <a:cs typeface="Arial"/>
              </a:rPr>
              <a:t>probe</a:t>
            </a:r>
          </a:p>
        </p:txBody>
      </p:sp>
      <p:sp>
        <p:nvSpPr>
          <p:cNvPr id="16" name="tcpping checks a listening TCP port with a S">
            <a:extLst>
              <a:ext uri="{FF2B5EF4-FFF2-40B4-BE49-F238E27FC236}">
                <a16:creationId xmlns:a16="http://schemas.microsoft.com/office/drawing/2014/main" id="{5948C886-4AC8-4C4B-BA1D-B13D31EEDC66}"/>
              </a:ext>
            </a:extLst>
          </p:cNvPr>
          <p:cNvSpPr>
            <a:spLocks noGrp="1"/>
          </p:cNvSpPr>
          <p:nvPr/>
        </p:nvSpPr>
        <p:spPr>
          <a:xfrm>
            <a:off x="609600" y="5648325"/>
            <a:ext cx="10972800" cy="504825"/>
          </a:xfrm>
          <a:prstGeom prst="rect">
            <a:avLst/>
          </a:prstGeom>
          <a:noFill/>
          <a:ln w="0">
            <a:noFill/>
          </a:ln>
        </p:spPr>
        <p:txBody>
          <a:bodyPr lIns="0" tIns="0" rIns="0" bIns="0" anchor="ctr"/>
          <a:lstStyle>
            <a:defPPr algn="l">
              <a:defRPr sz="1725" b="0">
                <a:solidFill>
                  <a:srgbClr val="D5C9E6"/>
                </a:solidFill>
                <a:latin typeface="Arial"/>
                <a:ea typeface="Arial"/>
                <a:cs typeface="Arial"/>
              </a:defRPr>
            </a:defPPr>
          </a:lstStyle>
          <a:p>
            <a:pPr algn="l">
              <a:defRPr sz="1725" b="0">
                <a:solidFill>
                  <a:srgbClr val="D5C9E6"/>
                </a:solidFill>
                <a:latin typeface="Arial"/>
                <a:ea typeface="Arial"/>
                <a:cs typeface="Arial"/>
              </a:defRPr>
            </a:pPr>
            <a:r>
              <a:rPr sz="1725" b="0">
                <a:solidFill>
                  <a:srgbClr val="D5C9E6"/>
                </a:solidFill>
                <a:latin typeface="Arial"/>
                <a:ea typeface="Arial"/>
                <a:cs typeface="Arial"/>
              </a:rPr>
              <a:t>tcpping checks a listening TCP port with a SYN-ACK response.</a:t>
            </a:r>
          </a:p>
        </p:txBody>
      </p:sp>
    </p:spTree>
    <p:extLst>
      <p:ext uri="{BB962C8B-B14F-4D97-AF65-F5344CB8AC3E}">
        <p14:creationId xmlns:p14="http://schemas.microsoft.com/office/powerpoint/2010/main" val="132068099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3" name="NETWORKING">
            <a:extLst>
              <a:ext uri="{FF2B5EF4-FFF2-40B4-BE49-F238E27FC236}">
                <a16:creationId xmlns:a16="http://schemas.microsoft.com/office/drawing/2014/main" id="{0729F6D9-7432-4465-A6FC-8D4B9C1F0141}"/>
              </a:ext>
            </a:extLst>
          </p:cNvPr>
          <p:cNvSpPr>
            <a:spLocks noGrp="1"/>
          </p:cNvSpPr>
          <p:nvPr/>
        </p:nvSpPr>
        <p:spPr>
          <a:xfrm>
            <a:off x="609600" y="323850"/>
            <a:ext cx="10001250" cy="228600"/>
          </a:xfrm>
          <a:prstGeom prst="rect">
            <a:avLst/>
          </a:prstGeom>
          <a:noFill/>
          <a:ln w="0">
            <a:noFill/>
          </a:ln>
        </p:spPr>
        <p:txBody>
          <a:bodyPr lIns="0" tIns="0" rIns="0" bIns="0" anchor="ctr"/>
          <a:lstStyle>
            <a:defPPr algn="l">
              <a:defRPr sz="1200" b="1">
                <a:solidFill>
                  <a:srgbClr val="7D43D5"/>
                </a:solidFill>
                <a:latin typeface="Arial"/>
                <a:ea typeface="Arial"/>
                <a:cs typeface="Arial"/>
              </a:defRPr>
            </a:defPPr>
          </a:lstStyle>
          <a:p>
            <a:pPr algn="l">
              <a:defRPr sz="1200" b="1">
                <a:solidFill>
                  <a:srgbClr val="7D43D5"/>
                </a:solidFill>
                <a:latin typeface="Arial"/>
                <a:ea typeface="Arial"/>
                <a:cs typeface="Arial"/>
              </a:defRPr>
            </a:pPr>
            <a:r>
              <a:rPr sz="1200" b="1">
                <a:solidFill>
                  <a:srgbClr val="7D43D5"/>
                </a:solidFill>
                <a:latin typeface="Arial"/>
                <a:ea typeface="Arial"/>
                <a:cs typeface="Arial"/>
              </a:rPr>
              <a:t>NETWORKING</a:t>
            </a:r>
          </a:p>
        </p:txBody>
      </p:sp>
      <p:sp>
        <p:nvSpPr>
          <p:cNvPr id="2" name="Network configuration">
            <a:extLst>
              <a:ext uri="{FF2B5EF4-FFF2-40B4-BE49-F238E27FC236}">
                <a16:creationId xmlns:a16="http://schemas.microsoft.com/office/drawing/2014/main" id="{E74D377F-EDAC-40B2-8C1E-73DF8202C394}"/>
              </a:ext>
            </a:extLst>
          </p:cNvPr>
          <p:cNvSpPr>
            <a:spLocks noGrp="1"/>
          </p:cNvSpPr>
          <p:nvPr/>
        </p:nvSpPr>
        <p:spPr>
          <a:xfrm>
            <a:off x="609600" y="876300"/>
            <a:ext cx="10972800" cy="952500"/>
          </a:xfrm>
          <a:prstGeom prst="rect">
            <a:avLst/>
          </a:prstGeom>
          <a:noFill/>
          <a:ln w="0">
            <a:noFill/>
          </a:ln>
        </p:spPr>
        <p:txBody>
          <a:bodyPr lIns="0" tIns="0" rIns="0" bIns="0" anchor="ctr"/>
          <a:lstStyle>
            <a:defPPr algn="l">
              <a:defRPr sz="3300" b="1">
                <a:solidFill>
                  <a:srgbClr val="251139"/>
                </a:solidFill>
                <a:latin typeface="Arial"/>
                <a:ea typeface="Arial"/>
                <a:cs typeface="Arial"/>
              </a:defRPr>
            </a:defPPr>
          </a:lstStyle>
          <a:p>
            <a:pPr algn="l">
              <a:defRPr sz="3300" b="1">
                <a:solidFill>
                  <a:srgbClr val="251139"/>
                </a:solidFill>
                <a:latin typeface="Arial"/>
                <a:ea typeface="Arial"/>
                <a:cs typeface="Arial"/>
              </a:defRPr>
            </a:pPr>
            <a:r>
              <a:rPr sz="3300" b="1">
                <a:solidFill>
                  <a:srgbClr val="251139"/>
                </a:solidFill>
                <a:latin typeface="Arial"/>
                <a:ea typeface="Arial"/>
                <a:cs typeface="Arial"/>
              </a:rPr>
              <a:t>Network configuration</a:t>
            </a:r>
          </a:p>
        </p:txBody>
      </p:sp>
      <p:sp>
        <p:nvSpPr>
          <p:cNvPr id="3" name="AGENTIC OS  /  MVP TECHNICAL WALKTHROUGH">
            <a:extLst>
              <a:ext uri="{FF2B5EF4-FFF2-40B4-BE49-F238E27FC236}">
                <a16:creationId xmlns:a16="http://schemas.microsoft.com/office/drawing/2014/main" id="{04680AB6-BB23-44E4-88CC-465FA23DAE15}"/>
              </a:ext>
            </a:extLst>
          </p:cNvPr>
          <p:cNvSpPr>
            <a:spLocks noGrp="1"/>
          </p:cNvSpPr>
          <p:nvPr/>
        </p:nvSpPr>
        <p:spPr>
          <a:xfrm>
            <a:off x="609600" y="6410325"/>
            <a:ext cx="10001250" cy="190500"/>
          </a:xfrm>
          <a:prstGeom prst="rect">
            <a:avLst/>
          </a:prstGeom>
          <a:noFill/>
          <a:ln w="0">
            <a:noFill/>
          </a:ln>
        </p:spPr>
        <p:txBody>
          <a:bodyPr lIns="0" tIns="0" rIns="0" bIns="0" anchor="ctr"/>
          <a:lstStyle>
            <a:defPPr algn="l">
              <a:defRPr sz="975" b="0">
                <a:solidFill>
                  <a:srgbClr val="7D43D5"/>
                </a:solidFill>
                <a:latin typeface="Arial"/>
                <a:ea typeface="Arial"/>
                <a:cs typeface="Arial"/>
              </a:defRPr>
            </a:defPPr>
          </a:lstStyle>
          <a:p>
            <a:pPr algn="l">
              <a:defRPr sz="975" b="0">
                <a:solidFill>
                  <a:srgbClr val="7D43D5"/>
                </a:solidFill>
                <a:latin typeface="Arial"/>
                <a:ea typeface="Arial"/>
                <a:cs typeface="Arial"/>
              </a:defRPr>
            </a:pPr>
            <a:r>
              <a:rPr sz="975" b="0">
                <a:solidFill>
                  <a:srgbClr val="7D43D5"/>
                </a:solidFill>
                <a:latin typeface="Arial"/>
                <a:ea typeface="Arial"/>
                <a:cs typeface="Arial"/>
              </a:rPr>
              <a:t>AGENTIC OS  /  MVP TECHNICAL WALKTHROUGH</a:t>
            </a:r>
          </a:p>
        </p:txBody>
      </p:sp>
      <p:sp>
        <p:nvSpPr>
          <p:cNvPr id="4" name="18">
            <a:extLst>
              <a:ext uri="{FF2B5EF4-FFF2-40B4-BE49-F238E27FC236}">
                <a16:creationId xmlns:a16="http://schemas.microsoft.com/office/drawing/2014/main" id="{9CBEA6B7-AB34-4FCA-857E-4A44C9AC3829}"/>
              </a:ext>
            </a:extLst>
          </p:cNvPr>
          <p:cNvSpPr>
            <a:spLocks noGrp="1"/>
          </p:cNvSpPr>
          <p:nvPr/>
        </p:nvSpPr>
        <p:spPr>
          <a:xfrm>
            <a:off x="11029950" y="6372225"/>
            <a:ext cx="552450" cy="247650"/>
          </a:xfrm>
          <a:prstGeom prst="rect">
            <a:avLst/>
          </a:prstGeom>
          <a:noFill/>
          <a:ln w="0">
            <a:noFill/>
          </a:ln>
        </p:spPr>
        <p:txBody>
          <a:bodyPr lIns="0" tIns="0" rIns="0" bIns="0" anchor="ctr"/>
          <a:lstStyle>
            <a:defPPr algn="r">
              <a:defRPr sz="1275" b="0">
                <a:solidFill>
                  <a:srgbClr val="7D43D5"/>
                </a:solidFill>
                <a:latin typeface="Arial"/>
                <a:ea typeface="Arial"/>
                <a:cs typeface="Arial"/>
              </a:defRPr>
            </a:defPPr>
          </a:lstStyle>
          <a:p>
            <a:pPr algn="r">
              <a:defRPr sz="1275" b="0">
                <a:solidFill>
                  <a:srgbClr val="7D43D5"/>
                </a:solidFill>
                <a:latin typeface="Arial"/>
                <a:ea typeface="Arial"/>
                <a:cs typeface="Arial"/>
              </a:defRPr>
            </a:pPr>
            <a:r>
              <a:rPr sz="1275" b="0">
                <a:solidFill>
                  <a:srgbClr val="7D43D5"/>
                </a:solidFill>
                <a:latin typeface="Arial"/>
                <a:ea typeface="Arial"/>
                <a:cs typeface="Arial"/>
              </a:rPr>
              <a:t>18</a:t>
            </a:r>
          </a:p>
        </p:txBody>
      </p:sp>
      <p:sp>
        <p:nvSpPr>
          <p:cNvPr id="5" name="Device">
            <a:extLst>
              <a:ext uri="{FF2B5EF4-FFF2-40B4-BE49-F238E27FC236}">
                <a16:creationId xmlns:a16="http://schemas.microsoft.com/office/drawing/2014/main" id="{F43EEB41-1E3A-4530-8797-EA127D82BA43}"/>
              </a:ext>
            </a:extLst>
          </p:cNvPr>
          <p:cNvSpPr>
            <a:spLocks noGrp="1"/>
          </p:cNvSpPr>
          <p:nvPr/>
        </p:nvSpPr>
        <p:spPr>
          <a:xfrm>
            <a:off x="609600" y="1990725"/>
            <a:ext cx="3048000" cy="428625"/>
          </a:xfrm>
          <a:prstGeom prst="rect">
            <a:avLst/>
          </a:prstGeom>
          <a:noFill/>
          <a:ln w="0">
            <a:noFill/>
          </a:ln>
        </p:spPr>
        <p:txBody>
          <a:bodyPr lIns="0" tIns="0" rIns="0" bIns="0" anchor="ctr"/>
          <a:lstStyle>
            <a:defPPr algn="l">
              <a:defRPr sz="2100" b="1">
                <a:solidFill>
                  <a:srgbClr val="7D43D5"/>
                </a:solidFill>
                <a:latin typeface="Arial"/>
                <a:ea typeface="Arial"/>
                <a:cs typeface="Arial"/>
              </a:defRPr>
            </a:defPPr>
          </a:lstStyle>
          <a:p>
            <a:pPr algn="l">
              <a:defRPr sz="2100" b="1">
                <a:solidFill>
                  <a:srgbClr val="7D43D5"/>
                </a:solidFill>
                <a:latin typeface="Arial"/>
                <a:ea typeface="Arial"/>
                <a:cs typeface="Arial"/>
              </a:defRPr>
            </a:pPr>
            <a:r>
              <a:rPr sz="2100" b="1">
                <a:solidFill>
                  <a:srgbClr val="7D43D5"/>
                </a:solidFill>
                <a:latin typeface="Arial"/>
                <a:ea typeface="Arial"/>
                <a:cs typeface="Arial"/>
              </a:rPr>
              <a:t>Device</a:t>
            </a:r>
          </a:p>
        </p:txBody>
      </p:sp>
      <p:sp>
        <p:nvSpPr>
          <p:cNvPr id="6" name="NE2000 at 0x300, IRQ 11">
            <a:extLst>
              <a:ext uri="{FF2B5EF4-FFF2-40B4-BE49-F238E27FC236}">
                <a16:creationId xmlns:a16="http://schemas.microsoft.com/office/drawing/2014/main" id="{FFFE35D5-A581-4B16-9F45-2FE92976CC46}"/>
              </a:ext>
            </a:extLst>
          </p:cNvPr>
          <p:cNvSpPr>
            <a:spLocks noGrp="1"/>
          </p:cNvSpPr>
          <p:nvPr/>
        </p:nvSpPr>
        <p:spPr>
          <a:xfrm>
            <a:off x="3943350" y="1990725"/>
            <a:ext cx="7639050" cy="714375"/>
          </a:xfrm>
          <a:prstGeom prst="rect">
            <a:avLst/>
          </a:prstGeom>
          <a:noFill/>
          <a:ln w="0">
            <a:noFill/>
          </a:ln>
        </p:spPr>
        <p:txBody>
          <a:bodyPr lIns="0" tIns="0" rIns="0" bIns="0" anchor="ctr"/>
          <a:lstStyle>
            <a:defPPr algn="l">
              <a:defRPr sz="2025" b="0">
                <a:solidFill>
                  <a:srgbClr val="251139"/>
                </a:solidFill>
                <a:latin typeface="Arial"/>
                <a:ea typeface="Arial"/>
                <a:cs typeface="Arial"/>
              </a:defRPr>
            </a:defPPr>
          </a:lstStyle>
          <a:p>
            <a:pPr algn="l">
              <a:defRPr sz="2025" b="0">
                <a:solidFill>
                  <a:srgbClr val="251139"/>
                </a:solidFill>
                <a:latin typeface="Arial"/>
                <a:ea typeface="Arial"/>
                <a:cs typeface="Arial"/>
              </a:defRPr>
            </a:pPr>
            <a:r>
              <a:rPr sz="2025" b="0">
                <a:solidFill>
                  <a:srgbClr val="251139"/>
                </a:solidFill>
                <a:latin typeface="Arial"/>
                <a:ea typeface="Arial"/>
                <a:cs typeface="Arial"/>
              </a:rPr>
              <a:t>NE2000 at 0x300, IRQ 11</a:t>
            </a:r>
          </a:p>
        </p:txBody>
      </p:sp>
      <p:sp>
        <p:nvSpPr>
          <p:cNvPr id="7" name="Guest address">
            <a:extLst>
              <a:ext uri="{FF2B5EF4-FFF2-40B4-BE49-F238E27FC236}">
                <a16:creationId xmlns:a16="http://schemas.microsoft.com/office/drawing/2014/main" id="{825168D0-6E1B-4505-BA2B-ECB95B018DBA}"/>
              </a:ext>
            </a:extLst>
          </p:cNvPr>
          <p:cNvSpPr>
            <a:spLocks noGrp="1"/>
          </p:cNvSpPr>
          <p:nvPr/>
        </p:nvSpPr>
        <p:spPr>
          <a:xfrm>
            <a:off x="609600" y="2886075"/>
            <a:ext cx="3048000" cy="428625"/>
          </a:xfrm>
          <a:prstGeom prst="rect">
            <a:avLst/>
          </a:prstGeom>
          <a:noFill/>
          <a:ln w="0">
            <a:noFill/>
          </a:ln>
        </p:spPr>
        <p:txBody>
          <a:bodyPr lIns="0" tIns="0" rIns="0" bIns="0" anchor="ctr"/>
          <a:lstStyle>
            <a:defPPr algn="l">
              <a:defRPr sz="2100" b="1">
                <a:solidFill>
                  <a:srgbClr val="7D43D5"/>
                </a:solidFill>
                <a:latin typeface="Arial"/>
                <a:ea typeface="Arial"/>
                <a:cs typeface="Arial"/>
              </a:defRPr>
            </a:defPPr>
          </a:lstStyle>
          <a:p>
            <a:pPr algn="l">
              <a:defRPr sz="2100" b="1">
                <a:solidFill>
                  <a:srgbClr val="7D43D5"/>
                </a:solidFill>
                <a:latin typeface="Arial"/>
                <a:ea typeface="Arial"/>
                <a:cs typeface="Arial"/>
              </a:defRPr>
            </a:pPr>
            <a:r>
              <a:rPr sz="2100" b="1">
                <a:solidFill>
                  <a:srgbClr val="7D43D5"/>
                </a:solidFill>
                <a:latin typeface="Arial"/>
                <a:ea typeface="Arial"/>
                <a:cs typeface="Arial"/>
              </a:rPr>
              <a:t>Guest address</a:t>
            </a:r>
          </a:p>
        </p:txBody>
      </p:sp>
      <p:sp>
        <p:nvSpPr>
          <p:cNvPr id="8" name="10.0.2.15 / 255.255.255.0">
            <a:extLst>
              <a:ext uri="{FF2B5EF4-FFF2-40B4-BE49-F238E27FC236}">
                <a16:creationId xmlns:a16="http://schemas.microsoft.com/office/drawing/2014/main" id="{F3715115-2CD4-4F44-B757-D4CF9D19564C}"/>
              </a:ext>
            </a:extLst>
          </p:cNvPr>
          <p:cNvSpPr>
            <a:spLocks noGrp="1"/>
          </p:cNvSpPr>
          <p:nvPr/>
        </p:nvSpPr>
        <p:spPr>
          <a:xfrm>
            <a:off x="3943350" y="2886075"/>
            <a:ext cx="7639050" cy="714375"/>
          </a:xfrm>
          <a:prstGeom prst="rect">
            <a:avLst/>
          </a:prstGeom>
          <a:noFill/>
          <a:ln w="0">
            <a:noFill/>
          </a:ln>
        </p:spPr>
        <p:txBody>
          <a:bodyPr lIns="0" tIns="0" rIns="0" bIns="0" anchor="ctr"/>
          <a:lstStyle>
            <a:defPPr algn="l">
              <a:defRPr sz="2025" b="0">
                <a:solidFill>
                  <a:srgbClr val="251139"/>
                </a:solidFill>
                <a:latin typeface="Arial"/>
                <a:ea typeface="Arial"/>
                <a:cs typeface="Arial"/>
              </a:defRPr>
            </a:defPPr>
          </a:lstStyle>
          <a:p>
            <a:pPr algn="l">
              <a:defRPr sz="2025" b="0">
                <a:solidFill>
                  <a:srgbClr val="251139"/>
                </a:solidFill>
                <a:latin typeface="Arial"/>
                <a:ea typeface="Arial"/>
                <a:cs typeface="Arial"/>
              </a:defRPr>
            </a:pPr>
            <a:r>
              <a:rPr sz="2025" b="0">
                <a:solidFill>
                  <a:srgbClr val="251139"/>
                </a:solidFill>
                <a:latin typeface="Arial"/>
                <a:ea typeface="Arial"/>
                <a:cs typeface="Arial"/>
              </a:rPr>
              <a:t>10.0.2.15 / 255.255.255.0</a:t>
            </a:r>
          </a:p>
        </p:txBody>
      </p:sp>
      <p:sp>
        <p:nvSpPr>
          <p:cNvPr id="9" name="Gateway">
            <a:extLst>
              <a:ext uri="{FF2B5EF4-FFF2-40B4-BE49-F238E27FC236}">
                <a16:creationId xmlns:a16="http://schemas.microsoft.com/office/drawing/2014/main" id="{C028AF54-3E2E-4EF7-8BB7-42F35C338244}"/>
              </a:ext>
            </a:extLst>
          </p:cNvPr>
          <p:cNvSpPr>
            <a:spLocks noGrp="1"/>
          </p:cNvSpPr>
          <p:nvPr/>
        </p:nvSpPr>
        <p:spPr>
          <a:xfrm>
            <a:off x="609600" y="3781425"/>
            <a:ext cx="3048000" cy="428625"/>
          </a:xfrm>
          <a:prstGeom prst="rect">
            <a:avLst/>
          </a:prstGeom>
          <a:noFill/>
          <a:ln w="0">
            <a:noFill/>
          </a:ln>
        </p:spPr>
        <p:txBody>
          <a:bodyPr lIns="0" tIns="0" rIns="0" bIns="0" anchor="ctr"/>
          <a:lstStyle>
            <a:defPPr algn="l">
              <a:defRPr sz="2100" b="1">
                <a:solidFill>
                  <a:srgbClr val="7D43D5"/>
                </a:solidFill>
                <a:latin typeface="Arial"/>
                <a:ea typeface="Arial"/>
                <a:cs typeface="Arial"/>
              </a:defRPr>
            </a:defPPr>
          </a:lstStyle>
          <a:p>
            <a:pPr algn="l">
              <a:defRPr sz="2100" b="1">
                <a:solidFill>
                  <a:srgbClr val="7D43D5"/>
                </a:solidFill>
                <a:latin typeface="Arial"/>
                <a:ea typeface="Arial"/>
                <a:cs typeface="Arial"/>
              </a:defRPr>
            </a:pPr>
            <a:r>
              <a:rPr sz="2100" b="1">
                <a:solidFill>
                  <a:srgbClr val="7D43D5"/>
                </a:solidFill>
                <a:latin typeface="Arial"/>
                <a:ea typeface="Arial"/>
                <a:cs typeface="Arial"/>
              </a:rPr>
              <a:t>Gateway</a:t>
            </a:r>
          </a:p>
        </p:txBody>
      </p:sp>
      <p:sp>
        <p:nvSpPr>
          <p:cNvPr id="10" name="10.0.2.2">
            <a:extLst>
              <a:ext uri="{FF2B5EF4-FFF2-40B4-BE49-F238E27FC236}">
                <a16:creationId xmlns:a16="http://schemas.microsoft.com/office/drawing/2014/main" id="{F9E4D0B9-ECE5-4C46-AAAE-10E91E536C4C}"/>
              </a:ext>
            </a:extLst>
          </p:cNvPr>
          <p:cNvSpPr>
            <a:spLocks noGrp="1"/>
          </p:cNvSpPr>
          <p:nvPr/>
        </p:nvSpPr>
        <p:spPr>
          <a:xfrm>
            <a:off x="3943350" y="3781425"/>
            <a:ext cx="7639050" cy="714375"/>
          </a:xfrm>
          <a:prstGeom prst="rect">
            <a:avLst/>
          </a:prstGeom>
          <a:noFill/>
          <a:ln w="0">
            <a:noFill/>
          </a:ln>
        </p:spPr>
        <p:txBody>
          <a:bodyPr lIns="0" tIns="0" rIns="0" bIns="0" anchor="ctr"/>
          <a:lstStyle>
            <a:defPPr algn="l">
              <a:defRPr sz="2025" b="0">
                <a:solidFill>
                  <a:srgbClr val="251139"/>
                </a:solidFill>
                <a:latin typeface="Arial"/>
                <a:ea typeface="Arial"/>
                <a:cs typeface="Arial"/>
              </a:defRPr>
            </a:defPPr>
          </a:lstStyle>
          <a:p>
            <a:pPr algn="l">
              <a:defRPr sz="2025" b="0">
                <a:solidFill>
                  <a:srgbClr val="251139"/>
                </a:solidFill>
                <a:latin typeface="Arial"/>
                <a:ea typeface="Arial"/>
                <a:cs typeface="Arial"/>
              </a:defRPr>
            </a:pPr>
            <a:r>
              <a:rPr sz="2025" b="0">
                <a:solidFill>
                  <a:srgbClr val="251139"/>
                </a:solidFill>
                <a:latin typeface="Arial"/>
                <a:ea typeface="Arial"/>
                <a:cs typeface="Arial"/>
              </a:rPr>
              <a:t>10.0.2.2</a:t>
            </a:r>
          </a:p>
        </p:txBody>
      </p:sp>
      <p:sp>
        <p:nvSpPr>
          <p:cNvPr id="11" name="MAC address">
            <a:extLst>
              <a:ext uri="{FF2B5EF4-FFF2-40B4-BE49-F238E27FC236}">
                <a16:creationId xmlns:a16="http://schemas.microsoft.com/office/drawing/2014/main" id="{72A3FC4B-3035-43DD-9E0E-52ADCB2800F9}"/>
              </a:ext>
            </a:extLst>
          </p:cNvPr>
          <p:cNvSpPr>
            <a:spLocks noGrp="1"/>
          </p:cNvSpPr>
          <p:nvPr/>
        </p:nvSpPr>
        <p:spPr>
          <a:xfrm>
            <a:off x="609600" y="4676775"/>
            <a:ext cx="3048000" cy="428625"/>
          </a:xfrm>
          <a:prstGeom prst="rect">
            <a:avLst/>
          </a:prstGeom>
          <a:noFill/>
          <a:ln w="0">
            <a:noFill/>
          </a:ln>
        </p:spPr>
        <p:txBody>
          <a:bodyPr lIns="0" tIns="0" rIns="0" bIns="0" anchor="ctr"/>
          <a:lstStyle>
            <a:defPPr algn="l">
              <a:defRPr sz="2100" b="1">
                <a:solidFill>
                  <a:srgbClr val="7D43D5"/>
                </a:solidFill>
                <a:latin typeface="Arial"/>
                <a:ea typeface="Arial"/>
                <a:cs typeface="Arial"/>
              </a:defRPr>
            </a:defPPr>
          </a:lstStyle>
          <a:p>
            <a:pPr algn="l">
              <a:defRPr sz="2100" b="1">
                <a:solidFill>
                  <a:srgbClr val="7D43D5"/>
                </a:solidFill>
                <a:latin typeface="Arial"/>
                <a:ea typeface="Arial"/>
                <a:cs typeface="Arial"/>
              </a:defRPr>
            </a:pPr>
            <a:r>
              <a:rPr sz="2100" b="1">
                <a:solidFill>
                  <a:srgbClr val="7D43D5"/>
                </a:solidFill>
                <a:latin typeface="Arial"/>
                <a:ea typeface="Arial"/>
                <a:cs typeface="Arial"/>
              </a:rPr>
              <a:t>MAC address</a:t>
            </a:r>
          </a:p>
        </p:txBody>
      </p:sp>
      <p:sp>
        <p:nvSpPr>
          <p:cNvPr id="12" name="B0:C4:20:00:00:01">
            <a:extLst>
              <a:ext uri="{FF2B5EF4-FFF2-40B4-BE49-F238E27FC236}">
                <a16:creationId xmlns:a16="http://schemas.microsoft.com/office/drawing/2014/main" id="{32C16C19-F415-49D7-B37D-CEE96027C21F}"/>
              </a:ext>
            </a:extLst>
          </p:cNvPr>
          <p:cNvSpPr>
            <a:spLocks noGrp="1"/>
          </p:cNvSpPr>
          <p:nvPr/>
        </p:nvSpPr>
        <p:spPr>
          <a:xfrm>
            <a:off x="3943350" y="4676775"/>
            <a:ext cx="7639050" cy="714375"/>
          </a:xfrm>
          <a:prstGeom prst="rect">
            <a:avLst/>
          </a:prstGeom>
          <a:noFill/>
          <a:ln w="0">
            <a:noFill/>
          </a:ln>
        </p:spPr>
        <p:txBody>
          <a:bodyPr lIns="0" tIns="0" rIns="0" bIns="0" anchor="ctr"/>
          <a:lstStyle>
            <a:defPPr algn="l">
              <a:defRPr sz="2025" b="0">
                <a:solidFill>
                  <a:srgbClr val="251139"/>
                </a:solidFill>
                <a:latin typeface="Arial"/>
                <a:ea typeface="Arial"/>
                <a:cs typeface="Arial"/>
              </a:defRPr>
            </a:defPPr>
          </a:lstStyle>
          <a:p>
            <a:pPr algn="l">
              <a:defRPr sz="2025" b="0">
                <a:solidFill>
                  <a:srgbClr val="251139"/>
                </a:solidFill>
                <a:latin typeface="Arial"/>
                <a:ea typeface="Arial"/>
                <a:cs typeface="Arial"/>
              </a:defRPr>
            </a:pPr>
            <a:r>
              <a:rPr sz="2025" b="0">
                <a:solidFill>
                  <a:srgbClr val="251139"/>
                </a:solidFill>
                <a:latin typeface="Arial"/>
                <a:ea typeface="Arial"/>
                <a:cs typeface="Arial"/>
              </a:rPr>
              <a:t>B0:C4:20:00:00:01</a:t>
            </a:r>
          </a:p>
        </p:txBody>
      </p:sp>
    </p:spTree>
    <p:extLst>
      <p:ext uri="{BB962C8B-B14F-4D97-AF65-F5344CB8AC3E}">
        <p14:creationId xmlns:p14="http://schemas.microsoft.com/office/powerpoint/2010/main" val="173900586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180B2B"/>
        </a:solidFill>
        <a:effectLst/>
      </p:bgPr>
    </p:bg>
    <p:spTree>
      <p:nvGrpSpPr>
        <p:cNvPr id="1" name=""/>
        <p:cNvGrpSpPr/>
        <p:nvPr/>
      </p:nvGrpSpPr>
      <p:grpSpPr>
        <a:xfrm>
          <a:off x="0" y="0"/>
          <a:ext cx="0" cy="0"/>
          <a:chOff x="0" y="0"/>
          <a:chExt cx="0" cy="0"/>
        </a:xfrm>
      </p:grpSpPr>
      <p:sp>
        <p:nvSpPr>
          <p:cNvPr id="30" name="NETWORKING">
            <a:extLst>
              <a:ext uri="{FF2B5EF4-FFF2-40B4-BE49-F238E27FC236}">
                <a16:creationId xmlns:a16="http://schemas.microsoft.com/office/drawing/2014/main" id="{36F5DD62-B454-404A-966F-C1790B4B1302}"/>
              </a:ext>
            </a:extLst>
          </p:cNvPr>
          <p:cNvSpPr>
            <a:spLocks noGrp="1"/>
          </p:cNvSpPr>
          <p:nvPr/>
        </p:nvSpPr>
        <p:spPr>
          <a:xfrm>
            <a:off x="609600" y="323850"/>
            <a:ext cx="10001250" cy="228600"/>
          </a:xfrm>
          <a:prstGeom prst="rect">
            <a:avLst/>
          </a:prstGeom>
          <a:noFill/>
          <a:ln w="0">
            <a:noFill/>
          </a:ln>
        </p:spPr>
        <p:txBody>
          <a:bodyPr lIns="0" tIns="0" rIns="0" bIns="0" anchor="ctr"/>
          <a:lstStyle>
            <a:defPPr algn="l">
              <a:defRPr sz="1200" b="1">
                <a:solidFill>
                  <a:srgbClr val="BE98F6"/>
                </a:solidFill>
                <a:latin typeface="Arial"/>
                <a:ea typeface="Arial"/>
                <a:cs typeface="Arial"/>
              </a:defRPr>
            </a:defPPr>
          </a:lstStyle>
          <a:p>
            <a:pPr algn="l">
              <a:defRPr sz="1200" b="1">
                <a:solidFill>
                  <a:srgbClr val="BE98F6"/>
                </a:solidFill>
                <a:latin typeface="Arial"/>
                <a:ea typeface="Arial"/>
                <a:cs typeface="Arial"/>
              </a:defRPr>
            </a:pPr>
            <a:r>
              <a:rPr sz="1200" b="1">
                <a:solidFill>
                  <a:srgbClr val="BE98F6"/>
                </a:solidFill>
                <a:latin typeface="Arial"/>
                <a:ea typeface="Arial"/>
                <a:cs typeface="Arial"/>
              </a:rPr>
              <a:t>NETWORKING</a:t>
            </a:r>
          </a:p>
        </p:txBody>
      </p:sp>
      <p:sp>
        <p:nvSpPr>
          <p:cNvPr id="2" name="TCP probe sequence">
            <a:extLst>
              <a:ext uri="{FF2B5EF4-FFF2-40B4-BE49-F238E27FC236}">
                <a16:creationId xmlns:a16="http://schemas.microsoft.com/office/drawing/2014/main" id="{9266EFFA-FEA8-40B3-9F48-7BA26E8D9FDE}"/>
              </a:ext>
            </a:extLst>
          </p:cNvPr>
          <p:cNvSpPr>
            <a:spLocks noGrp="1"/>
          </p:cNvSpPr>
          <p:nvPr/>
        </p:nvSpPr>
        <p:spPr>
          <a:xfrm>
            <a:off x="609600" y="876300"/>
            <a:ext cx="10972800" cy="952500"/>
          </a:xfrm>
          <a:prstGeom prst="rect">
            <a:avLst/>
          </a:prstGeom>
          <a:noFill/>
          <a:ln w="0">
            <a:noFill/>
          </a:ln>
        </p:spPr>
        <p:txBody>
          <a:bodyPr lIns="0" tIns="0" rIns="0" bIns="0" anchor="ctr"/>
          <a:lstStyle>
            <a:defPPr algn="l">
              <a:defRPr sz="3300" b="1">
                <a:solidFill>
                  <a:srgbClr val="FFFFFF"/>
                </a:solidFill>
                <a:latin typeface="Arial"/>
                <a:ea typeface="Arial"/>
                <a:cs typeface="Arial"/>
              </a:defRPr>
            </a:defPPr>
          </a:lstStyle>
          <a:p>
            <a:pPr algn="l">
              <a:defRPr sz="3300" b="1">
                <a:solidFill>
                  <a:srgbClr val="FFFFFF"/>
                </a:solidFill>
                <a:latin typeface="Arial"/>
                <a:ea typeface="Arial"/>
                <a:cs typeface="Arial"/>
              </a:defRPr>
            </a:pPr>
            <a:r>
              <a:rPr sz="3300" b="1">
                <a:solidFill>
                  <a:srgbClr val="FFFFFF"/>
                </a:solidFill>
                <a:latin typeface="Arial"/>
                <a:ea typeface="Arial"/>
                <a:cs typeface="Arial"/>
              </a:rPr>
              <a:t>TCP probe sequence</a:t>
            </a:r>
          </a:p>
        </p:txBody>
      </p:sp>
      <p:sp>
        <p:nvSpPr>
          <p:cNvPr id="3" name="AGENTIC OS  /  MVP TECHNICAL WALKTHROUGH">
            <a:extLst>
              <a:ext uri="{FF2B5EF4-FFF2-40B4-BE49-F238E27FC236}">
                <a16:creationId xmlns:a16="http://schemas.microsoft.com/office/drawing/2014/main" id="{DD996F3C-3B5D-4204-B7CC-43A0CCE70FAA}"/>
              </a:ext>
            </a:extLst>
          </p:cNvPr>
          <p:cNvSpPr>
            <a:spLocks noGrp="1"/>
          </p:cNvSpPr>
          <p:nvPr/>
        </p:nvSpPr>
        <p:spPr>
          <a:xfrm>
            <a:off x="609600" y="6410325"/>
            <a:ext cx="10001250" cy="190500"/>
          </a:xfrm>
          <a:prstGeom prst="rect">
            <a:avLst/>
          </a:prstGeom>
          <a:noFill/>
          <a:ln w="0">
            <a:noFill/>
          </a:ln>
        </p:spPr>
        <p:txBody>
          <a:bodyPr lIns="0" tIns="0" rIns="0" bIns="0" anchor="ctr"/>
          <a:lstStyle>
            <a:defPPr algn="l">
              <a:defRPr sz="975" b="0">
                <a:solidFill>
                  <a:srgbClr val="D5C9E6"/>
                </a:solidFill>
                <a:latin typeface="Arial"/>
                <a:ea typeface="Arial"/>
                <a:cs typeface="Arial"/>
              </a:defRPr>
            </a:defPPr>
          </a:lstStyle>
          <a:p>
            <a:pPr algn="l">
              <a:defRPr sz="975" b="0">
                <a:solidFill>
                  <a:srgbClr val="D5C9E6"/>
                </a:solidFill>
                <a:latin typeface="Arial"/>
                <a:ea typeface="Arial"/>
                <a:cs typeface="Arial"/>
              </a:defRPr>
            </a:pPr>
            <a:r>
              <a:rPr sz="975" b="0">
                <a:solidFill>
                  <a:srgbClr val="D5C9E6"/>
                </a:solidFill>
                <a:latin typeface="Arial"/>
                <a:ea typeface="Arial"/>
                <a:cs typeface="Arial"/>
              </a:rPr>
              <a:t>AGENTIC OS  /  MVP TECHNICAL WALKTHROUGH</a:t>
            </a:r>
          </a:p>
        </p:txBody>
      </p:sp>
      <p:sp>
        <p:nvSpPr>
          <p:cNvPr id="4" name="19">
            <a:extLst>
              <a:ext uri="{FF2B5EF4-FFF2-40B4-BE49-F238E27FC236}">
                <a16:creationId xmlns:a16="http://schemas.microsoft.com/office/drawing/2014/main" id="{57DDD1EA-7FB5-49B7-B123-1B4AA537FBB2}"/>
              </a:ext>
            </a:extLst>
          </p:cNvPr>
          <p:cNvSpPr>
            <a:spLocks noGrp="1"/>
          </p:cNvSpPr>
          <p:nvPr/>
        </p:nvSpPr>
        <p:spPr>
          <a:xfrm>
            <a:off x="11029950" y="6372225"/>
            <a:ext cx="552450" cy="247650"/>
          </a:xfrm>
          <a:prstGeom prst="rect">
            <a:avLst/>
          </a:prstGeom>
          <a:noFill/>
          <a:ln w="0">
            <a:noFill/>
          </a:ln>
        </p:spPr>
        <p:txBody>
          <a:bodyPr lIns="0" tIns="0" rIns="0" bIns="0" anchor="ctr"/>
          <a:lstStyle>
            <a:defPPr algn="r">
              <a:defRPr sz="1275" b="0">
                <a:solidFill>
                  <a:srgbClr val="BE98F6"/>
                </a:solidFill>
                <a:latin typeface="Arial"/>
                <a:ea typeface="Arial"/>
                <a:cs typeface="Arial"/>
              </a:defRPr>
            </a:defPPr>
          </a:lstStyle>
          <a:p>
            <a:pPr algn="r">
              <a:defRPr sz="1275" b="0">
                <a:solidFill>
                  <a:srgbClr val="BE98F6"/>
                </a:solidFill>
                <a:latin typeface="Arial"/>
                <a:ea typeface="Arial"/>
                <a:cs typeface="Arial"/>
              </a:defRPr>
            </a:pPr>
            <a:r>
              <a:rPr sz="1275" b="0">
                <a:solidFill>
                  <a:srgbClr val="BE98F6"/>
                </a:solidFill>
                <a:latin typeface="Arial"/>
                <a:ea typeface="Arial"/>
                <a:cs typeface="Arial"/>
              </a:rPr>
              <a:t>19</a:t>
            </a:r>
          </a:p>
        </p:txBody>
      </p:sp>
      <p:sp>
        <p:nvSpPr>
          <p:cNvPr id="5" name="Rectangle 4">
            <a:extLst>
              <a:ext uri="{FF2B5EF4-FFF2-40B4-BE49-F238E27FC236}">
                <a16:creationId xmlns:a16="http://schemas.microsoft.com/office/drawing/2014/main" id="{D377B3A9-46AC-43FA-BFC0-A731E3570EB3}"/>
              </a:ext>
            </a:extLst>
          </p:cNvPr>
          <p:cNvSpPr>
            <a:spLocks noGrp="1"/>
          </p:cNvSpPr>
          <p:nvPr/>
        </p:nvSpPr>
        <p:spPr>
          <a:xfrm>
            <a:off x="333375" y="2028825"/>
            <a:ext cx="2000250" cy="590550"/>
          </a:xfrm>
          <a:prstGeom prst="rect">
            <a:avLst/>
          </a:prstGeom>
          <a:solidFill>
            <a:srgbClr val="2A1547"/>
          </a:solidFill>
          <a:ln w="13335">
            <a:solidFill>
              <a:srgbClr val="7D43D5"/>
            </a:solidFill>
          </a:ln>
        </p:spPr>
      </p:sp>
      <p:sp>
        <p:nvSpPr>
          <p:cNvPr id="6" name="Shell">
            <a:extLst>
              <a:ext uri="{FF2B5EF4-FFF2-40B4-BE49-F238E27FC236}">
                <a16:creationId xmlns:a16="http://schemas.microsoft.com/office/drawing/2014/main" id="{FFE8C4DD-5487-458A-8258-4BB9DAA37988}"/>
              </a:ext>
            </a:extLst>
          </p:cNvPr>
          <p:cNvSpPr>
            <a:spLocks noGrp="1"/>
          </p:cNvSpPr>
          <p:nvPr/>
        </p:nvSpPr>
        <p:spPr>
          <a:xfrm>
            <a:off x="476250" y="2114550"/>
            <a:ext cx="1714500" cy="419100"/>
          </a:xfrm>
          <a:prstGeom prst="rect">
            <a:avLst/>
          </a:prstGeom>
          <a:noFill/>
          <a:ln w="0">
            <a:noFill/>
          </a:ln>
        </p:spPr>
        <p:txBody>
          <a:bodyPr lIns="0" tIns="0" rIns="0" bIns="0" anchor="ctr"/>
          <a:lstStyle>
            <a:defPPr algn="ctr">
              <a:defRPr sz="1800" b="1">
                <a:solidFill>
                  <a:srgbClr val="FFFFFF"/>
                </a:solidFill>
                <a:latin typeface="Arial"/>
                <a:ea typeface="Arial"/>
                <a:cs typeface="Arial"/>
              </a:defRPr>
            </a:defPPr>
          </a:lstStyle>
          <a:p>
            <a:pPr algn="ctr">
              <a:defRPr sz="1800" b="1">
                <a:solidFill>
                  <a:srgbClr val="FFFFFF"/>
                </a:solidFill>
                <a:latin typeface="Arial"/>
                <a:ea typeface="Arial"/>
                <a:cs typeface="Arial"/>
              </a:defRPr>
            </a:pPr>
            <a:r>
              <a:rPr sz="1800" b="1">
                <a:solidFill>
                  <a:srgbClr val="FFFFFF"/>
                </a:solidFill>
                <a:latin typeface="Arial"/>
                <a:ea typeface="Arial"/>
                <a:cs typeface="Arial"/>
              </a:rPr>
              <a:t>Shell</a:t>
            </a:r>
          </a:p>
        </p:txBody>
      </p:sp>
      <p:cxnSp>
        <p:nvCxnSpPr>
          <p:cNvPr id="7" name="Straight Arrow Connector 6">
            <a:extLst>
              <a:ext uri="{FF2B5EF4-FFF2-40B4-BE49-F238E27FC236}">
                <a16:creationId xmlns:a16="http://schemas.microsoft.com/office/drawing/2014/main" id="{0AE65585-8B7E-4EF1-B214-C016AFA3DF5D}"/>
              </a:ext>
            </a:extLst>
          </p:cNvPr>
          <p:cNvCxnSpPr/>
          <p:nvPr/>
        </p:nvCxnSpPr>
        <p:spPr>
          <a:xfrm>
            <a:off x="1333500" y="2705100"/>
            <a:ext cx="0" cy="2771775"/>
          </a:xfrm>
          <a:prstGeom prst="straightConnector1">
            <a:avLst/>
          </a:prstGeom>
          <a:ln w="19050">
            <a:solidFill>
              <a:srgbClr val="BE98F6"/>
            </a:solidFill>
            <a:prstDash val="dash"/>
            <a:tailEnd type="none" w="med" len="med"/>
          </a:ln>
        </p:spPr>
      </p:cxnSp>
      <p:sp>
        <p:nvSpPr>
          <p:cNvPr id="8" name="Rectangle 7">
            <a:extLst>
              <a:ext uri="{FF2B5EF4-FFF2-40B4-BE49-F238E27FC236}">
                <a16:creationId xmlns:a16="http://schemas.microsoft.com/office/drawing/2014/main" id="{50DD369A-CFC8-48F3-A649-170CC585622F}"/>
              </a:ext>
            </a:extLst>
          </p:cNvPr>
          <p:cNvSpPr>
            <a:spLocks noGrp="1"/>
          </p:cNvSpPr>
          <p:nvPr/>
        </p:nvSpPr>
        <p:spPr>
          <a:xfrm>
            <a:off x="3508375" y="2028825"/>
            <a:ext cx="2000250" cy="590550"/>
          </a:xfrm>
          <a:prstGeom prst="rect">
            <a:avLst/>
          </a:prstGeom>
          <a:solidFill>
            <a:srgbClr val="2A1547"/>
          </a:solidFill>
          <a:ln w="13335">
            <a:solidFill>
              <a:srgbClr val="7D43D5"/>
            </a:solidFill>
          </a:ln>
        </p:spPr>
      </p:sp>
      <p:sp>
        <p:nvSpPr>
          <p:cNvPr id="9" name="Guest stack">
            <a:extLst>
              <a:ext uri="{FF2B5EF4-FFF2-40B4-BE49-F238E27FC236}">
                <a16:creationId xmlns:a16="http://schemas.microsoft.com/office/drawing/2014/main" id="{BADC7488-3B99-4B93-95BA-E8A857300314}"/>
              </a:ext>
            </a:extLst>
          </p:cNvPr>
          <p:cNvSpPr>
            <a:spLocks noGrp="1"/>
          </p:cNvSpPr>
          <p:nvPr/>
        </p:nvSpPr>
        <p:spPr>
          <a:xfrm>
            <a:off x="3651250" y="2114550"/>
            <a:ext cx="1714500" cy="419100"/>
          </a:xfrm>
          <a:prstGeom prst="rect">
            <a:avLst/>
          </a:prstGeom>
          <a:noFill/>
          <a:ln w="0">
            <a:noFill/>
          </a:ln>
        </p:spPr>
        <p:txBody>
          <a:bodyPr lIns="0" tIns="0" rIns="0" bIns="0" anchor="ctr"/>
          <a:lstStyle>
            <a:defPPr algn="ctr">
              <a:defRPr sz="1800" b="1">
                <a:solidFill>
                  <a:srgbClr val="FFFFFF"/>
                </a:solidFill>
                <a:latin typeface="Arial"/>
                <a:ea typeface="Arial"/>
                <a:cs typeface="Arial"/>
              </a:defRPr>
            </a:defPPr>
          </a:lstStyle>
          <a:p>
            <a:pPr algn="ctr">
              <a:defRPr sz="1800" b="1">
                <a:solidFill>
                  <a:srgbClr val="FFFFFF"/>
                </a:solidFill>
                <a:latin typeface="Arial"/>
                <a:ea typeface="Arial"/>
                <a:cs typeface="Arial"/>
              </a:defRPr>
            </a:pPr>
            <a:r>
              <a:rPr sz="1800" b="1">
                <a:solidFill>
                  <a:srgbClr val="FFFFFF"/>
                </a:solidFill>
                <a:latin typeface="Arial"/>
                <a:ea typeface="Arial"/>
                <a:cs typeface="Arial"/>
              </a:rPr>
              <a:t>Guest stack</a:t>
            </a:r>
          </a:p>
        </p:txBody>
      </p:sp>
      <p:cxnSp>
        <p:nvCxnSpPr>
          <p:cNvPr id="10" name="Straight Arrow Connector 9">
            <a:extLst>
              <a:ext uri="{FF2B5EF4-FFF2-40B4-BE49-F238E27FC236}">
                <a16:creationId xmlns:a16="http://schemas.microsoft.com/office/drawing/2014/main" id="{9CB09D07-A787-455F-861C-E20EE77D0F14}"/>
              </a:ext>
            </a:extLst>
          </p:cNvPr>
          <p:cNvCxnSpPr/>
          <p:nvPr/>
        </p:nvCxnSpPr>
        <p:spPr>
          <a:xfrm>
            <a:off x="4508500" y="2705100"/>
            <a:ext cx="0" cy="2771775"/>
          </a:xfrm>
          <a:prstGeom prst="straightConnector1">
            <a:avLst/>
          </a:prstGeom>
          <a:ln w="19050">
            <a:solidFill>
              <a:srgbClr val="BE98F6"/>
            </a:solidFill>
            <a:prstDash val="dash"/>
            <a:tailEnd type="none" w="med" len="med"/>
          </a:ln>
        </p:spPr>
      </p:cxnSp>
      <p:sp>
        <p:nvSpPr>
          <p:cNvPr id="11" name="Rectangle 10">
            <a:extLst>
              <a:ext uri="{FF2B5EF4-FFF2-40B4-BE49-F238E27FC236}">
                <a16:creationId xmlns:a16="http://schemas.microsoft.com/office/drawing/2014/main" id="{2C4F291F-7DE5-4812-B4DF-2B1B0558CF19}"/>
              </a:ext>
            </a:extLst>
          </p:cNvPr>
          <p:cNvSpPr>
            <a:spLocks noGrp="1"/>
          </p:cNvSpPr>
          <p:nvPr/>
        </p:nvSpPr>
        <p:spPr>
          <a:xfrm>
            <a:off x="6683375" y="2028825"/>
            <a:ext cx="2000250" cy="590550"/>
          </a:xfrm>
          <a:prstGeom prst="rect">
            <a:avLst/>
          </a:prstGeom>
          <a:solidFill>
            <a:srgbClr val="2A1547"/>
          </a:solidFill>
          <a:ln w="13335">
            <a:solidFill>
              <a:srgbClr val="7D43D5"/>
            </a:solidFill>
          </a:ln>
        </p:spPr>
      </p:sp>
      <p:sp>
        <p:nvSpPr>
          <p:cNvPr id="12" name="Next hop">
            <a:extLst>
              <a:ext uri="{FF2B5EF4-FFF2-40B4-BE49-F238E27FC236}">
                <a16:creationId xmlns:a16="http://schemas.microsoft.com/office/drawing/2014/main" id="{D787317E-F9EB-4E38-AF1B-E02142CF86A6}"/>
              </a:ext>
            </a:extLst>
          </p:cNvPr>
          <p:cNvSpPr>
            <a:spLocks noGrp="1"/>
          </p:cNvSpPr>
          <p:nvPr/>
        </p:nvSpPr>
        <p:spPr>
          <a:xfrm>
            <a:off x="6826250" y="2114550"/>
            <a:ext cx="1714500" cy="419100"/>
          </a:xfrm>
          <a:prstGeom prst="rect">
            <a:avLst/>
          </a:prstGeom>
          <a:noFill/>
          <a:ln w="0">
            <a:noFill/>
          </a:ln>
        </p:spPr>
        <p:txBody>
          <a:bodyPr lIns="0" tIns="0" rIns="0" bIns="0" anchor="ctr"/>
          <a:lstStyle>
            <a:defPPr algn="ctr">
              <a:defRPr sz="1800" b="1">
                <a:solidFill>
                  <a:srgbClr val="FFFFFF"/>
                </a:solidFill>
                <a:latin typeface="Arial"/>
                <a:ea typeface="Arial"/>
                <a:cs typeface="Arial"/>
              </a:defRPr>
            </a:defPPr>
          </a:lstStyle>
          <a:p>
            <a:pPr algn="ctr">
              <a:defRPr sz="1800" b="1">
                <a:solidFill>
                  <a:srgbClr val="FFFFFF"/>
                </a:solidFill>
                <a:latin typeface="Arial"/>
                <a:ea typeface="Arial"/>
                <a:cs typeface="Arial"/>
              </a:defRPr>
            </a:pPr>
            <a:r>
              <a:rPr sz="1800" b="1">
                <a:solidFill>
                  <a:srgbClr val="FFFFFF"/>
                </a:solidFill>
                <a:latin typeface="Arial"/>
                <a:ea typeface="Arial"/>
                <a:cs typeface="Arial"/>
              </a:rPr>
              <a:t>Next hop</a:t>
            </a:r>
          </a:p>
        </p:txBody>
      </p:sp>
      <p:cxnSp>
        <p:nvCxnSpPr>
          <p:cNvPr id="13" name="Straight Arrow Connector 12">
            <a:extLst>
              <a:ext uri="{FF2B5EF4-FFF2-40B4-BE49-F238E27FC236}">
                <a16:creationId xmlns:a16="http://schemas.microsoft.com/office/drawing/2014/main" id="{265CF4A7-AA83-4691-9F74-04F0E1BB6B8B}"/>
              </a:ext>
            </a:extLst>
          </p:cNvPr>
          <p:cNvCxnSpPr/>
          <p:nvPr/>
        </p:nvCxnSpPr>
        <p:spPr>
          <a:xfrm>
            <a:off x="7683500" y="2705100"/>
            <a:ext cx="0" cy="2771775"/>
          </a:xfrm>
          <a:prstGeom prst="straightConnector1">
            <a:avLst/>
          </a:prstGeom>
          <a:ln w="19050">
            <a:solidFill>
              <a:srgbClr val="BE98F6"/>
            </a:solidFill>
            <a:prstDash val="dash"/>
            <a:tailEnd type="none" w="med" len="med"/>
          </a:ln>
        </p:spPr>
      </p:cxnSp>
      <p:sp>
        <p:nvSpPr>
          <p:cNvPr id="14" name="Rectangle 13">
            <a:extLst>
              <a:ext uri="{FF2B5EF4-FFF2-40B4-BE49-F238E27FC236}">
                <a16:creationId xmlns:a16="http://schemas.microsoft.com/office/drawing/2014/main" id="{E6FB5280-38B5-49A7-BFDE-73B38FC0CDB2}"/>
              </a:ext>
            </a:extLst>
          </p:cNvPr>
          <p:cNvSpPr>
            <a:spLocks noGrp="1"/>
          </p:cNvSpPr>
          <p:nvPr/>
        </p:nvSpPr>
        <p:spPr>
          <a:xfrm>
            <a:off x="9858375" y="2028825"/>
            <a:ext cx="2000250" cy="590550"/>
          </a:xfrm>
          <a:prstGeom prst="rect">
            <a:avLst/>
          </a:prstGeom>
          <a:solidFill>
            <a:srgbClr val="2A1547"/>
          </a:solidFill>
          <a:ln w="13335">
            <a:solidFill>
              <a:srgbClr val="7D43D5"/>
            </a:solidFill>
          </a:ln>
        </p:spPr>
      </p:sp>
      <p:sp>
        <p:nvSpPr>
          <p:cNvPr id="15" name="TCP service">
            <a:extLst>
              <a:ext uri="{FF2B5EF4-FFF2-40B4-BE49-F238E27FC236}">
                <a16:creationId xmlns:a16="http://schemas.microsoft.com/office/drawing/2014/main" id="{B9937170-ABC8-4FE5-9D41-EA0E103081F4}"/>
              </a:ext>
            </a:extLst>
          </p:cNvPr>
          <p:cNvSpPr>
            <a:spLocks noGrp="1"/>
          </p:cNvSpPr>
          <p:nvPr/>
        </p:nvSpPr>
        <p:spPr>
          <a:xfrm>
            <a:off x="10001250" y="2114550"/>
            <a:ext cx="1714500" cy="419100"/>
          </a:xfrm>
          <a:prstGeom prst="rect">
            <a:avLst/>
          </a:prstGeom>
          <a:noFill/>
          <a:ln w="0">
            <a:noFill/>
          </a:ln>
        </p:spPr>
        <p:txBody>
          <a:bodyPr lIns="0" tIns="0" rIns="0" bIns="0" anchor="ctr"/>
          <a:lstStyle>
            <a:defPPr algn="ctr">
              <a:defRPr sz="1800" b="1">
                <a:solidFill>
                  <a:srgbClr val="FFFFFF"/>
                </a:solidFill>
                <a:latin typeface="Arial"/>
                <a:ea typeface="Arial"/>
                <a:cs typeface="Arial"/>
              </a:defRPr>
            </a:defPPr>
          </a:lstStyle>
          <a:p>
            <a:pPr algn="ctr">
              <a:defRPr sz="1800" b="1">
                <a:solidFill>
                  <a:srgbClr val="FFFFFF"/>
                </a:solidFill>
                <a:latin typeface="Arial"/>
                <a:ea typeface="Arial"/>
                <a:cs typeface="Arial"/>
              </a:defRPr>
            </a:pPr>
            <a:r>
              <a:rPr sz="1800" b="1">
                <a:solidFill>
                  <a:srgbClr val="FFFFFF"/>
                </a:solidFill>
                <a:latin typeface="Arial"/>
                <a:ea typeface="Arial"/>
                <a:cs typeface="Arial"/>
              </a:rPr>
              <a:t>TCP service</a:t>
            </a:r>
          </a:p>
        </p:txBody>
      </p:sp>
      <p:cxnSp>
        <p:nvCxnSpPr>
          <p:cNvPr id="16" name="Straight Arrow Connector 15">
            <a:extLst>
              <a:ext uri="{FF2B5EF4-FFF2-40B4-BE49-F238E27FC236}">
                <a16:creationId xmlns:a16="http://schemas.microsoft.com/office/drawing/2014/main" id="{4EE913F7-B18B-4724-B64C-16F86269DDD6}"/>
              </a:ext>
            </a:extLst>
          </p:cNvPr>
          <p:cNvCxnSpPr/>
          <p:nvPr/>
        </p:nvCxnSpPr>
        <p:spPr>
          <a:xfrm>
            <a:off x="10858500" y="2705100"/>
            <a:ext cx="0" cy="2771775"/>
          </a:xfrm>
          <a:prstGeom prst="straightConnector1">
            <a:avLst/>
          </a:prstGeom>
          <a:ln w="19050">
            <a:solidFill>
              <a:srgbClr val="BE98F6"/>
            </a:solidFill>
            <a:prstDash val="dash"/>
            <a:tailEnd type="none" w="med" len="med"/>
          </a:ln>
        </p:spPr>
      </p:cxnSp>
      <p:cxnSp>
        <p:nvCxnSpPr>
          <p:cNvPr id="17" name="Straight Arrow Connector 16">
            <a:extLst>
              <a:ext uri="{FF2B5EF4-FFF2-40B4-BE49-F238E27FC236}">
                <a16:creationId xmlns:a16="http://schemas.microsoft.com/office/drawing/2014/main" id="{36324774-197B-4DF8-9038-8D3632AF074D}"/>
              </a:ext>
            </a:extLst>
          </p:cNvPr>
          <p:cNvCxnSpPr/>
          <p:nvPr/>
        </p:nvCxnSpPr>
        <p:spPr>
          <a:xfrm>
            <a:off x="1333500" y="3028950"/>
            <a:ext cx="3175000" cy="0"/>
          </a:xfrm>
          <a:prstGeom prst="straightConnector1">
            <a:avLst/>
          </a:prstGeom>
          <a:ln w="19050">
            <a:solidFill>
              <a:srgbClr val="BE98F6"/>
            </a:solidFill>
            <a:prstDash val="solid"/>
            <a:tailEnd type="triangle" w="med" len="med"/>
          </a:ln>
        </p:spPr>
      </p:cxnSp>
      <p:sp>
        <p:nvSpPr>
          <p:cNvPr id="18" name="tcpping &lt;ipv4&gt; &lt;port&gt;">
            <a:extLst>
              <a:ext uri="{FF2B5EF4-FFF2-40B4-BE49-F238E27FC236}">
                <a16:creationId xmlns:a16="http://schemas.microsoft.com/office/drawing/2014/main" id="{5B8C236C-6D89-43C9-9AE3-732BFEAE3D55}"/>
              </a:ext>
            </a:extLst>
          </p:cNvPr>
          <p:cNvSpPr>
            <a:spLocks noGrp="1"/>
          </p:cNvSpPr>
          <p:nvPr/>
        </p:nvSpPr>
        <p:spPr>
          <a:xfrm>
            <a:off x="1457325" y="2752725"/>
            <a:ext cx="2927350" cy="257175"/>
          </a:xfrm>
          <a:prstGeom prst="rect">
            <a:avLst/>
          </a:prstGeom>
          <a:noFill/>
          <a:ln w="0">
            <a:noFill/>
          </a:ln>
        </p:spPr>
        <p:txBody>
          <a:bodyPr lIns="0" tIns="0" rIns="0" bIns="0" anchor="ctr"/>
          <a:lstStyle>
            <a:defPPr algn="l">
              <a:defRPr sz="1425" b="0">
                <a:solidFill>
                  <a:srgbClr val="FFFFFF"/>
                </a:solidFill>
                <a:latin typeface="Arial"/>
                <a:ea typeface="Arial"/>
                <a:cs typeface="Arial"/>
              </a:defRPr>
            </a:defPPr>
          </a:lstStyle>
          <a:p>
            <a:pPr algn="l">
              <a:defRPr sz="1425" b="0">
                <a:solidFill>
                  <a:srgbClr val="FFFFFF"/>
                </a:solidFill>
                <a:latin typeface="Arial"/>
                <a:ea typeface="Arial"/>
                <a:cs typeface="Arial"/>
              </a:defRPr>
            </a:pPr>
            <a:r>
              <a:rPr sz="1425" b="0">
                <a:solidFill>
                  <a:srgbClr val="FFFFFF"/>
                </a:solidFill>
                <a:latin typeface="Arial"/>
                <a:ea typeface="Arial"/>
                <a:cs typeface="Arial"/>
              </a:rPr>
              <a:t>tcpping &lt;ipv4&gt; &lt;port&gt;</a:t>
            </a:r>
          </a:p>
        </p:txBody>
      </p:sp>
      <p:cxnSp>
        <p:nvCxnSpPr>
          <p:cNvPr id="19" name="Straight Arrow Connector 18">
            <a:extLst>
              <a:ext uri="{FF2B5EF4-FFF2-40B4-BE49-F238E27FC236}">
                <a16:creationId xmlns:a16="http://schemas.microsoft.com/office/drawing/2014/main" id="{66467A89-51A1-408E-A66C-ADC9D128391A}"/>
              </a:ext>
            </a:extLst>
          </p:cNvPr>
          <p:cNvCxnSpPr/>
          <p:nvPr/>
        </p:nvCxnSpPr>
        <p:spPr>
          <a:xfrm>
            <a:off x="4508500" y="3457575"/>
            <a:ext cx="3175000" cy="0"/>
          </a:xfrm>
          <a:prstGeom prst="straightConnector1">
            <a:avLst/>
          </a:prstGeom>
          <a:ln w="19050">
            <a:solidFill>
              <a:srgbClr val="BE98F6"/>
            </a:solidFill>
            <a:prstDash val="solid"/>
            <a:tailEnd type="triangle" w="med" len="med"/>
          </a:ln>
        </p:spPr>
      </p:cxnSp>
      <p:sp>
        <p:nvSpPr>
          <p:cNvPr id="20" name="ARP request / reply resolves MAC">
            <a:extLst>
              <a:ext uri="{FF2B5EF4-FFF2-40B4-BE49-F238E27FC236}">
                <a16:creationId xmlns:a16="http://schemas.microsoft.com/office/drawing/2014/main" id="{124EE44D-B088-40AB-BE6A-ED386810880E}"/>
              </a:ext>
            </a:extLst>
          </p:cNvPr>
          <p:cNvSpPr>
            <a:spLocks noGrp="1"/>
          </p:cNvSpPr>
          <p:nvPr/>
        </p:nvSpPr>
        <p:spPr>
          <a:xfrm>
            <a:off x="4632325" y="3181350"/>
            <a:ext cx="2927350" cy="257175"/>
          </a:xfrm>
          <a:prstGeom prst="rect">
            <a:avLst/>
          </a:prstGeom>
          <a:noFill/>
          <a:ln w="0">
            <a:noFill/>
          </a:ln>
        </p:spPr>
        <p:txBody>
          <a:bodyPr lIns="0" tIns="0" rIns="0" bIns="0" anchor="ctr"/>
          <a:lstStyle>
            <a:defPPr algn="l">
              <a:defRPr sz="1425" b="0">
                <a:solidFill>
                  <a:srgbClr val="FFFFFF"/>
                </a:solidFill>
                <a:latin typeface="Arial"/>
                <a:ea typeface="Arial"/>
                <a:cs typeface="Arial"/>
              </a:defRPr>
            </a:defPPr>
          </a:lstStyle>
          <a:p>
            <a:pPr algn="l">
              <a:defRPr sz="1425" b="0">
                <a:solidFill>
                  <a:srgbClr val="FFFFFF"/>
                </a:solidFill>
                <a:latin typeface="Arial"/>
                <a:ea typeface="Arial"/>
                <a:cs typeface="Arial"/>
              </a:defRPr>
            </a:pPr>
            <a:r>
              <a:rPr sz="1425" b="0">
                <a:solidFill>
                  <a:srgbClr val="FFFFFF"/>
                </a:solidFill>
                <a:latin typeface="Arial"/>
                <a:ea typeface="Arial"/>
                <a:cs typeface="Arial"/>
              </a:rPr>
              <a:t>ARP request / reply resolves MAC</a:t>
            </a:r>
          </a:p>
        </p:txBody>
      </p:sp>
      <p:cxnSp>
        <p:nvCxnSpPr>
          <p:cNvPr id="21" name="Straight Arrow Connector 20">
            <a:extLst>
              <a:ext uri="{FF2B5EF4-FFF2-40B4-BE49-F238E27FC236}">
                <a16:creationId xmlns:a16="http://schemas.microsoft.com/office/drawing/2014/main" id="{FF56977B-61DC-4702-98A1-F31D45CF1CE7}"/>
              </a:ext>
            </a:extLst>
          </p:cNvPr>
          <p:cNvCxnSpPr/>
          <p:nvPr/>
        </p:nvCxnSpPr>
        <p:spPr>
          <a:xfrm>
            <a:off x="4508500" y="3886200"/>
            <a:ext cx="6350000" cy="0"/>
          </a:xfrm>
          <a:prstGeom prst="straightConnector1">
            <a:avLst/>
          </a:prstGeom>
          <a:ln w="19050">
            <a:solidFill>
              <a:srgbClr val="BE98F6"/>
            </a:solidFill>
            <a:prstDash val="solid"/>
            <a:tailEnd type="triangle" w="med" len="med"/>
          </a:ln>
        </p:spPr>
      </p:cxnSp>
      <p:sp>
        <p:nvSpPr>
          <p:cNvPr id="22" name="TCP SYN">
            <a:extLst>
              <a:ext uri="{FF2B5EF4-FFF2-40B4-BE49-F238E27FC236}">
                <a16:creationId xmlns:a16="http://schemas.microsoft.com/office/drawing/2014/main" id="{576E22F5-5320-4647-9C00-5A654EE2BA47}"/>
              </a:ext>
            </a:extLst>
          </p:cNvPr>
          <p:cNvSpPr>
            <a:spLocks noGrp="1"/>
          </p:cNvSpPr>
          <p:nvPr/>
        </p:nvSpPr>
        <p:spPr>
          <a:xfrm>
            <a:off x="4632325" y="3609975"/>
            <a:ext cx="6102350" cy="257175"/>
          </a:xfrm>
          <a:prstGeom prst="rect">
            <a:avLst/>
          </a:prstGeom>
          <a:noFill/>
          <a:ln w="0">
            <a:noFill/>
          </a:ln>
        </p:spPr>
        <p:txBody>
          <a:bodyPr lIns="0" tIns="0" rIns="0" bIns="0" anchor="ctr"/>
          <a:lstStyle>
            <a:defPPr algn="l">
              <a:defRPr sz="1425" b="0">
                <a:solidFill>
                  <a:srgbClr val="FFFFFF"/>
                </a:solidFill>
                <a:latin typeface="Arial"/>
                <a:ea typeface="Arial"/>
                <a:cs typeface="Arial"/>
              </a:defRPr>
            </a:defPPr>
          </a:lstStyle>
          <a:p>
            <a:pPr algn="l">
              <a:defRPr sz="1425" b="0">
                <a:solidFill>
                  <a:srgbClr val="FFFFFF"/>
                </a:solidFill>
                <a:latin typeface="Arial"/>
                <a:ea typeface="Arial"/>
                <a:cs typeface="Arial"/>
              </a:defRPr>
            </a:pPr>
            <a:r>
              <a:rPr sz="1425" b="0">
                <a:solidFill>
                  <a:srgbClr val="FFFFFF"/>
                </a:solidFill>
                <a:latin typeface="Arial"/>
                <a:ea typeface="Arial"/>
                <a:cs typeface="Arial"/>
              </a:rPr>
              <a:t>TCP SYN</a:t>
            </a:r>
          </a:p>
        </p:txBody>
      </p:sp>
      <p:cxnSp>
        <p:nvCxnSpPr>
          <p:cNvPr id="23" name="Straight Arrow Connector 22">
            <a:extLst>
              <a:ext uri="{FF2B5EF4-FFF2-40B4-BE49-F238E27FC236}">
                <a16:creationId xmlns:a16="http://schemas.microsoft.com/office/drawing/2014/main" id="{62FD1665-69DF-4F08-ACBB-103C9D1A02B2}"/>
              </a:ext>
            </a:extLst>
          </p:cNvPr>
          <p:cNvCxnSpPr/>
          <p:nvPr/>
        </p:nvCxnSpPr>
        <p:spPr>
          <a:xfrm flipH="1">
            <a:off x="4508500" y="4314825"/>
            <a:ext cx="6350000" cy="0"/>
          </a:xfrm>
          <a:prstGeom prst="straightConnector1">
            <a:avLst/>
          </a:prstGeom>
          <a:ln w="19050">
            <a:solidFill>
              <a:srgbClr val="BE98F6"/>
            </a:solidFill>
            <a:prstDash val="solid"/>
            <a:tailEnd type="triangle" w="med" len="med"/>
          </a:ln>
        </p:spPr>
      </p:cxnSp>
      <p:sp>
        <p:nvSpPr>
          <p:cNvPr id="24" name="TCP SYN-ACK">
            <a:extLst>
              <a:ext uri="{FF2B5EF4-FFF2-40B4-BE49-F238E27FC236}">
                <a16:creationId xmlns:a16="http://schemas.microsoft.com/office/drawing/2014/main" id="{7D3AD9EC-4784-42AC-9A40-49230EC78854}"/>
              </a:ext>
            </a:extLst>
          </p:cNvPr>
          <p:cNvSpPr>
            <a:spLocks noGrp="1"/>
          </p:cNvSpPr>
          <p:nvPr/>
        </p:nvSpPr>
        <p:spPr>
          <a:xfrm>
            <a:off x="4632325" y="4038600"/>
            <a:ext cx="6102350" cy="257175"/>
          </a:xfrm>
          <a:prstGeom prst="rect">
            <a:avLst/>
          </a:prstGeom>
          <a:noFill/>
          <a:ln w="0">
            <a:noFill/>
          </a:ln>
        </p:spPr>
        <p:txBody>
          <a:bodyPr lIns="0" tIns="0" rIns="0" bIns="0" anchor="ctr"/>
          <a:lstStyle>
            <a:defPPr algn="l">
              <a:defRPr sz="1425" b="0">
                <a:solidFill>
                  <a:srgbClr val="FFFFFF"/>
                </a:solidFill>
                <a:latin typeface="Arial"/>
                <a:ea typeface="Arial"/>
                <a:cs typeface="Arial"/>
              </a:defRPr>
            </a:defPPr>
          </a:lstStyle>
          <a:p>
            <a:pPr algn="l">
              <a:defRPr sz="1425" b="0">
                <a:solidFill>
                  <a:srgbClr val="FFFFFF"/>
                </a:solidFill>
                <a:latin typeface="Arial"/>
                <a:ea typeface="Arial"/>
                <a:cs typeface="Arial"/>
              </a:defRPr>
            </a:pPr>
            <a:r>
              <a:rPr sz="1425" b="0">
                <a:solidFill>
                  <a:srgbClr val="FFFFFF"/>
                </a:solidFill>
                <a:latin typeface="Arial"/>
                <a:ea typeface="Arial"/>
                <a:cs typeface="Arial"/>
              </a:rPr>
              <a:t>TCP SYN-ACK</a:t>
            </a:r>
          </a:p>
        </p:txBody>
      </p:sp>
      <p:cxnSp>
        <p:nvCxnSpPr>
          <p:cNvPr id="25" name="Straight Arrow Connector 24">
            <a:extLst>
              <a:ext uri="{FF2B5EF4-FFF2-40B4-BE49-F238E27FC236}">
                <a16:creationId xmlns:a16="http://schemas.microsoft.com/office/drawing/2014/main" id="{F304C8FF-72A2-4C64-866D-91E7C3B79FBD}"/>
              </a:ext>
            </a:extLst>
          </p:cNvPr>
          <p:cNvCxnSpPr/>
          <p:nvPr/>
        </p:nvCxnSpPr>
        <p:spPr>
          <a:xfrm>
            <a:off x="4508500" y="4743450"/>
            <a:ext cx="6350000" cy="0"/>
          </a:xfrm>
          <a:prstGeom prst="straightConnector1">
            <a:avLst/>
          </a:prstGeom>
          <a:ln w="19050">
            <a:solidFill>
              <a:srgbClr val="BE98F6"/>
            </a:solidFill>
            <a:prstDash val="solid"/>
            <a:tailEnd type="triangle" w="med" len="med"/>
          </a:ln>
        </p:spPr>
      </p:cxnSp>
      <p:sp>
        <p:nvSpPr>
          <p:cNvPr id="26" name="TCP RST-ACK">
            <a:extLst>
              <a:ext uri="{FF2B5EF4-FFF2-40B4-BE49-F238E27FC236}">
                <a16:creationId xmlns:a16="http://schemas.microsoft.com/office/drawing/2014/main" id="{D6EF3FF5-42E7-46E7-9005-D094E3CABF68}"/>
              </a:ext>
            </a:extLst>
          </p:cNvPr>
          <p:cNvSpPr>
            <a:spLocks noGrp="1"/>
          </p:cNvSpPr>
          <p:nvPr/>
        </p:nvSpPr>
        <p:spPr>
          <a:xfrm>
            <a:off x="4632325" y="4467225"/>
            <a:ext cx="6102350" cy="257175"/>
          </a:xfrm>
          <a:prstGeom prst="rect">
            <a:avLst/>
          </a:prstGeom>
          <a:noFill/>
          <a:ln w="0">
            <a:noFill/>
          </a:ln>
        </p:spPr>
        <p:txBody>
          <a:bodyPr lIns="0" tIns="0" rIns="0" bIns="0" anchor="ctr"/>
          <a:lstStyle>
            <a:defPPr algn="l">
              <a:defRPr sz="1425" b="0">
                <a:solidFill>
                  <a:srgbClr val="FFFFFF"/>
                </a:solidFill>
                <a:latin typeface="Arial"/>
                <a:ea typeface="Arial"/>
                <a:cs typeface="Arial"/>
              </a:defRPr>
            </a:defPPr>
          </a:lstStyle>
          <a:p>
            <a:pPr algn="l">
              <a:defRPr sz="1425" b="0">
                <a:solidFill>
                  <a:srgbClr val="FFFFFF"/>
                </a:solidFill>
                <a:latin typeface="Arial"/>
                <a:ea typeface="Arial"/>
                <a:cs typeface="Arial"/>
              </a:defRPr>
            </a:pPr>
            <a:r>
              <a:rPr sz="1425" b="0">
                <a:solidFill>
                  <a:srgbClr val="FFFFFF"/>
                </a:solidFill>
                <a:latin typeface="Arial"/>
                <a:ea typeface="Arial"/>
                <a:cs typeface="Arial"/>
              </a:rPr>
              <a:t>TCP RST-ACK</a:t>
            </a:r>
          </a:p>
        </p:txBody>
      </p:sp>
      <p:cxnSp>
        <p:nvCxnSpPr>
          <p:cNvPr id="27" name="Straight Arrow Connector 26">
            <a:extLst>
              <a:ext uri="{FF2B5EF4-FFF2-40B4-BE49-F238E27FC236}">
                <a16:creationId xmlns:a16="http://schemas.microsoft.com/office/drawing/2014/main" id="{C067B5B2-F1C0-49BC-889D-246545D7C712}"/>
              </a:ext>
            </a:extLst>
          </p:cNvPr>
          <p:cNvCxnSpPr/>
          <p:nvPr/>
        </p:nvCxnSpPr>
        <p:spPr>
          <a:xfrm flipH="1">
            <a:off x="1333500" y="5172075"/>
            <a:ext cx="3175000" cy="0"/>
          </a:xfrm>
          <a:prstGeom prst="straightConnector1">
            <a:avLst/>
          </a:prstGeom>
          <a:ln w="19050">
            <a:solidFill>
              <a:srgbClr val="BE98F6"/>
            </a:solidFill>
            <a:prstDash val="solid"/>
            <a:tailEnd type="triangle" w="med" len="med"/>
          </a:ln>
        </p:spPr>
      </p:cxnSp>
      <p:sp>
        <p:nvSpPr>
          <p:cNvPr id="28" name="ok (SYN-ACK)">
            <a:extLst>
              <a:ext uri="{FF2B5EF4-FFF2-40B4-BE49-F238E27FC236}">
                <a16:creationId xmlns:a16="http://schemas.microsoft.com/office/drawing/2014/main" id="{0DCF1166-39FE-4213-8630-60727FFC08C3}"/>
              </a:ext>
            </a:extLst>
          </p:cNvPr>
          <p:cNvSpPr>
            <a:spLocks noGrp="1"/>
          </p:cNvSpPr>
          <p:nvPr/>
        </p:nvSpPr>
        <p:spPr>
          <a:xfrm>
            <a:off x="1457325" y="4895850"/>
            <a:ext cx="2927350" cy="257175"/>
          </a:xfrm>
          <a:prstGeom prst="rect">
            <a:avLst/>
          </a:prstGeom>
          <a:noFill/>
          <a:ln w="0">
            <a:noFill/>
          </a:ln>
        </p:spPr>
        <p:txBody>
          <a:bodyPr lIns="0" tIns="0" rIns="0" bIns="0" anchor="ctr"/>
          <a:lstStyle>
            <a:defPPr algn="l">
              <a:defRPr sz="1425" b="0">
                <a:solidFill>
                  <a:srgbClr val="FFFFFF"/>
                </a:solidFill>
                <a:latin typeface="Arial"/>
                <a:ea typeface="Arial"/>
                <a:cs typeface="Arial"/>
              </a:defRPr>
            </a:defPPr>
          </a:lstStyle>
          <a:p>
            <a:pPr algn="l">
              <a:defRPr sz="1425" b="0">
                <a:solidFill>
                  <a:srgbClr val="FFFFFF"/>
                </a:solidFill>
                <a:latin typeface="Arial"/>
                <a:ea typeface="Arial"/>
                <a:cs typeface="Arial"/>
              </a:defRPr>
            </a:pPr>
            <a:r>
              <a:rPr sz="1425" b="0">
                <a:solidFill>
                  <a:srgbClr val="FFFFFF"/>
                </a:solidFill>
                <a:latin typeface="Arial"/>
                <a:ea typeface="Arial"/>
                <a:cs typeface="Arial"/>
              </a:rPr>
              <a:t>ok (SYN-ACK)</a:t>
            </a:r>
          </a:p>
        </p:txBody>
      </p:sp>
      <p:sp>
        <p:nvSpPr>
          <p:cNvPr id="29" name="A successful probe establishes reachability,">
            <a:extLst>
              <a:ext uri="{FF2B5EF4-FFF2-40B4-BE49-F238E27FC236}">
                <a16:creationId xmlns:a16="http://schemas.microsoft.com/office/drawing/2014/main" id="{A17DB14A-B4B8-4E50-8CFC-D2D1977E5651}"/>
              </a:ext>
            </a:extLst>
          </p:cNvPr>
          <p:cNvSpPr>
            <a:spLocks noGrp="1"/>
          </p:cNvSpPr>
          <p:nvPr/>
        </p:nvSpPr>
        <p:spPr>
          <a:xfrm>
            <a:off x="609600" y="5648325"/>
            <a:ext cx="10972800" cy="504825"/>
          </a:xfrm>
          <a:prstGeom prst="rect">
            <a:avLst/>
          </a:prstGeom>
          <a:noFill/>
          <a:ln w="0">
            <a:noFill/>
          </a:ln>
        </p:spPr>
        <p:txBody>
          <a:bodyPr lIns="0" tIns="0" rIns="0" bIns="0" anchor="ctr"/>
          <a:lstStyle>
            <a:defPPr algn="l">
              <a:defRPr sz="1725" b="0">
                <a:solidFill>
                  <a:srgbClr val="D5C9E6"/>
                </a:solidFill>
                <a:latin typeface="Arial"/>
                <a:ea typeface="Arial"/>
                <a:cs typeface="Arial"/>
              </a:defRPr>
            </a:defPPr>
          </a:lstStyle>
          <a:p>
            <a:pPr algn="l">
              <a:defRPr sz="1725" b="0">
                <a:solidFill>
                  <a:srgbClr val="D5C9E6"/>
                </a:solidFill>
                <a:latin typeface="Arial"/>
                <a:ea typeface="Arial"/>
                <a:cs typeface="Arial"/>
              </a:defRPr>
            </a:pPr>
            <a:r>
              <a:rPr sz="1725" b="0">
                <a:solidFill>
                  <a:srgbClr val="D5C9E6"/>
                </a:solidFill>
                <a:latin typeface="Arial"/>
                <a:ea typeface="Arial"/>
                <a:cs typeface="Arial"/>
              </a:rPr>
              <a:t>A successful probe establishes reachability, not Gemini API access.</a:t>
            </a:r>
          </a:p>
        </p:txBody>
      </p:sp>
    </p:spTree>
    <p:extLst>
      <p:ext uri="{BB962C8B-B14F-4D97-AF65-F5344CB8AC3E}">
        <p14:creationId xmlns:p14="http://schemas.microsoft.com/office/powerpoint/2010/main" val="79815374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180B2B"/>
        </a:solidFill>
        <a:effectLst/>
      </p:bgPr>
    </p:bg>
    <p:spTree>
      <p:nvGrpSpPr>
        <p:cNvPr id="1" name=""/>
        <p:cNvGrpSpPr/>
        <p:nvPr/>
      </p:nvGrpSpPr>
      <p:grpSpPr>
        <a:xfrm>
          <a:off x="0" y="0"/>
          <a:ext cx="0" cy="0"/>
          <a:chOff x="0" y="0"/>
          <a:chExt cx="0" cy="0"/>
        </a:xfrm>
      </p:grpSpPr>
      <p:sp>
        <p:nvSpPr>
          <p:cNvPr id="15" name="NETWORKING">
            <a:extLst>
              <a:ext uri="{FF2B5EF4-FFF2-40B4-BE49-F238E27FC236}">
                <a16:creationId xmlns:a16="http://schemas.microsoft.com/office/drawing/2014/main" id="{AC5390B9-EFD9-45AD-B112-377BAF46401B}"/>
              </a:ext>
            </a:extLst>
          </p:cNvPr>
          <p:cNvSpPr>
            <a:spLocks noGrp="1"/>
          </p:cNvSpPr>
          <p:nvPr/>
        </p:nvSpPr>
        <p:spPr>
          <a:xfrm>
            <a:off x="609600" y="323850"/>
            <a:ext cx="10001250" cy="228600"/>
          </a:xfrm>
          <a:prstGeom prst="rect">
            <a:avLst/>
          </a:prstGeom>
          <a:noFill/>
          <a:ln w="0">
            <a:noFill/>
          </a:ln>
        </p:spPr>
        <p:txBody>
          <a:bodyPr lIns="0" tIns="0" rIns="0" bIns="0" anchor="ctr"/>
          <a:lstStyle>
            <a:defPPr algn="l">
              <a:defRPr sz="1200" b="1">
                <a:solidFill>
                  <a:srgbClr val="BE98F6"/>
                </a:solidFill>
                <a:latin typeface="Arial"/>
                <a:ea typeface="Arial"/>
                <a:cs typeface="Arial"/>
              </a:defRPr>
            </a:defPPr>
          </a:lstStyle>
          <a:p>
            <a:pPr algn="l">
              <a:defRPr sz="1200" b="1">
                <a:solidFill>
                  <a:srgbClr val="BE98F6"/>
                </a:solidFill>
                <a:latin typeface="Arial"/>
                <a:ea typeface="Arial"/>
                <a:cs typeface="Arial"/>
              </a:defRPr>
            </a:pPr>
            <a:r>
              <a:rPr sz="1200" b="1">
                <a:solidFill>
                  <a:srgbClr val="BE98F6"/>
                </a:solidFill>
                <a:latin typeface="Arial"/>
                <a:ea typeface="Arial"/>
                <a:cs typeface="Arial"/>
              </a:rPr>
              <a:t>NETWORKING</a:t>
            </a:r>
          </a:p>
        </p:txBody>
      </p:sp>
      <p:sp>
        <p:nvSpPr>
          <p:cNvPr id="2" name="Host-side connectivity tools">
            <a:extLst>
              <a:ext uri="{FF2B5EF4-FFF2-40B4-BE49-F238E27FC236}">
                <a16:creationId xmlns:a16="http://schemas.microsoft.com/office/drawing/2014/main" id="{1F0156AC-CAD4-4A84-820A-56CA91A85E1B}"/>
              </a:ext>
            </a:extLst>
          </p:cNvPr>
          <p:cNvSpPr>
            <a:spLocks noGrp="1"/>
          </p:cNvSpPr>
          <p:nvPr/>
        </p:nvSpPr>
        <p:spPr>
          <a:xfrm>
            <a:off x="609600" y="876300"/>
            <a:ext cx="10972800" cy="952500"/>
          </a:xfrm>
          <a:prstGeom prst="rect">
            <a:avLst/>
          </a:prstGeom>
          <a:noFill/>
          <a:ln w="0">
            <a:noFill/>
          </a:ln>
        </p:spPr>
        <p:txBody>
          <a:bodyPr lIns="0" tIns="0" rIns="0" bIns="0" anchor="ctr"/>
          <a:lstStyle>
            <a:defPPr algn="l">
              <a:defRPr sz="3300" b="1">
                <a:solidFill>
                  <a:srgbClr val="FFFFFF"/>
                </a:solidFill>
                <a:latin typeface="Arial"/>
                <a:ea typeface="Arial"/>
                <a:cs typeface="Arial"/>
              </a:defRPr>
            </a:defPPr>
          </a:lstStyle>
          <a:p>
            <a:pPr algn="l">
              <a:defRPr sz="3300" b="1">
                <a:solidFill>
                  <a:srgbClr val="FFFFFF"/>
                </a:solidFill>
                <a:latin typeface="Arial"/>
                <a:ea typeface="Arial"/>
                <a:cs typeface="Arial"/>
              </a:defRPr>
            </a:pPr>
            <a:r>
              <a:rPr sz="3300" b="1">
                <a:solidFill>
                  <a:srgbClr val="FFFFFF"/>
                </a:solidFill>
                <a:latin typeface="Arial"/>
                <a:ea typeface="Arial"/>
                <a:cs typeface="Arial"/>
              </a:rPr>
              <a:t>Host-side connectivity tools</a:t>
            </a:r>
          </a:p>
        </p:txBody>
      </p:sp>
      <p:sp>
        <p:nvSpPr>
          <p:cNvPr id="3" name="AGENTIC OS  /  MVP TECHNICAL WALKTHROUGH">
            <a:extLst>
              <a:ext uri="{FF2B5EF4-FFF2-40B4-BE49-F238E27FC236}">
                <a16:creationId xmlns:a16="http://schemas.microsoft.com/office/drawing/2014/main" id="{E3F3A90F-0CE7-4D0D-BCCF-E82822E36E8E}"/>
              </a:ext>
            </a:extLst>
          </p:cNvPr>
          <p:cNvSpPr>
            <a:spLocks noGrp="1"/>
          </p:cNvSpPr>
          <p:nvPr/>
        </p:nvSpPr>
        <p:spPr>
          <a:xfrm>
            <a:off x="609600" y="6410325"/>
            <a:ext cx="10001250" cy="190500"/>
          </a:xfrm>
          <a:prstGeom prst="rect">
            <a:avLst/>
          </a:prstGeom>
          <a:noFill/>
          <a:ln w="0">
            <a:noFill/>
          </a:ln>
        </p:spPr>
        <p:txBody>
          <a:bodyPr lIns="0" tIns="0" rIns="0" bIns="0" anchor="ctr"/>
          <a:lstStyle>
            <a:defPPr algn="l">
              <a:defRPr sz="975" b="0">
                <a:solidFill>
                  <a:srgbClr val="D5C9E6"/>
                </a:solidFill>
                <a:latin typeface="Arial"/>
                <a:ea typeface="Arial"/>
                <a:cs typeface="Arial"/>
              </a:defRPr>
            </a:defPPr>
          </a:lstStyle>
          <a:p>
            <a:pPr algn="l">
              <a:defRPr sz="975" b="0">
                <a:solidFill>
                  <a:srgbClr val="D5C9E6"/>
                </a:solidFill>
                <a:latin typeface="Arial"/>
                <a:ea typeface="Arial"/>
                <a:cs typeface="Arial"/>
              </a:defRPr>
            </a:pPr>
            <a:r>
              <a:rPr sz="975" b="0">
                <a:solidFill>
                  <a:srgbClr val="D5C9E6"/>
                </a:solidFill>
                <a:latin typeface="Arial"/>
                <a:ea typeface="Arial"/>
                <a:cs typeface="Arial"/>
              </a:rPr>
              <a:t>AGENTIC OS  /  MVP TECHNICAL WALKTHROUGH</a:t>
            </a:r>
          </a:p>
        </p:txBody>
      </p:sp>
      <p:sp>
        <p:nvSpPr>
          <p:cNvPr id="4" name="20">
            <a:extLst>
              <a:ext uri="{FF2B5EF4-FFF2-40B4-BE49-F238E27FC236}">
                <a16:creationId xmlns:a16="http://schemas.microsoft.com/office/drawing/2014/main" id="{5DBAE021-0B7C-42DA-B87C-272BB0051389}"/>
              </a:ext>
            </a:extLst>
          </p:cNvPr>
          <p:cNvSpPr>
            <a:spLocks noGrp="1"/>
          </p:cNvSpPr>
          <p:nvPr/>
        </p:nvSpPr>
        <p:spPr>
          <a:xfrm>
            <a:off x="11029950" y="6372225"/>
            <a:ext cx="552450" cy="247650"/>
          </a:xfrm>
          <a:prstGeom prst="rect">
            <a:avLst/>
          </a:prstGeom>
          <a:noFill/>
          <a:ln w="0">
            <a:noFill/>
          </a:ln>
        </p:spPr>
        <p:txBody>
          <a:bodyPr lIns="0" tIns="0" rIns="0" bIns="0" anchor="ctr"/>
          <a:lstStyle>
            <a:defPPr algn="r">
              <a:defRPr sz="1275" b="0">
                <a:solidFill>
                  <a:srgbClr val="BE98F6"/>
                </a:solidFill>
                <a:latin typeface="Arial"/>
                <a:ea typeface="Arial"/>
                <a:cs typeface="Arial"/>
              </a:defRPr>
            </a:defPPr>
          </a:lstStyle>
          <a:p>
            <a:pPr algn="r">
              <a:defRPr sz="1275" b="0">
                <a:solidFill>
                  <a:srgbClr val="BE98F6"/>
                </a:solidFill>
                <a:latin typeface="Arial"/>
                <a:ea typeface="Arial"/>
                <a:cs typeface="Arial"/>
              </a:defRPr>
            </a:pPr>
            <a:r>
              <a:rPr sz="1275" b="0">
                <a:solidFill>
                  <a:srgbClr val="BE98F6"/>
                </a:solidFill>
                <a:latin typeface="Arial"/>
                <a:ea typeface="Arial"/>
                <a:cs typeface="Arial"/>
              </a:rPr>
              <a:t>20</a:t>
            </a:r>
          </a:p>
        </p:txBody>
      </p:sp>
      <p:sp>
        <p:nvSpPr>
          <p:cNvPr id="5" name="Rectangle 4">
            <a:extLst>
              <a:ext uri="{FF2B5EF4-FFF2-40B4-BE49-F238E27FC236}">
                <a16:creationId xmlns:a16="http://schemas.microsoft.com/office/drawing/2014/main" id="{D7BBD512-55F0-4DC9-8A3B-68657CD80C97}"/>
              </a:ext>
            </a:extLst>
          </p:cNvPr>
          <p:cNvSpPr>
            <a:spLocks noGrp="1"/>
          </p:cNvSpPr>
          <p:nvPr/>
        </p:nvSpPr>
        <p:spPr>
          <a:xfrm>
            <a:off x="609600" y="2676525"/>
            <a:ext cx="2857500" cy="857250"/>
          </a:xfrm>
          <a:prstGeom prst="rect">
            <a:avLst/>
          </a:prstGeom>
          <a:solidFill>
            <a:srgbClr val="2A1547"/>
          </a:solidFill>
          <a:ln w="13335">
            <a:solidFill>
              <a:srgbClr val="7D43D5"/>
            </a:solidFill>
          </a:ln>
        </p:spPr>
      </p:sp>
      <p:sp>
        <p:nvSpPr>
          <p:cNvPr id="6" name="CLI or HTTP client">
            <a:extLst>
              <a:ext uri="{FF2B5EF4-FFF2-40B4-BE49-F238E27FC236}">
                <a16:creationId xmlns:a16="http://schemas.microsoft.com/office/drawing/2014/main" id="{82BE89B9-C79B-45FF-9CDC-B615152AE16A}"/>
              </a:ext>
            </a:extLst>
          </p:cNvPr>
          <p:cNvSpPr>
            <a:spLocks noGrp="1"/>
          </p:cNvSpPr>
          <p:nvPr/>
        </p:nvSpPr>
        <p:spPr>
          <a:xfrm>
            <a:off x="752475" y="2762250"/>
            <a:ext cx="2571750" cy="685800"/>
          </a:xfrm>
          <a:prstGeom prst="rect">
            <a:avLst/>
          </a:prstGeom>
          <a:noFill/>
          <a:ln w="0">
            <a:noFill/>
          </a:ln>
        </p:spPr>
        <p:txBody>
          <a:bodyPr lIns="0" tIns="0" rIns="0" bIns="0" anchor="ctr"/>
          <a:lstStyle>
            <a:defPPr algn="ctr">
              <a:defRPr sz="1800" b="1">
                <a:solidFill>
                  <a:srgbClr val="FFFFFF"/>
                </a:solidFill>
                <a:latin typeface="Arial"/>
                <a:ea typeface="Arial"/>
                <a:cs typeface="Arial"/>
              </a:defRPr>
            </a:defPPr>
          </a:lstStyle>
          <a:p>
            <a:pPr algn="ctr">
              <a:defRPr sz="1800" b="1">
                <a:solidFill>
                  <a:srgbClr val="FFFFFF"/>
                </a:solidFill>
                <a:latin typeface="Arial"/>
                <a:ea typeface="Arial"/>
                <a:cs typeface="Arial"/>
              </a:defRPr>
            </a:pPr>
            <a:r>
              <a:rPr sz="1800" b="1">
                <a:solidFill>
                  <a:srgbClr val="FFFFFF"/>
                </a:solidFill>
                <a:latin typeface="Arial"/>
                <a:ea typeface="Arial"/>
                <a:cs typeface="Arial"/>
              </a:rPr>
              <a:t>CLI or HTTP client</a:t>
            </a:r>
          </a:p>
        </p:txBody>
      </p:sp>
      <p:sp>
        <p:nvSpPr>
          <p:cNvPr id="7" name="Rectangle 6">
            <a:extLst>
              <a:ext uri="{FF2B5EF4-FFF2-40B4-BE49-F238E27FC236}">
                <a16:creationId xmlns:a16="http://schemas.microsoft.com/office/drawing/2014/main" id="{FF806C67-A316-44B4-A55B-2BA825EDF10F}"/>
              </a:ext>
            </a:extLst>
          </p:cNvPr>
          <p:cNvSpPr>
            <a:spLocks noGrp="1"/>
          </p:cNvSpPr>
          <p:nvPr/>
        </p:nvSpPr>
        <p:spPr>
          <a:xfrm>
            <a:off x="4695825" y="2676525"/>
            <a:ext cx="2857500" cy="857250"/>
          </a:xfrm>
          <a:prstGeom prst="rect">
            <a:avLst/>
          </a:prstGeom>
          <a:solidFill>
            <a:srgbClr val="2A1547"/>
          </a:solidFill>
          <a:ln w="13335">
            <a:solidFill>
              <a:srgbClr val="7D43D5"/>
            </a:solidFill>
          </a:ln>
        </p:spPr>
      </p:sp>
      <p:sp>
        <p:nvSpPr>
          <p:cNvPr id="8" name="Python TCP probe">
            <a:extLst>
              <a:ext uri="{FF2B5EF4-FFF2-40B4-BE49-F238E27FC236}">
                <a16:creationId xmlns:a16="http://schemas.microsoft.com/office/drawing/2014/main" id="{2644A19B-26BE-41D3-84C8-DF40399491DE}"/>
              </a:ext>
            </a:extLst>
          </p:cNvPr>
          <p:cNvSpPr>
            <a:spLocks noGrp="1"/>
          </p:cNvSpPr>
          <p:nvPr/>
        </p:nvSpPr>
        <p:spPr>
          <a:xfrm>
            <a:off x="4838700" y="2762250"/>
            <a:ext cx="2571750" cy="685800"/>
          </a:xfrm>
          <a:prstGeom prst="rect">
            <a:avLst/>
          </a:prstGeom>
          <a:noFill/>
          <a:ln w="0">
            <a:noFill/>
          </a:ln>
        </p:spPr>
        <p:txBody>
          <a:bodyPr lIns="0" tIns="0" rIns="0" bIns="0" anchor="ctr"/>
          <a:lstStyle>
            <a:defPPr algn="ctr">
              <a:defRPr sz="1800" b="1">
                <a:solidFill>
                  <a:srgbClr val="FFFFFF"/>
                </a:solidFill>
                <a:latin typeface="Arial"/>
                <a:ea typeface="Arial"/>
                <a:cs typeface="Arial"/>
              </a:defRPr>
            </a:defPPr>
          </a:lstStyle>
          <a:p>
            <a:pPr algn="ctr">
              <a:defRPr sz="1800" b="1">
                <a:solidFill>
                  <a:srgbClr val="FFFFFF"/>
                </a:solidFill>
                <a:latin typeface="Arial"/>
                <a:ea typeface="Arial"/>
                <a:cs typeface="Arial"/>
              </a:defRPr>
            </a:pPr>
            <a:r>
              <a:rPr sz="1800" b="1">
                <a:solidFill>
                  <a:srgbClr val="FFFFFF"/>
                </a:solidFill>
                <a:latin typeface="Arial"/>
                <a:ea typeface="Arial"/>
                <a:cs typeface="Arial"/>
              </a:rPr>
              <a:t>Python TCP probe</a:t>
            </a:r>
          </a:p>
        </p:txBody>
      </p:sp>
      <p:sp>
        <p:nvSpPr>
          <p:cNvPr id="9" name="Rectangle 8">
            <a:extLst>
              <a:ext uri="{FF2B5EF4-FFF2-40B4-BE49-F238E27FC236}">
                <a16:creationId xmlns:a16="http://schemas.microsoft.com/office/drawing/2014/main" id="{361A83E8-75D8-4E7C-B12C-CDBEB4D767FA}"/>
              </a:ext>
            </a:extLst>
          </p:cNvPr>
          <p:cNvSpPr>
            <a:spLocks noGrp="1"/>
          </p:cNvSpPr>
          <p:nvPr/>
        </p:nvSpPr>
        <p:spPr>
          <a:xfrm>
            <a:off x="8782050" y="2676525"/>
            <a:ext cx="2800350" cy="857250"/>
          </a:xfrm>
          <a:prstGeom prst="rect">
            <a:avLst/>
          </a:prstGeom>
          <a:solidFill>
            <a:srgbClr val="2A1547"/>
          </a:solidFill>
          <a:ln w="13335">
            <a:solidFill>
              <a:srgbClr val="7D43D5"/>
            </a:solidFill>
          </a:ln>
        </p:spPr>
      </p:sp>
      <p:sp>
        <p:nvSpPr>
          <p:cNvPr id="10" name="Target IPv4:port">
            <a:extLst>
              <a:ext uri="{FF2B5EF4-FFF2-40B4-BE49-F238E27FC236}">
                <a16:creationId xmlns:a16="http://schemas.microsoft.com/office/drawing/2014/main" id="{00C24B5A-05C0-473E-8629-DF5A606D14BF}"/>
              </a:ext>
            </a:extLst>
          </p:cNvPr>
          <p:cNvSpPr>
            <a:spLocks noGrp="1"/>
          </p:cNvSpPr>
          <p:nvPr/>
        </p:nvSpPr>
        <p:spPr>
          <a:xfrm>
            <a:off x="8924925" y="2762250"/>
            <a:ext cx="2514600" cy="685800"/>
          </a:xfrm>
          <a:prstGeom prst="rect">
            <a:avLst/>
          </a:prstGeom>
          <a:noFill/>
          <a:ln w="0">
            <a:noFill/>
          </a:ln>
        </p:spPr>
        <p:txBody>
          <a:bodyPr lIns="0" tIns="0" rIns="0" bIns="0" anchor="ctr"/>
          <a:lstStyle>
            <a:defPPr algn="ctr">
              <a:defRPr sz="1800" b="1">
                <a:solidFill>
                  <a:srgbClr val="FFFFFF"/>
                </a:solidFill>
                <a:latin typeface="Arial"/>
                <a:ea typeface="Arial"/>
                <a:cs typeface="Arial"/>
              </a:defRPr>
            </a:defPPr>
          </a:lstStyle>
          <a:p>
            <a:pPr algn="ctr">
              <a:defRPr sz="1800" b="1">
                <a:solidFill>
                  <a:srgbClr val="FFFFFF"/>
                </a:solidFill>
                <a:latin typeface="Arial"/>
                <a:ea typeface="Arial"/>
                <a:cs typeface="Arial"/>
              </a:defRPr>
            </a:pPr>
            <a:r>
              <a:rPr sz="1800" b="1">
                <a:solidFill>
                  <a:srgbClr val="FFFFFF"/>
                </a:solidFill>
                <a:latin typeface="Arial"/>
                <a:ea typeface="Arial"/>
                <a:cs typeface="Arial"/>
              </a:rPr>
              <a:t>Target IPv4:port</a:t>
            </a:r>
          </a:p>
        </p:txBody>
      </p:sp>
      <p:cxnSp>
        <p:nvCxnSpPr>
          <p:cNvPr id="11" name="Straight Arrow Connector 10">
            <a:extLst>
              <a:ext uri="{FF2B5EF4-FFF2-40B4-BE49-F238E27FC236}">
                <a16:creationId xmlns:a16="http://schemas.microsoft.com/office/drawing/2014/main" id="{560BA38F-A126-4EEE-99F4-A01E4961696A}"/>
              </a:ext>
            </a:extLst>
          </p:cNvPr>
          <p:cNvCxnSpPr/>
          <p:nvPr/>
        </p:nvCxnSpPr>
        <p:spPr>
          <a:xfrm>
            <a:off x="3467100" y="3105150"/>
            <a:ext cx="1152525" cy="0"/>
          </a:xfrm>
          <a:prstGeom prst="straightConnector1">
            <a:avLst/>
          </a:prstGeom>
          <a:ln w="19050">
            <a:solidFill>
              <a:srgbClr val="BE98F6"/>
            </a:solidFill>
            <a:prstDash val="solid"/>
            <a:tailEnd type="triangle" w="med" len="med"/>
          </a:ln>
        </p:spPr>
      </p:cxnSp>
      <p:cxnSp>
        <p:nvCxnSpPr>
          <p:cNvPr id="12" name="Straight Arrow Connector 11">
            <a:extLst>
              <a:ext uri="{FF2B5EF4-FFF2-40B4-BE49-F238E27FC236}">
                <a16:creationId xmlns:a16="http://schemas.microsoft.com/office/drawing/2014/main" id="{DF042BAC-F6C3-42DE-BAA8-9484304558D3}"/>
              </a:ext>
            </a:extLst>
          </p:cNvPr>
          <p:cNvCxnSpPr/>
          <p:nvPr/>
        </p:nvCxnSpPr>
        <p:spPr>
          <a:xfrm>
            <a:off x="7553325" y="3105150"/>
            <a:ext cx="1152525" cy="0"/>
          </a:xfrm>
          <a:prstGeom prst="straightConnector1">
            <a:avLst/>
          </a:prstGeom>
          <a:ln w="19050">
            <a:solidFill>
              <a:srgbClr val="BE98F6"/>
            </a:solidFill>
            <a:prstDash val="solid"/>
            <a:tailEnd type="triangle" w="med" len="med"/>
          </a:ln>
        </p:spPr>
      </p:cxnSp>
      <p:sp>
        <p:nvSpPr>
          <p:cNvPr id="13" name="/health     /status     /ping">
            <a:extLst>
              <a:ext uri="{FF2B5EF4-FFF2-40B4-BE49-F238E27FC236}">
                <a16:creationId xmlns:a16="http://schemas.microsoft.com/office/drawing/2014/main" id="{C4A0F360-D609-42BD-9A57-D1B430722CDC}"/>
              </a:ext>
            </a:extLst>
          </p:cNvPr>
          <p:cNvSpPr>
            <a:spLocks noGrp="1"/>
          </p:cNvSpPr>
          <p:nvPr/>
        </p:nvSpPr>
        <p:spPr>
          <a:xfrm>
            <a:off x="609600" y="4343400"/>
            <a:ext cx="10972800" cy="571500"/>
          </a:xfrm>
          <a:prstGeom prst="rect">
            <a:avLst/>
          </a:prstGeom>
          <a:noFill/>
          <a:ln w="0">
            <a:noFill/>
          </a:ln>
        </p:spPr>
        <p:txBody>
          <a:bodyPr lIns="0" tIns="0" rIns="0" bIns="0" anchor="ctr"/>
          <a:lstStyle>
            <a:defPPr algn="l">
              <a:defRPr sz="2550" b="1">
                <a:solidFill>
                  <a:srgbClr val="BE98F6"/>
                </a:solidFill>
                <a:latin typeface="Arial"/>
                <a:ea typeface="Arial"/>
                <a:cs typeface="Arial"/>
              </a:defRPr>
            </a:defPPr>
          </a:lstStyle>
          <a:p>
            <a:pPr algn="l">
              <a:defRPr sz="2550" b="1">
                <a:solidFill>
                  <a:srgbClr val="BE98F6"/>
                </a:solidFill>
                <a:latin typeface="Arial"/>
                <a:ea typeface="Arial"/>
                <a:cs typeface="Arial"/>
              </a:defRPr>
            </a:pPr>
            <a:r>
              <a:rPr sz="2550" b="1">
                <a:solidFill>
                  <a:srgbClr val="BE98F6"/>
                </a:solidFill>
                <a:latin typeface="Arial"/>
                <a:ea typeface="Arial"/>
                <a:cs typeface="Arial"/>
              </a:rPr>
              <a:t>/health     /status     /ping</a:t>
            </a:r>
          </a:p>
        </p:txBody>
      </p:sp>
      <p:sp>
        <p:nvSpPr>
          <p:cNvPr id="14" name="Host diagnostics provide a separate way to i">
            <a:extLst>
              <a:ext uri="{FF2B5EF4-FFF2-40B4-BE49-F238E27FC236}">
                <a16:creationId xmlns:a16="http://schemas.microsoft.com/office/drawing/2014/main" id="{B9C6479E-D3FD-4CAA-9F95-9F9E6151A65C}"/>
              </a:ext>
            </a:extLst>
          </p:cNvPr>
          <p:cNvSpPr>
            <a:spLocks noGrp="1"/>
          </p:cNvSpPr>
          <p:nvPr/>
        </p:nvSpPr>
        <p:spPr>
          <a:xfrm>
            <a:off x="609600" y="5648325"/>
            <a:ext cx="10972800" cy="504825"/>
          </a:xfrm>
          <a:prstGeom prst="rect">
            <a:avLst/>
          </a:prstGeom>
          <a:noFill/>
          <a:ln w="0">
            <a:noFill/>
          </a:ln>
        </p:spPr>
        <p:txBody>
          <a:bodyPr lIns="0" tIns="0" rIns="0" bIns="0" anchor="ctr"/>
          <a:lstStyle>
            <a:defPPr algn="l">
              <a:defRPr sz="1725" b="0">
                <a:solidFill>
                  <a:srgbClr val="D5C9E6"/>
                </a:solidFill>
                <a:latin typeface="Arial"/>
                <a:ea typeface="Arial"/>
                <a:cs typeface="Arial"/>
              </a:defRPr>
            </a:defPPr>
          </a:lstStyle>
          <a:p>
            <a:pPr algn="l">
              <a:defRPr sz="1725" b="0">
                <a:solidFill>
                  <a:srgbClr val="D5C9E6"/>
                </a:solidFill>
                <a:latin typeface="Arial"/>
                <a:ea typeface="Arial"/>
                <a:cs typeface="Arial"/>
              </a:defRPr>
            </a:pPr>
            <a:r>
              <a:rPr sz="1725" b="0">
                <a:solidFill>
                  <a:srgbClr val="D5C9E6"/>
                </a:solidFill>
                <a:latin typeface="Arial"/>
                <a:ea typeface="Arial"/>
                <a:cs typeface="Arial"/>
              </a:rPr>
              <a:t>Host diagnostics provide a separate way to inspect connectivity.</a:t>
            </a:r>
          </a:p>
        </p:txBody>
      </p:sp>
    </p:spTree>
    <p:extLst>
      <p:ext uri="{BB962C8B-B14F-4D97-AF65-F5344CB8AC3E}">
        <p14:creationId xmlns:p14="http://schemas.microsoft.com/office/powerpoint/2010/main" val="150308816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180B2B"/>
        </a:solidFill>
        <a:effectLst/>
      </p:bgPr>
    </p:bg>
    <p:spTree>
      <p:nvGrpSpPr>
        <p:cNvPr id="1" name=""/>
        <p:cNvGrpSpPr/>
        <p:nvPr/>
      </p:nvGrpSpPr>
      <p:grpSpPr>
        <a:xfrm>
          <a:off x="0" y="0"/>
          <a:ext cx="0" cy="0"/>
          <a:chOff x="0" y="0"/>
          <a:chExt cx="0" cy="0"/>
        </a:xfrm>
      </p:grpSpPr>
      <p:sp>
        <p:nvSpPr>
          <p:cNvPr id="16" name="AGENT ARCHITECTURE">
            <a:extLst>
              <a:ext uri="{FF2B5EF4-FFF2-40B4-BE49-F238E27FC236}">
                <a16:creationId xmlns:a16="http://schemas.microsoft.com/office/drawing/2014/main" id="{823268F3-FE5F-4105-817C-948D6F761288}"/>
              </a:ext>
            </a:extLst>
          </p:cNvPr>
          <p:cNvSpPr>
            <a:spLocks noGrp="1"/>
          </p:cNvSpPr>
          <p:nvPr/>
        </p:nvSpPr>
        <p:spPr>
          <a:xfrm>
            <a:off x="609600" y="323850"/>
            <a:ext cx="10001250" cy="228600"/>
          </a:xfrm>
          <a:prstGeom prst="rect">
            <a:avLst/>
          </a:prstGeom>
          <a:noFill/>
          <a:ln w="0">
            <a:noFill/>
          </a:ln>
        </p:spPr>
        <p:txBody>
          <a:bodyPr lIns="0" tIns="0" rIns="0" bIns="0" anchor="ctr"/>
          <a:lstStyle>
            <a:defPPr algn="l">
              <a:defRPr sz="1200" b="1">
                <a:solidFill>
                  <a:srgbClr val="BE98F6"/>
                </a:solidFill>
                <a:latin typeface="Arial"/>
                <a:ea typeface="Arial"/>
                <a:cs typeface="Arial"/>
              </a:defRPr>
            </a:defPPr>
          </a:lstStyle>
          <a:p>
            <a:pPr algn="l">
              <a:defRPr sz="1200" b="1">
                <a:solidFill>
                  <a:srgbClr val="BE98F6"/>
                </a:solidFill>
                <a:latin typeface="Arial"/>
                <a:ea typeface="Arial"/>
                <a:cs typeface="Arial"/>
              </a:defRPr>
            </a:pPr>
            <a:r>
              <a:rPr sz="1200" b="1">
                <a:solidFill>
                  <a:srgbClr val="BE98F6"/>
                </a:solidFill>
                <a:latin typeface="Arial"/>
                <a:ea typeface="Arial"/>
                <a:cs typeface="Arial"/>
              </a:rPr>
              <a:t>AGENT ARCHITECTURE</a:t>
            </a:r>
          </a:p>
        </p:txBody>
      </p:sp>
      <p:sp>
        <p:nvSpPr>
          <p:cNvPr id="2" name="Gemini networking area">
            <a:extLst>
              <a:ext uri="{FF2B5EF4-FFF2-40B4-BE49-F238E27FC236}">
                <a16:creationId xmlns:a16="http://schemas.microsoft.com/office/drawing/2014/main" id="{7847F02E-16FF-4C7C-9270-5AC9689942ED}"/>
              </a:ext>
            </a:extLst>
          </p:cNvPr>
          <p:cNvSpPr>
            <a:spLocks noGrp="1"/>
          </p:cNvSpPr>
          <p:nvPr/>
        </p:nvSpPr>
        <p:spPr>
          <a:xfrm>
            <a:off x="609600" y="876300"/>
            <a:ext cx="10972800" cy="952500"/>
          </a:xfrm>
          <a:prstGeom prst="rect">
            <a:avLst/>
          </a:prstGeom>
          <a:noFill/>
          <a:ln w="0">
            <a:noFill/>
          </a:ln>
        </p:spPr>
        <p:txBody>
          <a:bodyPr lIns="0" tIns="0" rIns="0" bIns="0" anchor="ctr"/>
          <a:lstStyle>
            <a:defPPr algn="l">
              <a:defRPr sz="3300" b="1">
                <a:solidFill>
                  <a:srgbClr val="FFFFFF"/>
                </a:solidFill>
                <a:latin typeface="Arial"/>
                <a:ea typeface="Arial"/>
                <a:cs typeface="Arial"/>
              </a:defRPr>
            </a:defPPr>
          </a:lstStyle>
          <a:p>
            <a:pPr algn="l">
              <a:defRPr sz="3300" b="1">
                <a:solidFill>
                  <a:srgbClr val="FFFFFF"/>
                </a:solidFill>
                <a:latin typeface="Arial"/>
                <a:ea typeface="Arial"/>
                <a:cs typeface="Arial"/>
              </a:defRPr>
            </a:pPr>
            <a:r>
              <a:rPr sz="3300" b="1">
                <a:solidFill>
                  <a:srgbClr val="FFFFFF"/>
                </a:solidFill>
                <a:latin typeface="Arial"/>
                <a:ea typeface="Arial"/>
                <a:cs typeface="Arial"/>
              </a:rPr>
              <a:t>Gemini networking area</a:t>
            </a:r>
          </a:p>
        </p:txBody>
      </p:sp>
      <p:sp>
        <p:nvSpPr>
          <p:cNvPr id="3" name="AGENTIC OS  /  MVP TECHNICAL WALKTHROUGH">
            <a:extLst>
              <a:ext uri="{FF2B5EF4-FFF2-40B4-BE49-F238E27FC236}">
                <a16:creationId xmlns:a16="http://schemas.microsoft.com/office/drawing/2014/main" id="{C8B7E06A-E6A0-4CFB-BF57-4BDDB9D76317}"/>
              </a:ext>
            </a:extLst>
          </p:cNvPr>
          <p:cNvSpPr>
            <a:spLocks noGrp="1"/>
          </p:cNvSpPr>
          <p:nvPr/>
        </p:nvSpPr>
        <p:spPr>
          <a:xfrm>
            <a:off x="609600" y="6410325"/>
            <a:ext cx="10001250" cy="190500"/>
          </a:xfrm>
          <a:prstGeom prst="rect">
            <a:avLst/>
          </a:prstGeom>
          <a:noFill/>
          <a:ln w="0">
            <a:noFill/>
          </a:ln>
        </p:spPr>
        <p:txBody>
          <a:bodyPr lIns="0" tIns="0" rIns="0" bIns="0" anchor="ctr"/>
          <a:lstStyle>
            <a:defPPr algn="l">
              <a:defRPr sz="975" b="0">
                <a:solidFill>
                  <a:srgbClr val="D5C9E6"/>
                </a:solidFill>
                <a:latin typeface="Arial"/>
                <a:ea typeface="Arial"/>
                <a:cs typeface="Arial"/>
              </a:defRPr>
            </a:defPPr>
          </a:lstStyle>
          <a:p>
            <a:pPr algn="l">
              <a:defRPr sz="975" b="0">
                <a:solidFill>
                  <a:srgbClr val="D5C9E6"/>
                </a:solidFill>
                <a:latin typeface="Arial"/>
                <a:ea typeface="Arial"/>
                <a:cs typeface="Arial"/>
              </a:defRPr>
            </a:pPr>
            <a:r>
              <a:rPr sz="975" b="0">
                <a:solidFill>
                  <a:srgbClr val="D5C9E6"/>
                </a:solidFill>
                <a:latin typeface="Arial"/>
                <a:ea typeface="Arial"/>
                <a:cs typeface="Arial"/>
              </a:rPr>
              <a:t>AGENTIC OS  /  MVP TECHNICAL WALKTHROUGH</a:t>
            </a:r>
          </a:p>
        </p:txBody>
      </p:sp>
      <p:sp>
        <p:nvSpPr>
          <p:cNvPr id="4" name="21">
            <a:extLst>
              <a:ext uri="{FF2B5EF4-FFF2-40B4-BE49-F238E27FC236}">
                <a16:creationId xmlns:a16="http://schemas.microsoft.com/office/drawing/2014/main" id="{1615D6D1-66B6-43C4-B9F0-04AD5F22644A}"/>
              </a:ext>
            </a:extLst>
          </p:cNvPr>
          <p:cNvSpPr>
            <a:spLocks noGrp="1"/>
          </p:cNvSpPr>
          <p:nvPr/>
        </p:nvSpPr>
        <p:spPr>
          <a:xfrm>
            <a:off x="11029950" y="6372225"/>
            <a:ext cx="552450" cy="247650"/>
          </a:xfrm>
          <a:prstGeom prst="rect">
            <a:avLst/>
          </a:prstGeom>
          <a:noFill/>
          <a:ln w="0">
            <a:noFill/>
          </a:ln>
        </p:spPr>
        <p:txBody>
          <a:bodyPr lIns="0" tIns="0" rIns="0" bIns="0" anchor="ctr"/>
          <a:lstStyle>
            <a:defPPr algn="r">
              <a:defRPr sz="1275" b="0">
                <a:solidFill>
                  <a:srgbClr val="BE98F6"/>
                </a:solidFill>
                <a:latin typeface="Arial"/>
                <a:ea typeface="Arial"/>
                <a:cs typeface="Arial"/>
              </a:defRPr>
            </a:defPPr>
          </a:lstStyle>
          <a:p>
            <a:pPr algn="r">
              <a:defRPr sz="1275" b="0">
                <a:solidFill>
                  <a:srgbClr val="BE98F6"/>
                </a:solidFill>
                <a:latin typeface="Arial"/>
                <a:ea typeface="Arial"/>
                <a:cs typeface="Arial"/>
              </a:defRPr>
            </a:pPr>
            <a:r>
              <a:rPr sz="1275" b="0">
                <a:solidFill>
                  <a:srgbClr val="BE98F6"/>
                </a:solidFill>
                <a:latin typeface="Arial"/>
                <a:ea typeface="Arial"/>
                <a:cs typeface="Arial"/>
              </a:rPr>
              <a:t>21</a:t>
            </a:r>
          </a:p>
        </p:txBody>
      </p:sp>
      <p:sp>
        <p:nvSpPr>
          <p:cNvPr id="5" name="Rectangle 4">
            <a:extLst>
              <a:ext uri="{FF2B5EF4-FFF2-40B4-BE49-F238E27FC236}">
                <a16:creationId xmlns:a16="http://schemas.microsoft.com/office/drawing/2014/main" id="{336417FD-9C5F-4119-B36D-77435A42851A}"/>
              </a:ext>
            </a:extLst>
          </p:cNvPr>
          <p:cNvSpPr>
            <a:spLocks noGrp="1"/>
          </p:cNvSpPr>
          <p:nvPr/>
        </p:nvSpPr>
        <p:spPr>
          <a:xfrm>
            <a:off x="609600" y="2762250"/>
            <a:ext cx="2762250" cy="1047750"/>
          </a:xfrm>
          <a:prstGeom prst="rect">
            <a:avLst/>
          </a:prstGeom>
          <a:solidFill>
            <a:srgbClr val="2A1547"/>
          </a:solidFill>
          <a:ln w="13335">
            <a:solidFill>
              <a:srgbClr val="7D43D5"/>
            </a:solidFill>
          </a:ln>
        </p:spPr>
      </p:sp>
      <p:sp>
        <p:nvSpPr>
          <p:cNvPr id="6" name="Agentic OS guest">
            <a:extLst>
              <a:ext uri="{FF2B5EF4-FFF2-40B4-BE49-F238E27FC236}">
                <a16:creationId xmlns:a16="http://schemas.microsoft.com/office/drawing/2014/main" id="{B99081D9-B00A-40D5-91B9-7E54398167B7}"/>
              </a:ext>
            </a:extLst>
          </p:cNvPr>
          <p:cNvSpPr>
            <a:spLocks noGrp="1"/>
          </p:cNvSpPr>
          <p:nvPr/>
        </p:nvSpPr>
        <p:spPr>
          <a:xfrm>
            <a:off x="752475" y="2847975"/>
            <a:ext cx="2476500" cy="876300"/>
          </a:xfrm>
          <a:prstGeom prst="rect">
            <a:avLst/>
          </a:prstGeom>
          <a:noFill/>
          <a:ln w="0">
            <a:noFill/>
          </a:ln>
        </p:spPr>
        <p:txBody>
          <a:bodyPr lIns="0" tIns="0" rIns="0" bIns="0" anchor="ctr"/>
          <a:lstStyle>
            <a:defPPr algn="ctr">
              <a:defRPr sz="1800" b="1">
                <a:solidFill>
                  <a:srgbClr val="FFFFFF"/>
                </a:solidFill>
                <a:latin typeface="Arial"/>
                <a:ea typeface="Arial"/>
                <a:cs typeface="Arial"/>
              </a:defRPr>
            </a:defPPr>
          </a:lstStyle>
          <a:p>
            <a:pPr algn="ctr">
              <a:defRPr sz="1800" b="1">
                <a:solidFill>
                  <a:srgbClr val="FFFFFF"/>
                </a:solidFill>
                <a:latin typeface="Arial"/>
                <a:ea typeface="Arial"/>
                <a:cs typeface="Arial"/>
              </a:defRPr>
            </a:pPr>
            <a:r>
              <a:rPr sz="1800" b="1">
                <a:solidFill>
                  <a:srgbClr val="FFFFFF"/>
                </a:solidFill>
                <a:latin typeface="Arial"/>
                <a:ea typeface="Arial"/>
                <a:cs typeface="Arial"/>
              </a:rPr>
              <a:t>Agentic OS guest</a:t>
            </a:r>
          </a:p>
        </p:txBody>
      </p:sp>
      <p:sp>
        <p:nvSpPr>
          <p:cNvPr id="7" name="Rectangle 6">
            <a:extLst>
              <a:ext uri="{FF2B5EF4-FFF2-40B4-BE49-F238E27FC236}">
                <a16:creationId xmlns:a16="http://schemas.microsoft.com/office/drawing/2014/main" id="{38ED3D17-708A-4813-A8DC-C1B6BF103A55}"/>
              </a:ext>
            </a:extLst>
          </p:cNvPr>
          <p:cNvSpPr>
            <a:spLocks noGrp="1"/>
          </p:cNvSpPr>
          <p:nvPr/>
        </p:nvSpPr>
        <p:spPr>
          <a:xfrm>
            <a:off x="4714875" y="2762250"/>
            <a:ext cx="2762250" cy="1047750"/>
          </a:xfrm>
          <a:prstGeom prst="rect">
            <a:avLst/>
          </a:prstGeom>
          <a:solidFill>
            <a:srgbClr val="2A1547"/>
          </a:solidFill>
          <a:ln w="13335">
            <a:solidFill>
              <a:srgbClr val="7D43D5"/>
            </a:solidFill>
          </a:ln>
        </p:spPr>
      </p:sp>
      <p:sp>
        <p:nvSpPr>
          <p:cNvPr id="8" name="Host gateway">
            <a:extLst>
              <a:ext uri="{FF2B5EF4-FFF2-40B4-BE49-F238E27FC236}">
                <a16:creationId xmlns:a16="http://schemas.microsoft.com/office/drawing/2014/main" id="{07CB0592-7ABE-413B-8D9A-FBFECA365C2D}"/>
              </a:ext>
            </a:extLst>
          </p:cNvPr>
          <p:cNvSpPr>
            <a:spLocks noGrp="1"/>
          </p:cNvSpPr>
          <p:nvPr/>
        </p:nvSpPr>
        <p:spPr>
          <a:xfrm>
            <a:off x="4857750" y="2847975"/>
            <a:ext cx="2476500" cy="876300"/>
          </a:xfrm>
          <a:prstGeom prst="rect">
            <a:avLst/>
          </a:prstGeom>
          <a:noFill/>
          <a:ln w="0">
            <a:noFill/>
          </a:ln>
        </p:spPr>
        <p:txBody>
          <a:bodyPr lIns="0" tIns="0" rIns="0" bIns="0" anchor="ctr"/>
          <a:lstStyle>
            <a:defPPr algn="ctr">
              <a:defRPr sz="1800" b="1">
                <a:solidFill>
                  <a:srgbClr val="FFFFFF"/>
                </a:solidFill>
                <a:latin typeface="Arial"/>
                <a:ea typeface="Arial"/>
                <a:cs typeface="Arial"/>
              </a:defRPr>
            </a:defPPr>
          </a:lstStyle>
          <a:p>
            <a:pPr algn="ctr">
              <a:defRPr sz="1800" b="1">
                <a:solidFill>
                  <a:srgbClr val="FFFFFF"/>
                </a:solidFill>
                <a:latin typeface="Arial"/>
                <a:ea typeface="Arial"/>
                <a:cs typeface="Arial"/>
              </a:defRPr>
            </a:pPr>
            <a:r>
              <a:rPr sz="1800" b="1">
                <a:solidFill>
                  <a:srgbClr val="FFFFFF"/>
                </a:solidFill>
                <a:latin typeface="Arial"/>
                <a:ea typeface="Arial"/>
                <a:cs typeface="Arial"/>
              </a:rPr>
              <a:t>Host gateway</a:t>
            </a:r>
          </a:p>
        </p:txBody>
      </p:sp>
      <p:sp>
        <p:nvSpPr>
          <p:cNvPr id="9" name="Rectangle 8">
            <a:extLst>
              <a:ext uri="{FF2B5EF4-FFF2-40B4-BE49-F238E27FC236}">
                <a16:creationId xmlns:a16="http://schemas.microsoft.com/office/drawing/2014/main" id="{DC240E00-026E-47E8-B648-F2C4F10A50FA}"/>
              </a:ext>
            </a:extLst>
          </p:cNvPr>
          <p:cNvSpPr>
            <a:spLocks noGrp="1"/>
          </p:cNvSpPr>
          <p:nvPr/>
        </p:nvSpPr>
        <p:spPr>
          <a:xfrm>
            <a:off x="8820150" y="2762250"/>
            <a:ext cx="2762250" cy="1047750"/>
          </a:xfrm>
          <a:prstGeom prst="rect">
            <a:avLst/>
          </a:prstGeom>
          <a:solidFill>
            <a:srgbClr val="2A1547"/>
          </a:solidFill>
          <a:ln w="13335">
            <a:solidFill>
              <a:srgbClr val="7D43D5"/>
            </a:solidFill>
          </a:ln>
        </p:spPr>
      </p:sp>
      <p:sp>
        <p:nvSpPr>
          <p:cNvPr id="10" name="Gemini API">
            <a:extLst>
              <a:ext uri="{FF2B5EF4-FFF2-40B4-BE49-F238E27FC236}">
                <a16:creationId xmlns:a16="http://schemas.microsoft.com/office/drawing/2014/main" id="{80E411A9-179D-422F-90B2-3E5151983E7B}"/>
              </a:ext>
            </a:extLst>
          </p:cNvPr>
          <p:cNvSpPr>
            <a:spLocks noGrp="1"/>
          </p:cNvSpPr>
          <p:nvPr/>
        </p:nvSpPr>
        <p:spPr>
          <a:xfrm>
            <a:off x="8963025" y="2847975"/>
            <a:ext cx="2476500" cy="876300"/>
          </a:xfrm>
          <a:prstGeom prst="rect">
            <a:avLst/>
          </a:prstGeom>
          <a:noFill/>
          <a:ln w="0">
            <a:noFill/>
          </a:ln>
        </p:spPr>
        <p:txBody>
          <a:bodyPr lIns="0" tIns="0" rIns="0" bIns="0" anchor="ctr"/>
          <a:lstStyle>
            <a:defPPr algn="ctr">
              <a:defRPr sz="1800" b="1">
                <a:solidFill>
                  <a:srgbClr val="FFFFFF"/>
                </a:solidFill>
                <a:latin typeface="Arial"/>
                <a:ea typeface="Arial"/>
                <a:cs typeface="Arial"/>
              </a:defRPr>
            </a:defPPr>
          </a:lstStyle>
          <a:p>
            <a:pPr algn="ctr">
              <a:defRPr sz="1800" b="1">
                <a:solidFill>
                  <a:srgbClr val="FFFFFF"/>
                </a:solidFill>
                <a:latin typeface="Arial"/>
                <a:ea typeface="Arial"/>
                <a:cs typeface="Arial"/>
              </a:defRPr>
            </a:pPr>
            <a:r>
              <a:rPr sz="1800" b="1">
                <a:solidFill>
                  <a:srgbClr val="FFFFFF"/>
                </a:solidFill>
                <a:latin typeface="Arial"/>
                <a:ea typeface="Arial"/>
                <a:cs typeface="Arial"/>
              </a:rPr>
              <a:t>Gemini API</a:t>
            </a:r>
          </a:p>
        </p:txBody>
      </p:sp>
      <p:cxnSp>
        <p:nvCxnSpPr>
          <p:cNvPr id="11" name="Straight Arrow Connector 10">
            <a:extLst>
              <a:ext uri="{FF2B5EF4-FFF2-40B4-BE49-F238E27FC236}">
                <a16:creationId xmlns:a16="http://schemas.microsoft.com/office/drawing/2014/main" id="{D7B40D79-844B-47B9-9326-CDC30F2C6198}"/>
              </a:ext>
            </a:extLst>
          </p:cNvPr>
          <p:cNvCxnSpPr/>
          <p:nvPr/>
        </p:nvCxnSpPr>
        <p:spPr>
          <a:xfrm>
            <a:off x="3371850" y="3286125"/>
            <a:ext cx="1266825" cy="0"/>
          </a:xfrm>
          <a:prstGeom prst="straightConnector1">
            <a:avLst/>
          </a:prstGeom>
          <a:ln w="19050">
            <a:solidFill>
              <a:srgbClr val="BE98F6"/>
            </a:solidFill>
            <a:prstDash val="solid"/>
            <a:tailEnd type="triangle" w="med" len="med"/>
          </a:ln>
        </p:spPr>
      </p:cxnSp>
      <p:cxnSp>
        <p:nvCxnSpPr>
          <p:cNvPr id="12" name="Straight Arrow Connector 11">
            <a:extLst>
              <a:ext uri="{FF2B5EF4-FFF2-40B4-BE49-F238E27FC236}">
                <a16:creationId xmlns:a16="http://schemas.microsoft.com/office/drawing/2014/main" id="{28349502-7529-40D0-94E4-6ECE50CAD696}"/>
              </a:ext>
            </a:extLst>
          </p:cNvPr>
          <p:cNvCxnSpPr/>
          <p:nvPr/>
        </p:nvCxnSpPr>
        <p:spPr>
          <a:xfrm>
            <a:off x="7477125" y="3286125"/>
            <a:ext cx="1266825" cy="0"/>
          </a:xfrm>
          <a:prstGeom prst="straightConnector1">
            <a:avLst/>
          </a:prstGeom>
          <a:ln w="19050">
            <a:solidFill>
              <a:srgbClr val="BE98F6"/>
            </a:solidFill>
            <a:prstDash val="solid"/>
            <a:tailEnd type="triangle" w="med" len="med"/>
          </a:ln>
        </p:spPr>
      </p:cxnSp>
      <p:sp>
        <p:nvSpPr>
          <p:cNvPr id="13" name="Application&#10;messages">
            <a:extLst>
              <a:ext uri="{FF2B5EF4-FFF2-40B4-BE49-F238E27FC236}">
                <a16:creationId xmlns:a16="http://schemas.microsoft.com/office/drawing/2014/main" id="{D0B86EB3-DBC1-4BAD-8D3F-F12C4947B86C}"/>
              </a:ext>
            </a:extLst>
          </p:cNvPr>
          <p:cNvSpPr>
            <a:spLocks noGrp="1"/>
          </p:cNvSpPr>
          <p:nvPr/>
        </p:nvSpPr>
        <p:spPr>
          <a:xfrm>
            <a:off x="3429000" y="2333625"/>
            <a:ext cx="1238250" cy="619125"/>
          </a:xfrm>
          <a:prstGeom prst="rect">
            <a:avLst/>
          </a:prstGeom>
          <a:noFill/>
          <a:ln w="0">
            <a:noFill/>
          </a:ln>
        </p:spPr>
        <p:txBody>
          <a:bodyPr lIns="0" tIns="0" rIns="0" bIns="0" anchor="ctr"/>
          <a:lstStyle>
            <a:defPPr algn="l">
              <a:defRPr sz="1425" b="0">
                <a:solidFill>
                  <a:srgbClr val="D5C9E6"/>
                </a:solidFill>
                <a:latin typeface="Arial"/>
                <a:ea typeface="Arial"/>
                <a:cs typeface="Arial"/>
              </a:defRPr>
            </a:defPPr>
          </a:lstStyle>
          <a:p>
            <a:pPr algn="l">
              <a:defRPr sz="1425" b="0">
                <a:solidFill>
                  <a:srgbClr val="D5C9E6"/>
                </a:solidFill>
                <a:latin typeface="Arial"/>
                <a:ea typeface="Arial"/>
                <a:cs typeface="Arial"/>
              </a:defRPr>
            </a:pPr>
            <a:r>
              <a:rPr sz="1425" b="0">
                <a:solidFill>
                  <a:srgbClr val="D5C9E6"/>
                </a:solidFill>
                <a:latin typeface="Arial"/>
                <a:ea typeface="Arial"/>
                <a:cs typeface="Arial"/>
              </a:rPr>
              <a:t>Application</a:t>
            </a:r>
          </a:p>
          <a:p>
            <a:pPr algn="l">
              <a:defRPr sz="1425" b="0">
                <a:solidFill>
                  <a:srgbClr val="D5C9E6"/>
                </a:solidFill>
                <a:latin typeface="Arial"/>
                <a:ea typeface="Arial"/>
                <a:cs typeface="Arial"/>
              </a:defRPr>
            </a:pPr>
            <a:r>
              <a:rPr sz="1425" b="0">
                <a:solidFill>
                  <a:srgbClr val="D5C9E6"/>
                </a:solidFill>
                <a:latin typeface="Arial"/>
                <a:ea typeface="Arial"/>
                <a:cs typeface="Arial"/>
              </a:rPr>
              <a:t>messages</a:t>
            </a:r>
          </a:p>
        </p:txBody>
      </p:sp>
      <p:sp>
        <p:nvSpPr>
          <p:cNvPr id="14" name="HTTPS">
            <a:extLst>
              <a:ext uri="{FF2B5EF4-FFF2-40B4-BE49-F238E27FC236}">
                <a16:creationId xmlns:a16="http://schemas.microsoft.com/office/drawing/2014/main" id="{2F59F3F0-0E43-4C4E-83D8-400633334D22}"/>
              </a:ext>
            </a:extLst>
          </p:cNvPr>
          <p:cNvSpPr>
            <a:spLocks noGrp="1"/>
          </p:cNvSpPr>
          <p:nvPr/>
        </p:nvSpPr>
        <p:spPr>
          <a:xfrm>
            <a:off x="7667625" y="2667000"/>
            <a:ext cx="1009650" cy="352425"/>
          </a:xfrm>
          <a:prstGeom prst="rect">
            <a:avLst/>
          </a:prstGeom>
          <a:noFill/>
          <a:ln w="0">
            <a:noFill/>
          </a:ln>
        </p:spPr>
        <p:txBody>
          <a:bodyPr lIns="0" tIns="0" rIns="0" bIns="0" anchor="ctr"/>
          <a:lstStyle>
            <a:defPPr algn="l">
              <a:defRPr sz="1650" b="1">
                <a:solidFill>
                  <a:srgbClr val="BE98F6"/>
                </a:solidFill>
                <a:latin typeface="Arial"/>
                <a:ea typeface="Arial"/>
                <a:cs typeface="Arial"/>
              </a:defRPr>
            </a:defPPr>
          </a:lstStyle>
          <a:p>
            <a:pPr algn="l">
              <a:defRPr sz="1650" b="1">
                <a:solidFill>
                  <a:srgbClr val="BE98F6"/>
                </a:solidFill>
                <a:latin typeface="Arial"/>
                <a:ea typeface="Arial"/>
                <a:cs typeface="Arial"/>
              </a:defRPr>
            </a:pPr>
            <a:r>
              <a:rPr sz="1650" b="1">
                <a:solidFill>
                  <a:srgbClr val="BE98F6"/>
                </a:solidFill>
                <a:latin typeface="Arial"/>
                <a:ea typeface="Arial"/>
                <a:cs typeface="Arial"/>
              </a:rPr>
              <a:t>HTTPS</a:t>
            </a:r>
          </a:p>
        </p:txBody>
      </p:sp>
      <p:sp>
        <p:nvSpPr>
          <p:cNvPr id="15" name="The guest owns file operations. The host gat">
            <a:extLst>
              <a:ext uri="{FF2B5EF4-FFF2-40B4-BE49-F238E27FC236}">
                <a16:creationId xmlns:a16="http://schemas.microsoft.com/office/drawing/2014/main" id="{EEA9CB43-2A78-485E-8633-01C41B7AE5D6}"/>
              </a:ext>
            </a:extLst>
          </p:cNvPr>
          <p:cNvSpPr>
            <a:spLocks noGrp="1"/>
          </p:cNvSpPr>
          <p:nvPr/>
        </p:nvSpPr>
        <p:spPr>
          <a:xfrm>
            <a:off x="609600" y="5648325"/>
            <a:ext cx="10972800" cy="504825"/>
          </a:xfrm>
          <a:prstGeom prst="rect">
            <a:avLst/>
          </a:prstGeom>
          <a:noFill/>
          <a:ln w="0">
            <a:noFill/>
          </a:ln>
        </p:spPr>
        <p:txBody>
          <a:bodyPr lIns="0" tIns="0" rIns="0" bIns="0" anchor="ctr"/>
          <a:lstStyle>
            <a:defPPr algn="l">
              <a:defRPr sz="1725" b="0">
                <a:solidFill>
                  <a:srgbClr val="D5C9E6"/>
                </a:solidFill>
                <a:latin typeface="Arial"/>
                <a:ea typeface="Arial"/>
                <a:cs typeface="Arial"/>
              </a:defRPr>
            </a:defPPr>
          </a:lstStyle>
          <a:p>
            <a:pPr algn="l">
              <a:defRPr sz="1725" b="0">
                <a:solidFill>
                  <a:srgbClr val="D5C9E6"/>
                </a:solidFill>
                <a:latin typeface="Arial"/>
                <a:ea typeface="Arial"/>
                <a:cs typeface="Arial"/>
              </a:defRPr>
            </a:pPr>
            <a:r>
              <a:rPr sz="1725" b="0">
                <a:solidFill>
                  <a:srgbClr val="D5C9E6"/>
                </a:solidFill>
                <a:latin typeface="Arial"/>
                <a:ea typeface="Arial"/>
                <a:cs typeface="Arial"/>
              </a:rPr>
              <a:t>The guest owns file operations. The host gateway owns cloud communication.</a:t>
            </a:r>
          </a:p>
        </p:txBody>
      </p:sp>
    </p:spTree>
    <p:extLst>
      <p:ext uri="{BB962C8B-B14F-4D97-AF65-F5344CB8AC3E}">
        <p14:creationId xmlns:p14="http://schemas.microsoft.com/office/powerpoint/2010/main" val="16728447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3" name="AGENT ARCHITECTURE">
            <a:extLst>
              <a:ext uri="{FF2B5EF4-FFF2-40B4-BE49-F238E27FC236}">
                <a16:creationId xmlns:a16="http://schemas.microsoft.com/office/drawing/2014/main" id="{F0C64E6A-7723-4804-8BDC-239F60589F67}"/>
              </a:ext>
            </a:extLst>
          </p:cNvPr>
          <p:cNvSpPr>
            <a:spLocks noGrp="1"/>
          </p:cNvSpPr>
          <p:nvPr/>
        </p:nvSpPr>
        <p:spPr>
          <a:xfrm>
            <a:off x="609600" y="323850"/>
            <a:ext cx="10001250" cy="228600"/>
          </a:xfrm>
          <a:prstGeom prst="rect">
            <a:avLst/>
          </a:prstGeom>
          <a:noFill/>
          <a:ln w="0">
            <a:noFill/>
          </a:ln>
        </p:spPr>
        <p:txBody>
          <a:bodyPr lIns="0" tIns="0" rIns="0" bIns="0" anchor="ctr"/>
          <a:lstStyle>
            <a:defPPr algn="l">
              <a:defRPr sz="1200" b="1">
                <a:solidFill>
                  <a:srgbClr val="7D43D5"/>
                </a:solidFill>
                <a:latin typeface="Arial"/>
                <a:ea typeface="Arial"/>
                <a:cs typeface="Arial"/>
              </a:defRPr>
            </a:defPPr>
          </a:lstStyle>
          <a:p>
            <a:pPr algn="l">
              <a:defRPr sz="1200" b="1">
                <a:solidFill>
                  <a:srgbClr val="7D43D5"/>
                </a:solidFill>
                <a:latin typeface="Arial"/>
                <a:ea typeface="Arial"/>
                <a:cs typeface="Arial"/>
              </a:defRPr>
            </a:pPr>
            <a:r>
              <a:rPr sz="1200" b="1">
                <a:solidFill>
                  <a:srgbClr val="7D43D5"/>
                </a:solidFill>
                <a:latin typeface="Arial"/>
                <a:ea typeface="Arial"/>
                <a:cs typeface="Arial"/>
              </a:rPr>
              <a:t>AGENT ARCHITECTURE</a:t>
            </a:r>
          </a:p>
        </p:txBody>
      </p:sp>
      <p:sp>
        <p:nvSpPr>
          <p:cNvPr id="2" name="Gateway responsibilities">
            <a:extLst>
              <a:ext uri="{FF2B5EF4-FFF2-40B4-BE49-F238E27FC236}">
                <a16:creationId xmlns:a16="http://schemas.microsoft.com/office/drawing/2014/main" id="{6A6F8EA9-6DAD-45FF-A004-3CF9D3173CF8}"/>
              </a:ext>
            </a:extLst>
          </p:cNvPr>
          <p:cNvSpPr>
            <a:spLocks noGrp="1"/>
          </p:cNvSpPr>
          <p:nvPr/>
        </p:nvSpPr>
        <p:spPr>
          <a:xfrm>
            <a:off x="609600" y="876300"/>
            <a:ext cx="10972800" cy="952500"/>
          </a:xfrm>
          <a:prstGeom prst="rect">
            <a:avLst/>
          </a:prstGeom>
          <a:noFill/>
          <a:ln w="0">
            <a:noFill/>
          </a:ln>
        </p:spPr>
        <p:txBody>
          <a:bodyPr lIns="0" tIns="0" rIns="0" bIns="0" anchor="ctr"/>
          <a:lstStyle>
            <a:defPPr algn="l">
              <a:defRPr sz="3300" b="1">
                <a:solidFill>
                  <a:srgbClr val="251139"/>
                </a:solidFill>
                <a:latin typeface="Arial"/>
                <a:ea typeface="Arial"/>
                <a:cs typeface="Arial"/>
              </a:defRPr>
            </a:defPPr>
          </a:lstStyle>
          <a:p>
            <a:pPr algn="l">
              <a:defRPr sz="3300" b="1">
                <a:solidFill>
                  <a:srgbClr val="251139"/>
                </a:solidFill>
                <a:latin typeface="Arial"/>
                <a:ea typeface="Arial"/>
                <a:cs typeface="Arial"/>
              </a:defRPr>
            </a:pPr>
            <a:r>
              <a:rPr sz="3300" b="1">
                <a:solidFill>
                  <a:srgbClr val="251139"/>
                </a:solidFill>
                <a:latin typeface="Arial"/>
                <a:ea typeface="Arial"/>
                <a:cs typeface="Arial"/>
              </a:rPr>
              <a:t>Gateway responsibilities</a:t>
            </a:r>
          </a:p>
        </p:txBody>
      </p:sp>
      <p:sp>
        <p:nvSpPr>
          <p:cNvPr id="3" name="AGENTIC OS  /  MVP TECHNICAL WALKTHROUGH">
            <a:extLst>
              <a:ext uri="{FF2B5EF4-FFF2-40B4-BE49-F238E27FC236}">
                <a16:creationId xmlns:a16="http://schemas.microsoft.com/office/drawing/2014/main" id="{D823849C-382C-4CB2-83AE-793891D1F737}"/>
              </a:ext>
            </a:extLst>
          </p:cNvPr>
          <p:cNvSpPr>
            <a:spLocks noGrp="1"/>
          </p:cNvSpPr>
          <p:nvPr/>
        </p:nvSpPr>
        <p:spPr>
          <a:xfrm>
            <a:off x="609600" y="6410325"/>
            <a:ext cx="10001250" cy="190500"/>
          </a:xfrm>
          <a:prstGeom prst="rect">
            <a:avLst/>
          </a:prstGeom>
          <a:noFill/>
          <a:ln w="0">
            <a:noFill/>
          </a:ln>
        </p:spPr>
        <p:txBody>
          <a:bodyPr lIns="0" tIns="0" rIns="0" bIns="0" anchor="ctr"/>
          <a:lstStyle>
            <a:defPPr algn="l">
              <a:defRPr sz="975" b="0">
                <a:solidFill>
                  <a:srgbClr val="7D43D5"/>
                </a:solidFill>
                <a:latin typeface="Arial"/>
                <a:ea typeface="Arial"/>
                <a:cs typeface="Arial"/>
              </a:defRPr>
            </a:defPPr>
          </a:lstStyle>
          <a:p>
            <a:pPr algn="l">
              <a:defRPr sz="975" b="0">
                <a:solidFill>
                  <a:srgbClr val="7D43D5"/>
                </a:solidFill>
                <a:latin typeface="Arial"/>
                <a:ea typeface="Arial"/>
                <a:cs typeface="Arial"/>
              </a:defRPr>
            </a:pPr>
            <a:r>
              <a:rPr sz="975" b="0">
                <a:solidFill>
                  <a:srgbClr val="7D43D5"/>
                </a:solidFill>
                <a:latin typeface="Arial"/>
                <a:ea typeface="Arial"/>
                <a:cs typeface="Arial"/>
              </a:rPr>
              <a:t>AGENTIC OS  /  MVP TECHNICAL WALKTHROUGH</a:t>
            </a:r>
          </a:p>
        </p:txBody>
      </p:sp>
      <p:sp>
        <p:nvSpPr>
          <p:cNvPr id="4" name="22">
            <a:extLst>
              <a:ext uri="{FF2B5EF4-FFF2-40B4-BE49-F238E27FC236}">
                <a16:creationId xmlns:a16="http://schemas.microsoft.com/office/drawing/2014/main" id="{3AA0DC54-3C04-4B94-8411-4676E405A427}"/>
              </a:ext>
            </a:extLst>
          </p:cNvPr>
          <p:cNvSpPr>
            <a:spLocks noGrp="1"/>
          </p:cNvSpPr>
          <p:nvPr/>
        </p:nvSpPr>
        <p:spPr>
          <a:xfrm>
            <a:off x="11029950" y="6372225"/>
            <a:ext cx="552450" cy="247650"/>
          </a:xfrm>
          <a:prstGeom prst="rect">
            <a:avLst/>
          </a:prstGeom>
          <a:noFill/>
          <a:ln w="0">
            <a:noFill/>
          </a:ln>
        </p:spPr>
        <p:txBody>
          <a:bodyPr lIns="0" tIns="0" rIns="0" bIns="0" anchor="ctr"/>
          <a:lstStyle>
            <a:defPPr algn="r">
              <a:defRPr sz="1275" b="0">
                <a:solidFill>
                  <a:srgbClr val="7D43D5"/>
                </a:solidFill>
                <a:latin typeface="Arial"/>
                <a:ea typeface="Arial"/>
                <a:cs typeface="Arial"/>
              </a:defRPr>
            </a:defPPr>
          </a:lstStyle>
          <a:p>
            <a:pPr algn="r">
              <a:defRPr sz="1275" b="0">
                <a:solidFill>
                  <a:srgbClr val="7D43D5"/>
                </a:solidFill>
                <a:latin typeface="Arial"/>
                <a:ea typeface="Arial"/>
                <a:cs typeface="Arial"/>
              </a:defRPr>
            </a:pPr>
            <a:r>
              <a:rPr sz="1275" b="0">
                <a:solidFill>
                  <a:srgbClr val="7D43D5"/>
                </a:solidFill>
                <a:latin typeface="Arial"/>
                <a:ea typeface="Arial"/>
                <a:cs typeface="Arial"/>
              </a:rPr>
              <a:t>22</a:t>
            </a:r>
          </a:p>
        </p:txBody>
      </p:sp>
      <p:sp>
        <p:nvSpPr>
          <p:cNvPr id="5" name="Credentials">
            <a:extLst>
              <a:ext uri="{FF2B5EF4-FFF2-40B4-BE49-F238E27FC236}">
                <a16:creationId xmlns:a16="http://schemas.microsoft.com/office/drawing/2014/main" id="{BE4565E5-3C16-4B90-A7EE-D58E6BC6B4F7}"/>
              </a:ext>
            </a:extLst>
          </p:cNvPr>
          <p:cNvSpPr>
            <a:spLocks noGrp="1"/>
          </p:cNvSpPr>
          <p:nvPr/>
        </p:nvSpPr>
        <p:spPr>
          <a:xfrm>
            <a:off x="609600" y="1990725"/>
            <a:ext cx="3048000" cy="428625"/>
          </a:xfrm>
          <a:prstGeom prst="rect">
            <a:avLst/>
          </a:prstGeom>
          <a:noFill/>
          <a:ln w="0">
            <a:noFill/>
          </a:ln>
        </p:spPr>
        <p:txBody>
          <a:bodyPr lIns="0" tIns="0" rIns="0" bIns="0" anchor="ctr"/>
          <a:lstStyle>
            <a:defPPr algn="l">
              <a:defRPr sz="2100" b="1">
                <a:solidFill>
                  <a:srgbClr val="7D43D5"/>
                </a:solidFill>
                <a:latin typeface="Arial"/>
                <a:ea typeface="Arial"/>
                <a:cs typeface="Arial"/>
              </a:defRPr>
            </a:defPPr>
          </a:lstStyle>
          <a:p>
            <a:pPr algn="l">
              <a:defRPr sz="2100" b="1">
                <a:solidFill>
                  <a:srgbClr val="7D43D5"/>
                </a:solidFill>
                <a:latin typeface="Arial"/>
                <a:ea typeface="Arial"/>
                <a:cs typeface="Arial"/>
              </a:defRPr>
            </a:pPr>
            <a:r>
              <a:rPr sz="2100" b="1">
                <a:solidFill>
                  <a:srgbClr val="7D43D5"/>
                </a:solidFill>
                <a:latin typeface="Arial"/>
                <a:ea typeface="Arial"/>
                <a:cs typeface="Arial"/>
              </a:rPr>
              <a:t>Credentials</a:t>
            </a:r>
          </a:p>
        </p:txBody>
      </p:sp>
      <p:sp>
        <p:nvSpPr>
          <p:cNvPr id="6" name="GEMINI_API_KEY stays on the host">
            <a:extLst>
              <a:ext uri="{FF2B5EF4-FFF2-40B4-BE49-F238E27FC236}">
                <a16:creationId xmlns:a16="http://schemas.microsoft.com/office/drawing/2014/main" id="{8A6053CC-504D-49F6-B302-39BFADEEB36F}"/>
              </a:ext>
            </a:extLst>
          </p:cNvPr>
          <p:cNvSpPr>
            <a:spLocks noGrp="1"/>
          </p:cNvSpPr>
          <p:nvPr/>
        </p:nvSpPr>
        <p:spPr>
          <a:xfrm>
            <a:off x="3943350" y="1990725"/>
            <a:ext cx="7639050" cy="714375"/>
          </a:xfrm>
          <a:prstGeom prst="rect">
            <a:avLst/>
          </a:prstGeom>
          <a:noFill/>
          <a:ln w="0">
            <a:noFill/>
          </a:ln>
        </p:spPr>
        <p:txBody>
          <a:bodyPr lIns="0" tIns="0" rIns="0" bIns="0" anchor="ctr"/>
          <a:lstStyle>
            <a:defPPr algn="l">
              <a:defRPr sz="2025" b="0">
                <a:solidFill>
                  <a:srgbClr val="251139"/>
                </a:solidFill>
                <a:latin typeface="Arial"/>
                <a:ea typeface="Arial"/>
                <a:cs typeface="Arial"/>
              </a:defRPr>
            </a:defPPr>
          </a:lstStyle>
          <a:p>
            <a:pPr algn="l">
              <a:defRPr sz="2025" b="0">
                <a:solidFill>
                  <a:srgbClr val="251139"/>
                </a:solidFill>
                <a:latin typeface="Arial"/>
                <a:ea typeface="Arial"/>
                <a:cs typeface="Arial"/>
              </a:defRPr>
            </a:pPr>
            <a:r>
              <a:rPr sz="2025" b="0">
                <a:solidFill>
                  <a:srgbClr val="251139"/>
                </a:solidFill>
                <a:latin typeface="Arial"/>
                <a:ea typeface="Arial"/>
                <a:cs typeface="Arial"/>
              </a:rPr>
              <a:t>GEMINI_API_KEY stays on the host</a:t>
            </a:r>
          </a:p>
        </p:txBody>
      </p:sp>
      <p:sp>
        <p:nvSpPr>
          <p:cNvPr id="7" name="Model requests">
            <a:extLst>
              <a:ext uri="{FF2B5EF4-FFF2-40B4-BE49-F238E27FC236}">
                <a16:creationId xmlns:a16="http://schemas.microsoft.com/office/drawing/2014/main" id="{0CE3B7C7-DC92-4AFE-8A83-9701A509C960}"/>
              </a:ext>
            </a:extLst>
          </p:cNvPr>
          <p:cNvSpPr>
            <a:spLocks noGrp="1"/>
          </p:cNvSpPr>
          <p:nvPr/>
        </p:nvSpPr>
        <p:spPr>
          <a:xfrm>
            <a:off x="609600" y="2886075"/>
            <a:ext cx="3048000" cy="428625"/>
          </a:xfrm>
          <a:prstGeom prst="rect">
            <a:avLst/>
          </a:prstGeom>
          <a:noFill/>
          <a:ln w="0">
            <a:noFill/>
          </a:ln>
        </p:spPr>
        <p:txBody>
          <a:bodyPr lIns="0" tIns="0" rIns="0" bIns="0" anchor="ctr"/>
          <a:lstStyle>
            <a:defPPr algn="l">
              <a:defRPr sz="2100" b="1">
                <a:solidFill>
                  <a:srgbClr val="7D43D5"/>
                </a:solidFill>
                <a:latin typeface="Arial"/>
                <a:ea typeface="Arial"/>
                <a:cs typeface="Arial"/>
              </a:defRPr>
            </a:defPPr>
          </a:lstStyle>
          <a:p>
            <a:pPr algn="l">
              <a:defRPr sz="2100" b="1">
                <a:solidFill>
                  <a:srgbClr val="7D43D5"/>
                </a:solidFill>
                <a:latin typeface="Arial"/>
                <a:ea typeface="Arial"/>
                <a:cs typeface="Arial"/>
              </a:defRPr>
            </a:pPr>
            <a:r>
              <a:rPr sz="2100" b="1">
                <a:solidFill>
                  <a:srgbClr val="7D43D5"/>
                </a:solidFill>
                <a:latin typeface="Arial"/>
                <a:ea typeface="Arial"/>
                <a:cs typeface="Arial"/>
              </a:rPr>
              <a:t>Model requests</a:t>
            </a:r>
          </a:p>
        </p:txBody>
      </p:sp>
      <p:sp>
        <p:nvSpPr>
          <p:cNvPr id="8" name="Prompt, allowed tools and bounded context">
            <a:extLst>
              <a:ext uri="{FF2B5EF4-FFF2-40B4-BE49-F238E27FC236}">
                <a16:creationId xmlns:a16="http://schemas.microsoft.com/office/drawing/2014/main" id="{004A59C2-C087-4C86-BEC8-52F5A03F2D63}"/>
              </a:ext>
            </a:extLst>
          </p:cNvPr>
          <p:cNvSpPr>
            <a:spLocks noGrp="1"/>
          </p:cNvSpPr>
          <p:nvPr/>
        </p:nvSpPr>
        <p:spPr>
          <a:xfrm>
            <a:off x="3943350" y="2886075"/>
            <a:ext cx="7639050" cy="714375"/>
          </a:xfrm>
          <a:prstGeom prst="rect">
            <a:avLst/>
          </a:prstGeom>
          <a:noFill/>
          <a:ln w="0">
            <a:noFill/>
          </a:ln>
        </p:spPr>
        <p:txBody>
          <a:bodyPr lIns="0" tIns="0" rIns="0" bIns="0" anchor="ctr"/>
          <a:lstStyle>
            <a:defPPr algn="l">
              <a:defRPr sz="2025" b="0">
                <a:solidFill>
                  <a:srgbClr val="251139"/>
                </a:solidFill>
                <a:latin typeface="Arial"/>
                <a:ea typeface="Arial"/>
                <a:cs typeface="Arial"/>
              </a:defRPr>
            </a:defPPr>
          </a:lstStyle>
          <a:p>
            <a:pPr algn="l">
              <a:defRPr sz="2025" b="0">
                <a:solidFill>
                  <a:srgbClr val="251139"/>
                </a:solidFill>
                <a:latin typeface="Arial"/>
                <a:ea typeface="Arial"/>
                <a:cs typeface="Arial"/>
              </a:defRPr>
            </a:pPr>
            <a:r>
              <a:rPr sz="2025" b="0">
                <a:solidFill>
                  <a:srgbClr val="251139"/>
                </a:solidFill>
                <a:latin typeface="Arial"/>
                <a:ea typeface="Arial"/>
                <a:cs typeface="Arial"/>
              </a:rPr>
              <a:t>Prompt, allowed tools and bounded context</a:t>
            </a:r>
          </a:p>
        </p:txBody>
      </p:sp>
      <p:sp>
        <p:nvSpPr>
          <p:cNvPr id="9" name="Transport">
            <a:extLst>
              <a:ext uri="{FF2B5EF4-FFF2-40B4-BE49-F238E27FC236}">
                <a16:creationId xmlns:a16="http://schemas.microsoft.com/office/drawing/2014/main" id="{B058ECF4-7938-4AF3-8AF7-7FB1FF8814D3}"/>
              </a:ext>
            </a:extLst>
          </p:cNvPr>
          <p:cNvSpPr>
            <a:spLocks noGrp="1"/>
          </p:cNvSpPr>
          <p:nvPr/>
        </p:nvSpPr>
        <p:spPr>
          <a:xfrm>
            <a:off x="609600" y="3781425"/>
            <a:ext cx="3048000" cy="428625"/>
          </a:xfrm>
          <a:prstGeom prst="rect">
            <a:avLst/>
          </a:prstGeom>
          <a:noFill/>
          <a:ln w="0">
            <a:noFill/>
          </a:ln>
        </p:spPr>
        <p:txBody>
          <a:bodyPr lIns="0" tIns="0" rIns="0" bIns="0" anchor="ctr"/>
          <a:lstStyle>
            <a:defPPr algn="l">
              <a:defRPr sz="2100" b="1">
                <a:solidFill>
                  <a:srgbClr val="7D43D5"/>
                </a:solidFill>
                <a:latin typeface="Arial"/>
                <a:ea typeface="Arial"/>
                <a:cs typeface="Arial"/>
              </a:defRPr>
            </a:defPPr>
          </a:lstStyle>
          <a:p>
            <a:pPr algn="l">
              <a:defRPr sz="2100" b="1">
                <a:solidFill>
                  <a:srgbClr val="7D43D5"/>
                </a:solidFill>
                <a:latin typeface="Arial"/>
                <a:ea typeface="Arial"/>
                <a:cs typeface="Arial"/>
              </a:defRPr>
            </a:pPr>
            <a:r>
              <a:rPr sz="2100" b="1">
                <a:solidFill>
                  <a:srgbClr val="7D43D5"/>
                </a:solidFill>
                <a:latin typeface="Arial"/>
                <a:ea typeface="Arial"/>
                <a:cs typeface="Arial"/>
              </a:rPr>
              <a:t>Transport</a:t>
            </a:r>
          </a:p>
        </p:txBody>
      </p:sp>
      <p:sp>
        <p:nvSpPr>
          <p:cNvPr id="10" name="HTTPS, timeout handling and response parsing">
            <a:extLst>
              <a:ext uri="{FF2B5EF4-FFF2-40B4-BE49-F238E27FC236}">
                <a16:creationId xmlns:a16="http://schemas.microsoft.com/office/drawing/2014/main" id="{B8EAA0D8-18ED-4D0B-A6B5-B1E60198265C}"/>
              </a:ext>
            </a:extLst>
          </p:cNvPr>
          <p:cNvSpPr>
            <a:spLocks noGrp="1"/>
          </p:cNvSpPr>
          <p:nvPr/>
        </p:nvSpPr>
        <p:spPr>
          <a:xfrm>
            <a:off x="3943350" y="3781425"/>
            <a:ext cx="7639050" cy="714375"/>
          </a:xfrm>
          <a:prstGeom prst="rect">
            <a:avLst/>
          </a:prstGeom>
          <a:noFill/>
          <a:ln w="0">
            <a:noFill/>
          </a:ln>
        </p:spPr>
        <p:txBody>
          <a:bodyPr lIns="0" tIns="0" rIns="0" bIns="0" anchor="ctr"/>
          <a:lstStyle>
            <a:defPPr algn="l">
              <a:defRPr sz="2025" b="0">
                <a:solidFill>
                  <a:srgbClr val="251139"/>
                </a:solidFill>
                <a:latin typeface="Arial"/>
                <a:ea typeface="Arial"/>
                <a:cs typeface="Arial"/>
              </a:defRPr>
            </a:defPPr>
          </a:lstStyle>
          <a:p>
            <a:pPr algn="l">
              <a:defRPr sz="2025" b="0">
                <a:solidFill>
                  <a:srgbClr val="251139"/>
                </a:solidFill>
                <a:latin typeface="Arial"/>
                <a:ea typeface="Arial"/>
                <a:cs typeface="Arial"/>
              </a:defRPr>
            </a:pPr>
            <a:r>
              <a:rPr sz="2025" b="0">
                <a:solidFill>
                  <a:srgbClr val="251139"/>
                </a:solidFill>
                <a:latin typeface="Arial"/>
                <a:ea typeface="Arial"/>
                <a:cs typeface="Arial"/>
              </a:rPr>
              <a:t>HTTPS, timeout handling and response parsing</a:t>
            </a:r>
          </a:p>
        </p:txBody>
      </p:sp>
      <p:sp>
        <p:nvSpPr>
          <p:cNvPr id="11" name="Execution boundary">
            <a:extLst>
              <a:ext uri="{FF2B5EF4-FFF2-40B4-BE49-F238E27FC236}">
                <a16:creationId xmlns:a16="http://schemas.microsoft.com/office/drawing/2014/main" id="{6E2D4813-00A4-45BF-8F0A-6205A2FE5A19}"/>
              </a:ext>
            </a:extLst>
          </p:cNvPr>
          <p:cNvSpPr>
            <a:spLocks noGrp="1"/>
          </p:cNvSpPr>
          <p:nvPr/>
        </p:nvSpPr>
        <p:spPr>
          <a:xfrm>
            <a:off x="609600" y="4676775"/>
            <a:ext cx="3048000" cy="428625"/>
          </a:xfrm>
          <a:prstGeom prst="rect">
            <a:avLst/>
          </a:prstGeom>
          <a:noFill/>
          <a:ln w="0">
            <a:noFill/>
          </a:ln>
        </p:spPr>
        <p:txBody>
          <a:bodyPr lIns="0" tIns="0" rIns="0" bIns="0" anchor="ctr"/>
          <a:lstStyle>
            <a:defPPr algn="l">
              <a:defRPr sz="2100" b="1">
                <a:solidFill>
                  <a:srgbClr val="7D43D5"/>
                </a:solidFill>
                <a:latin typeface="Arial"/>
                <a:ea typeface="Arial"/>
                <a:cs typeface="Arial"/>
              </a:defRPr>
            </a:defPPr>
          </a:lstStyle>
          <a:p>
            <a:pPr algn="l">
              <a:defRPr sz="2100" b="1">
                <a:solidFill>
                  <a:srgbClr val="7D43D5"/>
                </a:solidFill>
                <a:latin typeface="Arial"/>
                <a:ea typeface="Arial"/>
                <a:cs typeface="Arial"/>
              </a:defRPr>
            </a:pPr>
            <a:r>
              <a:rPr sz="2100" b="1">
                <a:solidFill>
                  <a:srgbClr val="7D43D5"/>
                </a:solidFill>
                <a:latin typeface="Arial"/>
                <a:ea typeface="Arial"/>
                <a:cs typeface="Arial"/>
              </a:rPr>
              <a:t>Execution boundary</a:t>
            </a:r>
          </a:p>
        </p:txBody>
      </p:sp>
      <p:sp>
        <p:nvSpPr>
          <p:cNvPr id="12" name="Validated tool requests return to the OS">
            <a:extLst>
              <a:ext uri="{FF2B5EF4-FFF2-40B4-BE49-F238E27FC236}">
                <a16:creationId xmlns:a16="http://schemas.microsoft.com/office/drawing/2014/main" id="{7612C750-132D-4B32-89CE-2DA65514B834}"/>
              </a:ext>
            </a:extLst>
          </p:cNvPr>
          <p:cNvSpPr>
            <a:spLocks noGrp="1"/>
          </p:cNvSpPr>
          <p:nvPr/>
        </p:nvSpPr>
        <p:spPr>
          <a:xfrm>
            <a:off x="3943350" y="4676775"/>
            <a:ext cx="7639050" cy="714375"/>
          </a:xfrm>
          <a:prstGeom prst="rect">
            <a:avLst/>
          </a:prstGeom>
          <a:noFill/>
          <a:ln w="0">
            <a:noFill/>
          </a:ln>
        </p:spPr>
        <p:txBody>
          <a:bodyPr lIns="0" tIns="0" rIns="0" bIns="0" anchor="ctr"/>
          <a:lstStyle>
            <a:defPPr algn="l">
              <a:defRPr sz="2025" b="0">
                <a:solidFill>
                  <a:srgbClr val="251139"/>
                </a:solidFill>
                <a:latin typeface="Arial"/>
                <a:ea typeface="Arial"/>
                <a:cs typeface="Arial"/>
              </a:defRPr>
            </a:defPPr>
          </a:lstStyle>
          <a:p>
            <a:pPr algn="l">
              <a:defRPr sz="2025" b="0">
                <a:solidFill>
                  <a:srgbClr val="251139"/>
                </a:solidFill>
                <a:latin typeface="Arial"/>
                <a:ea typeface="Arial"/>
                <a:cs typeface="Arial"/>
              </a:defRPr>
            </a:pPr>
            <a:r>
              <a:rPr sz="2025" b="0">
                <a:solidFill>
                  <a:srgbClr val="251139"/>
                </a:solidFill>
                <a:latin typeface="Arial"/>
                <a:ea typeface="Arial"/>
                <a:cs typeface="Arial"/>
              </a:rPr>
              <a:t>Validated tool requests return to the OS</a:t>
            </a:r>
          </a:p>
        </p:txBody>
      </p:sp>
    </p:spTree>
    <p:extLst>
      <p:ext uri="{BB962C8B-B14F-4D97-AF65-F5344CB8AC3E}">
        <p14:creationId xmlns:p14="http://schemas.microsoft.com/office/powerpoint/2010/main" val="116367696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180B2B"/>
        </a:solidFill>
        <a:effectLst/>
      </p:bgPr>
    </p:bg>
    <p:spTree>
      <p:nvGrpSpPr>
        <p:cNvPr id="1" name=""/>
        <p:cNvGrpSpPr/>
        <p:nvPr/>
      </p:nvGrpSpPr>
      <p:grpSpPr>
        <a:xfrm>
          <a:off x="0" y="0"/>
          <a:ext cx="0" cy="0"/>
          <a:chOff x="0" y="0"/>
          <a:chExt cx="0" cy="0"/>
        </a:xfrm>
      </p:grpSpPr>
      <p:sp>
        <p:nvSpPr>
          <p:cNvPr id="34" name="AGENT ARCHITECTURE">
            <a:extLst>
              <a:ext uri="{FF2B5EF4-FFF2-40B4-BE49-F238E27FC236}">
                <a16:creationId xmlns:a16="http://schemas.microsoft.com/office/drawing/2014/main" id="{F254B57A-3C0E-40D6-9AED-502338ED176E}"/>
              </a:ext>
            </a:extLst>
          </p:cNvPr>
          <p:cNvSpPr>
            <a:spLocks noGrp="1"/>
          </p:cNvSpPr>
          <p:nvPr/>
        </p:nvSpPr>
        <p:spPr>
          <a:xfrm>
            <a:off x="609600" y="323850"/>
            <a:ext cx="10001250" cy="228600"/>
          </a:xfrm>
          <a:prstGeom prst="rect">
            <a:avLst/>
          </a:prstGeom>
          <a:noFill/>
          <a:ln w="0">
            <a:noFill/>
          </a:ln>
        </p:spPr>
        <p:txBody>
          <a:bodyPr lIns="0" tIns="0" rIns="0" bIns="0" anchor="ctr"/>
          <a:lstStyle>
            <a:defPPr algn="l">
              <a:defRPr sz="1200" b="1">
                <a:solidFill>
                  <a:srgbClr val="BE98F6"/>
                </a:solidFill>
                <a:latin typeface="Arial"/>
                <a:ea typeface="Arial"/>
                <a:cs typeface="Arial"/>
              </a:defRPr>
            </a:defPPr>
          </a:lstStyle>
          <a:p>
            <a:pPr algn="l">
              <a:defRPr sz="1200" b="1">
                <a:solidFill>
                  <a:srgbClr val="BE98F6"/>
                </a:solidFill>
                <a:latin typeface="Arial"/>
                <a:ea typeface="Arial"/>
                <a:cs typeface="Arial"/>
              </a:defRPr>
            </a:pPr>
            <a:r>
              <a:rPr sz="1200" b="1">
                <a:solidFill>
                  <a:srgbClr val="BE98F6"/>
                </a:solidFill>
                <a:latin typeface="Arial"/>
                <a:ea typeface="Arial"/>
                <a:cs typeface="Arial"/>
              </a:rPr>
              <a:t>AGENT ARCHITECTURE</a:t>
            </a:r>
          </a:p>
        </p:txBody>
      </p:sp>
      <p:sp>
        <p:nvSpPr>
          <p:cNvPr id="2" name="Gemini tool-call sequence">
            <a:extLst>
              <a:ext uri="{FF2B5EF4-FFF2-40B4-BE49-F238E27FC236}">
                <a16:creationId xmlns:a16="http://schemas.microsoft.com/office/drawing/2014/main" id="{E3F84F4C-B208-45E4-AC9C-133400F7446E}"/>
              </a:ext>
            </a:extLst>
          </p:cNvPr>
          <p:cNvSpPr>
            <a:spLocks noGrp="1"/>
          </p:cNvSpPr>
          <p:nvPr/>
        </p:nvSpPr>
        <p:spPr>
          <a:xfrm>
            <a:off x="609600" y="876300"/>
            <a:ext cx="10972800" cy="952500"/>
          </a:xfrm>
          <a:prstGeom prst="rect">
            <a:avLst/>
          </a:prstGeom>
          <a:noFill/>
          <a:ln w="0">
            <a:noFill/>
          </a:ln>
        </p:spPr>
        <p:txBody>
          <a:bodyPr lIns="0" tIns="0" rIns="0" bIns="0" anchor="ctr"/>
          <a:lstStyle>
            <a:defPPr algn="l">
              <a:defRPr sz="3300" b="1">
                <a:solidFill>
                  <a:srgbClr val="FFFFFF"/>
                </a:solidFill>
                <a:latin typeface="Arial"/>
                <a:ea typeface="Arial"/>
                <a:cs typeface="Arial"/>
              </a:defRPr>
            </a:defPPr>
          </a:lstStyle>
          <a:p>
            <a:pPr algn="l">
              <a:defRPr sz="3300" b="1">
                <a:solidFill>
                  <a:srgbClr val="FFFFFF"/>
                </a:solidFill>
                <a:latin typeface="Arial"/>
                <a:ea typeface="Arial"/>
                <a:cs typeface="Arial"/>
              </a:defRPr>
            </a:pPr>
            <a:r>
              <a:rPr sz="3300" b="1">
                <a:solidFill>
                  <a:srgbClr val="FFFFFF"/>
                </a:solidFill>
                <a:latin typeface="Arial"/>
                <a:ea typeface="Arial"/>
                <a:cs typeface="Arial"/>
              </a:rPr>
              <a:t>Gemini tool-call sequence</a:t>
            </a:r>
          </a:p>
        </p:txBody>
      </p:sp>
      <p:sp>
        <p:nvSpPr>
          <p:cNvPr id="3" name="AGENTIC OS  /  MVP TECHNICAL WALKTHROUGH">
            <a:extLst>
              <a:ext uri="{FF2B5EF4-FFF2-40B4-BE49-F238E27FC236}">
                <a16:creationId xmlns:a16="http://schemas.microsoft.com/office/drawing/2014/main" id="{E375E58A-C2B3-4BAF-91DE-7A24B183F09E}"/>
              </a:ext>
            </a:extLst>
          </p:cNvPr>
          <p:cNvSpPr>
            <a:spLocks noGrp="1"/>
          </p:cNvSpPr>
          <p:nvPr/>
        </p:nvSpPr>
        <p:spPr>
          <a:xfrm>
            <a:off x="609600" y="6410325"/>
            <a:ext cx="10001250" cy="190500"/>
          </a:xfrm>
          <a:prstGeom prst="rect">
            <a:avLst/>
          </a:prstGeom>
          <a:noFill/>
          <a:ln w="0">
            <a:noFill/>
          </a:ln>
        </p:spPr>
        <p:txBody>
          <a:bodyPr lIns="0" tIns="0" rIns="0" bIns="0" anchor="ctr"/>
          <a:lstStyle>
            <a:defPPr algn="l">
              <a:defRPr sz="975" b="0">
                <a:solidFill>
                  <a:srgbClr val="D5C9E6"/>
                </a:solidFill>
                <a:latin typeface="Arial"/>
                <a:ea typeface="Arial"/>
                <a:cs typeface="Arial"/>
              </a:defRPr>
            </a:defPPr>
          </a:lstStyle>
          <a:p>
            <a:pPr algn="l">
              <a:defRPr sz="975" b="0">
                <a:solidFill>
                  <a:srgbClr val="D5C9E6"/>
                </a:solidFill>
                <a:latin typeface="Arial"/>
                <a:ea typeface="Arial"/>
                <a:cs typeface="Arial"/>
              </a:defRPr>
            </a:pPr>
            <a:r>
              <a:rPr sz="975" b="0">
                <a:solidFill>
                  <a:srgbClr val="D5C9E6"/>
                </a:solidFill>
                <a:latin typeface="Arial"/>
                <a:ea typeface="Arial"/>
                <a:cs typeface="Arial"/>
              </a:rPr>
              <a:t>AGENTIC OS  /  MVP TECHNICAL WALKTHROUGH</a:t>
            </a:r>
          </a:p>
        </p:txBody>
      </p:sp>
      <p:sp>
        <p:nvSpPr>
          <p:cNvPr id="4" name="23">
            <a:extLst>
              <a:ext uri="{FF2B5EF4-FFF2-40B4-BE49-F238E27FC236}">
                <a16:creationId xmlns:a16="http://schemas.microsoft.com/office/drawing/2014/main" id="{8D715067-6ABB-44C3-ACDA-1CD5FCEA99EA}"/>
              </a:ext>
            </a:extLst>
          </p:cNvPr>
          <p:cNvSpPr>
            <a:spLocks noGrp="1"/>
          </p:cNvSpPr>
          <p:nvPr/>
        </p:nvSpPr>
        <p:spPr>
          <a:xfrm>
            <a:off x="11029950" y="6372225"/>
            <a:ext cx="552450" cy="247650"/>
          </a:xfrm>
          <a:prstGeom prst="rect">
            <a:avLst/>
          </a:prstGeom>
          <a:noFill/>
          <a:ln w="0">
            <a:noFill/>
          </a:ln>
        </p:spPr>
        <p:txBody>
          <a:bodyPr lIns="0" tIns="0" rIns="0" bIns="0" anchor="ctr"/>
          <a:lstStyle>
            <a:defPPr algn="r">
              <a:defRPr sz="1275" b="0">
                <a:solidFill>
                  <a:srgbClr val="BE98F6"/>
                </a:solidFill>
                <a:latin typeface="Arial"/>
                <a:ea typeface="Arial"/>
                <a:cs typeface="Arial"/>
              </a:defRPr>
            </a:defPPr>
          </a:lstStyle>
          <a:p>
            <a:pPr algn="r">
              <a:defRPr sz="1275" b="0">
                <a:solidFill>
                  <a:srgbClr val="BE98F6"/>
                </a:solidFill>
                <a:latin typeface="Arial"/>
                <a:ea typeface="Arial"/>
                <a:cs typeface="Arial"/>
              </a:defRPr>
            </a:pPr>
            <a:r>
              <a:rPr sz="1275" b="0">
                <a:solidFill>
                  <a:srgbClr val="BE98F6"/>
                </a:solidFill>
                <a:latin typeface="Arial"/>
                <a:ea typeface="Arial"/>
                <a:cs typeface="Arial"/>
              </a:rPr>
              <a:t>23</a:t>
            </a:r>
          </a:p>
        </p:txBody>
      </p:sp>
      <p:sp>
        <p:nvSpPr>
          <p:cNvPr id="5" name="Rectangle 4">
            <a:extLst>
              <a:ext uri="{FF2B5EF4-FFF2-40B4-BE49-F238E27FC236}">
                <a16:creationId xmlns:a16="http://schemas.microsoft.com/office/drawing/2014/main" id="{19A41A6B-C1A1-4E09-B4BD-C69FE2331004}"/>
              </a:ext>
            </a:extLst>
          </p:cNvPr>
          <p:cNvSpPr>
            <a:spLocks noGrp="1"/>
          </p:cNvSpPr>
          <p:nvPr/>
        </p:nvSpPr>
        <p:spPr>
          <a:xfrm>
            <a:off x="333375" y="2028825"/>
            <a:ext cx="2000250" cy="590550"/>
          </a:xfrm>
          <a:prstGeom prst="rect">
            <a:avLst/>
          </a:prstGeom>
          <a:solidFill>
            <a:srgbClr val="2A1547"/>
          </a:solidFill>
          <a:ln w="13335">
            <a:solidFill>
              <a:srgbClr val="7D43D5"/>
            </a:solidFill>
          </a:ln>
        </p:spPr>
      </p:sp>
      <p:sp>
        <p:nvSpPr>
          <p:cNvPr id="6" name="OS agent">
            <a:extLst>
              <a:ext uri="{FF2B5EF4-FFF2-40B4-BE49-F238E27FC236}">
                <a16:creationId xmlns:a16="http://schemas.microsoft.com/office/drawing/2014/main" id="{74BB183E-4695-4031-82B6-BF2F4AFE1E22}"/>
              </a:ext>
            </a:extLst>
          </p:cNvPr>
          <p:cNvSpPr>
            <a:spLocks noGrp="1"/>
          </p:cNvSpPr>
          <p:nvPr/>
        </p:nvSpPr>
        <p:spPr>
          <a:xfrm>
            <a:off x="476250" y="2114550"/>
            <a:ext cx="1714500" cy="419100"/>
          </a:xfrm>
          <a:prstGeom prst="rect">
            <a:avLst/>
          </a:prstGeom>
          <a:noFill/>
          <a:ln w="0">
            <a:noFill/>
          </a:ln>
        </p:spPr>
        <p:txBody>
          <a:bodyPr lIns="0" tIns="0" rIns="0" bIns="0" anchor="ctr"/>
          <a:lstStyle>
            <a:defPPr algn="ctr">
              <a:defRPr sz="1800" b="1">
                <a:solidFill>
                  <a:srgbClr val="FFFFFF"/>
                </a:solidFill>
                <a:latin typeface="Arial"/>
                <a:ea typeface="Arial"/>
                <a:cs typeface="Arial"/>
              </a:defRPr>
            </a:defPPr>
          </a:lstStyle>
          <a:p>
            <a:pPr algn="ctr">
              <a:defRPr sz="1800" b="1">
                <a:solidFill>
                  <a:srgbClr val="FFFFFF"/>
                </a:solidFill>
                <a:latin typeface="Arial"/>
                <a:ea typeface="Arial"/>
                <a:cs typeface="Arial"/>
              </a:defRPr>
            </a:pPr>
            <a:r>
              <a:rPr sz="1800" b="1">
                <a:solidFill>
                  <a:srgbClr val="FFFFFF"/>
                </a:solidFill>
                <a:latin typeface="Arial"/>
                <a:ea typeface="Arial"/>
                <a:cs typeface="Arial"/>
              </a:rPr>
              <a:t>OS agent</a:t>
            </a:r>
          </a:p>
        </p:txBody>
      </p:sp>
      <p:cxnSp>
        <p:nvCxnSpPr>
          <p:cNvPr id="7" name="Straight Arrow Connector 6">
            <a:extLst>
              <a:ext uri="{FF2B5EF4-FFF2-40B4-BE49-F238E27FC236}">
                <a16:creationId xmlns:a16="http://schemas.microsoft.com/office/drawing/2014/main" id="{9107E201-DC2F-4E63-9312-8907A117719B}"/>
              </a:ext>
            </a:extLst>
          </p:cNvPr>
          <p:cNvCxnSpPr/>
          <p:nvPr/>
        </p:nvCxnSpPr>
        <p:spPr>
          <a:xfrm>
            <a:off x="1333500" y="2705100"/>
            <a:ext cx="0" cy="2771775"/>
          </a:xfrm>
          <a:prstGeom prst="straightConnector1">
            <a:avLst/>
          </a:prstGeom>
          <a:ln w="19050">
            <a:solidFill>
              <a:srgbClr val="BE98F6"/>
            </a:solidFill>
            <a:prstDash val="dash"/>
            <a:tailEnd type="none" w="med" len="med"/>
          </a:ln>
        </p:spPr>
      </p:cxnSp>
      <p:sp>
        <p:nvSpPr>
          <p:cNvPr id="8" name="Rectangle 7">
            <a:extLst>
              <a:ext uri="{FF2B5EF4-FFF2-40B4-BE49-F238E27FC236}">
                <a16:creationId xmlns:a16="http://schemas.microsoft.com/office/drawing/2014/main" id="{E7A77302-2556-463F-B018-CD3BE9510197}"/>
              </a:ext>
            </a:extLst>
          </p:cNvPr>
          <p:cNvSpPr>
            <a:spLocks noGrp="1"/>
          </p:cNvSpPr>
          <p:nvPr/>
        </p:nvSpPr>
        <p:spPr>
          <a:xfrm>
            <a:off x="3508375" y="2028825"/>
            <a:ext cx="2000250" cy="590550"/>
          </a:xfrm>
          <a:prstGeom prst="rect">
            <a:avLst/>
          </a:prstGeom>
          <a:solidFill>
            <a:srgbClr val="2A1547"/>
          </a:solidFill>
          <a:ln w="13335">
            <a:solidFill>
              <a:srgbClr val="7D43D5"/>
            </a:solidFill>
          </a:ln>
        </p:spPr>
      </p:sp>
      <p:sp>
        <p:nvSpPr>
          <p:cNvPr id="9" name="Gateway">
            <a:extLst>
              <a:ext uri="{FF2B5EF4-FFF2-40B4-BE49-F238E27FC236}">
                <a16:creationId xmlns:a16="http://schemas.microsoft.com/office/drawing/2014/main" id="{0D632F2A-1D3C-4667-95AB-87802094B62B}"/>
              </a:ext>
            </a:extLst>
          </p:cNvPr>
          <p:cNvSpPr>
            <a:spLocks noGrp="1"/>
          </p:cNvSpPr>
          <p:nvPr/>
        </p:nvSpPr>
        <p:spPr>
          <a:xfrm>
            <a:off x="3651250" y="2114550"/>
            <a:ext cx="1714500" cy="419100"/>
          </a:xfrm>
          <a:prstGeom prst="rect">
            <a:avLst/>
          </a:prstGeom>
          <a:noFill/>
          <a:ln w="0">
            <a:noFill/>
          </a:ln>
        </p:spPr>
        <p:txBody>
          <a:bodyPr lIns="0" tIns="0" rIns="0" bIns="0" anchor="ctr"/>
          <a:lstStyle>
            <a:defPPr algn="ctr">
              <a:defRPr sz="1800" b="1">
                <a:solidFill>
                  <a:srgbClr val="FFFFFF"/>
                </a:solidFill>
                <a:latin typeface="Arial"/>
                <a:ea typeface="Arial"/>
                <a:cs typeface="Arial"/>
              </a:defRPr>
            </a:defPPr>
          </a:lstStyle>
          <a:p>
            <a:pPr algn="ctr">
              <a:defRPr sz="1800" b="1">
                <a:solidFill>
                  <a:srgbClr val="FFFFFF"/>
                </a:solidFill>
                <a:latin typeface="Arial"/>
                <a:ea typeface="Arial"/>
                <a:cs typeface="Arial"/>
              </a:defRPr>
            </a:pPr>
            <a:r>
              <a:rPr sz="1800" b="1">
                <a:solidFill>
                  <a:srgbClr val="FFFFFF"/>
                </a:solidFill>
                <a:latin typeface="Arial"/>
                <a:ea typeface="Arial"/>
                <a:cs typeface="Arial"/>
              </a:rPr>
              <a:t>Gateway</a:t>
            </a:r>
          </a:p>
        </p:txBody>
      </p:sp>
      <p:cxnSp>
        <p:nvCxnSpPr>
          <p:cNvPr id="10" name="Straight Arrow Connector 9">
            <a:extLst>
              <a:ext uri="{FF2B5EF4-FFF2-40B4-BE49-F238E27FC236}">
                <a16:creationId xmlns:a16="http://schemas.microsoft.com/office/drawing/2014/main" id="{575A1726-856E-4541-A180-6F6AC172A798}"/>
              </a:ext>
            </a:extLst>
          </p:cNvPr>
          <p:cNvCxnSpPr/>
          <p:nvPr/>
        </p:nvCxnSpPr>
        <p:spPr>
          <a:xfrm>
            <a:off x="4508500" y="2705100"/>
            <a:ext cx="0" cy="2771775"/>
          </a:xfrm>
          <a:prstGeom prst="straightConnector1">
            <a:avLst/>
          </a:prstGeom>
          <a:ln w="19050">
            <a:solidFill>
              <a:srgbClr val="BE98F6"/>
            </a:solidFill>
            <a:prstDash val="dash"/>
            <a:tailEnd type="none" w="med" len="med"/>
          </a:ln>
        </p:spPr>
      </p:cxnSp>
      <p:sp>
        <p:nvSpPr>
          <p:cNvPr id="11" name="Rectangle 10">
            <a:extLst>
              <a:ext uri="{FF2B5EF4-FFF2-40B4-BE49-F238E27FC236}">
                <a16:creationId xmlns:a16="http://schemas.microsoft.com/office/drawing/2014/main" id="{F6C40B52-CFCF-4FF1-9AAF-5BC0264EC5BD}"/>
              </a:ext>
            </a:extLst>
          </p:cNvPr>
          <p:cNvSpPr>
            <a:spLocks noGrp="1"/>
          </p:cNvSpPr>
          <p:nvPr/>
        </p:nvSpPr>
        <p:spPr>
          <a:xfrm>
            <a:off x="6683375" y="2028825"/>
            <a:ext cx="2000250" cy="590550"/>
          </a:xfrm>
          <a:prstGeom prst="rect">
            <a:avLst/>
          </a:prstGeom>
          <a:solidFill>
            <a:srgbClr val="2A1547"/>
          </a:solidFill>
          <a:ln w="13335">
            <a:solidFill>
              <a:srgbClr val="7D43D5"/>
            </a:solidFill>
          </a:ln>
        </p:spPr>
      </p:sp>
      <p:sp>
        <p:nvSpPr>
          <p:cNvPr id="12" name="Gemini">
            <a:extLst>
              <a:ext uri="{FF2B5EF4-FFF2-40B4-BE49-F238E27FC236}">
                <a16:creationId xmlns:a16="http://schemas.microsoft.com/office/drawing/2014/main" id="{B412D8AA-20F8-48BF-9A4D-D1BB8B25373F}"/>
              </a:ext>
            </a:extLst>
          </p:cNvPr>
          <p:cNvSpPr>
            <a:spLocks noGrp="1"/>
          </p:cNvSpPr>
          <p:nvPr/>
        </p:nvSpPr>
        <p:spPr>
          <a:xfrm>
            <a:off x="6826250" y="2114550"/>
            <a:ext cx="1714500" cy="419100"/>
          </a:xfrm>
          <a:prstGeom prst="rect">
            <a:avLst/>
          </a:prstGeom>
          <a:noFill/>
          <a:ln w="0">
            <a:noFill/>
          </a:ln>
        </p:spPr>
        <p:txBody>
          <a:bodyPr lIns="0" tIns="0" rIns="0" bIns="0" anchor="ctr"/>
          <a:lstStyle>
            <a:defPPr algn="ctr">
              <a:defRPr sz="1800" b="1">
                <a:solidFill>
                  <a:srgbClr val="FFFFFF"/>
                </a:solidFill>
                <a:latin typeface="Arial"/>
                <a:ea typeface="Arial"/>
                <a:cs typeface="Arial"/>
              </a:defRPr>
            </a:defPPr>
          </a:lstStyle>
          <a:p>
            <a:pPr algn="ctr">
              <a:defRPr sz="1800" b="1">
                <a:solidFill>
                  <a:srgbClr val="FFFFFF"/>
                </a:solidFill>
                <a:latin typeface="Arial"/>
                <a:ea typeface="Arial"/>
                <a:cs typeface="Arial"/>
              </a:defRPr>
            </a:pPr>
            <a:r>
              <a:rPr sz="1800" b="1">
                <a:solidFill>
                  <a:srgbClr val="FFFFFF"/>
                </a:solidFill>
                <a:latin typeface="Arial"/>
                <a:ea typeface="Arial"/>
                <a:cs typeface="Arial"/>
              </a:rPr>
              <a:t>Gemini</a:t>
            </a:r>
          </a:p>
        </p:txBody>
      </p:sp>
      <p:cxnSp>
        <p:nvCxnSpPr>
          <p:cNvPr id="13" name="Straight Arrow Connector 12">
            <a:extLst>
              <a:ext uri="{FF2B5EF4-FFF2-40B4-BE49-F238E27FC236}">
                <a16:creationId xmlns:a16="http://schemas.microsoft.com/office/drawing/2014/main" id="{B9CB341A-C2E7-4448-B53D-C38D66980899}"/>
              </a:ext>
            </a:extLst>
          </p:cNvPr>
          <p:cNvCxnSpPr/>
          <p:nvPr/>
        </p:nvCxnSpPr>
        <p:spPr>
          <a:xfrm>
            <a:off x="7683500" y="2705100"/>
            <a:ext cx="0" cy="2771775"/>
          </a:xfrm>
          <a:prstGeom prst="straightConnector1">
            <a:avLst/>
          </a:prstGeom>
          <a:ln w="19050">
            <a:solidFill>
              <a:srgbClr val="BE98F6"/>
            </a:solidFill>
            <a:prstDash val="dash"/>
            <a:tailEnd type="none" w="med" len="med"/>
          </a:ln>
        </p:spPr>
      </p:cxnSp>
      <p:sp>
        <p:nvSpPr>
          <p:cNvPr id="14" name="Rectangle 13">
            <a:extLst>
              <a:ext uri="{FF2B5EF4-FFF2-40B4-BE49-F238E27FC236}">
                <a16:creationId xmlns:a16="http://schemas.microsoft.com/office/drawing/2014/main" id="{74F492B2-987A-415D-9776-6FF3D8F3F9A1}"/>
              </a:ext>
            </a:extLst>
          </p:cNvPr>
          <p:cNvSpPr>
            <a:spLocks noGrp="1"/>
          </p:cNvSpPr>
          <p:nvPr/>
        </p:nvSpPr>
        <p:spPr>
          <a:xfrm>
            <a:off x="9858375" y="2028825"/>
            <a:ext cx="2000250" cy="590550"/>
          </a:xfrm>
          <a:prstGeom prst="rect">
            <a:avLst/>
          </a:prstGeom>
          <a:solidFill>
            <a:srgbClr val="2A1547"/>
          </a:solidFill>
          <a:ln w="13335">
            <a:solidFill>
              <a:srgbClr val="7D43D5"/>
            </a:solidFill>
          </a:ln>
        </p:spPr>
      </p:sp>
      <p:sp>
        <p:nvSpPr>
          <p:cNvPr id="15" name="File tools">
            <a:extLst>
              <a:ext uri="{FF2B5EF4-FFF2-40B4-BE49-F238E27FC236}">
                <a16:creationId xmlns:a16="http://schemas.microsoft.com/office/drawing/2014/main" id="{488BEEED-43DF-46B5-B272-91659F9FBC73}"/>
              </a:ext>
            </a:extLst>
          </p:cNvPr>
          <p:cNvSpPr>
            <a:spLocks noGrp="1"/>
          </p:cNvSpPr>
          <p:nvPr/>
        </p:nvSpPr>
        <p:spPr>
          <a:xfrm>
            <a:off x="10001250" y="2114550"/>
            <a:ext cx="1714500" cy="419100"/>
          </a:xfrm>
          <a:prstGeom prst="rect">
            <a:avLst/>
          </a:prstGeom>
          <a:noFill/>
          <a:ln w="0">
            <a:noFill/>
          </a:ln>
        </p:spPr>
        <p:txBody>
          <a:bodyPr lIns="0" tIns="0" rIns="0" bIns="0" anchor="ctr"/>
          <a:lstStyle>
            <a:defPPr algn="ctr">
              <a:defRPr sz="1800" b="1">
                <a:solidFill>
                  <a:srgbClr val="FFFFFF"/>
                </a:solidFill>
                <a:latin typeface="Arial"/>
                <a:ea typeface="Arial"/>
                <a:cs typeface="Arial"/>
              </a:defRPr>
            </a:defPPr>
          </a:lstStyle>
          <a:p>
            <a:pPr algn="ctr">
              <a:defRPr sz="1800" b="1">
                <a:solidFill>
                  <a:srgbClr val="FFFFFF"/>
                </a:solidFill>
                <a:latin typeface="Arial"/>
                <a:ea typeface="Arial"/>
                <a:cs typeface="Arial"/>
              </a:defRPr>
            </a:pPr>
            <a:r>
              <a:rPr sz="1800" b="1">
                <a:solidFill>
                  <a:srgbClr val="FFFFFF"/>
                </a:solidFill>
                <a:latin typeface="Arial"/>
                <a:ea typeface="Arial"/>
                <a:cs typeface="Arial"/>
              </a:rPr>
              <a:t>File tools</a:t>
            </a:r>
          </a:p>
        </p:txBody>
      </p:sp>
      <p:cxnSp>
        <p:nvCxnSpPr>
          <p:cNvPr id="16" name="Straight Arrow Connector 15">
            <a:extLst>
              <a:ext uri="{FF2B5EF4-FFF2-40B4-BE49-F238E27FC236}">
                <a16:creationId xmlns:a16="http://schemas.microsoft.com/office/drawing/2014/main" id="{5F8966DC-66A9-4F05-8E4F-9207FB5717CC}"/>
              </a:ext>
            </a:extLst>
          </p:cNvPr>
          <p:cNvCxnSpPr/>
          <p:nvPr/>
        </p:nvCxnSpPr>
        <p:spPr>
          <a:xfrm>
            <a:off x="10858500" y="2705100"/>
            <a:ext cx="0" cy="2771775"/>
          </a:xfrm>
          <a:prstGeom prst="straightConnector1">
            <a:avLst/>
          </a:prstGeom>
          <a:ln w="19050">
            <a:solidFill>
              <a:srgbClr val="BE98F6"/>
            </a:solidFill>
            <a:prstDash val="dash"/>
            <a:tailEnd type="none" w="med" len="med"/>
          </a:ln>
        </p:spPr>
      </p:cxnSp>
      <p:cxnSp>
        <p:nvCxnSpPr>
          <p:cNvPr id="17" name="Straight Arrow Connector 16">
            <a:extLst>
              <a:ext uri="{FF2B5EF4-FFF2-40B4-BE49-F238E27FC236}">
                <a16:creationId xmlns:a16="http://schemas.microsoft.com/office/drawing/2014/main" id="{22C5A59D-FB1B-4074-A33C-75869B3F9D0E}"/>
              </a:ext>
            </a:extLst>
          </p:cNvPr>
          <p:cNvCxnSpPr/>
          <p:nvPr/>
        </p:nvCxnSpPr>
        <p:spPr>
          <a:xfrm>
            <a:off x="1333500" y="3028950"/>
            <a:ext cx="3175000" cy="0"/>
          </a:xfrm>
          <a:prstGeom prst="straightConnector1">
            <a:avLst/>
          </a:prstGeom>
          <a:ln w="19050">
            <a:solidFill>
              <a:srgbClr val="BE98F6"/>
            </a:solidFill>
            <a:prstDash val="solid"/>
            <a:tailEnd type="triangle" w="med" len="med"/>
          </a:ln>
        </p:spPr>
      </p:cxnSp>
      <p:sp>
        <p:nvSpPr>
          <p:cNvPr id="18" name="Request + allowed tool schema">
            <a:extLst>
              <a:ext uri="{FF2B5EF4-FFF2-40B4-BE49-F238E27FC236}">
                <a16:creationId xmlns:a16="http://schemas.microsoft.com/office/drawing/2014/main" id="{CDFF1B5F-EC52-4FCA-9EBF-3FC6E803FAB5}"/>
              </a:ext>
            </a:extLst>
          </p:cNvPr>
          <p:cNvSpPr>
            <a:spLocks noGrp="1"/>
          </p:cNvSpPr>
          <p:nvPr/>
        </p:nvSpPr>
        <p:spPr>
          <a:xfrm>
            <a:off x="1457325" y="2752725"/>
            <a:ext cx="2927350" cy="257175"/>
          </a:xfrm>
          <a:prstGeom prst="rect">
            <a:avLst/>
          </a:prstGeom>
          <a:noFill/>
          <a:ln w="0">
            <a:noFill/>
          </a:ln>
        </p:spPr>
        <p:txBody>
          <a:bodyPr lIns="0" tIns="0" rIns="0" bIns="0" anchor="ctr"/>
          <a:lstStyle>
            <a:defPPr algn="l">
              <a:defRPr sz="1425" b="0">
                <a:solidFill>
                  <a:srgbClr val="FFFFFF"/>
                </a:solidFill>
                <a:latin typeface="Arial"/>
                <a:ea typeface="Arial"/>
                <a:cs typeface="Arial"/>
              </a:defRPr>
            </a:defPPr>
          </a:lstStyle>
          <a:p>
            <a:pPr algn="l">
              <a:defRPr sz="1425" b="0">
                <a:solidFill>
                  <a:srgbClr val="FFFFFF"/>
                </a:solidFill>
                <a:latin typeface="Arial"/>
                <a:ea typeface="Arial"/>
                <a:cs typeface="Arial"/>
              </a:defRPr>
            </a:pPr>
            <a:r>
              <a:rPr sz="1425" b="0">
                <a:solidFill>
                  <a:srgbClr val="FFFFFF"/>
                </a:solidFill>
                <a:latin typeface="Arial"/>
                <a:ea typeface="Arial"/>
                <a:cs typeface="Arial"/>
              </a:rPr>
              <a:t>Request + allowed tool schema</a:t>
            </a:r>
          </a:p>
        </p:txBody>
      </p:sp>
      <p:cxnSp>
        <p:nvCxnSpPr>
          <p:cNvPr id="19" name="Straight Arrow Connector 18">
            <a:extLst>
              <a:ext uri="{FF2B5EF4-FFF2-40B4-BE49-F238E27FC236}">
                <a16:creationId xmlns:a16="http://schemas.microsoft.com/office/drawing/2014/main" id="{ECDDD975-28B2-4756-AD1D-EDF5EABF065E}"/>
              </a:ext>
            </a:extLst>
          </p:cNvPr>
          <p:cNvCxnSpPr/>
          <p:nvPr/>
        </p:nvCxnSpPr>
        <p:spPr>
          <a:xfrm>
            <a:off x="4508500" y="3350419"/>
            <a:ext cx="3175000" cy="0"/>
          </a:xfrm>
          <a:prstGeom prst="straightConnector1">
            <a:avLst/>
          </a:prstGeom>
          <a:ln w="19050">
            <a:solidFill>
              <a:srgbClr val="BE98F6"/>
            </a:solidFill>
            <a:prstDash val="solid"/>
            <a:tailEnd type="triangle" w="med" len="med"/>
          </a:ln>
        </p:spPr>
      </p:cxnSp>
      <p:sp>
        <p:nvSpPr>
          <p:cNvPr id="20" name="Send model request">
            <a:extLst>
              <a:ext uri="{FF2B5EF4-FFF2-40B4-BE49-F238E27FC236}">
                <a16:creationId xmlns:a16="http://schemas.microsoft.com/office/drawing/2014/main" id="{FF062362-A378-4E07-A3C4-70D369A8804E}"/>
              </a:ext>
            </a:extLst>
          </p:cNvPr>
          <p:cNvSpPr>
            <a:spLocks noGrp="1"/>
          </p:cNvSpPr>
          <p:nvPr/>
        </p:nvSpPr>
        <p:spPr>
          <a:xfrm>
            <a:off x="4632325" y="3074194"/>
            <a:ext cx="2927350" cy="257175"/>
          </a:xfrm>
          <a:prstGeom prst="rect">
            <a:avLst/>
          </a:prstGeom>
          <a:noFill/>
          <a:ln w="0">
            <a:noFill/>
          </a:ln>
        </p:spPr>
        <p:txBody>
          <a:bodyPr lIns="0" tIns="0" rIns="0" bIns="0" anchor="ctr"/>
          <a:lstStyle>
            <a:defPPr algn="l">
              <a:defRPr sz="1425" b="0">
                <a:solidFill>
                  <a:srgbClr val="FFFFFF"/>
                </a:solidFill>
                <a:latin typeface="Arial"/>
                <a:ea typeface="Arial"/>
                <a:cs typeface="Arial"/>
              </a:defRPr>
            </a:defPPr>
          </a:lstStyle>
          <a:p>
            <a:pPr algn="l">
              <a:defRPr sz="1425" b="0">
                <a:solidFill>
                  <a:srgbClr val="FFFFFF"/>
                </a:solidFill>
                <a:latin typeface="Arial"/>
                <a:ea typeface="Arial"/>
                <a:cs typeface="Arial"/>
              </a:defRPr>
            </a:pPr>
            <a:r>
              <a:rPr sz="1425" b="0">
                <a:solidFill>
                  <a:srgbClr val="FFFFFF"/>
                </a:solidFill>
                <a:latin typeface="Arial"/>
                <a:ea typeface="Arial"/>
                <a:cs typeface="Arial"/>
              </a:rPr>
              <a:t>Send model request</a:t>
            </a:r>
          </a:p>
        </p:txBody>
      </p:sp>
      <p:cxnSp>
        <p:nvCxnSpPr>
          <p:cNvPr id="21" name="Straight Arrow Connector 20">
            <a:extLst>
              <a:ext uri="{FF2B5EF4-FFF2-40B4-BE49-F238E27FC236}">
                <a16:creationId xmlns:a16="http://schemas.microsoft.com/office/drawing/2014/main" id="{39B7835A-4E90-4D96-86DB-DA81130B3C4E}"/>
              </a:ext>
            </a:extLst>
          </p:cNvPr>
          <p:cNvCxnSpPr/>
          <p:nvPr/>
        </p:nvCxnSpPr>
        <p:spPr>
          <a:xfrm flipH="1">
            <a:off x="4508500" y="3671888"/>
            <a:ext cx="3175000" cy="0"/>
          </a:xfrm>
          <a:prstGeom prst="straightConnector1">
            <a:avLst/>
          </a:prstGeom>
          <a:ln w="19050">
            <a:solidFill>
              <a:srgbClr val="BE98F6"/>
            </a:solidFill>
            <a:prstDash val="solid"/>
            <a:tailEnd type="triangle" w="med" len="med"/>
          </a:ln>
        </p:spPr>
      </p:cxnSp>
      <p:sp>
        <p:nvSpPr>
          <p:cNvPr id="22" name="Function name + arguments">
            <a:extLst>
              <a:ext uri="{FF2B5EF4-FFF2-40B4-BE49-F238E27FC236}">
                <a16:creationId xmlns:a16="http://schemas.microsoft.com/office/drawing/2014/main" id="{1FC797E5-5B00-4137-9EEE-381C6AC18866}"/>
              </a:ext>
            </a:extLst>
          </p:cNvPr>
          <p:cNvSpPr>
            <a:spLocks noGrp="1"/>
          </p:cNvSpPr>
          <p:nvPr/>
        </p:nvSpPr>
        <p:spPr>
          <a:xfrm>
            <a:off x="4632325" y="3395663"/>
            <a:ext cx="2927350" cy="257175"/>
          </a:xfrm>
          <a:prstGeom prst="rect">
            <a:avLst/>
          </a:prstGeom>
          <a:noFill/>
          <a:ln w="0">
            <a:noFill/>
          </a:ln>
        </p:spPr>
        <p:txBody>
          <a:bodyPr lIns="0" tIns="0" rIns="0" bIns="0" anchor="ctr"/>
          <a:lstStyle>
            <a:defPPr algn="l">
              <a:defRPr sz="1425" b="0">
                <a:solidFill>
                  <a:srgbClr val="FFFFFF"/>
                </a:solidFill>
                <a:latin typeface="Arial"/>
                <a:ea typeface="Arial"/>
                <a:cs typeface="Arial"/>
              </a:defRPr>
            </a:defPPr>
          </a:lstStyle>
          <a:p>
            <a:pPr algn="l">
              <a:defRPr sz="1425" b="0">
                <a:solidFill>
                  <a:srgbClr val="FFFFFF"/>
                </a:solidFill>
                <a:latin typeface="Arial"/>
                <a:ea typeface="Arial"/>
                <a:cs typeface="Arial"/>
              </a:defRPr>
            </a:pPr>
            <a:r>
              <a:rPr sz="1425" b="0">
                <a:solidFill>
                  <a:srgbClr val="FFFFFF"/>
                </a:solidFill>
                <a:latin typeface="Arial"/>
                <a:ea typeface="Arial"/>
                <a:cs typeface="Arial"/>
              </a:rPr>
              <a:t>Function name + arguments</a:t>
            </a:r>
          </a:p>
        </p:txBody>
      </p:sp>
      <p:cxnSp>
        <p:nvCxnSpPr>
          <p:cNvPr id="23" name="Straight Arrow Connector 22">
            <a:extLst>
              <a:ext uri="{FF2B5EF4-FFF2-40B4-BE49-F238E27FC236}">
                <a16:creationId xmlns:a16="http://schemas.microsoft.com/office/drawing/2014/main" id="{82BB98BD-47A0-46CE-9EDA-CE5096E43B13}"/>
              </a:ext>
            </a:extLst>
          </p:cNvPr>
          <p:cNvCxnSpPr/>
          <p:nvPr/>
        </p:nvCxnSpPr>
        <p:spPr>
          <a:xfrm>
            <a:off x="4508500" y="3993356"/>
            <a:ext cx="6350000" cy="0"/>
          </a:xfrm>
          <a:prstGeom prst="straightConnector1">
            <a:avLst/>
          </a:prstGeom>
          <a:ln w="19050">
            <a:solidFill>
              <a:srgbClr val="BE98F6"/>
            </a:solidFill>
            <a:prstDash val="solid"/>
            <a:tailEnd type="triangle" w="med" len="med"/>
          </a:ln>
        </p:spPr>
      </p:cxnSp>
      <p:sp>
        <p:nvSpPr>
          <p:cNvPr id="24" name="Validate and execute through OS">
            <a:extLst>
              <a:ext uri="{FF2B5EF4-FFF2-40B4-BE49-F238E27FC236}">
                <a16:creationId xmlns:a16="http://schemas.microsoft.com/office/drawing/2014/main" id="{1D001930-0B6E-43E2-BAB8-29E4E578C130}"/>
              </a:ext>
            </a:extLst>
          </p:cNvPr>
          <p:cNvSpPr>
            <a:spLocks noGrp="1"/>
          </p:cNvSpPr>
          <p:nvPr/>
        </p:nvSpPr>
        <p:spPr>
          <a:xfrm>
            <a:off x="4632325" y="3717131"/>
            <a:ext cx="6102350" cy="257175"/>
          </a:xfrm>
          <a:prstGeom prst="rect">
            <a:avLst/>
          </a:prstGeom>
          <a:noFill/>
          <a:ln w="0">
            <a:noFill/>
          </a:ln>
        </p:spPr>
        <p:txBody>
          <a:bodyPr lIns="0" tIns="0" rIns="0" bIns="0" anchor="ctr"/>
          <a:lstStyle>
            <a:defPPr algn="l">
              <a:defRPr sz="1425" b="0">
                <a:solidFill>
                  <a:srgbClr val="FFFFFF"/>
                </a:solidFill>
                <a:latin typeface="Arial"/>
                <a:ea typeface="Arial"/>
                <a:cs typeface="Arial"/>
              </a:defRPr>
            </a:defPPr>
          </a:lstStyle>
          <a:p>
            <a:pPr algn="l">
              <a:defRPr sz="1425" b="0">
                <a:solidFill>
                  <a:srgbClr val="FFFFFF"/>
                </a:solidFill>
                <a:latin typeface="Arial"/>
                <a:ea typeface="Arial"/>
                <a:cs typeface="Arial"/>
              </a:defRPr>
            </a:pPr>
            <a:r>
              <a:rPr sz="1425" b="0">
                <a:solidFill>
                  <a:srgbClr val="FFFFFF"/>
                </a:solidFill>
                <a:latin typeface="Arial"/>
                <a:ea typeface="Arial"/>
                <a:cs typeface="Arial"/>
              </a:rPr>
              <a:t>Validate and execute through OS</a:t>
            </a:r>
          </a:p>
        </p:txBody>
      </p:sp>
      <p:cxnSp>
        <p:nvCxnSpPr>
          <p:cNvPr id="25" name="Straight Arrow Connector 24">
            <a:extLst>
              <a:ext uri="{FF2B5EF4-FFF2-40B4-BE49-F238E27FC236}">
                <a16:creationId xmlns:a16="http://schemas.microsoft.com/office/drawing/2014/main" id="{2924CE9E-27C5-40EB-8090-24C357BC4733}"/>
              </a:ext>
            </a:extLst>
          </p:cNvPr>
          <p:cNvCxnSpPr/>
          <p:nvPr/>
        </p:nvCxnSpPr>
        <p:spPr>
          <a:xfrm flipH="1">
            <a:off x="4508500" y="4314825"/>
            <a:ext cx="6350000" cy="0"/>
          </a:xfrm>
          <a:prstGeom prst="straightConnector1">
            <a:avLst/>
          </a:prstGeom>
          <a:ln w="19050">
            <a:solidFill>
              <a:srgbClr val="BE98F6"/>
            </a:solidFill>
            <a:prstDash val="solid"/>
            <a:tailEnd type="triangle" w="med" len="med"/>
          </a:ln>
        </p:spPr>
      </p:cxnSp>
      <p:sp>
        <p:nvSpPr>
          <p:cNvPr id="26" name="Structured tool result">
            <a:extLst>
              <a:ext uri="{FF2B5EF4-FFF2-40B4-BE49-F238E27FC236}">
                <a16:creationId xmlns:a16="http://schemas.microsoft.com/office/drawing/2014/main" id="{546B5718-08E5-464E-B9F7-8B750DD7A905}"/>
              </a:ext>
            </a:extLst>
          </p:cNvPr>
          <p:cNvSpPr>
            <a:spLocks noGrp="1"/>
          </p:cNvSpPr>
          <p:nvPr/>
        </p:nvSpPr>
        <p:spPr>
          <a:xfrm>
            <a:off x="4632325" y="4038600"/>
            <a:ext cx="6102350" cy="257175"/>
          </a:xfrm>
          <a:prstGeom prst="rect">
            <a:avLst/>
          </a:prstGeom>
          <a:noFill/>
          <a:ln w="0">
            <a:noFill/>
          </a:ln>
        </p:spPr>
        <p:txBody>
          <a:bodyPr lIns="0" tIns="0" rIns="0" bIns="0" anchor="ctr"/>
          <a:lstStyle>
            <a:defPPr algn="l">
              <a:defRPr sz="1425" b="0">
                <a:solidFill>
                  <a:srgbClr val="FFFFFF"/>
                </a:solidFill>
                <a:latin typeface="Arial"/>
                <a:ea typeface="Arial"/>
                <a:cs typeface="Arial"/>
              </a:defRPr>
            </a:defPPr>
          </a:lstStyle>
          <a:p>
            <a:pPr algn="l">
              <a:defRPr sz="1425" b="0">
                <a:solidFill>
                  <a:srgbClr val="FFFFFF"/>
                </a:solidFill>
                <a:latin typeface="Arial"/>
                <a:ea typeface="Arial"/>
                <a:cs typeface="Arial"/>
              </a:defRPr>
            </a:pPr>
            <a:r>
              <a:rPr sz="1425" b="0">
                <a:solidFill>
                  <a:srgbClr val="FFFFFF"/>
                </a:solidFill>
                <a:latin typeface="Arial"/>
                <a:ea typeface="Arial"/>
                <a:cs typeface="Arial"/>
              </a:rPr>
              <a:t>Structured tool result</a:t>
            </a:r>
          </a:p>
        </p:txBody>
      </p:sp>
      <p:cxnSp>
        <p:nvCxnSpPr>
          <p:cNvPr id="27" name="Straight Arrow Connector 26">
            <a:extLst>
              <a:ext uri="{FF2B5EF4-FFF2-40B4-BE49-F238E27FC236}">
                <a16:creationId xmlns:a16="http://schemas.microsoft.com/office/drawing/2014/main" id="{9B7B35A0-6E28-420F-A5EF-2A9980B7EBE2}"/>
              </a:ext>
            </a:extLst>
          </p:cNvPr>
          <p:cNvCxnSpPr/>
          <p:nvPr/>
        </p:nvCxnSpPr>
        <p:spPr>
          <a:xfrm>
            <a:off x="4508500" y="4636294"/>
            <a:ext cx="3175000" cy="0"/>
          </a:xfrm>
          <a:prstGeom prst="straightConnector1">
            <a:avLst/>
          </a:prstGeom>
          <a:ln w="19050">
            <a:solidFill>
              <a:srgbClr val="BE98F6"/>
            </a:solidFill>
            <a:prstDash val="solid"/>
            <a:tailEnd type="triangle" w="med" len="med"/>
          </a:ln>
        </p:spPr>
      </p:cxnSp>
      <p:sp>
        <p:nvSpPr>
          <p:cNvPr id="28" name="Submit tool result">
            <a:extLst>
              <a:ext uri="{FF2B5EF4-FFF2-40B4-BE49-F238E27FC236}">
                <a16:creationId xmlns:a16="http://schemas.microsoft.com/office/drawing/2014/main" id="{AE6119C3-512C-4000-B202-B4DE3D158697}"/>
              </a:ext>
            </a:extLst>
          </p:cNvPr>
          <p:cNvSpPr>
            <a:spLocks noGrp="1"/>
          </p:cNvSpPr>
          <p:nvPr/>
        </p:nvSpPr>
        <p:spPr>
          <a:xfrm>
            <a:off x="4632325" y="4360069"/>
            <a:ext cx="2927350" cy="257175"/>
          </a:xfrm>
          <a:prstGeom prst="rect">
            <a:avLst/>
          </a:prstGeom>
          <a:noFill/>
          <a:ln w="0">
            <a:noFill/>
          </a:ln>
        </p:spPr>
        <p:txBody>
          <a:bodyPr lIns="0" tIns="0" rIns="0" bIns="0" anchor="ctr"/>
          <a:lstStyle>
            <a:defPPr algn="l">
              <a:defRPr sz="1425" b="0">
                <a:solidFill>
                  <a:srgbClr val="FFFFFF"/>
                </a:solidFill>
                <a:latin typeface="Arial"/>
                <a:ea typeface="Arial"/>
                <a:cs typeface="Arial"/>
              </a:defRPr>
            </a:defPPr>
          </a:lstStyle>
          <a:p>
            <a:pPr algn="l">
              <a:defRPr sz="1425" b="0">
                <a:solidFill>
                  <a:srgbClr val="FFFFFF"/>
                </a:solidFill>
                <a:latin typeface="Arial"/>
                <a:ea typeface="Arial"/>
                <a:cs typeface="Arial"/>
              </a:defRPr>
            </a:pPr>
            <a:r>
              <a:rPr sz="1425" b="0">
                <a:solidFill>
                  <a:srgbClr val="FFFFFF"/>
                </a:solidFill>
                <a:latin typeface="Arial"/>
                <a:ea typeface="Arial"/>
                <a:cs typeface="Arial"/>
              </a:rPr>
              <a:t>Submit tool result</a:t>
            </a:r>
          </a:p>
        </p:txBody>
      </p:sp>
      <p:cxnSp>
        <p:nvCxnSpPr>
          <p:cNvPr id="29" name="Straight Arrow Connector 28">
            <a:extLst>
              <a:ext uri="{FF2B5EF4-FFF2-40B4-BE49-F238E27FC236}">
                <a16:creationId xmlns:a16="http://schemas.microsoft.com/office/drawing/2014/main" id="{7B5CD59A-2A3A-4548-B7D9-6483CE27B521}"/>
              </a:ext>
            </a:extLst>
          </p:cNvPr>
          <p:cNvCxnSpPr/>
          <p:nvPr/>
        </p:nvCxnSpPr>
        <p:spPr>
          <a:xfrm flipH="1">
            <a:off x="4508500" y="4957763"/>
            <a:ext cx="3175000" cy="0"/>
          </a:xfrm>
          <a:prstGeom prst="straightConnector1">
            <a:avLst/>
          </a:prstGeom>
          <a:ln w="19050">
            <a:solidFill>
              <a:srgbClr val="BE98F6"/>
            </a:solidFill>
            <a:prstDash val="solid"/>
            <a:tailEnd type="triangle" w="med" len="med"/>
          </a:ln>
        </p:spPr>
      </p:cxnSp>
      <p:sp>
        <p:nvSpPr>
          <p:cNvPr id="30" name="Final response">
            <a:extLst>
              <a:ext uri="{FF2B5EF4-FFF2-40B4-BE49-F238E27FC236}">
                <a16:creationId xmlns:a16="http://schemas.microsoft.com/office/drawing/2014/main" id="{1AF8F754-B7C1-46D0-9FF2-615F8A1A14F7}"/>
              </a:ext>
            </a:extLst>
          </p:cNvPr>
          <p:cNvSpPr>
            <a:spLocks noGrp="1"/>
          </p:cNvSpPr>
          <p:nvPr/>
        </p:nvSpPr>
        <p:spPr>
          <a:xfrm>
            <a:off x="4632325" y="4681538"/>
            <a:ext cx="2927350" cy="257175"/>
          </a:xfrm>
          <a:prstGeom prst="rect">
            <a:avLst/>
          </a:prstGeom>
          <a:noFill/>
          <a:ln w="0">
            <a:noFill/>
          </a:ln>
        </p:spPr>
        <p:txBody>
          <a:bodyPr lIns="0" tIns="0" rIns="0" bIns="0" anchor="ctr"/>
          <a:lstStyle>
            <a:defPPr algn="l">
              <a:defRPr sz="1425" b="0">
                <a:solidFill>
                  <a:srgbClr val="FFFFFF"/>
                </a:solidFill>
                <a:latin typeface="Arial"/>
                <a:ea typeface="Arial"/>
                <a:cs typeface="Arial"/>
              </a:defRPr>
            </a:defPPr>
          </a:lstStyle>
          <a:p>
            <a:pPr algn="l">
              <a:defRPr sz="1425" b="0">
                <a:solidFill>
                  <a:srgbClr val="FFFFFF"/>
                </a:solidFill>
                <a:latin typeface="Arial"/>
                <a:ea typeface="Arial"/>
                <a:cs typeface="Arial"/>
              </a:defRPr>
            </a:pPr>
            <a:r>
              <a:rPr sz="1425" b="0">
                <a:solidFill>
                  <a:srgbClr val="FFFFFF"/>
                </a:solidFill>
                <a:latin typeface="Arial"/>
                <a:ea typeface="Arial"/>
                <a:cs typeface="Arial"/>
              </a:rPr>
              <a:t>Final response</a:t>
            </a:r>
          </a:p>
        </p:txBody>
      </p:sp>
      <p:cxnSp>
        <p:nvCxnSpPr>
          <p:cNvPr id="31" name="Straight Arrow Connector 30">
            <a:extLst>
              <a:ext uri="{FF2B5EF4-FFF2-40B4-BE49-F238E27FC236}">
                <a16:creationId xmlns:a16="http://schemas.microsoft.com/office/drawing/2014/main" id="{0818EEA4-0164-4638-8346-78F35277327C}"/>
              </a:ext>
            </a:extLst>
          </p:cNvPr>
          <p:cNvCxnSpPr/>
          <p:nvPr/>
        </p:nvCxnSpPr>
        <p:spPr>
          <a:xfrm flipH="1">
            <a:off x="1333500" y="5279231"/>
            <a:ext cx="3175000" cy="0"/>
          </a:xfrm>
          <a:prstGeom prst="straightConnector1">
            <a:avLst/>
          </a:prstGeom>
          <a:ln w="19050">
            <a:solidFill>
              <a:srgbClr val="BE98F6"/>
            </a:solidFill>
            <a:prstDash val="solid"/>
            <a:tailEnd type="triangle" w="med" len="med"/>
          </a:ln>
        </p:spPr>
      </p:cxnSp>
      <p:sp>
        <p:nvSpPr>
          <p:cNvPr id="32" name="Return final result">
            <a:extLst>
              <a:ext uri="{FF2B5EF4-FFF2-40B4-BE49-F238E27FC236}">
                <a16:creationId xmlns:a16="http://schemas.microsoft.com/office/drawing/2014/main" id="{69DCBF17-21BF-4EEB-A652-400F11D92C4C}"/>
              </a:ext>
            </a:extLst>
          </p:cNvPr>
          <p:cNvSpPr>
            <a:spLocks noGrp="1"/>
          </p:cNvSpPr>
          <p:nvPr/>
        </p:nvSpPr>
        <p:spPr>
          <a:xfrm>
            <a:off x="1457325" y="5003006"/>
            <a:ext cx="2927350" cy="257175"/>
          </a:xfrm>
          <a:prstGeom prst="rect">
            <a:avLst/>
          </a:prstGeom>
          <a:noFill/>
          <a:ln w="0">
            <a:noFill/>
          </a:ln>
        </p:spPr>
        <p:txBody>
          <a:bodyPr lIns="0" tIns="0" rIns="0" bIns="0" anchor="ctr"/>
          <a:lstStyle>
            <a:defPPr algn="l">
              <a:defRPr sz="1425" b="0">
                <a:solidFill>
                  <a:srgbClr val="FFFFFF"/>
                </a:solidFill>
                <a:latin typeface="Arial"/>
                <a:ea typeface="Arial"/>
                <a:cs typeface="Arial"/>
              </a:defRPr>
            </a:defPPr>
          </a:lstStyle>
          <a:p>
            <a:pPr algn="l">
              <a:defRPr sz="1425" b="0">
                <a:solidFill>
                  <a:srgbClr val="FFFFFF"/>
                </a:solidFill>
                <a:latin typeface="Arial"/>
                <a:ea typeface="Arial"/>
                <a:cs typeface="Arial"/>
              </a:defRPr>
            </a:pPr>
            <a:r>
              <a:rPr sz="1425" b="0">
                <a:solidFill>
                  <a:srgbClr val="FFFFFF"/>
                </a:solidFill>
                <a:latin typeface="Arial"/>
                <a:ea typeface="Arial"/>
                <a:cs typeface="Arial"/>
              </a:rPr>
              <a:t>Return final result</a:t>
            </a:r>
          </a:p>
        </p:txBody>
      </p:sp>
      <p:sp>
        <p:nvSpPr>
          <p:cNvPr id="33" name="The model proposes a tool call. The runtime ">
            <a:extLst>
              <a:ext uri="{FF2B5EF4-FFF2-40B4-BE49-F238E27FC236}">
                <a16:creationId xmlns:a16="http://schemas.microsoft.com/office/drawing/2014/main" id="{82ECA062-09CA-425B-9C2D-4183CF3F9C10}"/>
              </a:ext>
            </a:extLst>
          </p:cNvPr>
          <p:cNvSpPr>
            <a:spLocks noGrp="1"/>
          </p:cNvSpPr>
          <p:nvPr/>
        </p:nvSpPr>
        <p:spPr>
          <a:xfrm>
            <a:off x="609600" y="5648325"/>
            <a:ext cx="10972800" cy="504825"/>
          </a:xfrm>
          <a:prstGeom prst="rect">
            <a:avLst/>
          </a:prstGeom>
          <a:noFill/>
          <a:ln w="0">
            <a:noFill/>
          </a:ln>
        </p:spPr>
        <p:txBody>
          <a:bodyPr lIns="0" tIns="0" rIns="0" bIns="0" anchor="ctr"/>
          <a:lstStyle>
            <a:defPPr algn="l">
              <a:defRPr sz="1725" b="0">
                <a:solidFill>
                  <a:srgbClr val="D5C9E6"/>
                </a:solidFill>
                <a:latin typeface="Arial"/>
                <a:ea typeface="Arial"/>
                <a:cs typeface="Arial"/>
              </a:defRPr>
            </a:defPPr>
          </a:lstStyle>
          <a:p>
            <a:pPr algn="l">
              <a:defRPr sz="1725" b="0">
                <a:solidFill>
                  <a:srgbClr val="D5C9E6"/>
                </a:solidFill>
                <a:latin typeface="Arial"/>
                <a:ea typeface="Arial"/>
                <a:cs typeface="Arial"/>
              </a:defRPr>
            </a:pPr>
            <a:r>
              <a:rPr sz="1725" b="0">
                <a:solidFill>
                  <a:srgbClr val="D5C9E6"/>
                </a:solidFill>
                <a:latin typeface="Arial"/>
                <a:ea typeface="Arial"/>
                <a:cs typeface="Arial"/>
              </a:rPr>
              <a:t>The model proposes a tool call. The runtime decides whether to execute it.</a:t>
            </a:r>
          </a:p>
        </p:txBody>
      </p:sp>
    </p:spTree>
    <p:extLst>
      <p:ext uri="{BB962C8B-B14F-4D97-AF65-F5344CB8AC3E}">
        <p14:creationId xmlns:p14="http://schemas.microsoft.com/office/powerpoint/2010/main" val="2368604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180B2B"/>
        </a:solidFill>
        <a:effectLst/>
      </p:bgPr>
    </p:bg>
    <p:spTree>
      <p:nvGrpSpPr>
        <p:cNvPr id="1" name=""/>
        <p:cNvGrpSpPr/>
        <p:nvPr/>
      </p:nvGrpSpPr>
      <p:grpSpPr>
        <a:xfrm>
          <a:off x="0" y="0"/>
          <a:ext cx="0" cy="0"/>
          <a:chOff x="0" y="0"/>
          <a:chExt cx="0" cy="0"/>
        </a:xfrm>
      </p:grpSpPr>
      <p:sp>
        <p:nvSpPr>
          <p:cNvPr id="9" name="AGENT ARCHITECTURE">
            <a:extLst>
              <a:ext uri="{FF2B5EF4-FFF2-40B4-BE49-F238E27FC236}">
                <a16:creationId xmlns:a16="http://schemas.microsoft.com/office/drawing/2014/main" id="{2D4A8F04-C7BA-4992-8A75-B99127BA88A4}"/>
              </a:ext>
            </a:extLst>
          </p:cNvPr>
          <p:cNvSpPr>
            <a:spLocks noGrp="1"/>
          </p:cNvSpPr>
          <p:nvPr/>
        </p:nvSpPr>
        <p:spPr>
          <a:xfrm>
            <a:off x="609600" y="323850"/>
            <a:ext cx="10001250" cy="228600"/>
          </a:xfrm>
          <a:prstGeom prst="rect">
            <a:avLst/>
          </a:prstGeom>
          <a:noFill/>
          <a:ln w="0">
            <a:noFill/>
          </a:ln>
        </p:spPr>
        <p:txBody>
          <a:bodyPr lIns="0" tIns="0" rIns="0" bIns="0" anchor="ctr"/>
          <a:lstStyle>
            <a:defPPr algn="l">
              <a:defRPr sz="1200" b="1">
                <a:solidFill>
                  <a:srgbClr val="BE98F6"/>
                </a:solidFill>
                <a:latin typeface="Arial"/>
                <a:ea typeface="Arial"/>
                <a:cs typeface="Arial"/>
              </a:defRPr>
            </a:defPPr>
          </a:lstStyle>
          <a:p>
            <a:pPr algn="l">
              <a:defRPr sz="1200" b="1">
                <a:solidFill>
                  <a:srgbClr val="BE98F6"/>
                </a:solidFill>
                <a:latin typeface="Arial"/>
                <a:ea typeface="Arial"/>
                <a:cs typeface="Arial"/>
              </a:defRPr>
            </a:pPr>
            <a:r>
              <a:rPr sz="1200" b="1">
                <a:solidFill>
                  <a:srgbClr val="BE98F6"/>
                </a:solidFill>
                <a:latin typeface="Arial"/>
                <a:ea typeface="Arial"/>
                <a:cs typeface="Arial"/>
              </a:rPr>
              <a:t>AGENT ARCHITECTURE</a:t>
            </a:r>
          </a:p>
        </p:txBody>
      </p:sp>
      <p:sp>
        <p:nvSpPr>
          <p:cNvPr id="2" name="A simple agent is a configuration">
            <a:extLst>
              <a:ext uri="{FF2B5EF4-FFF2-40B4-BE49-F238E27FC236}">
                <a16:creationId xmlns:a16="http://schemas.microsoft.com/office/drawing/2014/main" id="{B870EE4A-65FA-4C5B-93E2-D2474F23FD4D}"/>
              </a:ext>
            </a:extLst>
          </p:cNvPr>
          <p:cNvSpPr>
            <a:spLocks noGrp="1"/>
          </p:cNvSpPr>
          <p:nvPr/>
        </p:nvSpPr>
        <p:spPr>
          <a:xfrm>
            <a:off x="609600" y="876300"/>
            <a:ext cx="10972800" cy="952500"/>
          </a:xfrm>
          <a:prstGeom prst="rect">
            <a:avLst/>
          </a:prstGeom>
          <a:noFill/>
          <a:ln w="0">
            <a:noFill/>
          </a:ln>
        </p:spPr>
        <p:txBody>
          <a:bodyPr lIns="0" tIns="0" rIns="0" bIns="0" anchor="ctr"/>
          <a:lstStyle>
            <a:defPPr algn="l">
              <a:defRPr sz="3300" b="1">
                <a:solidFill>
                  <a:srgbClr val="FFFFFF"/>
                </a:solidFill>
                <a:latin typeface="Arial"/>
                <a:ea typeface="Arial"/>
                <a:cs typeface="Arial"/>
              </a:defRPr>
            </a:defPPr>
          </a:lstStyle>
          <a:p>
            <a:pPr algn="l">
              <a:defRPr sz="3300" b="1">
                <a:solidFill>
                  <a:srgbClr val="FFFFFF"/>
                </a:solidFill>
                <a:latin typeface="Arial"/>
                <a:ea typeface="Arial"/>
                <a:cs typeface="Arial"/>
              </a:defRPr>
            </a:pPr>
            <a:r>
              <a:rPr sz="3300" b="1">
                <a:solidFill>
                  <a:srgbClr val="FFFFFF"/>
                </a:solidFill>
                <a:latin typeface="Arial"/>
                <a:ea typeface="Arial"/>
                <a:cs typeface="Arial"/>
              </a:rPr>
              <a:t>A simple agent is a configuration</a:t>
            </a:r>
          </a:p>
        </p:txBody>
      </p:sp>
      <p:sp>
        <p:nvSpPr>
          <p:cNvPr id="3" name="AGENTIC OS  /  MVP TECHNICAL WALKTHROUGH">
            <a:extLst>
              <a:ext uri="{FF2B5EF4-FFF2-40B4-BE49-F238E27FC236}">
                <a16:creationId xmlns:a16="http://schemas.microsoft.com/office/drawing/2014/main" id="{AB8EB629-3B88-48DB-96C5-0AA86B1AC773}"/>
              </a:ext>
            </a:extLst>
          </p:cNvPr>
          <p:cNvSpPr>
            <a:spLocks noGrp="1"/>
          </p:cNvSpPr>
          <p:nvPr/>
        </p:nvSpPr>
        <p:spPr>
          <a:xfrm>
            <a:off x="609600" y="6410325"/>
            <a:ext cx="10001250" cy="190500"/>
          </a:xfrm>
          <a:prstGeom prst="rect">
            <a:avLst/>
          </a:prstGeom>
          <a:noFill/>
          <a:ln w="0">
            <a:noFill/>
          </a:ln>
        </p:spPr>
        <p:txBody>
          <a:bodyPr lIns="0" tIns="0" rIns="0" bIns="0" anchor="ctr"/>
          <a:lstStyle>
            <a:defPPr algn="l">
              <a:defRPr sz="975" b="0">
                <a:solidFill>
                  <a:srgbClr val="D5C9E6"/>
                </a:solidFill>
                <a:latin typeface="Arial"/>
                <a:ea typeface="Arial"/>
                <a:cs typeface="Arial"/>
              </a:defRPr>
            </a:defPPr>
          </a:lstStyle>
          <a:p>
            <a:pPr algn="l">
              <a:defRPr sz="975" b="0">
                <a:solidFill>
                  <a:srgbClr val="D5C9E6"/>
                </a:solidFill>
                <a:latin typeface="Arial"/>
                <a:ea typeface="Arial"/>
                <a:cs typeface="Arial"/>
              </a:defRPr>
            </a:pPr>
            <a:r>
              <a:rPr sz="975" b="0">
                <a:solidFill>
                  <a:srgbClr val="D5C9E6"/>
                </a:solidFill>
                <a:latin typeface="Arial"/>
                <a:ea typeface="Arial"/>
                <a:cs typeface="Arial"/>
              </a:rPr>
              <a:t>AGENTIC OS  /  MVP TECHNICAL WALKTHROUGH</a:t>
            </a:r>
          </a:p>
        </p:txBody>
      </p:sp>
      <p:sp>
        <p:nvSpPr>
          <p:cNvPr id="4" name="24">
            <a:extLst>
              <a:ext uri="{FF2B5EF4-FFF2-40B4-BE49-F238E27FC236}">
                <a16:creationId xmlns:a16="http://schemas.microsoft.com/office/drawing/2014/main" id="{2BEC934E-DD9F-4E70-BCB2-17E3E8ACF477}"/>
              </a:ext>
            </a:extLst>
          </p:cNvPr>
          <p:cNvSpPr>
            <a:spLocks noGrp="1"/>
          </p:cNvSpPr>
          <p:nvPr/>
        </p:nvSpPr>
        <p:spPr>
          <a:xfrm>
            <a:off x="11029950" y="6372225"/>
            <a:ext cx="552450" cy="247650"/>
          </a:xfrm>
          <a:prstGeom prst="rect">
            <a:avLst/>
          </a:prstGeom>
          <a:noFill/>
          <a:ln w="0">
            <a:noFill/>
          </a:ln>
        </p:spPr>
        <p:txBody>
          <a:bodyPr lIns="0" tIns="0" rIns="0" bIns="0" anchor="ctr"/>
          <a:lstStyle>
            <a:defPPr algn="r">
              <a:defRPr sz="1275" b="0">
                <a:solidFill>
                  <a:srgbClr val="BE98F6"/>
                </a:solidFill>
                <a:latin typeface="Arial"/>
                <a:ea typeface="Arial"/>
                <a:cs typeface="Arial"/>
              </a:defRPr>
            </a:defPPr>
          </a:lstStyle>
          <a:p>
            <a:pPr algn="r">
              <a:defRPr sz="1275" b="0">
                <a:solidFill>
                  <a:srgbClr val="BE98F6"/>
                </a:solidFill>
                <a:latin typeface="Arial"/>
                <a:ea typeface="Arial"/>
                <a:cs typeface="Arial"/>
              </a:defRPr>
            </a:pPr>
            <a:r>
              <a:rPr sz="1275" b="0">
                <a:solidFill>
                  <a:srgbClr val="BE98F6"/>
                </a:solidFill>
                <a:latin typeface="Arial"/>
                <a:ea typeface="Arial"/>
                <a:cs typeface="Arial"/>
              </a:rPr>
              <a:t>24</a:t>
            </a:r>
          </a:p>
        </p:txBody>
      </p:sp>
      <p:sp>
        <p:nvSpPr>
          <p:cNvPr id="5" name="Rectangle 4">
            <a:extLst>
              <a:ext uri="{FF2B5EF4-FFF2-40B4-BE49-F238E27FC236}">
                <a16:creationId xmlns:a16="http://schemas.microsoft.com/office/drawing/2014/main" id="{F9F272DD-20D2-4C12-8641-13F2657CC6E9}"/>
              </a:ext>
            </a:extLst>
          </p:cNvPr>
          <p:cNvSpPr>
            <a:spLocks noGrp="1"/>
          </p:cNvSpPr>
          <p:nvPr/>
        </p:nvSpPr>
        <p:spPr>
          <a:xfrm>
            <a:off x="609600" y="2105025"/>
            <a:ext cx="6800850" cy="3105150"/>
          </a:xfrm>
          <a:prstGeom prst="rect">
            <a:avLst/>
          </a:prstGeom>
          <a:solidFill>
            <a:srgbClr val="10071D"/>
          </a:solidFill>
          <a:ln w="13335">
            <a:solidFill>
              <a:srgbClr val="5D377E"/>
            </a:solidFill>
          </a:ln>
        </p:spPr>
      </p:sp>
      <p:sp>
        <p:nvSpPr>
          <p:cNvPr id="6" name="name: notes-helper&#10;purpose: maintain short p">
            <a:extLst>
              <a:ext uri="{FF2B5EF4-FFF2-40B4-BE49-F238E27FC236}">
                <a16:creationId xmlns:a16="http://schemas.microsoft.com/office/drawing/2014/main" id="{E58C06E0-FAAE-4857-BD48-0FDFA69FF31E}"/>
              </a:ext>
            </a:extLst>
          </p:cNvPr>
          <p:cNvSpPr>
            <a:spLocks noGrp="1"/>
          </p:cNvSpPr>
          <p:nvPr/>
        </p:nvSpPr>
        <p:spPr>
          <a:xfrm>
            <a:off x="857250" y="2276475"/>
            <a:ext cx="6305550" cy="2762250"/>
          </a:xfrm>
          <a:prstGeom prst="rect">
            <a:avLst/>
          </a:prstGeom>
          <a:noFill/>
          <a:ln w="0">
            <a:noFill/>
          </a:ln>
        </p:spPr>
        <p:txBody>
          <a:bodyPr lIns="0" tIns="0" rIns="0" bIns="0" anchor="ctr"/>
          <a:lstStyle>
            <a:defPPr algn="l">
              <a:defRPr sz="1875" b="0">
                <a:solidFill>
                  <a:srgbClr val="FFFFFF"/>
                </a:solidFill>
                <a:latin typeface="Courier New"/>
                <a:ea typeface="Courier New"/>
                <a:cs typeface="Courier New"/>
              </a:defRPr>
            </a:defPPr>
          </a:lstStyle>
          <a:p>
            <a:pPr algn="l">
              <a:defRPr sz="1875" b="0">
                <a:solidFill>
                  <a:srgbClr val="FFFFFF"/>
                </a:solidFill>
                <a:latin typeface="Courier New"/>
                <a:ea typeface="Courier New"/>
                <a:cs typeface="Courier New"/>
              </a:defRPr>
            </a:pPr>
            <a:r>
              <a:rPr sz="1875" b="0">
                <a:solidFill>
                  <a:srgbClr val="FFFFFF"/>
                </a:solidFill>
                <a:latin typeface="Courier New"/>
                <a:ea typeface="Courier New"/>
                <a:cs typeface="Courier New"/>
              </a:rPr>
              <a:t>name: notes-helper</a:t>
            </a:r>
          </a:p>
          <a:p>
            <a:pPr algn="l">
              <a:defRPr sz="1875" b="0">
                <a:solidFill>
                  <a:srgbClr val="FFFFFF"/>
                </a:solidFill>
                <a:latin typeface="Courier New"/>
                <a:ea typeface="Courier New"/>
                <a:cs typeface="Courier New"/>
              </a:defRPr>
            </a:pPr>
            <a:r>
              <a:rPr sz="1875" b="0">
                <a:solidFill>
                  <a:srgbClr val="FFFFFF"/>
                </a:solidFill>
                <a:latin typeface="Courier New"/>
                <a:ea typeface="Courier New"/>
                <a:cs typeface="Courier New"/>
              </a:rPr>
              <a:t>purpose: maintain short project notes</a:t>
            </a:r>
          </a:p>
          <a:p>
            <a:pPr algn="l">
              <a:defRPr sz="1875" b="0">
                <a:solidFill>
                  <a:srgbClr val="FFFFFF"/>
                </a:solidFill>
                <a:latin typeface="Courier New"/>
                <a:ea typeface="Courier New"/>
                <a:cs typeface="Courier New"/>
              </a:defRPr>
            </a:pPr>
            <a:r>
              <a:rPr sz="1875" b="0">
                <a:solidFill>
                  <a:srgbClr val="FFFFFF"/>
                </a:solidFill>
                <a:latin typeface="Courier New"/>
                <a:ea typeface="Courier New"/>
                <a:cs typeface="Courier New"/>
              </a:rPr>
              <a:t>tools: file.read, file.update, file.list</a:t>
            </a:r>
          </a:p>
          <a:p>
            <a:pPr algn="l">
              <a:defRPr sz="1875" b="0">
                <a:solidFill>
                  <a:srgbClr val="FFFFFF"/>
                </a:solidFill>
                <a:latin typeface="Courier New"/>
                <a:ea typeface="Courier New"/>
                <a:cs typeface="Courier New"/>
              </a:defRPr>
            </a:pPr>
            <a:r>
              <a:rPr sz="1875" b="0">
                <a:solidFill>
                  <a:srgbClr val="FFFFFF"/>
                </a:solidFill>
                <a:latin typeface="Courier New"/>
                <a:ea typeface="Courier New"/>
                <a:cs typeface="Courier New"/>
              </a:rPr>
              <a:t>root: /notes</a:t>
            </a:r>
          </a:p>
          <a:p>
            <a:pPr algn="l">
              <a:defRPr sz="1875" b="0">
                <a:solidFill>
                  <a:srgbClr val="FFFFFF"/>
                </a:solidFill>
                <a:latin typeface="Courier New"/>
                <a:ea typeface="Courier New"/>
                <a:cs typeface="Courier New"/>
              </a:defRPr>
            </a:pPr>
            <a:r>
              <a:rPr sz="1875" b="0">
                <a:solidFill>
                  <a:srgbClr val="FFFFFF"/>
                </a:solidFill>
                <a:latin typeface="Courier New"/>
                <a:ea typeface="Courier New"/>
                <a:cs typeface="Courier New"/>
              </a:rPr>
              <a:t>max_steps: 4</a:t>
            </a:r>
          </a:p>
        </p:txBody>
      </p:sp>
      <p:sp>
        <p:nvSpPr>
          <p:cNvPr id="7" name="One purpose&#10;A small tool set&#10;An explicit fil">
            <a:extLst>
              <a:ext uri="{FF2B5EF4-FFF2-40B4-BE49-F238E27FC236}">
                <a16:creationId xmlns:a16="http://schemas.microsoft.com/office/drawing/2014/main" id="{B4E75C8F-ABDC-43FC-89E2-9D50A8F5AB69}"/>
              </a:ext>
            </a:extLst>
          </p:cNvPr>
          <p:cNvSpPr>
            <a:spLocks noGrp="1"/>
          </p:cNvSpPr>
          <p:nvPr/>
        </p:nvSpPr>
        <p:spPr>
          <a:xfrm>
            <a:off x="8067675" y="2466975"/>
            <a:ext cx="3476625" cy="2047875"/>
          </a:xfrm>
          <a:prstGeom prst="rect">
            <a:avLst/>
          </a:prstGeom>
          <a:noFill/>
          <a:ln w="0">
            <a:noFill/>
          </a:ln>
        </p:spPr>
        <p:txBody>
          <a:bodyPr lIns="0" tIns="0" rIns="0" bIns="0" anchor="ctr"/>
          <a:lstStyle>
            <a:defPPr algn="l">
              <a:defRPr sz="2250" b="1">
                <a:solidFill>
                  <a:srgbClr val="BE98F6"/>
                </a:solidFill>
                <a:latin typeface="Arial"/>
                <a:ea typeface="Arial"/>
                <a:cs typeface="Arial"/>
              </a:defRPr>
            </a:defPPr>
          </a:lstStyle>
          <a:p>
            <a:pPr algn="l">
              <a:defRPr sz="2250" b="1">
                <a:solidFill>
                  <a:srgbClr val="BE98F6"/>
                </a:solidFill>
                <a:latin typeface="Arial"/>
                <a:ea typeface="Arial"/>
                <a:cs typeface="Arial"/>
              </a:defRPr>
            </a:pPr>
            <a:r>
              <a:rPr sz="2250" b="1">
                <a:solidFill>
                  <a:srgbClr val="BE98F6"/>
                </a:solidFill>
                <a:latin typeface="Arial"/>
                <a:ea typeface="Arial"/>
                <a:cs typeface="Arial"/>
              </a:rPr>
              <a:t>One purpose</a:t>
            </a:r>
          </a:p>
          <a:p>
            <a:pPr algn="l">
              <a:defRPr sz="2250" b="1">
                <a:solidFill>
                  <a:srgbClr val="BE98F6"/>
                </a:solidFill>
                <a:latin typeface="Arial"/>
                <a:ea typeface="Arial"/>
                <a:cs typeface="Arial"/>
              </a:defRPr>
            </a:pPr>
            <a:r>
              <a:rPr sz="2250" b="1">
                <a:solidFill>
                  <a:srgbClr val="BE98F6"/>
                </a:solidFill>
                <a:latin typeface="Arial"/>
                <a:ea typeface="Arial"/>
                <a:cs typeface="Arial"/>
              </a:rPr>
              <a:t>A small tool set</a:t>
            </a:r>
          </a:p>
          <a:p>
            <a:pPr algn="l">
              <a:defRPr sz="2250" b="1">
                <a:solidFill>
                  <a:srgbClr val="BE98F6"/>
                </a:solidFill>
                <a:latin typeface="Arial"/>
                <a:ea typeface="Arial"/>
                <a:cs typeface="Arial"/>
              </a:defRPr>
            </a:pPr>
            <a:r>
              <a:rPr sz="2250" b="1">
                <a:solidFill>
                  <a:srgbClr val="BE98F6"/>
                </a:solidFill>
                <a:latin typeface="Arial"/>
                <a:ea typeface="Arial"/>
                <a:cs typeface="Arial"/>
              </a:rPr>
              <a:t>An explicit file scope</a:t>
            </a:r>
          </a:p>
        </p:txBody>
      </p:sp>
      <p:sp>
        <p:nvSpPr>
          <p:cNvPr id="8" name="The main OS agent registers and runs each co">
            <a:extLst>
              <a:ext uri="{FF2B5EF4-FFF2-40B4-BE49-F238E27FC236}">
                <a16:creationId xmlns:a16="http://schemas.microsoft.com/office/drawing/2014/main" id="{1C6DC60B-34F5-4D40-BB49-A60BC4541E93}"/>
              </a:ext>
            </a:extLst>
          </p:cNvPr>
          <p:cNvSpPr>
            <a:spLocks noGrp="1"/>
          </p:cNvSpPr>
          <p:nvPr/>
        </p:nvSpPr>
        <p:spPr>
          <a:xfrm>
            <a:off x="609600" y="5648325"/>
            <a:ext cx="10972800" cy="504825"/>
          </a:xfrm>
          <a:prstGeom prst="rect">
            <a:avLst/>
          </a:prstGeom>
          <a:noFill/>
          <a:ln w="0">
            <a:noFill/>
          </a:ln>
        </p:spPr>
        <p:txBody>
          <a:bodyPr lIns="0" tIns="0" rIns="0" bIns="0" anchor="ctr"/>
          <a:lstStyle>
            <a:defPPr algn="l">
              <a:defRPr sz="1725" b="0">
                <a:solidFill>
                  <a:srgbClr val="D5C9E6"/>
                </a:solidFill>
                <a:latin typeface="Arial"/>
                <a:ea typeface="Arial"/>
                <a:cs typeface="Arial"/>
              </a:defRPr>
            </a:defPPr>
          </a:lstStyle>
          <a:p>
            <a:pPr algn="l">
              <a:defRPr sz="1725" b="0">
                <a:solidFill>
                  <a:srgbClr val="D5C9E6"/>
                </a:solidFill>
                <a:latin typeface="Arial"/>
                <a:ea typeface="Arial"/>
                <a:cs typeface="Arial"/>
              </a:defRPr>
            </a:pPr>
            <a:r>
              <a:rPr sz="1725" b="0">
                <a:solidFill>
                  <a:srgbClr val="D5C9E6"/>
                </a:solidFill>
                <a:latin typeface="Arial"/>
                <a:ea typeface="Arial"/>
                <a:cs typeface="Arial"/>
              </a:rPr>
              <a:t>The main OS agent registers and runs each configuration.</a:t>
            </a:r>
          </a:p>
        </p:txBody>
      </p:sp>
    </p:spTree>
    <p:extLst>
      <p:ext uri="{BB962C8B-B14F-4D97-AF65-F5344CB8AC3E}">
        <p14:creationId xmlns:p14="http://schemas.microsoft.com/office/powerpoint/2010/main" val="73278486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180B2B"/>
        </a:solidFill>
        <a:effectLst/>
      </p:bgPr>
    </p:bg>
    <p:spTree>
      <p:nvGrpSpPr>
        <p:cNvPr id="1" name=""/>
        <p:cNvGrpSpPr/>
        <p:nvPr/>
      </p:nvGrpSpPr>
      <p:grpSpPr>
        <a:xfrm>
          <a:off x="0" y="0"/>
          <a:ext cx="0" cy="0"/>
          <a:chOff x="0" y="0"/>
          <a:chExt cx="0" cy="0"/>
        </a:xfrm>
      </p:grpSpPr>
      <p:sp>
        <p:nvSpPr>
          <p:cNvPr id="30" name="AGENT ARCHITECTURE">
            <a:extLst>
              <a:ext uri="{FF2B5EF4-FFF2-40B4-BE49-F238E27FC236}">
                <a16:creationId xmlns:a16="http://schemas.microsoft.com/office/drawing/2014/main" id="{2B2FC8D6-EB4E-4A8D-8159-03EB17825FCF}"/>
              </a:ext>
            </a:extLst>
          </p:cNvPr>
          <p:cNvSpPr>
            <a:spLocks noGrp="1"/>
          </p:cNvSpPr>
          <p:nvPr/>
        </p:nvSpPr>
        <p:spPr>
          <a:xfrm>
            <a:off x="609600" y="323850"/>
            <a:ext cx="10001250" cy="228600"/>
          </a:xfrm>
          <a:prstGeom prst="rect">
            <a:avLst/>
          </a:prstGeom>
          <a:noFill/>
          <a:ln w="0">
            <a:noFill/>
          </a:ln>
        </p:spPr>
        <p:txBody>
          <a:bodyPr lIns="0" tIns="0" rIns="0" bIns="0" anchor="ctr"/>
          <a:lstStyle>
            <a:defPPr algn="l">
              <a:defRPr sz="1200" b="1">
                <a:solidFill>
                  <a:srgbClr val="BE98F6"/>
                </a:solidFill>
                <a:latin typeface="Arial"/>
                <a:ea typeface="Arial"/>
                <a:cs typeface="Arial"/>
              </a:defRPr>
            </a:defPPr>
          </a:lstStyle>
          <a:p>
            <a:pPr algn="l">
              <a:defRPr sz="1200" b="1">
                <a:solidFill>
                  <a:srgbClr val="BE98F6"/>
                </a:solidFill>
                <a:latin typeface="Arial"/>
                <a:ea typeface="Arial"/>
                <a:cs typeface="Arial"/>
              </a:defRPr>
            </a:pPr>
            <a:r>
              <a:rPr sz="1200" b="1">
                <a:solidFill>
                  <a:srgbClr val="BE98F6"/>
                </a:solidFill>
                <a:latin typeface="Arial"/>
                <a:ea typeface="Arial"/>
                <a:cs typeface="Arial"/>
              </a:rPr>
              <a:t>AGENT ARCHITECTURE</a:t>
            </a:r>
          </a:p>
        </p:txBody>
      </p:sp>
      <p:sp>
        <p:nvSpPr>
          <p:cNvPr id="2" name="Agent creation sequence">
            <a:extLst>
              <a:ext uri="{FF2B5EF4-FFF2-40B4-BE49-F238E27FC236}">
                <a16:creationId xmlns:a16="http://schemas.microsoft.com/office/drawing/2014/main" id="{9FC7715F-049E-4554-8750-144F419CE4D8}"/>
              </a:ext>
            </a:extLst>
          </p:cNvPr>
          <p:cNvSpPr>
            <a:spLocks noGrp="1"/>
          </p:cNvSpPr>
          <p:nvPr/>
        </p:nvSpPr>
        <p:spPr>
          <a:xfrm>
            <a:off x="609600" y="876300"/>
            <a:ext cx="10972800" cy="952500"/>
          </a:xfrm>
          <a:prstGeom prst="rect">
            <a:avLst/>
          </a:prstGeom>
          <a:noFill/>
          <a:ln w="0">
            <a:noFill/>
          </a:ln>
        </p:spPr>
        <p:txBody>
          <a:bodyPr lIns="0" tIns="0" rIns="0" bIns="0" anchor="ctr"/>
          <a:lstStyle>
            <a:defPPr algn="l">
              <a:defRPr sz="3300" b="1">
                <a:solidFill>
                  <a:srgbClr val="FFFFFF"/>
                </a:solidFill>
                <a:latin typeface="Arial"/>
                <a:ea typeface="Arial"/>
                <a:cs typeface="Arial"/>
              </a:defRPr>
            </a:defPPr>
          </a:lstStyle>
          <a:p>
            <a:pPr algn="l">
              <a:defRPr sz="3300" b="1">
                <a:solidFill>
                  <a:srgbClr val="FFFFFF"/>
                </a:solidFill>
                <a:latin typeface="Arial"/>
                <a:ea typeface="Arial"/>
                <a:cs typeface="Arial"/>
              </a:defRPr>
            </a:pPr>
            <a:r>
              <a:rPr sz="3300" b="1">
                <a:solidFill>
                  <a:srgbClr val="FFFFFF"/>
                </a:solidFill>
                <a:latin typeface="Arial"/>
                <a:ea typeface="Arial"/>
                <a:cs typeface="Arial"/>
              </a:rPr>
              <a:t>Agent creation sequence</a:t>
            </a:r>
          </a:p>
        </p:txBody>
      </p:sp>
      <p:sp>
        <p:nvSpPr>
          <p:cNvPr id="3" name="AGENTIC OS  /  MVP TECHNICAL WALKTHROUGH">
            <a:extLst>
              <a:ext uri="{FF2B5EF4-FFF2-40B4-BE49-F238E27FC236}">
                <a16:creationId xmlns:a16="http://schemas.microsoft.com/office/drawing/2014/main" id="{951E8156-F47C-4DA9-8458-6283A2879522}"/>
              </a:ext>
            </a:extLst>
          </p:cNvPr>
          <p:cNvSpPr>
            <a:spLocks noGrp="1"/>
          </p:cNvSpPr>
          <p:nvPr/>
        </p:nvSpPr>
        <p:spPr>
          <a:xfrm>
            <a:off x="609600" y="6410325"/>
            <a:ext cx="10001250" cy="190500"/>
          </a:xfrm>
          <a:prstGeom prst="rect">
            <a:avLst/>
          </a:prstGeom>
          <a:noFill/>
          <a:ln w="0">
            <a:noFill/>
          </a:ln>
        </p:spPr>
        <p:txBody>
          <a:bodyPr lIns="0" tIns="0" rIns="0" bIns="0" anchor="ctr"/>
          <a:lstStyle>
            <a:defPPr algn="l">
              <a:defRPr sz="975" b="0">
                <a:solidFill>
                  <a:srgbClr val="D5C9E6"/>
                </a:solidFill>
                <a:latin typeface="Arial"/>
                <a:ea typeface="Arial"/>
                <a:cs typeface="Arial"/>
              </a:defRPr>
            </a:defPPr>
          </a:lstStyle>
          <a:p>
            <a:pPr algn="l">
              <a:defRPr sz="975" b="0">
                <a:solidFill>
                  <a:srgbClr val="D5C9E6"/>
                </a:solidFill>
                <a:latin typeface="Arial"/>
                <a:ea typeface="Arial"/>
                <a:cs typeface="Arial"/>
              </a:defRPr>
            </a:pPr>
            <a:r>
              <a:rPr sz="975" b="0">
                <a:solidFill>
                  <a:srgbClr val="D5C9E6"/>
                </a:solidFill>
                <a:latin typeface="Arial"/>
                <a:ea typeface="Arial"/>
                <a:cs typeface="Arial"/>
              </a:rPr>
              <a:t>AGENTIC OS  /  MVP TECHNICAL WALKTHROUGH</a:t>
            </a:r>
          </a:p>
        </p:txBody>
      </p:sp>
      <p:sp>
        <p:nvSpPr>
          <p:cNvPr id="4" name="25">
            <a:extLst>
              <a:ext uri="{FF2B5EF4-FFF2-40B4-BE49-F238E27FC236}">
                <a16:creationId xmlns:a16="http://schemas.microsoft.com/office/drawing/2014/main" id="{06B77A81-2FF3-4E18-B83E-97F4AC2BE185}"/>
              </a:ext>
            </a:extLst>
          </p:cNvPr>
          <p:cNvSpPr>
            <a:spLocks noGrp="1"/>
          </p:cNvSpPr>
          <p:nvPr/>
        </p:nvSpPr>
        <p:spPr>
          <a:xfrm>
            <a:off x="11029950" y="6372225"/>
            <a:ext cx="552450" cy="247650"/>
          </a:xfrm>
          <a:prstGeom prst="rect">
            <a:avLst/>
          </a:prstGeom>
          <a:noFill/>
          <a:ln w="0">
            <a:noFill/>
          </a:ln>
        </p:spPr>
        <p:txBody>
          <a:bodyPr lIns="0" tIns="0" rIns="0" bIns="0" anchor="ctr"/>
          <a:lstStyle>
            <a:defPPr algn="r">
              <a:defRPr sz="1275" b="0">
                <a:solidFill>
                  <a:srgbClr val="BE98F6"/>
                </a:solidFill>
                <a:latin typeface="Arial"/>
                <a:ea typeface="Arial"/>
                <a:cs typeface="Arial"/>
              </a:defRPr>
            </a:defPPr>
          </a:lstStyle>
          <a:p>
            <a:pPr algn="r">
              <a:defRPr sz="1275" b="0">
                <a:solidFill>
                  <a:srgbClr val="BE98F6"/>
                </a:solidFill>
                <a:latin typeface="Arial"/>
                <a:ea typeface="Arial"/>
                <a:cs typeface="Arial"/>
              </a:defRPr>
            </a:pPr>
            <a:r>
              <a:rPr sz="1275" b="0">
                <a:solidFill>
                  <a:srgbClr val="BE98F6"/>
                </a:solidFill>
                <a:latin typeface="Arial"/>
                <a:ea typeface="Arial"/>
                <a:cs typeface="Arial"/>
              </a:rPr>
              <a:t>25</a:t>
            </a:r>
          </a:p>
        </p:txBody>
      </p:sp>
      <p:sp>
        <p:nvSpPr>
          <p:cNvPr id="5" name="Rectangle 4">
            <a:extLst>
              <a:ext uri="{FF2B5EF4-FFF2-40B4-BE49-F238E27FC236}">
                <a16:creationId xmlns:a16="http://schemas.microsoft.com/office/drawing/2014/main" id="{4B75A6B2-EA83-42D9-910E-BB54CD1CFD8C}"/>
              </a:ext>
            </a:extLst>
          </p:cNvPr>
          <p:cNvSpPr>
            <a:spLocks noGrp="1"/>
          </p:cNvSpPr>
          <p:nvPr/>
        </p:nvSpPr>
        <p:spPr>
          <a:xfrm>
            <a:off x="333375" y="2028825"/>
            <a:ext cx="2000250" cy="590550"/>
          </a:xfrm>
          <a:prstGeom prst="rect">
            <a:avLst/>
          </a:prstGeom>
          <a:solidFill>
            <a:srgbClr val="2A1547"/>
          </a:solidFill>
          <a:ln w="13335">
            <a:solidFill>
              <a:srgbClr val="7D43D5"/>
            </a:solidFill>
          </a:ln>
        </p:spPr>
      </p:sp>
      <p:sp>
        <p:nvSpPr>
          <p:cNvPr id="6" name="User">
            <a:extLst>
              <a:ext uri="{FF2B5EF4-FFF2-40B4-BE49-F238E27FC236}">
                <a16:creationId xmlns:a16="http://schemas.microsoft.com/office/drawing/2014/main" id="{AC8D9FB8-49E7-4295-AD75-3195483FA609}"/>
              </a:ext>
            </a:extLst>
          </p:cNvPr>
          <p:cNvSpPr>
            <a:spLocks noGrp="1"/>
          </p:cNvSpPr>
          <p:nvPr/>
        </p:nvSpPr>
        <p:spPr>
          <a:xfrm>
            <a:off x="476250" y="2114550"/>
            <a:ext cx="1714500" cy="419100"/>
          </a:xfrm>
          <a:prstGeom prst="rect">
            <a:avLst/>
          </a:prstGeom>
          <a:noFill/>
          <a:ln w="0">
            <a:noFill/>
          </a:ln>
        </p:spPr>
        <p:txBody>
          <a:bodyPr lIns="0" tIns="0" rIns="0" bIns="0" anchor="ctr"/>
          <a:lstStyle>
            <a:defPPr algn="ctr">
              <a:defRPr sz="1800" b="1">
                <a:solidFill>
                  <a:srgbClr val="FFFFFF"/>
                </a:solidFill>
                <a:latin typeface="Arial"/>
                <a:ea typeface="Arial"/>
                <a:cs typeface="Arial"/>
              </a:defRPr>
            </a:defPPr>
          </a:lstStyle>
          <a:p>
            <a:pPr algn="ctr">
              <a:defRPr sz="1800" b="1">
                <a:solidFill>
                  <a:srgbClr val="FFFFFF"/>
                </a:solidFill>
                <a:latin typeface="Arial"/>
                <a:ea typeface="Arial"/>
                <a:cs typeface="Arial"/>
              </a:defRPr>
            </a:pPr>
            <a:r>
              <a:rPr sz="1800" b="1">
                <a:solidFill>
                  <a:srgbClr val="FFFFFF"/>
                </a:solidFill>
                <a:latin typeface="Arial"/>
                <a:ea typeface="Arial"/>
                <a:cs typeface="Arial"/>
              </a:rPr>
              <a:t>User</a:t>
            </a:r>
          </a:p>
        </p:txBody>
      </p:sp>
      <p:cxnSp>
        <p:nvCxnSpPr>
          <p:cNvPr id="7" name="Straight Arrow Connector 6">
            <a:extLst>
              <a:ext uri="{FF2B5EF4-FFF2-40B4-BE49-F238E27FC236}">
                <a16:creationId xmlns:a16="http://schemas.microsoft.com/office/drawing/2014/main" id="{AC9BBC58-F928-44A6-9DFB-3B37E183FF03}"/>
              </a:ext>
            </a:extLst>
          </p:cNvPr>
          <p:cNvCxnSpPr/>
          <p:nvPr/>
        </p:nvCxnSpPr>
        <p:spPr>
          <a:xfrm>
            <a:off x="1333500" y="2705100"/>
            <a:ext cx="0" cy="2771775"/>
          </a:xfrm>
          <a:prstGeom prst="straightConnector1">
            <a:avLst/>
          </a:prstGeom>
          <a:ln w="19050">
            <a:solidFill>
              <a:srgbClr val="BE98F6"/>
            </a:solidFill>
            <a:prstDash val="dash"/>
            <a:tailEnd type="none" w="med" len="med"/>
          </a:ln>
        </p:spPr>
      </p:cxnSp>
      <p:sp>
        <p:nvSpPr>
          <p:cNvPr id="8" name="Rectangle 7">
            <a:extLst>
              <a:ext uri="{FF2B5EF4-FFF2-40B4-BE49-F238E27FC236}">
                <a16:creationId xmlns:a16="http://schemas.microsoft.com/office/drawing/2014/main" id="{2E7953A9-832D-4FAC-AE17-D9A3E472FFCF}"/>
              </a:ext>
            </a:extLst>
          </p:cNvPr>
          <p:cNvSpPr>
            <a:spLocks noGrp="1"/>
          </p:cNvSpPr>
          <p:nvPr/>
        </p:nvSpPr>
        <p:spPr>
          <a:xfrm>
            <a:off x="3508375" y="2028825"/>
            <a:ext cx="2000250" cy="590550"/>
          </a:xfrm>
          <a:prstGeom prst="rect">
            <a:avLst/>
          </a:prstGeom>
          <a:solidFill>
            <a:srgbClr val="2A1547"/>
          </a:solidFill>
          <a:ln w="13335">
            <a:solidFill>
              <a:srgbClr val="7D43D5"/>
            </a:solidFill>
          </a:ln>
        </p:spPr>
      </p:sp>
      <p:sp>
        <p:nvSpPr>
          <p:cNvPr id="9" name="Main OS agent">
            <a:extLst>
              <a:ext uri="{FF2B5EF4-FFF2-40B4-BE49-F238E27FC236}">
                <a16:creationId xmlns:a16="http://schemas.microsoft.com/office/drawing/2014/main" id="{91C0100C-1840-42D0-8E82-FD6CC0F87DAF}"/>
              </a:ext>
            </a:extLst>
          </p:cNvPr>
          <p:cNvSpPr>
            <a:spLocks noGrp="1"/>
          </p:cNvSpPr>
          <p:nvPr/>
        </p:nvSpPr>
        <p:spPr>
          <a:xfrm>
            <a:off x="3651250" y="2114550"/>
            <a:ext cx="1714500" cy="419100"/>
          </a:xfrm>
          <a:prstGeom prst="rect">
            <a:avLst/>
          </a:prstGeom>
          <a:noFill/>
          <a:ln w="0">
            <a:noFill/>
          </a:ln>
        </p:spPr>
        <p:txBody>
          <a:bodyPr lIns="0" tIns="0" rIns="0" bIns="0" anchor="ctr"/>
          <a:lstStyle>
            <a:defPPr algn="ctr">
              <a:defRPr sz="1800" b="1">
                <a:solidFill>
                  <a:srgbClr val="FFFFFF"/>
                </a:solidFill>
                <a:latin typeface="Arial"/>
                <a:ea typeface="Arial"/>
                <a:cs typeface="Arial"/>
              </a:defRPr>
            </a:defPPr>
          </a:lstStyle>
          <a:p>
            <a:pPr algn="ctr">
              <a:defRPr sz="1800" b="1">
                <a:solidFill>
                  <a:srgbClr val="FFFFFF"/>
                </a:solidFill>
                <a:latin typeface="Arial"/>
                <a:ea typeface="Arial"/>
                <a:cs typeface="Arial"/>
              </a:defRPr>
            </a:pPr>
            <a:r>
              <a:rPr sz="1800" b="1">
                <a:solidFill>
                  <a:srgbClr val="FFFFFF"/>
                </a:solidFill>
                <a:latin typeface="Arial"/>
                <a:ea typeface="Arial"/>
                <a:cs typeface="Arial"/>
              </a:rPr>
              <a:t>Main OS agent</a:t>
            </a:r>
          </a:p>
        </p:txBody>
      </p:sp>
      <p:cxnSp>
        <p:nvCxnSpPr>
          <p:cNvPr id="10" name="Straight Arrow Connector 9">
            <a:extLst>
              <a:ext uri="{FF2B5EF4-FFF2-40B4-BE49-F238E27FC236}">
                <a16:creationId xmlns:a16="http://schemas.microsoft.com/office/drawing/2014/main" id="{DB829287-9667-4261-8D35-A2060844364D}"/>
              </a:ext>
            </a:extLst>
          </p:cNvPr>
          <p:cNvCxnSpPr/>
          <p:nvPr/>
        </p:nvCxnSpPr>
        <p:spPr>
          <a:xfrm>
            <a:off x="4508500" y="2705100"/>
            <a:ext cx="0" cy="2771775"/>
          </a:xfrm>
          <a:prstGeom prst="straightConnector1">
            <a:avLst/>
          </a:prstGeom>
          <a:ln w="19050">
            <a:solidFill>
              <a:srgbClr val="BE98F6"/>
            </a:solidFill>
            <a:prstDash val="dash"/>
            <a:tailEnd type="none" w="med" len="med"/>
          </a:ln>
        </p:spPr>
      </p:cxnSp>
      <p:sp>
        <p:nvSpPr>
          <p:cNvPr id="11" name="Rectangle 10">
            <a:extLst>
              <a:ext uri="{FF2B5EF4-FFF2-40B4-BE49-F238E27FC236}">
                <a16:creationId xmlns:a16="http://schemas.microsoft.com/office/drawing/2014/main" id="{5B34EA42-A615-481C-9AA8-C3C0E041B341}"/>
              </a:ext>
            </a:extLst>
          </p:cNvPr>
          <p:cNvSpPr>
            <a:spLocks noGrp="1"/>
          </p:cNvSpPr>
          <p:nvPr/>
        </p:nvSpPr>
        <p:spPr>
          <a:xfrm>
            <a:off x="6683375" y="2028825"/>
            <a:ext cx="2000250" cy="590550"/>
          </a:xfrm>
          <a:prstGeom prst="rect">
            <a:avLst/>
          </a:prstGeom>
          <a:solidFill>
            <a:srgbClr val="2A1547"/>
          </a:solidFill>
          <a:ln w="13335">
            <a:solidFill>
              <a:srgbClr val="7D43D5"/>
            </a:solidFill>
          </a:ln>
        </p:spPr>
      </p:sp>
      <p:sp>
        <p:nvSpPr>
          <p:cNvPr id="12" name="Policy">
            <a:extLst>
              <a:ext uri="{FF2B5EF4-FFF2-40B4-BE49-F238E27FC236}">
                <a16:creationId xmlns:a16="http://schemas.microsoft.com/office/drawing/2014/main" id="{7F4F0B59-9785-4B2F-9747-E2192919B682}"/>
              </a:ext>
            </a:extLst>
          </p:cNvPr>
          <p:cNvSpPr>
            <a:spLocks noGrp="1"/>
          </p:cNvSpPr>
          <p:nvPr/>
        </p:nvSpPr>
        <p:spPr>
          <a:xfrm>
            <a:off x="6826250" y="2114550"/>
            <a:ext cx="1714500" cy="419100"/>
          </a:xfrm>
          <a:prstGeom prst="rect">
            <a:avLst/>
          </a:prstGeom>
          <a:noFill/>
          <a:ln w="0">
            <a:noFill/>
          </a:ln>
        </p:spPr>
        <p:txBody>
          <a:bodyPr lIns="0" tIns="0" rIns="0" bIns="0" anchor="ctr"/>
          <a:lstStyle>
            <a:defPPr algn="ctr">
              <a:defRPr sz="1800" b="1">
                <a:solidFill>
                  <a:srgbClr val="FFFFFF"/>
                </a:solidFill>
                <a:latin typeface="Arial"/>
                <a:ea typeface="Arial"/>
                <a:cs typeface="Arial"/>
              </a:defRPr>
            </a:defPPr>
          </a:lstStyle>
          <a:p>
            <a:pPr algn="ctr">
              <a:defRPr sz="1800" b="1">
                <a:solidFill>
                  <a:srgbClr val="FFFFFF"/>
                </a:solidFill>
                <a:latin typeface="Arial"/>
                <a:ea typeface="Arial"/>
                <a:cs typeface="Arial"/>
              </a:defRPr>
            </a:pPr>
            <a:r>
              <a:rPr sz="1800" b="1">
                <a:solidFill>
                  <a:srgbClr val="FFFFFF"/>
                </a:solidFill>
                <a:latin typeface="Arial"/>
                <a:ea typeface="Arial"/>
                <a:cs typeface="Arial"/>
              </a:rPr>
              <a:t>Policy</a:t>
            </a:r>
          </a:p>
        </p:txBody>
      </p:sp>
      <p:cxnSp>
        <p:nvCxnSpPr>
          <p:cNvPr id="13" name="Straight Arrow Connector 12">
            <a:extLst>
              <a:ext uri="{FF2B5EF4-FFF2-40B4-BE49-F238E27FC236}">
                <a16:creationId xmlns:a16="http://schemas.microsoft.com/office/drawing/2014/main" id="{CFADACD3-6271-4C4F-AFE4-6D318834CA98}"/>
              </a:ext>
            </a:extLst>
          </p:cNvPr>
          <p:cNvCxnSpPr/>
          <p:nvPr/>
        </p:nvCxnSpPr>
        <p:spPr>
          <a:xfrm>
            <a:off x="7683500" y="2705100"/>
            <a:ext cx="0" cy="2771775"/>
          </a:xfrm>
          <a:prstGeom prst="straightConnector1">
            <a:avLst/>
          </a:prstGeom>
          <a:ln w="19050">
            <a:solidFill>
              <a:srgbClr val="BE98F6"/>
            </a:solidFill>
            <a:prstDash val="dash"/>
            <a:tailEnd type="none" w="med" len="med"/>
          </a:ln>
        </p:spPr>
      </p:cxnSp>
      <p:sp>
        <p:nvSpPr>
          <p:cNvPr id="14" name="Rectangle 13">
            <a:extLst>
              <a:ext uri="{FF2B5EF4-FFF2-40B4-BE49-F238E27FC236}">
                <a16:creationId xmlns:a16="http://schemas.microsoft.com/office/drawing/2014/main" id="{4243B1E3-A16A-4BEE-B7EF-6FFDF48ACD07}"/>
              </a:ext>
            </a:extLst>
          </p:cNvPr>
          <p:cNvSpPr>
            <a:spLocks noGrp="1"/>
          </p:cNvSpPr>
          <p:nvPr/>
        </p:nvSpPr>
        <p:spPr>
          <a:xfrm>
            <a:off x="9858375" y="2028825"/>
            <a:ext cx="2000250" cy="590550"/>
          </a:xfrm>
          <a:prstGeom prst="rect">
            <a:avLst/>
          </a:prstGeom>
          <a:solidFill>
            <a:srgbClr val="2A1547"/>
          </a:solidFill>
          <a:ln w="13335">
            <a:solidFill>
              <a:srgbClr val="7D43D5"/>
            </a:solidFill>
          </a:ln>
        </p:spPr>
      </p:sp>
      <p:sp>
        <p:nvSpPr>
          <p:cNvPr id="15" name="Registry">
            <a:extLst>
              <a:ext uri="{FF2B5EF4-FFF2-40B4-BE49-F238E27FC236}">
                <a16:creationId xmlns:a16="http://schemas.microsoft.com/office/drawing/2014/main" id="{D33E7347-1666-4EE5-AEFF-6FA14597E5D4}"/>
              </a:ext>
            </a:extLst>
          </p:cNvPr>
          <p:cNvSpPr>
            <a:spLocks noGrp="1"/>
          </p:cNvSpPr>
          <p:nvPr/>
        </p:nvSpPr>
        <p:spPr>
          <a:xfrm>
            <a:off x="10001250" y="2114550"/>
            <a:ext cx="1714500" cy="419100"/>
          </a:xfrm>
          <a:prstGeom prst="rect">
            <a:avLst/>
          </a:prstGeom>
          <a:noFill/>
          <a:ln w="0">
            <a:noFill/>
          </a:ln>
        </p:spPr>
        <p:txBody>
          <a:bodyPr lIns="0" tIns="0" rIns="0" bIns="0" anchor="ctr"/>
          <a:lstStyle>
            <a:defPPr algn="ctr">
              <a:defRPr sz="1800" b="1">
                <a:solidFill>
                  <a:srgbClr val="FFFFFF"/>
                </a:solidFill>
                <a:latin typeface="Arial"/>
                <a:ea typeface="Arial"/>
                <a:cs typeface="Arial"/>
              </a:defRPr>
            </a:defPPr>
          </a:lstStyle>
          <a:p>
            <a:pPr algn="ctr">
              <a:defRPr sz="1800" b="1">
                <a:solidFill>
                  <a:srgbClr val="FFFFFF"/>
                </a:solidFill>
                <a:latin typeface="Arial"/>
                <a:ea typeface="Arial"/>
                <a:cs typeface="Arial"/>
              </a:defRPr>
            </a:pPr>
            <a:r>
              <a:rPr sz="1800" b="1">
                <a:solidFill>
                  <a:srgbClr val="FFFFFF"/>
                </a:solidFill>
                <a:latin typeface="Arial"/>
                <a:ea typeface="Arial"/>
                <a:cs typeface="Arial"/>
              </a:rPr>
              <a:t>Registry</a:t>
            </a:r>
          </a:p>
        </p:txBody>
      </p:sp>
      <p:cxnSp>
        <p:nvCxnSpPr>
          <p:cNvPr id="16" name="Straight Arrow Connector 15">
            <a:extLst>
              <a:ext uri="{FF2B5EF4-FFF2-40B4-BE49-F238E27FC236}">
                <a16:creationId xmlns:a16="http://schemas.microsoft.com/office/drawing/2014/main" id="{D142EB55-1543-4870-B8FA-4AA5B8163B4E}"/>
              </a:ext>
            </a:extLst>
          </p:cNvPr>
          <p:cNvCxnSpPr/>
          <p:nvPr/>
        </p:nvCxnSpPr>
        <p:spPr>
          <a:xfrm>
            <a:off x="10858500" y="2705100"/>
            <a:ext cx="0" cy="2771775"/>
          </a:xfrm>
          <a:prstGeom prst="straightConnector1">
            <a:avLst/>
          </a:prstGeom>
          <a:ln w="19050">
            <a:solidFill>
              <a:srgbClr val="BE98F6"/>
            </a:solidFill>
            <a:prstDash val="dash"/>
            <a:tailEnd type="none" w="med" len="med"/>
          </a:ln>
        </p:spPr>
      </p:cxnSp>
      <p:cxnSp>
        <p:nvCxnSpPr>
          <p:cNvPr id="17" name="Straight Arrow Connector 16">
            <a:extLst>
              <a:ext uri="{FF2B5EF4-FFF2-40B4-BE49-F238E27FC236}">
                <a16:creationId xmlns:a16="http://schemas.microsoft.com/office/drawing/2014/main" id="{ED3197F6-9640-47E8-A771-97B3DC53FD78}"/>
              </a:ext>
            </a:extLst>
          </p:cNvPr>
          <p:cNvCxnSpPr/>
          <p:nvPr/>
        </p:nvCxnSpPr>
        <p:spPr>
          <a:xfrm>
            <a:off x="1333500" y="3028950"/>
            <a:ext cx="3175000" cy="0"/>
          </a:xfrm>
          <a:prstGeom prst="straightConnector1">
            <a:avLst/>
          </a:prstGeom>
          <a:ln w="19050">
            <a:solidFill>
              <a:srgbClr val="BE98F6"/>
            </a:solidFill>
            <a:prstDash val="solid"/>
            <a:tailEnd type="triangle" w="med" len="med"/>
          </a:ln>
        </p:spPr>
      </p:cxnSp>
      <p:sp>
        <p:nvSpPr>
          <p:cNvPr id="18" name="Create a notes helper">
            <a:extLst>
              <a:ext uri="{FF2B5EF4-FFF2-40B4-BE49-F238E27FC236}">
                <a16:creationId xmlns:a16="http://schemas.microsoft.com/office/drawing/2014/main" id="{3422E4FB-C794-48FE-B18D-F1E826BAB757}"/>
              </a:ext>
            </a:extLst>
          </p:cNvPr>
          <p:cNvSpPr>
            <a:spLocks noGrp="1"/>
          </p:cNvSpPr>
          <p:nvPr/>
        </p:nvSpPr>
        <p:spPr>
          <a:xfrm>
            <a:off x="1457325" y="2752725"/>
            <a:ext cx="2927350" cy="257175"/>
          </a:xfrm>
          <a:prstGeom prst="rect">
            <a:avLst/>
          </a:prstGeom>
          <a:noFill/>
          <a:ln w="0">
            <a:noFill/>
          </a:ln>
        </p:spPr>
        <p:txBody>
          <a:bodyPr lIns="0" tIns="0" rIns="0" bIns="0" anchor="ctr"/>
          <a:lstStyle>
            <a:defPPr algn="l">
              <a:defRPr sz="1425" b="0">
                <a:solidFill>
                  <a:srgbClr val="FFFFFF"/>
                </a:solidFill>
                <a:latin typeface="Arial"/>
                <a:ea typeface="Arial"/>
                <a:cs typeface="Arial"/>
              </a:defRPr>
            </a:defPPr>
          </a:lstStyle>
          <a:p>
            <a:pPr algn="l">
              <a:defRPr sz="1425" b="0">
                <a:solidFill>
                  <a:srgbClr val="FFFFFF"/>
                </a:solidFill>
                <a:latin typeface="Arial"/>
                <a:ea typeface="Arial"/>
                <a:cs typeface="Arial"/>
              </a:defRPr>
            </a:pPr>
            <a:r>
              <a:rPr sz="1425" b="0">
                <a:solidFill>
                  <a:srgbClr val="FFFFFF"/>
                </a:solidFill>
                <a:latin typeface="Arial"/>
                <a:ea typeface="Arial"/>
                <a:cs typeface="Arial"/>
              </a:rPr>
              <a:t>Create a notes helper</a:t>
            </a:r>
          </a:p>
        </p:txBody>
      </p:sp>
      <p:cxnSp>
        <p:nvCxnSpPr>
          <p:cNvPr id="19" name="Straight Arrow Connector 18">
            <a:extLst>
              <a:ext uri="{FF2B5EF4-FFF2-40B4-BE49-F238E27FC236}">
                <a16:creationId xmlns:a16="http://schemas.microsoft.com/office/drawing/2014/main" id="{E1945F72-F789-4FAE-9D56-991B456995CE}"/>
              </a:ext>
            </a:extLst>
          </p:cNvPr>
          <p:cNvCxnSpPr/>
          <p:nvPr/>
        </p:nvCxnSpPr>
        <p:spPr>
          <a:xfrm>
            <a:off x="4508500" y="3457575"/>
            <a:ext cx="3175000" cy="0"/>
          </a:xfrm>
          <a:prstGeom prst="straightConnector1">
            <a:avLst/>
          </a:prstGeom>
          <a:ln w="19050">
            <a:solidFill>
              <a:srgbClr val="BE98F6"/>
            </a:solidFill>
            <a:prstDash val="solid"/>
            <a:tailEnd type="triangle" w="med" len="med"/>
          </a:ln>
        </p:spPr>
      </p:cxnSp>
      <p:sp>
        <p:nvSpPr>
          <p:cNvPr id="20" name="Check purpose, tools and file scope">
            <a:extLst>
              <a:ext uri="{FF2B5EF4-FFF2-40B4-BE49-F238E27FC236}">
                <a16:creationId xmlns:a16="http://schemas.microsoft.com/office/drawing/2014/main" id="{76BFBDA6-833B-440D-B786-F5C3AF3A69B1}"/>
              </a:ext>
            </a:extLst>
          </p:cNvPr>
          <p:cNvSpPr>
            <a:spLocks noGrp="1"/>
          </p:cNvSpPr>
          <p:nvPr/>
        </p:nvSpPr>
        <p:spPr>
          <a:xfrm>
            <a:off x="4632325" y="3181350"/>
            <a:ext cx="2927350" cy="257175"/>
          </a:xfrm>
          <a:prstGeom prst="rect">
            <a:avLst/>
          </a:prstGeom>
          <a:noFill/>
          <a:ln w="0">
            <a:noFill/>
          </a:ln>
        </p:spPr>
        <p:txBody>
          <a:bodyPr lIns="0" tIns="0" rIns="0" bIns="0" anchor="ctr"/>
          <a:lstStyle>
            <a:defPPr algn="l">
              <a:defRPr sz="1425" b="0">
                <a:solidFill>
                  <a:srgbClr val="FFFFFF"/>
                </a:solidFill>
                <a:latin typeface="Arial"/>
                <a:ea typeface="Arial"/>
                <a:cs typeface="Arial"/>
              </a:defRPr>
            </a:defPPr>
          </a:lstStyle>
          <a:p>
            <a:pPr algn="l">
              <a:defRPr sz="1425" b="0">
                <a:solidFill>
                  <a:srgbClr val="FFFFFF"/>
                </a:solidFill>
                <a:latin typeface="Arial"/>
                <a:ea typeface="Arial"/>
                <a:cs typeface="Arial"/>
              </a:defRPr>
            </a:pPr>
            <a:r>
              <a:rPr sz="1425" b="0">
                <a:solidFill>
                  <a:srgbClr val="FFFFFF"/>
                </a:solidFill>
                <a:latin typeface="Arial"/>
                <a:ea typeface="Arial"/>
                <a:cs typeface="Arial"/>
              </a:rPr>
              <a:t>Check purpose, tools and file scope</a:t>
            </a:r>
          </a:p>
        </p:txBody>
      </p:sp>
      <p:cxnSp>
        <p:nvCxnSpPr>
          <p:cNvPr id="21" name="Straight Arrow Connector 20">
            <a:extLst>
              <a:ext uri="{FF2B5EF4-FFF2-40B4-BE49-F238E27FC236}">
                <a16:creationId xmlns:a16="http://schemas.microsoft.com/office/drawing/2014/main" id="{C9BCE02E-7085-46ED-A131-274C84E3B7E1}"/>
              </a:ext>
            </a:extLst>
          </p:cNvPr>
          <p:cNvCxnSpPr/>
          <p:nvPr/>
        </p:nvCxnSpPr>
        <p:spPr>
          <a:xfrm flipH="1">
            <a:off x="4508500" y="3886200"/>
            <a:ext cx="3175000" cy="0"/>
          </a:xfrm>
          <a:prstGeom prst="straightConnector1">
            <a:avLst/>
          </a:prstGeom>
          <a:ln w="19050">
            <a:solidFill>
              <a:srgbClr val="BE98F6"/>
            </a:solidFill>
            <a:prstDash val="solid"/>
            <a:tailEnd type="triangle" w="med" len="med"/>
          </a:ln>
        </p:spPr>
      </p:cxnSp>
      <p:sp>
        <p:nvSpPr>
          <p:cNvPr id="22" name="Accept constrained configuration">
            <a:extLst>
              <a:ext uri="{FF2B5EF4-FFF2-40B4-BE49-F238E27FC236}">
                <a16:creationId xmlns:a16="http://schemas.microsoft.com/office/drawing/2014/main" id="{9D174A92-7F28-4DEF-9E17-955238E91210}"/>
              </a:ext>
            </a:extLst>
          </p:cNvPr>
          <p:cNvSpPr>
            <a:spLocks noGrp="1"/>
          </p:cNvSpPr>
          <p:nvPr/>
        </p:nvSpPr>
        <p:spPr>
          <a:xfrm>
            <a:off x="4632325" y="3609975"/>
            <a:ext cx="2927350" cy="257175"/>
          </a:xfrm>
          <a:prstGeom prst="rect">
            <a:avLst/>
          </a:prstGeom>
          <a:noFill/>
          <a:ln w="0">
            <a:noFill/>
          </a:ln>
        </p:spPr>
        <p:txBody>
          <a:bodyPr lIns="0" tIns="0" rIns="0" bIns="0" anchor="ctr"/>
          <a:lstStyle>
            <a:defPPr algn="l">
              <a:defRPr sz="1425" b="0">
                <a:solidFill>
                  <a:srgbClr val="FFFFFF"/>
                </a:solidFill>
                <a:latin typeface="Arial"/>
                <a:ea typeface="Arial"/>
                <a:cs typeface="Arial"/>
              </a:defRPr>
            </a:defPPr>
          </a:lstStyle>
          <a:p>
            <a:pPr algn="l">
              <a:defRPr sz="1425" b="0">
                <a:solidFill>
                  <a:srgbClr val="FFFFFF"/>
                </a:solidFill>
                <a:latin typeface="Arial"/>
                <a:ea typeface="Arial"/>
                <a:cs typeface="Arial"/>
              </a:defRPr>
            </a:pPr>
            <a:r>
              <a:rPr sz="1425" b="0">
                <a:solidFill>
                  <a:srgbClr val="FFFFFF"/>
                </a:solidFill>
                <a:latin typeface="Arial"/>
                <a:ea typeface="Arial"/>
                <a:cs typeface="Arial"/>
              </a:rPr>
              <a:t>Accept constrained configuration</a:t>
            </a:r>
          </a:p>
        </p:txBody>
      </p:sp>
      <p:cxnSp>
        <p:nvCxnSpPr>
          <p:cNvPr id="23" name="Straight Arrow Connector 22">
            <a:extLst>
              <a:ext uri="{FF2B5EF4-FFF2-40B4-BE49-F238E27FC236}">
                <a16:creationId xmlns:a16="http://schemas.microsoft.com/office/drawing/2014/main" id="{A7885F4C-5A6A-43E0-9007-02311048B69D}"/>
              </a:ext>
            </a:extLst>
          </p:cNvPr>
          <p:cNvCxnSpPr/>
          <p:nvPr/>
        </p:nvCxnSpPr>
        <p:spPr>
          <a:xfrm>
            <a:off x="4508500" y="4314825"/>
            <a:ext cx="6350000" cy="0"/>
          </a:xfrm>
          <a:prstGeom prst="straightConnector1">
            <a:avLst/>
          </a:prstGeom>
          <a:ln w="19050">
            <a:solidFill>
              <a:srgbClr val="BE98F6"/>
            </a:solidFill>
            <a:prstDash val="solid"/>
            <a:tailEnd type="triangle" w="med" len="med"/>
          </a:ln>
        </p:spPr>
      </p:cxnSp>
      <p:sp>
        <p:nvSpPr>
          <p:cNvPr id="24" name="Store agent definition">
            <a:extLst>
              <a:ext uri="{FF2B5EF4-FFF2-40B4-BE49-F238E27FC236}">
                <a16:creationId xmlns:a16="http://schemas.microsoft.com/office/drawing/2014/main" id="{F1E94D93-1973-4BEB-B09E-8F4054D052C3}"/>
              </a:ext>
            </a:extLst>
          </p:cNvPr>
          <p:cNvSpPr>
            <a:spLocks noGrp="1"/>
          </p:cNvSpPr>
          <p:nvPr/>
        </p:nvSpPr>
        <p:spPr>
          <a:xfrm>
            <a:off x="4632325" y="4038600"/>
            <a:ext cx="6102350" cy="257175"/>
          </a:xfrm>
          <a:prstGeom prst="rect">
            <a:avLst/>
          </a:prstGeom>
          <a:noFill/>
          <a:ln w="0">
            <a:noFill/>
          </a:ln>
        </p:spPr>
        <p:txBody>
          <a:bodyPr lIns="0" tIns="0" rIns="0" bIns="0" anchor="ctr"/>
          <a:lstStyle>
            <a:defPPr algn="l">
              <a:defRPr sz="1425" b="0">
                <a:solidFill>
                  <a:srgbClr val="FFFFFF"/>
                </a:solidFill>
                <a:latin typeface="Arial"/>
                <a:ea typeface="Arial"/>
                <a:cs typeface="Arial"/>
              </a:defRPr>
            </a:defPPr>
          </a:lstStyle>
          <a:p>
            <a:pPr algn="l">
              <a:defRPr sz="1425" b="0">
                <a:solidFill>
                  <a:srgbClr val="FFFFFF"/>
                </a:solidFill>
                <a:latin typeface="Arial"/>
                <a:ea typeface="Arial"/>
                <a:cs typeface="Arial"/>
              </a:defRPr>
            </a:pPr>
            <a:r>
              <a:rPr sz="1425" b="0">
                <a:solidFill>
                  <a:srgbClr val="FFFFFF"/>
                </a:solidFill>
                <a:latin typeface="Arial"/>
                <a:ea typeface="Arial"/>
                <a:cs typeface="Arial"/>
              </a:rPr>
              <a:t>Store agent definition</a:t>
            </a:r>
          </a:p>
        </p:txBody>
      </p:sp>
      <p:cxnSp>
        <p:nvCxnSpPr>
          <p:cNvPr id="25" name="Straight Arrow Connector 24">
            <a:extLst>
              <a:ext uri="{FF2B5EF4-FFF2-40B4-BE49-F238E27FC236}">
                <a16:creationId xmlns:a16="http://schemas.microsoft.com/office/drawing/2014/main" id="{B5FB4E40-5E3B-4CC1-AEAB-7AE099A1384F}"/>
              </a:ext>
            </a:extLst>
          </p:cNvPr>
          <p:cNvCxnSpPr/>
          <p:nvPr/>
        </p:nvCxnSpPr>
        <p:spPr>
          <a:xfrm flipH="1">
            <a:off x="4508500" y="4743450"/>
            <a:ext cx="6350000" cy="0"/>
          </a:xfrm>
          <a:prstGeom prst="straightConnector1">
            <a:avLst/>
          </a:prstGeom>
          <a:ln w="19050">
            <a:solidFill>
              <a:srgbClr val="BE98F6"/>
            </a:solidFill>
            <a:prstDash val="solid"/>
            <a:tailEnd type="triangle" w="med" len="med"/>
          </a:ln>
        </p:spPr>
      </p:cxnSp>
      <p:sp>
        <p:nvSpPr>
          <p:cNvPr id="26" name="Return agent ID">
            <a:extLst>
              <a:ext uri="{FF2B5EF4-FFF2-40B4-BE49-F238E27FC236}">
                <a16:creationId xmlns:a16="http://schemas.microsoft.com/office/drawing/2014/main" id="{F18BE10B-EC8B-46DF-A076-F3365687948F}"/>
              </a:ext>
            </a:extLst>
          </p:cNvPr>
          <p:cNvSpPr>
            <a:spLocks noGrp="1"/>
          </p:cNvSpPr>
          <p:nvPr/>
        </p:nvSpPr>
        <p:spPr>
          <a:xfrm>
            <a:off x="4632325" y="4467225"/>
            <a:ext cx="6102350" cy="257175"/>
          </a:xfrm>
          <a:prstGeom prst="rect">
            <a:avLst/>
          </a:prstGeom>
          <a:noFill/>
          <a:ln w="0">
            <a:noFill/>
          </a:ln>
        </p:spPr>
        <p:txBody>
          <a:bodyPr lIns="0" tIns="0" rIns="0" bIns="0" anchor="ctr"/>
          <a:lstStyle>
            <a:defPPr algn="l">
              <a:defRPr sz="1425" b="0">
                <a:solidFill>
                  <a:srgbClr val="FFFFFF"/>
                </a:solidFill>
                <a:latin typeface="Arial"/>
                <a:ea typeface="Arial"/>
                <a:cs typeface="Arial"/>
              </a:defRPr>
            </a:defPPr>
          </a:lstStyle>
          <a:p>
            <a:pPr algn="l">
              <a:defRPr sz="1425" b="0">
                <a:solidFill>
                  <a:srgbClr val="FFFFFF"/>
                </a:solidFill>
                <a:latin typeface="Arial"/>
                <a:ea typeface="Arial"/>
                <a:cs typeface="Arial"/>
              </a:defRPr>
            </a:pPr>
            <a:r>
              <a:rPr sz="1425" b="0">
                <a:solidFill>
                  <a:srgbClr val="FFFFFF"/>
                </a:solidFill>
                <a:latin typeface="Arial"/>
                <a:ea typeface="Arial"/>
                <a:cs typeface="Arial"/>
              </a:rPr>
              <a:t>Return agent ID</a:t>
            </a:r>
          </a:p>
        </p:txBody>
      </p:sp>
      <p:cxnSp>
        <p:nvCxnSpPr>
          <p:cNvPr id="27" name="Straight Arrow Connector 26">
            <a:extLst>
              <a:ext uri="{FF2B5EF4-FFF2-40B4-BE49-F238E27FC236}">
                <a16:creationId xmlns:a16="http://schemas.microsoft.com/office/drawing/2014/main" id="{54615874-D40F-4ACA-BE71-205B5DA997B3}"/>
              </a:ext>
            </a:extLst>
          </p:cNvPr>
          <p:cNvCxnSpPr/>
          <p:nvPr/>
        </p:nvCxnSpPr>
        <p:spPr>
          <a:xfrm flipH="1">
            <a:off x="1333500" y="5172075"/>
            <a:ext cx="3175000" cy="0"/>
          </a:xfrm>
          <a:prstGeom prst="straightConnector1">
            <a:avLst/>
          </a:prstGeom>
          <a:ln w="19050">
            <a:solidFill>
              <a:srgbClr val="BE98F6"/>
            </a:solidFill>
            <a:prstDash val="solid"/>
            <a:tailEnd type="triangle" w="med" len="med"/>
          </a:ln>
        </p:spPr>
      </p:cxnSp>
      <p:sp>
        <p:nvSpPr>
          <p:cNvPr id="28" name="Agent ready to receive a task">
            <a:extLst>
              <a:ext uri="{FF2B5EF4-FFF2-40B4-BE49-F238E27FC236}">
                <a16:creationId xmlns:a16="http://schemas.microsoft.com/office/drawing/2014/main" id="{C2F63A0C-D91C-49ED-A109-BD8909444494}"/>
              </a:ext>
            </a:extLst>
          </p:cNvPr>
          <p:cNvSpPr>
            <a:spLocks noGrp="1"/>
          </p:cNvSpPr>
          <p:nvPr/>
        </p:nvSpPr>
        <p:spPr>
          <a:xfrm>
            <a:off x="1457325" y="4895850"/>
            <a:ext cx="2927350" cy="257175"/>
          </a:xfrm>
          <a:prstGeom prst="rect">
            <a:avLst/>
          </a:prstGeom>
          <a:noFill/>
          <a:ln w="0">
            <a:noFill/>
          </a:ln>
        </p:spPr>
        <p:txBody>
          <a:bodyPr lIns="0" tIns="0" rIns="0" bIns="0" anchor="ctr"/>
          <a:lstStyle>
            <a:defPPr algn="l">
              <a:defRPr sz="1425" b="0">
                <a:solidFill>
                  <a:srgbClr val="FFFFFF"/>
                </a:solidFill>
                <a:latin typeface="Arial"/>
                <a:ea typeface="Arial"/>
                <a:cs typeface="Arial"/>
              </a:defRPr>
            </a:defPPr>
          </a:lstStyle>
          <a:p>
            <a:pPr algn="l">
              <a:defRPr sz="1425" b="0">
                <a:solidFill>
                  <a:srgbClr val="FFFFFF"/>
                </a:solidFill>
                <a:latin typeface="Arial"/>
                <a:ea typeface="Arial"/>
                <a:cs typeface="Arial"/>
              </a:defRPr>
            </a:pPr>
            <a:r>
              <a:rPr sz="1425" b="0">
                <a:solidFill>
                  <a:srgbClr val="FFFFFF"/>
                </a:solidFill>
                <a:latin typeface="Arial"/>
                <a:ea typeface="Arial"/>
                <a:cs typeface="Arial"/>
              </a:rPr>
              <a:t>Agent ready to receive a task</a:t>
            </a:r>
          </a:p>
        </p:txBody>
      </p:sp>
      <p:sp>
        <p:nvSpPr>
          <p:cNvPr id="29" name="Agent creation defines a reusable workflow w">
            <a:extLst>
              <a:ext uri="{FF2B5EF4-FFF2-40B4-BE49-F238E27FC236}">
                <a16:creationId xmlns:a16="http://schemas.microsoft.com/office/drawing/2014/main" id="{6C5EFAD3-BF60-43AA-AF6A-C4FDEB1CE830}"/>
              </a:ext>
            </a:extLst>
          </p:cNvPr>
          <p:cNvSpPr>
            <a:spLocks noGrp="1"/>
          </p:cNvSpPr>
          <p:nvPr/>
        </p:nvSpPr>
        <p:spPr>
          <a:xfrm>
            <a:off x="609600" y="5648325"/>
            <a:ext cx="10972800" cy="504825"/>
          </a:xfrm>
          <a:prstGeom prst="rect">
            <a:avLst/>
          </a:prstGeom>
          <a:noFill/>
          <a:ln w="0">
            <a:noFill/>
          </a:ln>
        </p:spPr>
        <p:txBody>
          <a:bodyPr lIns="0" tIns="0" rIns="0" bIns="0" anchor="ctr"/>
          <a:lstStyle>
            <a:defPPr algn="l">
              <a:defRPr sz="1725" b="0">
                <a:solidFill>
                  <a:srgbClr val="D5C9E6"/>
                </a:solidFill>
                <a:latin typeface="Arial"/>
                <a:ea typeface="Arial"/>
                <a:cs typeface="Arial"/>
              </a:defRPr>
            </a:defPPr>
          </a:lstStyle>
          <a:p>
            <a:pPr algn="l">
              <a:defRPr sz="1725" b="0">
                <a:solidFill>
                  <a:srgbClr val="D5C9E6"/>
                </a:solidFill>
                <a:latin typeface="Arial"/>
                <a:ea typeface="Arial"/>
                <a:cs typeface="Arial"/>
              </a:defRPr>
            </a:pPr>
            <a:r>
              <a:rPr sz="1725" b="0">
                <a:solidFill>
                  <a:srgbClr val="D5C9E6"/>
                </a:solidFill>
                <a:latin typeface="Arial"/>
                <a:ea typeface="Arial"/>
                <a:cs typeface="Arial"/>
              </a:rPr>
              <a:t>Agent creation defines a reusable workflow with limited permissions.</a:t>
            </a:r>
          </a:p>
        </p:txBody>
      </p:sp>
    </p:spTree>
    <p:extLst>
      <p:ext uri="{BB962C8B-B14F-4D97-AF65-F5344CB8AC3E}">
        <p14:creationId xmlns:p14="http://schemas.microsoft.com/office/powerpoint/2010/main" val="8339106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180B2B"/>
        </a:solidFill>
        <a:effectLst/>
      </p:bgPr>
    </p:bg>
    <p:spTree>
      <p:nvGrpSpPr>
        <p:cNvPr id="1" name=""/>
        <p:cNvGrpSpPr/>
        <p:nvPr/>
      </p:nvGrpSpPr>
      <p:grpSpPr>
        <a:xfrm>
          <a:off x="0" y="0"/>
          <a:ext cx="0" cy="0"/>
          <a:chOff x="0" y="0"/>
          <a:chExt cx="0" cy="0"/>
        </a:xfrm>
      </p:grpSpPr>
      <p:sp>
        <p:nvSpPr>
          <p:cNvPr id="22" name="AGENT ARCHITECTURE">
            <a:extLst>
              <a:ext uri="{FF2B5EF4-FFF2-40B4-BE49-F238E27FC236}">
                <a16:creationId xmlns:a16="http://schemas.microsoft.com/office/drawing/2014/main" id="{D592E144-81A4-4666-9453-9F36E28AC315}"/>
              </a:ext>
            </a:extLst>
          </p:cNvPr>
          <p:cNvSpPr>
            <a:spLocks noGrp="1"/>
          </p:cNvSpPr>
          <p:nvPr/>
        </p:nvSpPr>
        <p:spPr>
          <a:xfrm>
            <a:off x="609600" y="323850"/>
            <a:ext cx="10001250" cy="228600"/>
          </a:xfrm>
          <a:prstGeom prst="rect">
            <a:avLst/>
          </a:prstGeom>
          <a:noFill/>
          <a:ln w="0">
            <a:noFill/>
          </a:ln>
        </p:spPr>
        <p:txBody>
          <a:bodyPr lIns="0" tIns="0" rIns="0" bIns="0" anchor="ctr"/>
          <a:lstStyle>
            <a:defPPr algn="l">
              <a:defRPr sz="1200" b="1">
                <a:solidFill>
                  <a:srgbClr val="BE98F6"/>
                </a:solidFill>
                <a:latin typeface="Arial"/>
                <a:ea typeface="Arial"/>
                <a:cs typeface="Arial"/>
              </a:defRPr>
            </a:defPPr>
          </a:lstStyle>
          <a:p>
            <a:pPr algn="l">
              <a:defRPr sz="1200" b="1">
                <a:solidFill>
                  <a:srgbClr val="BE98F6"/>
                </a:solidFill>
                <a:latin typeface="Arial"/>
                <a:ea typeface="Arial"/>
                <a:cs typeface="Arial"/>
              </a:defRPr>
            </a:pPr>
            <a:r>
              <a:rPr sz="1200" b="1">
                <a:solidFill>
                  <a:srgbClr val="BE98F6"/>
                </a:solidFill>
                <a:latin typeface="Arial"/>
                <a:ea typeface="Arial"/>
                <a:cs typeface="Arial"/>
              </a:rPr>
              <a:t>AGENT ARCHITECTURE</a:t>
            </a:r>
          </a:p>
        </p:txBody>
      </p:sp>
      <p:sp>
        <p:nvSpPr>
          <p:cNvPr id="2" name="Main OS agent">
            <a:extLst>
              <a:ext uri="{FF2B5EF4-FFF2-40B4-BE49-F238E27FC236}">
                <a16:creationId xmlns:a16="http://schemas.microsoft.com/office/drawing/2014/main" id="{520982D4-49E3-44C6-94BC-6C5D60AE4849}"/>
              </a:ext>
            </a:extLst>
          </p:cNvPr>
          <p:cNvSpPr>
            <a:spLocks noGrp="1"/>
          </p:cNvSpPr>
          <p:nvPr/>
        </p:nvSpPr>
        <p:spPr>
          <a:xfrm>
            <a:off x="609600" y="876300"/>
            <a:ext cx="10972800" cy="952500"/>
          </a:xfrm>
          <a:prstGeom prst="rect">
            <a:avLst/>
          </a:prstGeom>
          <a:noFill/>
          <a:ln w="0">
            <a:noFill/>
          </a:ln>
        </p:spPr>
        <p:txBody>
          <a:bodyPr lIns="0" tIns="0" rIns="0" bIns="0" anchor="ctr"/>
          <a:lstStyle>
            <a:defPPr algn="l">
              <a:defRPr sz="3300" b="1">
                <a:solidFill>
                  <a:srgbClr val="FFFFFF"/>
                </a:solidFill>
                <a:latin typeface="Arial"/>
                <a:ea typeface="Arial"/>
                <a:cs typeface="Arial"/>
              </a:defRPr>
            </a:defPPr>
          </a:lstStyle>
          <a:p>
            <a:pPr algn="l">
              <a:defRPr sz="3300" b="1">
                <a:solidFill>
                  <a:srgbClr val="FFFFFF"/>
                </a:solidFill>
                <a:latin typeface="Arial"/>
                <a:ea typeface="Arial"/>
                <a:cs typeface="Arial"/>
              </a:defRPr>
            </a:pPr>
            <a:r>
              <a:rPr sz="3300" b="1">
                <a:solidFill>
                  <a:srgbClr val="FFFFFF"/>
                </a:solidFill>
                <a:latin typeface="Arial"/>
                <a:ea typeface="Arial"/>
                <a:cs typeface="Arial"/>
              </a:rPr>
              <a:t>Main OS agent</a:t>
            </a:r>
          </a:p>
        </p:txBody>
      </p:sp>
      <p:sp>
        <p:nvSpPr>
          <p:cNvPr id="3" name="AGENTIC OS  /  MVP TECHNICAL WALKTHROUGH">
            <a:extLst>
              <a:ext uri="{FF2B5EF4-FFF2-40B4-BE49-F238E27FC236}">
                <a16:creationId xmlns:a16="http://schemas.microsoft.com/office/drawing/2014/main" id="{B925DCA0-8E3F-4E91-8A73-2187DCE0BD18}"/>
              </a:ext>
            </a:extLst>
          </p:cNvPr>
          <p:cNvSpPr>
            <a:spLocks noGrp="1"/>
          </p:cNvSpPr>
          <p:nvPr/>
        </p:nvSpPr>
        <p:spPr>
          <a:xfrm>
            <a:off x="609600" y="6410325"/>
            <a:ext cx="10001250" cy="190500"/>
          </a:xfrm>
          <a:prstGeom prst="rect">
            <a:avLst/>
          </a:prstGeom>
          <a:noFill/>
          <a:ln w="0">
            <a:noFill/>
          </a:ln>
        </p:spPr>
        <p:txBody>
          <a:bodyPr lIns="0" tIns="0" rIns="0" bIns="0" anchor="ctr"/>
          <a:lstStyle>
            <a:defPPr algn="l">
              <a:defRPr sz="975" b="0">
                <a:solidFill>
                  <a:srgbClr val="D5C9E6"/>
                </a:solidFill>
                <a:latin typeface="Arial"/>
                <a:ea typeface="Arial"/>
                <a:cs typeface="Arial"/>
              </a:defRPr>
            </a:defPPr>
          </a:lstStyle>
          <a:p>
            <a:pPr algn="l">
              <a:defRPr sz="975" b="0">
                <a:solidFill>
                  <a:srgbClr val="D5C9E6"/>
                </a:solidFill>
                <a:latin typeface="Arial"/>
                <a:ea typeface="Arial"/>
                <a:cs typeface="Arial"/>
              </a:defRPr>
            </a:pPr>
            <a:r>
              <a:rPr sz="975" b="0">
                <a:solidFill>
                  <a:srgbClr val="D5C9E6"/>
                </a:solidFill>
                <a:latin typeface="Arial"/>
                <a:ea typeface="Arial"/>
                <a:cs typeface="Arial"/>
              </a:rPr>
              <a:t>AGENTIC OS  /  MVP TECHNICAL WALKTHROUGH</a:t>
            </a:r>
          </a:p>
        </p:txBody>
      </p:sp>
      <p:sp>
        <p:nvSpPr>
          <p:cNvPr id="4" name="26">
            <a:extLst>
              <a:ext uri="{FF2B5EF4-FFF2-40B4-BE49-F238E27FC236}">
                <a16:creationId xmlns:a16="http://schemas.microsoft.com/office/drawing/2014/main" id="{2E0E8E29-E1A9-4205-81E4-78B97DA36573}"/>
              </a:ext>
            </a:extLst>
          </p:cNvPr>
          <p:cNvSpPr>
            <a:spLocks noGrp="1"/>
          </p:cNvSpPr>
          <p:nvPr/>
        </p:nvSpPr>
        <p:spPr>
          <a:xfrm>
            <a:off x="11029950" y="6372225"/>
            <a:ext cx="552450" cy="247650"/>
          </a:xfrm>
          <a:prstGeom prst="rect">
            <a:avLst/>
          </a:prstGeom>
          <a:noFill/>
          <a:ln w="0">
            <a:noFill/>
          </a:ln>
        </p:spPr>
        <p:txBody>
          <a:bodyPr lIns="0" tIns="0" rIns="0" bIns="0" anchor="ctr"/>
          <a:lstStyle>
            <a:defPPr algn="r">
              <a:defRPr sz="1275" b="0">
                <a:solidFill>
                  <a:srgbClr val="BE98F6"/>
                </a:solidFill>
                <a:latin typeface="Arial"/>
                <a:ea typeface="Arial"/>
                <a:cs typeface="Arial"/>
              </a:defRPr>
            </a:defPPr>
          </a:lstStyle>
          <a:p>
            <a:pPr algn="r">
              <a:defRPr sz="1275" b="0">
                <a:solidFill>
                  <a:srgbClr val="BE98F6"/>
                </a:solidFill>
                <a:latin typeface="Arial"/>
                <a:ea typeface="Arial"/>
                <a:cs typeface="Arial"/>
              </a:defRPr>
            </a:pPr>
            <a:r>
              <a:rPr sz="1275" b="0">
                <a:solidFill>
                  <a:srgbClr val="BE98F6"/>
                </a:solidFill>
                <a:latin typeface="Arial"/>
                <a:ea typeface="Arial"/>
                <a:cs typeface="Arial"/>
              </a:rPr>
              <a:t>26</a:t>
            </a:r>
          </a:p>
        </p:txBody>
      </p:sp>
      <p:sp>
        <p:nvSpPr>
          <p:cNvPr id="5" name="Rectangle 4">
            <a:extLst>
              <a:ext uri="{FF2B5EF4-FFF2-40B4-BE49-F238E27FC236}">
                <a16:creationId xmlns:a16="http://schemas.microsoft.com/office/drawing/2014/main" id="{C1F1AD95-F354-4C46-8316-9DAA8878367C}"/>
              </a:ext>
            </a:extLst>
          </p:cNvPr>
          <p:cNvSpPr>
            <a:spLocks noGrp="1"/>
          </p:cNvSpPr>
          <p:nvPr/>
        </p:nvSpPr>
        <p:spPr>
          <a:xfrm>
            <a:off x="609600" y="2286000"/>
            <a:ext cx="2571750" cy="809625"/>
          </a:xfrm>
          <a:prstGeom prst="rect">
            <a:avLst/>
          </a:prstGeom>
          <a:solidFill>
            <a:srgbClr val="2A1547"/>
          </a:solidFill>
          <a:ln w="13335">
            <a:solidFill>
              <a:srgbClr val="7D43D5"/>
            </a:solidFill>
          </a:ln>
        </p:spPr>
      </p:sp>
      <p:sp>
        <p:nvSpPr>
          <p:cNvPr id="6" name="User task">
            <a:extLst>
              <a:ext uri="{FF2B5EF4-FFF2-40B4-BE49-F238E27FC236}">
                <a16:creationId xmlns:a16="http://schemas.microsoft.com/office/drawing/2014/main" id="{BCCBC200-B747-4BB8-8D9B-511A5FFCC0D0}"/>
              </a:ext>
            </a:extLst>
          </p:cNvPr>
          <p:cNvSpPr>
            <a:spLocks noGrp="1"/>
          </p:cNvSpPr>
          <p:nvPr/>
        </p:nvSpPr>
        <p:spPr>
          <a:xfrm>
            <a:off x="752475" y="2371725"/>
            <a:ext cx="2286000" cy="638175"/>
          </a:xfrm>
          <a:prstGeom prst="rect">
            <a:avLst/>
          </a:prstGeom>
          <a:noFill/>
          <a:ln w="0">
            <a:noFill/>
          </a:ln>
        </p:spPr>
        <p:txBody>
          <a:bodyPr lIns="0" tIns="0" rIns="0" bIns="0" anchor="ctr"/>
          <a:lstStyle>
            <a:defPPr algn="ctr">
              <a:defRPr sz="1800" b="1">
                <a:solidFill>
                  <a:srgbClr val="FFFFFF"/>
                </a:solidFill>
                <a:latin typeface="Arial"/>
                <a:ea typeface="Arial"/>
                <a:cs typeface="Arial"/>
              </a:defRPr>
            </a:defPPr>
          </a:lstStyle>
          <a:p>
            <a:pPr algn="ctr">
              <a:defRPr sz="1800" b="1">
                <a:solidFill>
                  <a:srgbClr val="FFFFFF"/>
                </a:solidFill>
                <a:latin typeface="Arial"/>
                <a:ea typeface="Arial"/>
                <a:cs typeface="Arial"/>
              </a:defRPr>
            </a:pPr>
            <a:r>
              <a:rPr sz="1800" b="1">
                <a:solidFill>
                  <a:srgbClr val="FFFFFF"/>
                </a:solidFill>
                <a:latin typeface="Arial"/>
                <a:ea typeface="Arial"/>
                <a:cs typeface="Arial"/>
              </a:rPr>
              <a:t>User task</a:t>
            </a:r>
          </a:p>
        </p:txBody>
      </p:sp>
      <p:sp>
        <p:nvSpPr>
          <p:cNvPr id="7" name="Rectangle 6">
            <a:extLst>
              <a:ext uri="{FF2B5EF4-FFF2-40B4-BE49-F238E27FC236}">
                <a16:creationId xmlns:a16="http://schemas.microsoft.com/office/drawing/2014/main" id="{4C134779-0570-4A6D-B440-F0A6B56423BC}"/>
              </a:ext>
            </a:extLst>
          </p:cNvPr>
          <p:cNvSpPr>
            <a:spLocks noGrp="1"/>
          </p:cNvSpPr>
          <p:nvPr/>
        </p:nvSpPr>
        <p:spPr>
          <a:xfrm>
            <a:off x="4533900" y="2286000"/>
            <a:ext cx="3190875" cy="809625"/>
          </a:xfrm>
          <a:prstGeom prst="rect">
            <a:avLst/>
          </a:prstGeom>
          <a:solidFill>
            <a:srgbClr val="2A1547"/>
          </a:solidFill>
          <a:ln w="13335">
            <a:solidFill>
              <a:srgbClr val="7D43D5"/>
            </a:solidFill>
          </a:ln>
        </p:spPr>
      </p:sp>
      <p:sp>
        <p:nvSpPr>
          <p:cNvPr id="8" name="Main OS agent">
            <a:extLst>
              <a:ext uri="{FF2B5EF4-FFF2-40B4-BE49-F238E27FC236}">
                <a16:creationId xmlns:a16="http://schemas.microsoft.com/office/drawing/2014/main" id="{CBC779C5-4074-414D-8B74-CDECDB601642}"/>
              </a:ext>
            </a:extLst>
          </p:cNvPr>
          <p:cNvSpPr>
            <a:spLocks noGrp="1"/>
          </p:cNvSpPr>
          <p:nvPr/>
        </p:nvSpPr>
        <p:spPr>
          <a:xfrm>
            <a:off x="4676775" y="2371725"/>
            <a:ext cx="2905125" cy="638175"/>
          </a:xfrm>
          <a:prstGeom prst="rect">
            <a:avLst/>
          </a:prstGeom>
          <a:noFill/>
          <a:ln w="0">
            <a:noFill/>
          </a:ln>
        </p:spPr>
        <p:txBody>
          <a:bodyPr lIns="0" tIns="0" rIns="0" bIns="0" anchor="ctr"/>
          <a:lstStyle>
            <a:defPPr algn="ctr">
              <a:defRPr sz="1800" b="1">
                <a:solidFill>
                  <a:srgbClr val="FFFFFF"/>
                </a:solidFill>
                <a:latin typeface="Arial"/>
                <a:ea typeface="Arial"/>
                <a:cs typeface="Arial"/>
              </a:defRPr>
            </a:defPPr>
          </a:lstStyle>
          <a:p>
            <a:pPr algn="ctr">
              <a:defRPr sz="1800" b="1">
                <a:solidFill>
                  <a:srgbClr val="FFFFFF"/>
                </a:solidFill>
                <a:latin typeface="Arial"/>
                <a:ea typeface="Arial"/>
                <a:cs typeface="Arial"/>
              </a:defRPr>
            </a:pPr>
            <a:r>
              <a:rPr sz="1800" b="1">
                <a:solidFill>
                  <a:srgbClr val="FFFFFF"/>
                </a:solidFill>
                <a:latin typeface="Arial"/>
                <a:ea typeface="Arial"/>
                <a:cs typeface="Arial"/>
              </a:rPr>
              <a:t>Main OS agent</a:t>
            </a:r>
          </a:p>
        </p:txBody>
      </p:sp>
      <p:sp>
        <p:nvSpPr>
          <p:cNvPr id="9" name="Rectangle 8">
            <a:extLst>
              <a:ext uri="{FF2B5EF4-FFF2-40B4-BE49-F238E27FC236}">
                <a16:creationId xmlns:a16="http://schemas.microsoft.com/office/drawing/2014/main" id="{911DF7A3-381A-495D-B3DA-73AE764CD3B1}"/>
              </a:ext>
            </a:extLst>
          </p:cNvPr>
          <p:cNvSpPr>
            <a:spLocks noGrp="1"/>
          </p:cNvSpPr>
          <p:nvPr/>
        </p:nvSpPr>
        <p:spPr>
          <a:xfrm>
            <a:off x="8858250" y="2286000"/>
            <a:ext cx="2714625" cy="809625"/>
          </a:xfrm>
          <a:prstGeom prst="rect">
            <a:avLst/>
          </a:prstGeom>
          <a:solidFill>
            <a:srgbClr val="2A1547"/>
          </a:solidFill>
          <a:ln w="13335">
            <a:solidFill>
              <a:srgbClr val="7D43D5"/>
            </a:solidFill>
          </a:ln>
        </p:spPr>
      </p:sp>
      <p:sp>
        <p:nvSpPr>
          <p:cNvPr id="10" name="Gemini gateway">
            <a:extLst>
              <a:ext uri="{FF2B5EF4-FFF2-40B4-BE49-F238E27FC236}">
                <a16:creationId xmlns:a16="http://schemas.microsoft.com/office/drawing/2014/main" id="{DD430FD1-0DD8-47A1-8DFB-D11F556E27B6}"/>
              </a:ext>
            </a:extLst>
          </p:cNvPr>
          <p:cNvSpPr>
            <a:spLocks noGrp="1"/>
          </p:cNvSpPr>
          <p:nvPr/>
        </p:nvSpPr>
        <p:spPr>
          <a:xfrm>
            <a:off x="9001125" y="2371725"/>
            <a:ext cx="2428875" cy="638175"/>
          </a:xfrm>
          <a:prstGeom prst="rect">
            <a:avLst/>
          </a:prstGeom>
          <a:noFill/>
          <a:ln w="0">
            <a:noFill/>
          </a:ln>
        </p:spPr>
        <p:txBody>
          <a:bodyPr lIns="0" tIns="0" rIns="0" bIns="0" anchor="ctr"/>
          <a:lstStyle>
            <a:defPPr algn="ctr">
              <a:defRPr sz="1800" b="1">
                <a:solidFill>
                  <a:srgbClr val="FFFFFF"/>
                </a:solidFill>
                <a:latin typeface="Arial"/>
                <a:ea typeface="Arial"/>
                <a:cs typeface="Arial"/>
              </a:defRPr>
            </a:defPPr>
          </a:lstStyle>
          <a:p>
            <a:pPr algn="ctr">
              <a:defRPr sz="1800" b="1">
                <a:solidFill>
                  <a:srgbClr val="FFFFFF"/>
                </a:solidFill>
                <a:latin typeface="Arial"/>
                <a:ea typeface="Arial"/>
                <a:cs typeface="Arial"/>
              </a:defRPr>
            </a:pPr>
            <a:r>
              <a:rPr sz="1800" b="1">
                <a:solidFill>
                  <a:srgbClr val="FFFFFF"/>
                </a:solidFill>
                <a:latin typeface="Arial"/>
                <a:ea typeface="Arial"/>
                <a:cs typeface="Arial"/>
              </a:rPr>
              <a:t>Gemini gateway</a:t>
            </a:r>
          </a:p>
        </p:txBody>
      </p:sp>
      <p:cxnSp>
        <p:nvCxnSpPr>
          <p:cNvPr id="11" name="Straight Arrow Connector 10">
            <a:extLst>
              <a:ext uri="{FF2B5EF4-FFF2-40B4-BE49-F238E27FC236}">
                <a16:creationId xmlns:a16="http://schemas.microsoft.com/office/drawing/2014/main" id="{12B066B8-2560-42BB-8269-83CDBCAE1F5E}"/>
              </a:ext>
            </a:extLst>
          </p:cNvPr>
          <p:cNvCxnSpPr/>
          <p:nvPr/>
        </p:nvCxnSpPr>
        <p:spPr>
          <a:xfrm>
            <a:off x="3181350" y="2686050"/>
            <a:ext cx="1276350" cy="0"/>
          </a:xfrm>
          <a:prstGeom prst="straightConnector1">
            <a:avLst/>
          </a:prstGeom>
          <a:ln w="19050">
            <a:solidFill>
              <a:srgbClr val="BE98F6"/>
            </a:solidFill>
            <a:prstDash val="solid"/>
            <a:tailEnd type="triangle" w="med" len="med"/>
          </a:ln>
        </p:spPr>
      </p:cxnSp>
      <p:cxnSp>
        <p:nvCxnSpPr>
          <p:cNvPr id="12" name="Straight Arrow Connector 11">
            <a:extLst>
              <a:ext uri="{FF2B5EF4-FFF2-40B4-BE49-F238E27FC236}">
                <a16:creationId xmlns:a16="http://schemas.microsoft.com/office/drawing/2014/main" id="{4D4AF46C-3B12-4595-83DB-197D418141E2}"/>
              </a:ext>
            </a:extLst>
          </p:cNvPr>
          <p:cNvCxnSpPr/>
          <p:nvPr/>
        </p:nvCxnSpPr>
        <p:spPr>
          <a:xfrm>
            <a:off x="7724775" y="2686050"/>
            <a:ext cx="1057275" cy="0"/>
          </a:xfrm>
          <a:prstGeom prst="straightConnector1">
            <a:avLst/>
          </a:prstGeom>
          <a:ln w="19050">
            <a:solidFill>
              <a:srgbClr val="BE98F6"/>
            </a:solidFill>
            <a:prstDash val="solid"/>
            <a:tailEnd type="triangle" w="med" len="med"/>
          </a:ln>
        </p:spPr>
      </p:cxnSp>
      <p:sp>
        <p:nvSpPr>
          <p:cNvPr id="13" name="Rectangle 12">
            <a:extLst>
              <a:ext uri="{FF2B5EF4-FFF2-40B4-BE49-F238E27FC236}">
                <a16:creationId xmlns:a16="http://schemas.microsoft.com/office/drawing/2014/main" id="{45919091-7F51-4420-A170-F0C6855EA7D1}"/>
              </a:ext>
            </a:extLst>
          </p:cNvPr>
          <p:cNvSpPr>
            <a:spLocks noGrp="1"/>
          </p:cNvSpPr>
          <p:nvPr/>
        </p:nvSpPr>
        <p:spPr>
          <a:xfrm>
            <a:off x="609600" y="4419600"/>
            <a:ext cx="2571750" cy="809625"/>
          </a:xfrm>
          <a:prstGeom prst="rect">
            <a:avLst/>
          </a:prstGeom>
          <a:solidFill>
            <a:srgbClr val="2A1547"/>
          </a:solidFill>
          <a:ln w="13335">
            <a:solidFill>
              <a:srgbClr val="7D43D5"/>
            </a:solidFill>
          </a:ln>
        </p:spPr>
      </p:sp>
      <p:sp>
        <p:nvSpPr>
          <p:cNvPr id="14" name="Agent registry">
            <a:extLst>
              <a:ext uri="{FF2B5EF4-FFF2-40B4-BE49-F238E27FC236}">
                <a16:creationId xmlns:a16="http://schemas.microsoft.com/office/drawing/2014/main" id="{13ABE3AC-7BC1-45B3-8249-4F768BC87E76}"/>
              </a:ext>
            </a:extLst>
          </p:cNvPr>
          <p:cNvSpPr>
            <a:spLocks noGrp="1"/>
          </p:cNvSpPr>
          <p:nvPr/>
        </p:nvSpPr>
        <p:spPr>
          <a:xfrm>
            <a:off x="752475" y="4505325"/>
            <a:ext cx="2286000" cy="638175"/>
          </a:xfrm>
          <a:prstGeom prst="rect">
            <a:avLst/>
          </a:prstGeom>
          <a:noFill/>
          <a:ln w="0">
            <a:noFill/>
          </a:ln>
        </p:spPr>
        <p:txBody>
          <a:bodyPr lIns="0" tIns="0" rIns="0" bIns="0" anchor="ctr"/>
          <a:lstStyle>
            <a:defPPr algn="ctr">
              <a:defRPr sz="1800" b="1">
                <a:solidFill>
                  <a:srgbClr val="FFFFFF"/>
                </a:solidFill>
                <a:latin typeface="Arial"/>
                <a:ea typeface="Arial"/>
                <a:cs typeface="Arial"/>
              </a:defRPr>
            </a:defPPr>
          </a:lstStyle>
          <a:p>
            <a:pPr algn="ctr">
              <a:defRPr sz="1800" b="1">
                <a:solidFill>
                  <a:srgbClr val="FFFFFF"/>
                </a:solidFill>
                <a:latin typeface="Arial"/>
                <a:ea typeface="Arial"/>
                <a:cs typeface="Arial"/>
              </a:defRPr>
            </a:pPr>
            <a:r>
              <a:rPr sz="1800" b="1">
                <a:solidFill>
                  <a:srgbClr val="FFFFFF"/>
                </a:solidFill>
                <a:latin typeface="Arial"/>
                <a:ea typeface="Arial"/>
                <a:cs typeface="Arial"/>
              </a:rPr>
              <a:t>Agent registry</a:t>
            </a:r>
          </a:p>
        </p:txBody>
      </p:sp>
      <p:sp>
        <p:nvSpPr>
          <p:cNvPr id="15" name="Rectangle 14">
            <a:extLst>
              <a:ext uri="{FF2B5EF4-FFF2-40B4-BE49-F238E27FC236}">
                <a16:creationId xmlns:a16="http://schemas.microsoft.com/office/drawing/2014/main" id="{D6DBE85B-14C8-4438-B142-E8F87DFC9AA2}"/>
              </a:ext>
            </a:extLst>
          </p:cNvPr>
          <p:cNvSpPr>
            <a:spLocks noGrp="1"/>
          </p:cNvSpPr>
          <p:nvPr/>
        </p:nvSpPr>
        <p:spPr>
          <a:xfrm>
            <a:off x="4533900" y="4419600"/>
            <a:ext cx="3190875" cy="809625"/>
          </a:xfrm>
          <a:prstGeom prst="rect">
            <a:avLst/>
          </a:prstGeom>
          <a:solidFill>
            <a:srgbClr val="2A1547"/>
          </a:solidFill>
          <a:ln w="13335">
            <a:solidFill>
              <a:srgbClr val="7D43D5"/>
            </a:solidFill>
          </a:ln>
        </p:spPr>
      </p:sp>
      <p:sp>
        <p:nvSpPr>
          <p:cNvPr id="16" name="Policy + executor">
            <a:extLst>
              <a:ext uri="{FF2B5EF4-FFF2-40B4-BE49-F238E27FC236}">
                <a16:creationId xmlns:a16="http://schemas.microsoft.com/office/drawing/2014/main" id="{30AEBD59-7B8C-4EAC-B0DA-BF6378B423B4}"/>
              </a:ext>
            </a:extLst>
          </p:cNvPr>
          <p:cNvSpPr>
            <a:spLocks noGrp="1"/>
          </p:cNvSpPr>
          <p:nvPr/>
        </p:nvSpPr>
        <p:spPr>
          <a:xfrm>
            <a:off x="4676775" y="4505325"/>
            <a:ext cx="2905125" cy="638175"/>
          </a:xfrm>
          <a:prstGeom prst="rect">
            <a:avLst/>
          </a:prstGeom>
          <a:noFill/>
          <a:ln w="0">
            <a:noFill/>
          </a:ln>
        </p:spPr>
        <p:txBody>
          <a:bodyPr lIns="0" tIns="0" rIns="0" bIns="0" anchor="ctr"/>
          <a:lstStyle>
            <a:defPPr algn="ctr">
              <a:defRPr sz="1800" b="1">
                <a:solidFill>
                  <a:srgbClr val="FFFFFF"/>
                </a:solidFill>
                <a:latin typeface="Arial"/>
                <a:ea typeface="Arial"/>
                <a:cs typeface="Arial"/>
              </a:defRPr>
            </a:defPPr>
          </a:lstStyle>
          <a:p>
            <a:pPr algn="ctr">
              <a:defRPr sz="1800" b="1">
                <a:solidFill>
                  <a:srgbClr val="FFFFFF"/>
                </a:solidFill>
                <a:latin typeface="Arial"/>
                <a:ea typeface="Arial"/>
                <a:cs typeface="Arial"/>
              </a:defRPr>
            </a:pPr>
            <a:r>
              <a:rPr sz="1800" b="1">
                <a:solidFill>
                  <a:srgbClr val="FFFFFF"/>
                </a:solidFill>
                <a:latin typeface="Arial"/>
                <a:ea typeface="Arial"/>
                <a:cs typeface="Arial"/>
              </a:rPr>
              <a:t>Policy + executor</a:t>
            </a:r>
          </a:p>
        </p:txBody>
      </p:sp>
      <p:sp>
        <p:nvSpPr>
          <p:cNvPr id="17" name="Rectangle 16">
            <a:extLst>
              <a:ext uri="{FF2B5EF4-FFF2-40B4-BE49-F238E27FC236}">
                <a16:creationId xmlns:a16="http://schemas.microsoft.com/office/drawing/2014/main" id="{75CED564-8730-429E-93A3-292E178C7079}"/>
              </a:ext>
            </a:extLst>
          </p:cNvPr>
          <p:cNvSpPr>
            <a:spLocks noGrp="1"/>
          </p:cNvSpPr>
          <p:nvPr/>
        </p:nvSpPr>
        <p:spPr>
          <a:xfrm>
            <a:off x="8858250" y="4419600"/>
            <a:ext cx="2714625" cy="809625"/>
          </a:xfrm>
          <a:prstGeom prst="rect">
            <a:avLst/>
          </a:prstGeom>
          <a:solidFill>
            <a:srgbClr val="2A1547"/>
          </a:solidFill>
          <a:ln w="13335">
            <a:solidFill>
              <a:srgbClr val="7D43D5"/>
            </a:solidFill>
          </a:ln>
        </p:spPr>
      </p:sp>
      <p:sp>
        <p:nvSpPr>
          <p:cNvPr id="18" name="RAMFS">
            <a:extLst>
              <a:ext uri="{FF2B5EF4-FFF2-40B4-BE49-F238E27FC236}">
                <a16:creationId xmlns:a16="http://schemas.microsoft.com/office/drawing/2014/main" id="{BEF97B08-AA8C-49E6-9077-C7B675BEA1BD}"/>
              </a:ext>
            </a:extLst>
          </p:cNvPr>
          <p:cNvSpPr>
            <a:spLocks noGrp="1"/>
          </p:cNvSpPr>
          <p:nvPr/>
        </p:nvSpPr>
        <p:spPr>
          <a:xfrm>
            <a:off x="9001125" y="4505325"/>
            <a:ext cx="2428875" cy="638175"/>
          </a:xfrm>
          <a:prstGeom prst="rect">
            <a:avLst/>
          </a:prstGeom>
          <a:noFill/>
          <a:ln w="0">
            <a:noFill/>
          </a:ln>
        </p:spPr>
        <p:txBody>
          <a:bodyPr lIns="0" tIns="0" rIns="0" bIns="0" anchor="ctr"/>
          <a:lstStyle>
            <a:defPPr algn="ctr">
              <a:defRPr sz="1800" b="1">
                <a:solidFill>
                  <a:srgbClr val="FFFFFF"/>
                </a:solidFill>
                <a:latin typeface="Arial"/>
                <a:ea typeface="Arial"/>
                <a:cs typeface="Arial"/>
              </a:defRPr>
            </a:defPPr>
          </a:lstStyle>
          <a:p>
            <a:pPr algn="ctr">
              <a:defRPr sz="1800" b="1">
                <a:solidFill>
                  <a:srgbClr val="FFFFFF"/>
                </a:solidFill>
                <a:latin typeface="Arial"/>
                <a:ea typeface="Arial"/>
                <a:cs typeface="Arial"/>
              </a:defRPr>
            </a:pPr>
            <a:r>
              <a:rPr sz="1800" b="1">
                <a:solidFill>
                  <a:srgbClr val="FFFFFF"/>
                </a:solidFill>
                <a:latin typeface="Arial"/>
                <a:ea typeface="Arial"/>
                <a:cs typeface="Arial"/>
              </a:rPr>
              <a:t>RAMFS</a:t>
            </a:r>
          </a:p>
        </p:txBody>
      </p:sp>
      <p:cxnSp>
        <p:nvCxnSpPr>
          <p:cNvPr id="19" name="Straight Arrow Connector 18">
            <a:extLst>
              <a:ext uri="{FF2B5EF4-FFF2-40B4-BE49-F238E27FC236}">
                <a16:creationId xmlns:a16="http://schemas.microsoft.com/office/drawing/2014/main" id="{6C89E32F-6844-456D-870C-C65542B7AD76}"/>
              </a:ext>
            </a:extLst>
          </p:cNvPr>
          <p:cNvCxnSpPr/>
          <p:nvPr/>
        </p:nvCxnSpPr>
        <p:spPr>
          <a:xfrm>
            <a:off x="6115050" y="3095625"/>
            <a:ext cx="0" cy="1247775"/>
          </a:xfrm>
          <a:prstGeom prst="straightConnector1">
            <a:avLst/>
          </a:prstGeom>
          <a:ln w="19050">
            <a:solidFill>
              <a:srgbClr val="BE98F6"/>
            </a:solidFill>
            <a:prstDash val="solid"/>
            <a:tailEnd type="triangle" w="med" len="med"/>
          </a:ln>
        </p:spPr>
      </p:cxnSp>
      <p:cxnSp>
        <p:nvCxnSpPr>
          <p:cNvPr id="20" name="Straight Arrow Connector 19">
            <a:extLst>
              <a:ext uri="{FF2B5EF4-FFF2-40B4-BE49-F238E27FC236}">
                <a16:creationId xmlns:a16="http://schemas.microsoft.com/office/drawing/2014/main" id="{EA73DA9A-21D4-46D3-9DA5-6C3B2C9A35CA}"/>
              </a:ext>
            </a:extLst>
          </p:cNvPr>
          <p:cNvCxnSpPr/>
          <p:nvPr/>
        </p:nvCxnSpPr>
        <p:spPr>
          <a:xfrm>
            <a:off x="3181350" y="4810125"/>
            <a:ext cx="1276350" cy="0"/>
          </a:xfrm>
          <a:prstGeom prst="straightConnector1">
            <a:avLst/>
          </a:prstGeom>
          <a:ln w="19050">
            <a:solidFill>
              <a:srgbClr val="BE98F6"/>
            </a:solidFill>
            <a:prstDash val="solid"/>
            <a:tailEnd type="triangle" w="med" len="med"/>
          </a:ln>
        </p:spPr>
      </p:cxnSp>
      <p:cxnSp>
        <p:nvCxnSpPr>
          <p:cNvPr id="21" name="Straight Arrow Connector 20">
            <a:extLst>
              <a:ext uri="{FF2B5EF4-FFF2-40B4-BE49-F238E27FC236}">
                <a16:creationId xmlns:a16="http://schemas.microsoft.com/office/drawing/2014/main" id="{F160602C-0C55-42FF-86D3-389CB8B72AF1}"/>
              </a:ext>
            </a:extLst>
          </p:cNvPr>
          <p:cNvCxnSpPr/>
          <p:nvPr/>
        </p:nvCxnSpPr>
        <p:spPr>
          <a:xfrm>
            <a:off x="7724775" y="4810125"/>
            <a:ext cx="1057275" cy="0"/>
          </a:xfrm>
          <a:prstGeom prst="straightConnector1">
            <a:avLst/>
          </a:prstGeom>
          <a:ln w="19050">
            <a:solidFill>
              <a:srgbClr val="BE98F6"/>
            </a:solidFill>
            <a:prstDash val="solid"/>
            <a:tailEnd type="triangle" w="med" len="med"/>
          </a:ln>
        </p:spPr>
      </p:cxnSp>
    </p:spTree>
    <p:extLst>
      <p:ext uri="{BB962C8B-B14F-4D97-AF65-F5344CB8AC3E}">
        <p14:creationId xmlns:p14="http://schemas.microsoft.com/office/powerpoint/2010/main" val="4889839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3" name="AGENT ARCHITECTURE">
            <a:extLst>
              <a:ext uri="{FF2B5EF4-FFF2-40B4-BE49-F238E27FC236}">
                <a16:creationId xmlns:a16="http://schemas.microsoft.com/office/drawing/2014/main" id="{81D1705D-C761-4B12-9BFF-D6056B19FEAE}"/>
              </a:ext>
            </a:extLst>
          </p:cNvPr>
          <p:cNvSpPr>
            <a:spLocks noGrp="1"/>
          </p:cNvSpPr>
          <p:nvPr/>
        </p:nvSpPr>
        <p:spPr>
          <a:xfrm>
            <a:off x="609600" y="323850"/>
            <a:ext cx="10001250" cy="228600"/>
          </a:xfrm>
          <a:prstGeom prst="rect">
            <a:avLst/>
          </a:prstGeom>
          <a:noFill/>
          <a:ln w="0">
            <a:noFill/>
          </a:ln>
        </p:spPr>
        <p:txBody>
          <a:bodyPr lIns="0" tIns="0" rIns="0" bIns="0" anchor="ctr"/>
          <a:lstStyle>
            <a:defPPr algn="l">
              <a:defRPr sz="1200" b="1">
                <a:solidFill>
                  <a:srgbClr val="7D43D5"/>
                </a:solidFill>
                <a:latin typeface="Arial"/>
                <a:ea typeface="Arial"/>
                <a:cs typeface="Arial"/>
              </a:defRPr>
            </a:defPPr>
          </a:lstStyle>
          <a:p>
            <a:pPr algn="l">
              <a:defRPr sz="1200" b="1">
                <a:solidFill>
                  <a:srgbClr val="7D43D5"/>
                </a:solidFill>
                <a:latin typeface="Arial"/>
                <a:ea typeface="Arial"/>
                <a:cs typeface="Arial"/>
              </a:defRPr>
            </a:pPr>
            <a:r>
              <a:rPr sz="1200" b="1">
                <a:solidFill>
                  <a:srgbClr val="7D43D5"/>
                </a:solidFill>
                <a:latin typeface="Arial"/>
                <a:ea typeface="Arial"/>
                <a:cs typeface="Arial"/>
              </a:rPr>
              <a:t>AGENT ARCHITECTURE</a:t>
            </a:r>
          </a:p>
        </p:txBody>
      </p:sp>
      <p:sp>
        <p:nvSpPr>
          <p:cNvPr id="2" name="File tool contract">
            <a:extLst>
              <a:ext uri="{FF2B5EF4-FFF2-40B4-BE49-F238E27FC236}">
                <a16:creationId xmlns:a16="http://schemas.microsoft.com/office/drawing/2014/main" id="{B98353CB-96BF-4C98-872C-5703A98E33D3}"/>
              </a:ext>
            </a:extLst>
          </p:cNvPr>
          <p:cNvSpPr>
            <a:spLocks noGrp="1"/>
          </p:cNvSpPr>
          <p:nvPr/>
        </p:nvSpPr>
        <p:spPr>
          <a:xfrm>
            <a:off x="609600" y="876300"/>
            <a:ext cx="10972800" cy="952500"/>
          </a:xfrm>
          <a:prstGeom prst="rect">
            <a:avLst/>
          </a:prstGeom>
          <a:noFill/>
          <a:ln w="0">
            <a:noFill/>
          </a:ln>
        </p:spPr>
        <p:txBody>
          <a:bodyPr lIns="0" tIns="0" rIns="0" bIns="0" anchor="ctr"/>
          <a:lstStyle>
            <a:defPPr algn="l">
              <a:defRPr sz="3300" b="1">
                <a:solidFill>
                  <a:srgbClr val="251139"/>
                </a:solidFill>
                <a:latin typeface="Arial"/>
                <a:ea typeface="Arial"/>
                <a:cs typeface="Arial"/>
              </a:defRPr>
            </a:defPPr>
          </a:lstStyle>
          <a:p>
            <a:pPr algn="l">
              <a:defRPr sz="3300" b="1">
                <a:solidFill>
                  <a:srgbClr val="251139"/>
                </a:solidFill>
                <a:latin typeface="Arial"/>
                <a:ea typeface="Arial"/>
                <a:cs typeface="Arial"/>
              </a:defRPr>
            </a:pPr>
            <a:r>
              <a:rPr sz="3300" b="1">
                <a:solidFill>
                  <a:srgbClr val="251139"/>
                </a:solidFill>
                <a:latin typeface="Arial"/>
                <a:ea typeface="Arial"/>
                <a:cs typeface="Arial"/>
              </a:rPr>
              <a:t>File tool contract</a:t>
            </a:r>
          </a:p>
        </p:txBody>
      </p:sp>
      <p:sp>
        <p:nvSpPr>
          <p:cNvPr id="3" name="AGENTIC OS  /  MVP TECHNICAL WALKTHROUGH">
            <a:extLst>
              <a:ext uri="{FF2B5EF4-FFF2-40B4-BE49-F238E27FC236}">
                <a16:creationId xmlns:a16="http://schemas.microsoft.com/office/drawing/2014/main" id="{F1100A7B-5F08-4715-BC38-FF63D32FA07F}"/>
              </a:ext>
            </a:extLst>
          </p:cNvPr>
          <p:cNvSpPr>
            <a:spLocks noGrp="1"/>
          </p:cNvSpPr>
          <p:nvPr/>
        </p:nvSpPr>
        <p:spPr>
          <a:xfrm>
            <a:off x="609600" y="6410325"/>
            <a:ext cx="10001250" cy="190500"/>
          </a:xfrm>
          <a:prstGeom prst="rect">
            <a:avLst/>
          </a:prstGeom>
          <a:noFill/>
          <a:ln w="0">
            <a:noFill/>
          </a:ln>
        </p:spPr>
        <p:txBody>
          <a:bodyPr lIns="0" tIns="0" rIns="0" bIns="0" anchor="ctr"/>
          <a:lstStyle>
            <a:defPPr algn="l">
              <a:defRPr sz="975" b="0">
                <a:solidFill>
                  <a:srgbClr val="7D43D5"/>
                </a:solidFill>
                <a:latin typeface="Arial"/>
                <a:ea typeface="Arial"/>
                <a:cs typeface="Arial"/>
              </a:defRPr>
            </a:defPPr>
          </a:lstStyle>
          <a:p>
            <a:pPr algn="l">
              <a:defRPr sz="975" b="0">
                <a:solidFill>
                  <a:srgbClr val="7D43D5"/>
                </a:solidFill>
                <a:latin typeface="Arial"/>
                <a:ea typeface="Arial"/>
                <a:cs typeface="Arial"/>
              </a:defRPr>
            </a:pPr>
            <a:r>
              <a:rPr sz="975" b="0">
                <a:solidFill>
                  <a:srgbClr val="7D43D5"/>
                </a:solidFill>
                <a:latin typeface="Arial"/>
                <a:ea typeface="Arial"/>
                <a:cs typeface="Arial"/>
              </a:rPr>
              <a:t>AGENTIC OS  /  MVP TECHNICAL WALKTHROUGH</a:t>
            </a:r>
          </a:p>
        </p:txBody>
      </p:sp>
      <p:sp>
        <p:nvSpPr>
          <p:cNvPr id="4" name="27">
            <a:extLst>
              <a:ext uri="{FF2B5EF4-FFF2-40B4-BE49-F238E27FC236}">
                <a16:creationId xmlns:a16="http://schemas.microsoft.com/office/drawing/2014/main" id="{EA90F945-2509-48D7-A488-87C31E782790}"/>
              </a:ext>
            </a:extLst>
          </p:cNvPr>
          <p:cNvSpPr>
            <a:spLocks noGrp="1"/>
          </p:cNvSpPr>
          <p:nvPr/>
        </p:nvSpPr>
        <p:spPr>
          <a:xfrm>
            <a:off x="11029950" y="6372225"/>
            <a:ext cx="552450" cy="247650"/>
          </a:xfrm>
          <a:prstGeom prst="rect">
            <a:avLst/>
          </a:prstGeom>
          <a:noFill/>
          <a:ln w="0">
            <a:noFill/>
          </a:ln>
        </p:spPr>
        <p:txBody>
          <a:bodyPr lIns="0" tIns="0" rIns="0" bIns="0" anchor="ctr"/>
          <a:lstStyle>
            <a:defPPr algn="r">
              <a:defRPr sz="1275" b="0">
                <a:solidFill>
                  <a:srgbClr val="7D43D5"/>
                </a:solidFill>
                <a:latin typeface="Arial"/>
                <a:ea typeface="Arial"/>
                <a:cs typeface="Arial"/>
              </a:defRPr>
            </a:defPPr>
          </a:lstStyle>
          <a:p>
            <a:pPr algn="r">
              <a:defRPr sz="1275" b="0">
                <a:solidFill>
                  <a:srgbClr val="7D43D5"/>
                </a:solidFill>
                <a:latin typeface="Arial"/>
                <a:ea typeface="Arial"/>
                <a:cs typeface="Arial"/>
              </a:defRPr>
            </a:pPr>
            <a:r>
              <a:rPr sz="1275" b="0">
                <a:solidFill>
                  <a:srgbClr val="7D43D5"/>
                </a:solidFill>
                <a:latin typeface="Arial"/>
                <a:ea typeface="Arial"/>
                <a:cs typeface="Arial"/>
              </a:rPr>
              <a:t>27</a:t>
            </a:r>
          </a:p>
        </p:txBody>
      </p:sp>
      <p:sp>
        <p:nvSpPr>
          <p:cNvPr id="5" name="file.create">
            <a:extLst>
              <a:ext uri="{FF2B5EF4-FFF2-40B4-BE49-F238E27FC236}">
                <a16:creationId xmlns:a16="http://schemas.microsoft.com/office/drawing/2014/main" id="{ECAC746B-9F10-4B4D-A3C8-B08EE956CFA4}"/>
              </a:ext>
            </a:extLst>
          </p:cNvPr>
          <p:cNvSpPr>
            <a:spLocks noGrp="1"/>
          </p:cNvSpPr>
          <p:nvPr/>
        </p:nvSpPr>
        <p:spPr>
          <a:xfrm>
            <a:off x="609600" y="1990725"/>
            <a:ext cx="3048000" cy="428625"/>
          </a:xfrm>
          <a:prstGeom prst="rect">
            <a:avLst/>
          </a:prstGeom>
          <a:noFill/>
          <a:ln w="0">
            <a:noFill/>
          </a:ln>
        </p:spPr>
        <p:txBody>
          <a:bodyPr lIns="0" tIns="0" rIns="0" bIns="0" anchor="ctr"/>
          <a:lstStyle>
            <a:defPPr algn="l">
              <a:defRPr sz="2100" b="1">
                <a:solidFill>
                  <a:srgbClr val="7D43D5"/>
                </a:solidFill>
                <a:latin typeface="Arial"/>
                <a:ea typeface="Arial"/>
                <a:cs typeface="Arial"/>
              </a:defRPr>
            </a:defPPr>
          </a:lstStyle>
          <a:p>
            <a:pPr algn="l">
              <a:defRPr sz="2100" b="1">
                <a:solidFill>
                  <a:srgbClr val="7D43D5"/>
                </a:solidFill>
                <a:latin typeface="Arial"/>
                <a:ea typeface="Arial"/>
                <a:cs typeface="Arial"/>
              </a:defRPr>
            </a:pPr>
            <a:r>
              <a:rPr sz="2100" b="1">
                <a:solidFill>
                  <a:srgbClr val="7D43D5"/>
                </a:solidFill>
                <a:latin typeface="Arial"/>
                <a:ea typeface="Arial"/>
                <a:cs typeface="Arial"/>
              </a:rPr>
              <a:t>file.create</a:t>
            </a:r>
          </a:p>
        </p:txBody>
      </p:sp>
      <p:sp>
        <p:nvSpPr>
          <p:cNvPr id="6" name="path, content  /  create a new file">
            <a:extLst>
              <a:ext uri="{FF2B5EF4-FFF2-40B4-BE49-F238E27FC236}">
                <a16:creationId xmlns:a16="http://schemas.microsoft.com/office/drawing/2014/main" id="{88F09153-5396-4DB4-A8EA-E0E4DA7073B0}"/>
              </a:ext>
            </a:extLst>
          </p:cNvPr>
          <p:cNvSpPr>
            <a:spLocks noGrp="1"/>
          </p:cNvSpPr>
          <p:nvPr/>
        </p:nvSpPr>
        <p:spPr>
          <a:xfrm>
            <a:off x="3943350" y="1990725"/>
            <a:ext cx="7639050" cy="714375"/>
          </a:xfrm>
          <a:prstGeom prst="rect">
            <a:avLst/>
          </a:prstGeom>
          <a:noFill/>
          <a:ln w="0">
            <a:noFill/>
          </a:ln>
        </p:spPr>
        <p:txBody>
          <a:bodyPr lIns="0" tIns="0" rIns="0" bIns="0" anchor="ctr"/>
          <a:lstStyle>
            <a:defPPr algn="l">
              <a:defRPr sz="2025" b="0">
                <a:solidFill>
                  <a:srgbClr val="251139"/>
                </a:solidFill>
                <a:latin typeface="Arial"/>
                <a:ea typeface="Arial"/>
                <a:cs typeface="Arial"/>
              </a:defRPr>
            </a:defPPr>
          </a:lstStyle>
          <a:p>
            <a:pPr algn="l">
              <a:defRPr sz="2025" b="0">
                <a:solidFill>
                  <a:srgbClr val="251139"/>
                </a:solidFill>
                <a:latin typeface="Arial"/>
                <a:ea typeface="Arial"/>
                <a:cs typeface="Arial"/>
              </a:defRPr>
            </a:pPr>
            <a:r>
              <a:rPr sz="2025" b="0">
                <a:solidFill>
                  <a:srgbClr val="251139"/>
                </a:solidFill>
                <a:latin typeface="Arial"/>
                <a:ea typeface="Arial"/>
                <a:cs typeface="Arial"/>
              </a:rPr>
              <a:t>path, content  /  create a new file</a:t>
            </a:r>
          </a:p>
        </p:txBody>
      </p:sp>
      <p:sp>
        <p:nvSpPr>
          <p:cNvPr id="7" name="file.read">
            <a:extLst>
              <a:ext uri="{FF2B5EF4-FFF2-40B4-BE49-F238E27FC236}">
                <a16:creationId xmlns:a16="http://schemas.microsoft.com/office/drawing/2014/main" id="{68EEA060-5B27-44AA-B0B0-F4C412B605D5}"/>
              </a:ext>
            </a:extLst>
          </p:cNvPr>
          <p:cNvSpPr>
            <a:spLocks noGrp="1"/>
          </p:cNvSpPr>
          <p:nvPr/>
        </p:nvSpPr>
        <p:spPr>
          <a:xfrm>
            <a:off x="609600" y="2886075"/>
            <a:ext cx="3048000" cy="428625"/>
          </a:xfrm>
          <a:prstGeom prst="rect">
            <a:avLst/>
          </a:prstGeom>
          <a:noFill/>
          <a:ln w="0">
            <a:noFill/>
          </a:ln>
        </p:spPr>
        <p:txBody>
          <a:bodyPr lIns="0" tIns="0" rIns="0" bIns="0" anchor="ctr"/>
          <a:lstStyle>
            <a:defPPr algn="l">
              <a:defRPr sz="2100" b="1">
                <a:solidFill>
                  <a:srgbClr val="7D43D5"/>
                </a:solidFill>
                <a:latin typeface="Arial"/>
                <a:ea typeface="Arial"/>
                <a:cs typeface="Arial"/>
              </a:defRPr>
            </a:defPPr>
          </a:lstStyle>
          <a:p>
            <a:pPr algn="l">
              <a:defRPr sz="2100" b="1">
                <a:solidFill>
                  <a:srgbClr val="7D43D5"/>
                </a:solidFill>
                <a:latin typeface="Arial"/>
                <a:ea typeface="Arial"/>
                <a:cs typeface="Arial"/>
              </a:defRPr>
            </a:pPr>
            <a:r>
              <a:rPr sz="2100" b="1">
                <a:solidFill>
                  <a:srgbClr val="7D43D5"/>
                </a:solidFill>
                <a:latin typeface="Arial"/>
                <a:ea typeface="Arial"/>
                <a:cs typeface="Arial"/>
              </a:rPr>
              <a:t>file.read</a:t>
            </a:r>
          </a:p>
        </p:txBody>
      </p:sp>
      <p:sp>
        <p:nvSpPr>
          <p:cNvPr id="8" name="path, offset, limit  /  return bytes">
            <a:extLst>
              <a:ext uri="{FF2B5EF4-FFF2-40B4-BE49-F238E27FC236}">
                <a16:creationId xmlns:a16="http://schemas.microsoft.com/office/drawing/2014/main" id="{D0562047-2DF8-4512-AC92-12C9799384A1}"/>
              </a:ext>
            </a:extLst>
          </p:cNvPr>
          <p:cNvSpPr>
            <a:spLocks noGrp="1"/>
          </p:cNvSpPr>
          <p:nvPr/>
        </p:nvSpPr>
        <p:spPr>
          <a:xfrm>
            <a:off x="3943350" y="2886075"/>
            <a:ext cx="7639050" cy="714375"/>
          </a:xfrm>
          <a:prstGeom prst="rect">
            <a:avLst/>
          </a:prstGeom>
          <a:noFill/>
          <a:ln w="0">
            <a:noFill/>
          </a:ln>
        </p:spPr>
        <p:txBody>
          <a:bodyPr lIns="0" tIns="0" rIns="0" bIns="0" anchor="ctr"/>
          <a:lstStyle>
            <a:defPPr algn="l">
              <a:defRPr sz="2025" b="0">
                <a:solidFill>
                  <a:srgbClr val="251139"/>
                </a:solidFill>
                <a:latin typeface="Arial"/>
                <a:ea typeface="Arial"/>
                <a:cs typeface="Arial"/>
              </a:defRPr>
            </a:defPPr>
          </a:lstStyle>
          <a:p>
            <a:pPr algn="l">
              <a:defRPr sz="2025" b="0">
                <a:solidFill>
                  <a:srgbClr val="251139"/>
                </a:solidFill>
                <a:latin typeface="Arial"/>
                <a:ea typeface="Arial"/>
                <a:cs typeface="Arial"/>
              </a:defRPr>
            </a:pPr>
            <a:r>
              <a:rPr sz="2025" b="0">
                <a:solidFill>
                  <a:srgbClr val="251139"/>
                </a:solidFill>
                <a:latin typeface="Arial"/>
                <a:ea typeface="Arial"/>
                <a:cs typeface="Arial"/>
              </a:rPr>
              <a:t>path, offset, limit  /  return bytes</a:t>
            </a:r>
          </a:p>
        </p:txBody>
      </p:sp>
      <p:sp>
        <p:nvSpPr>
          <p:cNvPr id="9" name="file.update">
            <a:extLst>
              <a:ext uri="{FF2B5EF4-FFF2-40B4-BE49-F238E27FC236}">
                <a16:creationId xmlns:a16="http://schemas.microsoft.com/office/drawing/2014/main" id="{7FDC39EA-AF63-4E29-B348-68529CCD3B16}"/>
              </a:ext>
            </a:extLst>
          </p:cNvPr>
          <p:cNvSpPr>
            <a:spLocks noGrp="1"/>
          </p:cNvSpPr>
          <p:nvPr/>
        </p:nvSpPr>
        <p:spPr>
          <a:xfrm>
            <a:off x="609600" y="3781425"/>
            <a:ext cx="3048000" cy="428625"/>
          </a:xfrm>
          <a:prstGeom prst="rect">
            <a:avLst/>
          </a:prstGeom>
          <a:noFill/>
          <a:ln w="0">
            <a:noFill/>
          </a:ln>
        </p:spPr>
        <p:txBody>
          <a:bodyPr lIns="0" tIns="0" rIns="0" bIns="0" anchor="ctr"/>
          <a:lstStyle>
            <a:defPPr algn="l">
              <a:defRPr sz="2100" b="1">
                <a:solidFill>
                  <a:srgbClr val="7D43D5"/>
                </a:solidFill>
                <a:latin typeface="Arial"/>
                <a:ea typeface="Arial"/>
                <a:cs typeface="Arial"/>
              </a:defRPr>
            </a:defPPr>
          </a:lstStyle>
          <a:p>
            <a:pPr algn="l">
              <a:defRPr sz="2100" b="1">
                <a:solidFill>
                  <a:srgbClr val="7D43D5"/>
                </a:solidFill>
                <a:latin typeface="Arial"/>
                <a:ea typeface="Arial"/>
                <a:cs typeface="Arial"/>
              </a:defRPr>
            </a:pPr>
            <a:r>
              <a:rPr sz="2100" b="1">
                <a:solidFill>
                  <a:srgbClr val="7D43D5"/>
                </a:solidFill>
                <a:latin typeface="Arial"/>
                <a:ea typeface="Arial"/>
                <a:cs typeface="Arial"/>
              </a:rPr>
              <a:t>file.update</a:t>
            </a:r>
          </a:p>
        </p:txBody>
      </p:sp>
      <p:sp>
        <p:nvSpPr>
          <p:cNvPr id="10" name="path, content  /  replace an existing file">
            <a:extLst>
              <a:ext uri="{FF2B5EF4-FFF2-40B4-BE49-F238E27FC236}">
                <a16:creationId xmlns:a16="http://schemas.microsoft.com/office/drawing/2014/main" id="{0C8A8426-FD35-4B01-AB84-9AA32A8C7BA4}"/>
              </a:ext>
            </a:extLst>
          </p:cNvPr>
          <p:cNvSpPr>
            <a:spLocks noGrp="1"/>
          </p:cNvSpPr>
          <p:nvPr/>
        </p:nvSpPr>
        <p:spPr>
          <a:xfrm>
            <a:off x="3943350" y="3781425"/>
            <a:ext cx="7639050" cy="714375"/>
          </a:xfrm>
          <a:prstGeom prst="rect">
            <a:avLst/>
          </a:prstGeom>
          <a:noFill/>
          <a:ln w="0">
            <a:noFill/>
          </a:ln>
        </p:spPr>
        <p:txBody>
          <a:bodyPr lIns="0" tIns="0" rIns="0" bIns="0" anchor="ctr"/>
          <a:lstStyle>
            <a:defPPr algn="l">
              <a:defRPr sz="2025" b="0">
                <a:solidFill>
                  <a:srgbClr val="251139"/>
                </a:solidFill>
                <a:latin typeface="Arial"/>
                <a:ea typeface="Arial"/>
                <a:cs typeface="Arial"/>
              </a:defRPr>
            </a:defPPr>
          </a:lstStyle>
          <a:p>
            <a:pPr algn="l">
              <a:defRPr sz="2025" b="0">
                <a:solidFill>
                  <a:srgbClr val="251139"/>
                </a:solidFill>
                <a:latin typeface="Arial"/>
                <a:ea typeface="Arial"/>
                <a:cs typeface="Arial"/>
              </a:defRPr>
            </a:pPr>
            <a:r>
              <a:rPr sz="2025" b="0">
                <a:solidFill>
                  <a:srgbClr val="251139"/>
                </a:solidFill>
                <a:latin typeface="Arial"/>
                <a:ea typeface="Arial"/>
                <a:cs typeface="Arial"/>
              </a:rPr>
              <a:t>path, content  /  replace an existing file</a:t>
            </a:r>
          </a:p>
        </p:txBody>
      </p:sp>
      <p:sp>
        <p:nvSpPr>
          <p:cNvPr id="11" name="file.delete">
            <a:extLst>
              <a:ext uri="{FF2B5EF4-FFF2-40B4-BE49-F238E27FC236}">
                <a16:creationId xmlns:a16="http://schemas.microsoft.com/office/drawing/2014/main" id="{520FE6DB-02AF-447E-BCC1-3A4D5DEA1E1B}"/>
              </a:ext>
            </a:extLst>
          </p:cNvPr>
          <p:cNvSpPr>
            <a:spLocks noGrp="1"/>
          </p:cNvSpPr>
          <p:nvPr/>
        </p:nvSpPr>
        <p:spPr>
          <a:xfrm>
            <a:off x="609600" y="4676775"/>
            <a:ext cx="3048000" cy="428625"/>
          </a:xfrm>
          <a:prstGeom prst="rect">
            <a:avLst/>
          </a:prstGeom>
          <a:noFill/>
          <a:ln w="0">
            <a:noFill/>
          </a:ln>
        </p:spPr>
        <p:txBody>
          <a:bodyPr lIns="0" tIns="0" rIns="0" bIns="0" anchor="ctr"/>
          <a:lstStyle>
            <a:defPPr algn="l">
              <a:defRPr sz="2100" b="1">
                <a:solidFill>
                  <a:srgbClr val="7D43D5"/>
                </a:solidFill>
                <a:latin typeface="Arial"/>
                <a:ea typeface="Arial"/>
                <a:cs typeface="Arial"/>
              </a:defRPr>
            </a:defPPr>
          </a:lstStyle>
          <a:p>
            <a:pPr algn="l">
              <a:defRPr sz="2100" b="1">
                <a:solidFill>
                  <a:srgbClr val="7D43D5"/>
                </a:solidFill>
                <a:latin typeface="Arial"/>
                <a:ea typeface="Arial"/>
                <a:cs typeface="Arial"/>
              </a:defRPr>
            </a:pPr>
            <a:r>
              <a:rPr sz="2100" b="1">
                <a:solidFill>
                  <a:srgbClr val="7D43D5"/>
                </a:solidFill>
                <a:latin typeface="Arial"/>
                <a:ea typeface="Arial"/>
                <a:cs typeface="Arial"/>
              </a:rPr>
              <a:t>file.delete</a:t>
            </a:r>
          </a:p>
        </p:txBody>
      </p:sp>
      <p:sp>
        <p:nvSpPr>
          <p:cNvPr id="12" name="path  /  remove the named file">
            <a:extLst>
              <a:ext uri="{FF2B5EF4-FFF2-40B4-BE49-F238E27FC236}">
                <a16:creationId xmlns:a16="http://schemas.microsoft.com/office/drawing/2014/main" id="{6BDF08F9-0196-40B1-910D-4B71F3CFEA69}"/>
              </a:ext>
            </a:extLst>
          </p:cNvPr>
          <p:cNvSpPr>
            <a:spLocks noGrp="1"/>
          </p:cNvSpPr>
          <p:nvPr/>
        </p:nvSpPr>
        <p:spPr>
          <a:xfrm>
            <a:off x="3943350" y="4676775"/>
            <a:ext cx="7639050" cy="714375"/>
          </a:xfrm>
          <a:prstGeom prst="rect">
            <a:avLst/>
          </a:prstGeom>
          <a:noFill/>
          <a:ln w="0">
            <a:noFill/>
          </a:ln>
        </p:spPr>
        <p:txBody>
          <a:bodyPr lIns="0" tIns="0" rIns="0" bIns="0" anchor="ctr"/>
          <a:lstStyle>
            <a:defPPr algn="l">
              <a:defRPr sz="2025" b="0">
                <a:solidFill>
                  <a:srgbClr val="251139"/>
                </a:solidFill>
                <a:latin typeface="Arial"/>
                <a:ea typeface="Arial"/>
                <a:cs typeface="Arial"/>
              </a:defRPr>
            </a:defPPr>
          </a:lstStyle>
          <a:p>
            <a:pPr algn="l">
              <a:defRPr sz="2025" b="0">
                <a:solidFill>
                  <a:srgbClr val="251139"/>
                </a:solidFill>
                <a:latin typeface="Arial"/>
                <a:ea typeface="Arial"/>
                <a:cs typeface="Arial"/>
              </a:defRPr>
            </a:pPr>
            <a:r>
              <a:rPr sz="2025" b="0">
                <a:solidFill>
                  <a:srgbClr val="251139"/>
                </a:solidFill>
                <a:latin typeface="Arial"/>
                <a:ea typeface="Arial"/>
                <a:cs typeface="Arial"/>
              </a:rPr>
              <a:t>path  /  remove the named file</a:t>
            </a:r>
          </a:p>
        </p:txBody>
      </p:sp>
    </p:spTree>
    <p:extLst>
      <p:ext uri="{BB962C8B-B14F-4D97-AF65-F5344CB8AC3E}">
        <p14:creationId xmlns:p14="http://schemas.microsoft.com/office/powerpoint/2010/main" val="120288857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180B2B"/>
        </a:solidFill>
        <a:effectLst/>
      </p:bgPr>
    </p:bg>
    <p:spTree>
      <p:nvGrpSpPr>
        <p:cNvPr id="1" name=""/>
        <p:cNvGrpSpPr/>
        <p:nvPr/>
      </p:nvGrpSpPr>
      <p:grpSpPr>
        <a:xfrm>
          <a:off x="0" y="0"/>
          <a:ext cx="0" cy="0"/>
          <a:chOff x="0" y="0"/>
          <a:chExt cx="0" cy="0"/>
        </a:xfrm>
      </p:grpSpPr>
      <p:sp>
        <p:nvSpPr>
          <p:cNvPr id="34" name="AGENT ARCHITECTURE">
            <a:extLst>
              <a:ext uri="{FF2B5EF4-FFF2-40B4-BE49-F238E27FC236}">
                <a16:creationId xmlns:a16="http://schemas.microsoft.com/office/drawing/2014/main" id="{540EE381-EEFB-474E-8280-6588F27D1533}"/>
              </a:ext>
            </a:extLst>
          </p:cNvPr>
          <p:cNvSpPr>
            <a:spLocks noGrp="1"/>
          </p:cNvSpPr>
          <p:nvPr/>
        </p:nvSpPr>
        <p:spPr>
          <a:xfrm>
            <a:off x="609600" y="323850"/>
            <a:ext cx="10001250" cy="228600"/>
          </a:xfrm>
          <a:prstGeom prst="rect">
            <a:avLst/>
          </a:prstGeom>
          <a:noFill/>
          <a:ln w="0">
            <a:noFill/>
          </a:ln>
        </p:spPr>
        <p:txBody>
          <a:bodyPr lIns="0" tIns="0" rIns="0" bIns="0" anchor="ctr"/>
          <a:lstStyle>
            <a:defPPr algn="l">
              <a:defRPr sz="1200" b="1">
                <a:solidFill>
                  <a:srgbClr val="BE98F6"/>
                </a:solidFill>
                <a:latin typeface="Arial"/>
                <a:ea typeface="Arial"/>
                <a:cs typeface="Arial"/>
              </a:defRPr>
            </a:defPPr>
          </a:lstStyle>
          <a:p>
            <a:pPr algn="l">
              <a:defRPr sz="1200" b="1">
                <a:solidFill>
                  <a:srgbClr val="BE98F6"/>
                </a:solidFill>
                <a:latin typeface="Arial"/>
                <a:ea typeface="Arial"/>
                <a:cs typeface="Arial"/>
              </a:defRPr>
            </a:pPr>
            <a:r>
              <a:rPr sz="1200" b="1">
                <a:solidFill>
                  <a:srgbClr val="BE98F6"/>
                </a:solidFill>
                <a:latin typeface="Arial"/>
                <a:ea typeface="Arial"/>
                <a:cs typeface="Arial"/>
              </a:rPr>
              <a:t>AGENT ARCHITECTURE</a:t>
            </a:r>
          </a:p>
        </p:txBody>
      </p:sp>
      <p:sp>
        <p:nvSpPr>
          <p:cNvPr id="2" name="Agent file-operation sequence">
            <a:extLst>
              <a:ext uri="{FF2B5EF4-FFF2-40B4-BE49-F238E27FC236}">
                <a16:creationId xmlns:a16="http://schemas.microsoft.com/office/drawing/2014/main" id="{89A8AE0A-45C9-4C8C-A78E-096722F1CEDF}"/>
              </a:ext>
            </a:extLst>
          </p:cNvPr>
          <p:cNvSpPr>
            <a:spLocks noGrp="1"/>
          </p:cNvSpPr>
          <p:nvPr/>
        </p:nvSpPr>
        <p:spPr>
          <a:xfrm>
            <a:off x="609600" y="876300"/>
            <a:ext cx="10972800" cy="952500"/>
          </a:xfrm>
          <a:prstGeom prst="rect">
            <a:avLst/>
          </a:prstGeom>
          <a:noFill/>
          <a:ln w="0">
            <a:noFill/>
          </a:ln>
        </p:spPr>
        <p:txBody>
          <a:bodyPr lIns="0" tIns="0" rIns="0" bIns="0" anchor="ctr"/>
          <a:lstStyle>
            <a:defPPr algn="l">
              <a:defRPr sz="3300" b="1">
                <a:solidFill>
                  <a:srgbClr val="FFFFFF"/>
                </a:solidFill>
                <a:latin typeface="Arial"/>
                <a:ea typeface="Arial"/>
                <a:cs typeface="Arial"/>
              </a:defRPr>
            </a:defPPr>
          </a:lstStyle>
          <a:p>
            <a:pPr algn="l">
              <a:defRPr sz="3300" b="1">
                <a:solidFill>
                  <a:srgbClr val="FFFFFF"/>
                </a:solidFill>
                <a:latin typeface="Arial"/>
                <a:ea typeface="Arial"/>
                <a:cs typeface="Arial"/>
              </a:defRPr>
            </a:pPr>
            <a:r>
              <a:rPr sz="3300" b="1">
                <a:solidFill>
                  <a:srgbClr val="FFFFFF"/>
                </a:solidFill>
                <a:latin typeface="Arial"/>
                <a:ea typeface="Arial"/>
                <a:cs typeface="Arial"/>
              </a:rPr>
              <a:t>Agent file-operation sequence</a:t>
            </a:r>
          </a:p>
        </p:txBody>
      </p:sp>
      <p:sp>
        <p:nvSpPr>
          <p:cNvPr id="3" name="AGENTIC OS  /  MVP TECHNICAL WALKTHROUGH">
            <a:extLst>
              <a:ext uri="{FF2B5EF4-FFF2-40B4-BE49-F238E27FC236}">
                <a16:creationId xmlns:a16="http://schemas.microsoft.com/office/drawing/2014/main" id="{63ED1235-CA13-42D0-B054-CB5A4629961D}"/>
              </a:ext>
            </a:extLst>
          </p:cNvPr>
          <p:cNvSpPr>
            <a:spLocks noGrp="1"/>
          </p:cNvSpPr>
          <p:nvPr/>
        </p:nvSpPr>
        <p:spPr>
          <a:xfrm>
            <a:off x="609600" y="6410325"/>
            <a:ext cx="10001250" cy="190500"/>
          </a:xfrm>
          <a:prstGeom prst="rect">
            <a:avLst/>
          </a:prstGeom>
          <a:noFill/>
          <a:ln w="0">
            <a:noFill/>
          </a:ln>
        </p:spPr>
        <p:txBody>
          <a:bodyPr lIns="0" tIns="0" rIns="0" bIns="0" anchor="ctr"/>
          <a:lstStyle>
            <a:defPPr algn="l">
              <a:defRPr sz="975" b="0">
                <a:solidFill>
                  <a:srgbClr val="D5C9E6"/>
                </a:solidFill>
                <a:latin typeface="Arial"/>
                <a:ea typeface="Arial"/>
                <a:cs typeface="Arial"/>
              </a:defRPr>
            </a:defPPr>
          </a:lstStyle>
          <a:p>
            <a:pPr algn="l">
              <a:defRPr sz="975" b="0">
                <a:solidFill>
                  <a:srgbClr val="D5C9E6"/>
                </a:solidFill>
                <a:latin typeface="Arial"/>
                <a:ea typeface="Arial"/>
                <a:cs typeface="Arial"/>
              </a:defRPr>
            </a:pPr>
            <a:r>
              <a:rPr sz="975" b="0">
                <a:solidFill>
                  <a:srgbClr val="D5C9E6"/>
                </a:solidFill>
                <a:latin typeface="Arial"/>
                <a:ea typeface="Arial"/>
                <a:cs typeface="Arial"/>
              </a:rPr>
              <a:t>AGENTIC OS  /  MVP TECHNICAL WALKTHROUGH</a:t>
            </a:r>
          </a:p>
        </p:txBody>
      </p:sp>
      <p:sp>
        <p:nvSpPr>
          <p:cNvPr id="4" name="28">
            <a:extLst>
              <a:ext uri="{FF2B5EF4-FFF2-40B4-BE49-F238E27FC236}">
                <a16:creationId xmlns:a16="http://schemas.microsoft.com/office/drawing/2014/main" id="{B19EDFFE-81C7-4767-9887-669CF0C4BA61}"/>
              </a:ext>
            </a:extLst>
          </p:cNvPr>
          <p:cNvSpPr>
            <a:spLocks noGrp="1"/>
          </p:cNvSpPr>
          <p:nvPr/>
        </p:nvSpPr>
        <p:spPr>
          <a:xfrm>
            <a:off x="11029950" y="6372225"/>
            <a:ext cx="552450" cy="247650"/>
          </a:xfrm>
          <a:prstGeom prst="rect">
            <a:avLst/>
          </a:prstGeom>
          <a:noFill/>
          <a:ln w="0">
            <a:noFill/>
          </a:ln>
        </p:spPr>
        <p:txBody>
          <a:bodyPr lIns="0" tIns="0" rIns="0" bIns="0" anchor="ctr"/>
          <a:lstStyle>
            <a:defPPr algn="r">
              <a:defRPr sz="1275" b="0">
                <a:solidFill>
                  <a:srgbClr val="BE98F6"/>
                </a:solidFill>
                <a:latin typeface="Arial"/>
                <a:ea typeface="Arial"/>
                <a:cs typeface="Arial"/>
              </a:defRPr>
            </a:defPPr>
          </a:lstStyle>
          <a:p>
            <a:pPr algn="r">
              <a:defRPr sz="1275" b="0">
                <a:solidFill>
                  <a:srgbClr val="BE98F6"/>
                </a:solidFill>
                <a:latin typeface="Arial"/>
                <a:ea typeface="Arial"/>
                <a:cs typeface="Arial"/>
              </a:defRPr>
            </a:pPr>
            <a:r>
              <a:rPr sz="1275" b="0">
                <a:solidFill>
                  <a:srgbClr val="BE98F6"/>
                </a:solidFill>
                <a:latin typeface="Arial"/>
                <a:ea typeface="Arial"/>
                <a:cs typeface="Arial"/>
              </a:rPr>
              <a:t>28</a:t>
            </a:r>
          </a:p>
        </p:txBody>
      </p:sp>
      <p:sp>
        <p:nvSpPr>
          <p:cNvPr id="5" name="Rectangle 4">
            <a:extLst>
              <a:ext uri="{FF2B5EF4-FFF2-40B4-BE49-F238E27FC236}">
                <a16:creationId xmlns:a16="http://schemas.microsoft.com/office/drawing/2014/main" id="{E563C6B4-7D9C-4571-8FB1-E29F48434913}"/>
              </a:ext>
            </a:extLst>
          </p:cNvPr>
          <p:cNvSpPr>
            <a:spLocks noGrp="1"/>
          </p:cNvSpPr>
          <p:nvPr/>
        </p:nvSpPr>
        <p:spPr>
          <a:xfrm>
            <a:off x="333375" y="2028825"/>
            <a:ext cx="2000250" cy="590550"/>
          </a:xfrm>
          <a:prstGeom prst="rect">
            <a:avLst/>
          </a:prstGeom>
          <a:solidFill>
            <a:srgbClr val="2A1547"/>
          </a:solidFill>
          <a:ln w="13335">
            <a:solidFill>
              <a:srgbClr val="7D43D5"/>
            </a:solidFill>
          </a:ln>
        </p:spPr>
      </p:sp>
      <p:sp>
        <p:nvSpPr>
          <p:cNvPr id="6" name="User">
            <a:extLst>
              <a:ext uri="{FF2B5EF4-FFF2-40B4-BE49-F238E27FC236}">
                <a16:creationId xmlns:a16="http://schemas.microsoft.com/office/drawing/2014/main" id="{6746EDC6-E51B-440F-BDC5-8CF9E8E606A6}"/>
              </a:ext>
            </a:extLst>
          </p:cNvPr>
          <p:cNvSpPr>
            <a:spLocks noGrp="1"/>
          </p:cNvSpPr>
          <p:nvPr/>
        </p:nvSpPr>
        <p:spPr>
          <a:xfrm>
            <a:off x="476250" y="2114550"/>
            <a:ext cx="1714500" cy="419100"/>
          </a:xfrm>
          <a:prstGeom prst="rect">
            <a:avLst/>
          </a:prstGeom>
          <a:noFill/>
          <a:ln w="0">
            <a:noFill/>
          </a:ln>
        </p:spPr>
        <p:txBody>
          <a:bodyPr lIns="0" tIns="0" rIns="0" bIns="0" anchor="ctr"/>
          <a:lstStyle>
            <a:defPPr algn="ctr">
              <a:defRPr sz="1800" b="1">
                <a:solidFill>
                  <a:srgbClr val="FFFFFF"/>
                </a:solidFill>
                <a:latin typeface="Arial"/>
                <a:ea typeface="Arial"/>
                <a:cs typeface="Arial"/>
              </a:defRPr>
            </a:defPPr>
          </a:lstStyle>
          <a:p>
            <a:pPr algn="ctr">
              <a:defRPr sz="1800" b="1">
                <a:solidFill>
                  <a:srgbClr val="FFFFFF"/>
                </a:solidFill>
                <a:latin typeface="Arial"/>
                <a:ea typeface="Arial"/>
                <a:cs typeface="Arial"/>
              </a:defRPr>
            </a:pPr>
            <a:r>
              <a:rPr sz="1800" b="1">
                <a:solidFill>
                  <a:srgbClr val="FFFFFF"/>
                </a:solidFill>
                <a:latin typeface="Arial"/>
                <a:ea typeface="Arial"/>
                <a:cs typeface="Arial"/>
              </a:rPr>
              <a:t>User</a:t>
            </a:r>
          </a:p>
        </p:txBody>
      </p:sp>
      <p:cxnSp>
        <p:nvCxnSpPr>
          <p:cNvPr id="7" name="Straight Arrow Connector 6">
            <a:extLst>
              <a:ext uri="{FF2B5EF4-FFF2-40B4-BE49-F238E27FC236}">
                <a16:creationId xmlns:a16="http://schemas.microsoft.com/office/drawing/2014/main" id="{FDAB4E83-2540-4DBB-9990-2CA44DE076DA}"/>
              </a:ext>
            </a:extLst>
          </p:cNvPr>
          <p:cNvCxnSpPr/>
          <p:nvPr/>
        </p:nvCxnSpPr>
        <p:spPr>
          <a:xfrm>
            <a:off x="1333500" y="2705100"/>
            <a:ext cx="0" cy="2771775"/>
          </a:xfrm>
          <a:prstGeom prst="straightConnector1">
            <a:avLst/>
          </a:prstGeom>
          <a:ln w="19050">
            <a:solidFill>
              <a:srgbClr val="BE98F6"/>
            </a:solidFill>
            <a:prstDash val="dash"/>
            <a:tailEnd type="none" w="med" len="med"/>
          </a:ln>
        </p:spPr>
      </p:cxnSp>
      <p:sp>
        <p:nvSpPr>
          <p:cNvPr id="8" name="Rectangle 7">
            <a:extLst>
              <a:ext uri="{FF2B5EF4-FFF2-40B4-BE49-F238E27FC236}">
                <a16:creationId xmlns:a16="http://schemas.microsoft.com/office/drawing/2014/main" id="{E6B80D5D-C17C-4F9D-90AB-795A0DE83EA8}"/>
              </a:ext>
            </a:extLst>
          </p:cNvPr>
          <p:cNvSpPr>
            <a:spLocks noGrp="1"/>
          </p:cNvSpPr>
          <p:nvPr/>
        </p:nvSpPr>
        <p:spPr>
          <a:xfrm>
            <a:off x="3508375" y="2028825"/>
            <a:ext cx="2000250" cy="590550"/>
          </a:xfrm>
          <a:prstGeom prst="rect">
            <a:avLst/>
          </a:prstGeom>
          <a:solidFill>
            <a:srgbClr val="2A1547"/>
          </a:solidFill>
          <a:ln w="13335">
            <a:solidFill>
              <a:srgbClr val="7D43D5"/>
            </a:solidFill>
          </a:ln>
        </p:spPr>
      </p:sp>
      <p:sp>
        <p:nvSpPr>
          <p:cNvPr id="9" name="OS agent">
            <a:extLst>
              <a:ext uri="{FF2B5EF4-FFF2-40B4-BE49-F238E27FC236}">
                <a16:creationId xmlns:a16="http://schemas.microsoft.com/office/drawing/2014/main" id="{D15F8C05-96AB-4B1A-A7FC-132C351E8B08}"/>
              </a:ext>
            </a:extLst>
          </p:cNvPr>
          <p:cNvSpPr>
            <a:spLocks noGrp="1"/>
          </p:cNvSpPr>
          <p:nvPr/>
        </p:nvSpPr>
        <p:spPr>
          <a:xfrm>
            <a:off x="3651250" y="2114550"/>
            <a:ext cx="1714500" cy="419100"/>
          </a:xfrm>
          <a:prstGeom prst="rect">
            <a:avLst/>
          </a:prstGeom>
          <a:noFill/>
          <a:ln w="0">
            <a:noFill/>
          </a:ln>
        </p:spPr>
        <p:txBody>
          <a:bodyPr lIns="0" tIns="0" rIns="0" bIns="0" anchor="ctr"/>
          <a:lstStyle>
            <a:defPPr algn="ctr">
              <a:defRPr sz="1800" b="1">
                <a:solidFill>
                  <a:srgbClr val="FFFFFF"/>
                </a:solidFill>
                <a:latin typeface="Arial"/>
                <a:ea typeface="Arial"/>
                <a:cs typeface="Arial"/>
              </a:defRPr>
            </a:defPPr>
          </a:lstStyle>
          <a:p>
            <a:pPr algn="ctr">
              <a:defRPr sz="1800" b="1">
                <a:solidFill>
                  <a:srgbClr val="FFFFFF"/>
                </a:solidFill>
                <a:latin typeface="Arial"/>
                <a:ea typeface="Arial"/>
                <a:cs typeface="Arial"/>
              </a:defRPr>
            </a:pPr>
            <a:r>
              <a:rPr sz="1800" b="1">
                <a:solidFill>
                  <a:srgbClr val="FFFFFF"/>
                </a:solidFill>
                <a:latin typeface="Arial"/>
                <a:ea typeface="Arial"/>
                <a:cs typeface="Arial"/>
              </a:rPr>
              <a:t>OS agent</a:t>
            </a:r>
          </a:p>
        </p:txBody>
      </p:sp>
      <p:cxnSp>
        <p:nvCxnSpPr>
          <p:cNvPr id="10" name="Straight Arrow Connector 9">
            <a:extLst>
              <a:ext uri="{FF2B5EF4-FFF2-40B4-BE49-F238E27FC236}">
                <a16:creationId xmlns:a16="http://schemas.microsoft.com/office/drawing/2014/main" id="{8E4F3D24-EAD2-42C1-ACF1-32F3A321AE62}"/>
              </a:ext>
            </a:extLst>
          </p:cNvPr>
          <p:cNvCxnSpPr/>
          <p:nvPr/>
        </p:nvCxnSpPr>
        <p:spPr>
          <a:xfrm>
            <a:off x="4508500" y="2705100"/>
            <a:ext cx="0" cy="2771775"/>
          </a:xfrm>
          <a:prstGeom prst="straightConnector1">
            <a:avLst/>
          </a:prstGeom>
          <a:ln w="19050">
            <a:solidFill>
              <a:srgbClr val="BE98F6"/>
            </a:solidFill>
            <a:prstDash val="dash"/>
            <a:tailEnd type="none" w="med" len="med"/>
          </a:ln>
        </p:spPr>
      </p:cxnSp>
      <p:sp>
        <p:nvSpPr>
          <p:cNvPr id="11" name="Rectangle 10">
            <a:extLst>
              <a:ext uri="{FF2B5EF4-FFF2-40B4-BE49-F238E27FC236}">
                <a16:creationId xmlns:a16="http://schemas.microsoft.com/office/drawing/2014/main" id="{F1F94A5F-6897-4B54-893E-F5E1372815D6}"/>
              </a:ext>
            </a:extLst>
          </p:cNvPr>
          <p:cNvSpPr>
            <a:spLocks noGrp="1"/>
          </p:cNvSpPr>
          <p:nvPr/>
        </p:nvSpPr>
        <p:spPr>
          <a:xfrm>
            <a:off x="6683375" y="2028825"/>
            <a:ext cx="2000250" cy="590550"/>
          </a:xfrm>
          <a:prstGeom prst="rect">
            <a:avLst/>
          </a:prstGeom>
          <a:solidFill>
            <a:srgbClr val="2A1547"/>
          </a:solidFill>
          <a:ln w="13335">
            <a:solidFill>
              <a:srgbClr val="7D43D5"/>
            </a:solidFill>
          </a:ln>
        </p:spPr>
      </p:sp>
      <p:sp>
        <p:nvSpPr>
          <p:cNvPr id="12" name="Tool policy">
            <a:extLst>
              <a:ext uri="{FF2B5EF4-FFF2-40B4-BE49-F238E27FC236}">
                <a16:creationId xmlns:a16="http://schemas.microsoft.com/office/drawing/2014/main" id="{33BB3E8A-AA7E-416E-B2E6-775600EFB78E}"/>
              </a:ext>
            </a:extLst>
          </p:cNvPr>
          <p:cNvSpPr>
            <a:spLocks noGrp="1"/>
          </p:cNvSpPr>
          <p:nvPr/>
        </p:nvSpPr>
        <p:spPr>
          <a:xfrm>
            <a:off x="6826250" y="2114550"/>
            <a:ext cx="1714500" cy="419100"/>
          </a:xfrm>
          <a:prstGeom prst="rect">
            <a:avLst/>
          </a:prstGeom>
          <a:noFill/>
          <a:ln w="0">
            <a:noFill/>
          </a:ln>
        </p:spPr>
        <p:txBody>
          <a:bodyPr lIns="0" tIns="0" rIns="0" bIns="0" anchor="ctr"/>
          <a:lstStyle>
            <a:defPPr algn="ctr">
              <a:defRPr sz="1800" b="1">
                <a:solidFill>
                  <a:srgbClr val="FFFFFF"/>
                </a:solidFill>
                <a:latin typeface="Arial"/>
                <a:ea typeface="Arial"/>
                <a:cs typeface="Arial"/>
              </a:defRPr>
            </a:defPPr>
          </a:lstStyle>
          <a:p>
            <a:pPr algn="ctr">
              <a:defRPr sz="1800" b="1">
                <a:solidFill>
                  <a:srgbClr val="FFFFFF"/>
                </a:solidFill>
                <a:latin typeface="Arial"/>
                <a:ea typeface="Arial"/>
                <a:cs typeface="Arial"/>
              </a:defRPr>
            </a:pPr>
            <a:r>
              <a:rPr sz="1800" b="1">
                <a:solidFill>
                  <a:srgbClr val="FFFFFF"/>
                </a:solidFill>
                <a:latin typeface="Arial"/>
                <a:ea typeface="Arial"/>
                <a:cs typeface="Arial"/>
              </a:rPr>
              <a:t>Tool policy</a:t>
            </a:r>
          </a:p>
        </p:txBody>
      </p:sp>
      <p:cxnSp>
        <p:nvCxnSpPr>
          <p:cNvPr id="13" name="Straight Arrow Connector 12">
            <a:extLst>
              <a:ext uri="{FF2B5EF4-FFF2-40B4-BE49-F238E27FC236}">
                <a16:creationId xmlns:a16="http://schemas.microsoft.com/office/drawing/2014/main" id="{2EE3742A-7A9E-483A-AEF1-C3842FEF25B8}"/>
              </a:ext>
            </a:extLst>
          </p:cNvPr>
          <p:cNvCxnSpPr/>
          <p:nvPr/>
        </p:nvCxnSpPr>
        <p:spPr>
          <a:xfrm>
            <a:off x="7683500" y="2705100"/>
            <a:ext cx="0" cy="2771775"/>
          </a:xfrm>
          <a:prstGeom prst="straightConnector1">
            <a:avLst/>
          </a:prstGeom>
          <a:ln w="19050">
            <a:solidFill>
              <a:srgbClr val="BE98F6"/>
            </a:solidFill>
            <a:prstDash val="dash"/>
            <a:tailEnd type="none" w="med" len="med"/>
          </a:ln>
        </p:spPr>
      </p:cxnSp>
      <p:sp>
        <p:nvSpPr>
          <p:cNvPr id="14" name="Rectangle 13">
            <a:extLst>
              <a:ext uri="{FF2B5EF4-FFF2-40B4-BE49-F238E27FC236}">
                <a16:creationId xmlns:a16="http://schemas.microsoft.com/office/drawing/2014/main" id="{5A3C3A85-BE46-431D-A439-AD9CFB24BA51}"/>
              </a:ext>
            </a:extLst>
          </p:cNvPr>
          <p:cNvSpPr>
            <a:spLocks noGrp="1"/>
          </p:cNvSpPr>
          <p:nvPr/>
        </p:nvSpPr>
        <p:spPr>
          <a:xfrm>
            <a:off x="9858375" y="2028825"/>
            <a:ext cx="2000250" cy="590550"/>
          </a:xfrm>
          <a:prstGeom prst="rect">
            <a:avLst/>
          </a:prstGeom>
          <a:solidFill>
            <a:srgbClr val="2A1547"/>
          </a:solidFill>
          <a:ln w="13335">
            <a:solidFill>
              <a:srgbClr val="7D43D5"/>
            </a:solidFill>
          </a:ln>
        </p:spPr>
      </p:sp>
      <p:sp>
        <p:nvSpPr>
          <p:cNvPr id="15" name="RAMFS">
            <a:extLst>
              <a:ext uri="{FF2B5EF4-FFF2-40B4-BE49-F238E27FC236}">
                <a16:creationId xmlns:a16="http://schemas.microsoft.com/office/drawing/2014/main" id="{C1B6A611-2BBC-4F3A-9116-42A0E67EDA8F}"/>
              </a:ext>
            </a:extLst>
          </p:cNvPr>
          <p:cNvSpPr>
            <a:spLocks noGrp="1"/>
          </p:cNvSpPr>
          <p:nvPr/>
        </p:nvSpPr>
        <p:spPr>
          <a:xfrm>
            <a:off x="10001250" y="2114550"/>
            <a:ext cx="1714500" cy="419100"/>
          </a:xfrm>
          <a:prstGeom prst="rect">
            <a:avLst/>
          </a:prstGeom>
          <a:noFill/>
          <a:ln w="0">
            <a:noFill/>
          </a:ln>
        </p:spPr>
        <p:txBody>
          <a:bodyPr lIns="0" tIns="0" rIns="0" bIns="0" anchor="ctr"/>
          <a:lstStyle>
            <a:defPPr algn="ctr">
              <a:defRPr sz="1800" b="1">
                <a:solidFill>
                  <a:srgbClr val="FFFFFF"/>
                </a:solidFill>
                <a:latin typeface="Arial"/>
                <a:ea typeface="Arial"/>
                <a:cs typeface="Arial"/>
              </a:defRPr>
            </a:defPPr>
          </a:lstStyle>
          <a:p>
            <a:pPr algn="ctr">
              <a:defRPr sz="1800" b="1">
                <a:solidFill>
                  <a:srgbClr val="FFFFFF"/>
                </a:solidFill>
                <a:latin typeface="Arial"/>
                <a:ea typeface="Arial"/>
                <a:cs typeface="Arial"/>
              </a:defRPr>
            </a:pPr>
            <a:r>
              <a:rPr sz="1800" b="1">
                <a:solidFill>
                  <a:srgbClr val="FFFFFF"/>
                </a:solidFill>
                <a:latin typeface="Arial"/>
                <a:ea typeface="Arial"/>
                <a:cs typeface="Arial"/>
              </a:rPr>
              <a:t>RAMFS</a:t>
            </a:r>
          </a:p>
        </p:txBody>
      </p:sp>
      <p:cxnSp>
        <p:nvCxnSpPr>
          <p:cNvPr id="16" name="Straight Arrow Connector 15">
            <a:extLst>
              <a:ext uri="{FF2B5EF4-FFF2-40B4-BE49-F238E27FC236}">
                <a16:creationId xmlns:a16="http://schemas.microsoft.com/office/drawing/2014/main" id="{C979E049-FCAE-4EE4-9306-E6979FDFA60A}"/>
              </a:ext>
            </a:extLst>
          </p:cNvPr>
          <p:cNvCxnSpPr/>
          <p:nvPr/>
        </p:nvCxnSpPr>
        <p:spPr>
          <a:xfrm>
            <a:off x="10858500" y="2705100"/>
            <a:ext cx="0" cy="2771775"/>
          </a:xfrm>
          <a:prstGeom prst="straightConnector1">
            <a:avLst/>
          </a:prstGeom>
          <a:ln w="19050">
            <a:solidFill>
              <a:srgbClr val="BE98F6"/>
            </a:solidFill>
            <a:prstDash val="dash"/>
            <a:tailEnd type="none" w="med" len="med"/>
          </a:ln>
        </p:spPr>
      </p:cxnSp>
      <p:cxnSp>
        <p:nvCxnSpPr>
          <p:cNvPr id="17" name="Straight Arrow Connector 16">
            <a:extLst>
              <a:ext uri="{FF2B5EF4-FFF2-40B4-BE49-F238E27FC236}">
                <a16:creationId xmlns:a16="http://schemas.microsoft.com/office/drawing/2014/main" id="{DAAA6A72-C82A-4A1C-B9DE-E52FF67219AD}"/>
              </a:ext>
            </a:extLst>
          </p:cNvPr>
          <p:cNvCxnSpPr/>
          <p:nvPr/>
        </p:nvCxnSpPr>
        <p:spPr>
          <a:xfrm>
            <a:off x="1333500" y="3028950"/>
            <a:ext cx="3175000" cy="0"/>
          </a:xfrm>
          <a:prstGeom prst="straightConnector1">
            <a:avLst/>
          </a:prstGeom>
          <a:ln w="19050">
            <a:solidFill>
              <a:srgbClr val="BE98F6"/>
            </a:solidFill>
            <a:prstDash val="solid"/>
            <a:tailEnd type="triangle" w="med" len="med"/>
          </a:ln>
        </p:spPr>
      </p:cxnSp>
      <p:sp>
        <p:nvSpPr>
          <p:cNvPr id="18" name="Create /notes/demo.txt">
            <a:extLst>
              <a:ext uri="{FF2B5EF4-FFF2-40B4-BE49-F238E27FC236}">
                <a16:creationId xmlns:a16="http://schemas.microsoft.com/office/drawing/2014/main" id="{E48CD1C3-D3F0-41DA-920F-4A7144EDCC85}"/>
              </a:ext>
            </a:extLst>
          </p:cNvPr>
          <p:cNvSpPr>
            <a:spLocks noGrp="1"/>
          </p:cNvSpPr>
          <p:nvPr/>
        </p:nvSpPr>
        <p:spPr>
          <a:xfrm>
            <a:off x="1457325" y="2752725"/>
            <a:ext cx="2927350" cy="257175"/>
          </a:xfrm>
          <a:prstGeom prst="rect">
            <a:avLst/>
          </a:prstGeom>
          <a:noFill/>
          <a:ln w="0">
            <a:noFill/>
          </a:ln>
        </p:spPr>
        <p:txBody>
          <a:bodyPr lIns="0" tIns="0" rIns="0" bIns="0" anchor="ctr"/>
          <a:lstStyle>
            <a:defPPr algn="l">
              <a:defRPr sz="1425" b="0">
                <a:solidFill>
                  <a:srgbClr val="FFFFFF"/>
                </a:solidFill>
                <a:latin typeface="Arial"/>
                <a:ea typeface="Arial"/>
                <a:cs typeface="Arial"/>
              </a:defRPr>
            </a:defPPr>
          </a:lstStyle>
          <a:p>
            <a:pPr algn="l">
              <a:defRPr sz="1425" b="0">
                <a:solidFill>
                  <a:srgbClr val="FFFFFF"/>
                </a:solidFill>
                <a:latin typeface="Arial"/>
                <a:ea typeface="Arial"/>
                <a:cs typeface="Arial"/>
              </a:defRPr>
            </a:pPr>
            <a:r>
              <a:rPr sz="1425" b="0">
                <a:solidFill>
                  <a:srgbClr val="FFFFFF"/>
                </a:solidFill>
                <a:latin typeface="Arial"/>
                <a:ea typeface="Arial"/>
                <a:cs typeface="Arial"/>
              </a:rPr>
              <a:t>Create /notes/demo.txt</a:t>
            </a:r>
          </a:p>
        </p:txBody>
      </p:sp>
      <p:cxnSp>
        <p:nvCxnSpPr>
          <p:cNvPr id="19" name="Straight Arrow Connector 18">
            <a:extLst>
              <a:ext uri="{FF2B5EF4-FFF2-40B4-BE49-F238E27FC236}">
                <a16:creationId xmlns:a16="http://schemas.microsoft.com/office/drawing/2014/main" id="{84DF3788-3917-4E48-9625-5D7A9647D6B6}"/>
              </a:ext>
            </a:extLst>
          </p:cNvPr>
          <p:cNvCxnSpPr/>
          <p:nvPr/>
        </p:nvCxnSpPr>
        <p:spPr>
          <a:xfrm>
            <a:off x="4508500" y="3350419"/>
            <a:ext cx="3175000" cy="0"/>
          </a:xfrm>
          <a:prstGeom prst="straightConnector1">
            <a:avLst/>
          </a:prstGeom>
          <a:ln w="19050">
            <a:solidFill>
              <a:srgbClr val="BE98F6"/>
            </a:solidFill>
            <a:prstDash val="solid"/>
            <a:tailEnd type="triangle" w="med" len="med"/>
          </a:ln>
        </p:spPr>
      </p:cxnSp>
      <p:sp>
        <p:nvSpPr>
          <p:cNvPr id="20" name="file.create(path, content)">
            <a:extLst>
              <a:ext uri="{FF2B5EF4-FFF2-40B4-BE49-F238E27FC236}">
                <a16:creationId xmlns:a16="http://schemas.microsoft.com/office/drawing/2014/main" id="{B0207816-7187-4578-8A4E-9C282EB1895A}"/>
              </a:ext>
            </a:extLst>
          </p:cNvPr>
          <p:cNvSpPr>
            <a:spLocks noGrp="1"/>
          </p:cNvSpPr>
          <p:nvPr/>
        </p:nvSpPr>
        <p:spPr>
          <a:xfrm>
            <a:off x="4632325" y="3074194"/>
            <a:ext cx="2927350" cy="257175"/>
          </a:xfrm>
          <a:prstGeom prst="rect">
            <a:avLst/>
          </a:prstGeom>
          <a:noFill/>
          <a:ln w="0">
            <a:noFill/>
          </a:ln>
        </p:spPr>
        <p:txBody>
          <a:bodyPr lIns="0" tIns="0" rIns="0" bIns="0" anchor="ctr"/>
          <a:lstStyle>
            <a:defPPr algn="l">
              <a:defRPr sz="1425" b="0">
                <a:solidFill>
                  <a:srgbClr val="FFFFFF"/>
                </a:solidFill>
                <a:latin typeface="Arial"/>
                <a:ea typeface="Arial"/>
                <a:cs typeface="Arial"/>
              </a:defRPr>
            </a:defPPr>
          </a:lstStyle>
          <a:p>
            <a:pPr algn="l">
              <a:defRPr sz="1425" b="0">
                <a:solidFill>
                  <a:srgbClr val="FFFFFF"/>
                </a:solidFill>
                <a:latin typeface="Arial"/>
                <a:ea typeface="Arial"/>
                <a:cs typeface="Arial"/>
              </a:defRPr>
            </a:pPr>
            <a:r>
              <a:rPr sz="1425" b="0">
                <a:solidFill>
                  <a:srgbClr val="FFFFFF"/>
                </a:solidFill>
                <a:latin typeface="Arial"/>
                <a:ea typeface="Arial"/>
                <a:cs typeface="Arial"/>
              </a:rPr>
              <a:t>file.create(path, content)</a:t>
            </a:r>
          </a:p>
        </p:txBody>
      </p:sp>
      <p:cxnSp>
        <p:nvCxnSpPr>
          <p:cNvPr id="21" name="Straight Arrow Connector 20">
            <a:extLst>
              <a:ext uri="{FF2B5EF4-FFF2-40B4-BE49-F238E27FC236}">
                <a16:creationId xmlns:a16="http://schemas.microsoft.com/office/drawing/2014/main" id="{749390B5-18D7-4BE7-8C9E-3FEF4B992CA3}"/>
              </a:ext>
            </a:extLst>
          </p:cNvPr>
          <p:cNvCxnSpPr/>
          <p:nvPr/>
        </p:nvCxnSpPr>
        <p:spPr>
          <a:xfrm>
            <a:off x="7683500" y="3671888"/>
            <a:ext cx="3175000" cy="0"/>
          </a:xfrm>
          <a:prstGeom prst="straightConnector1">
            <a:avLst/>
          </a:prstGeom>
          <a:ln w="19050">
            <a:solidFill>
              <a:srgbClr val="BE98F6"/>
            </a:solidFill>
            <a:prstDash val="solid"/>
            <a:tailEnd type="triangle" w="med" len="med"/>
          </a:ln>
        </p:spPr>
      </p:cxnSp>
      <p:sp>
        <p:nvSpPr>
          <p:cNvPr id="22" name="Validate scope, create and write">
            <a:extLst>
              <a:ext uri="{FF2B5EF4-FFF2-40B4-BE49-F238E27FC236}">
                <a16:creationId xmlns:a16="http://schemas.microsoft.com/office/drawing/2014/main" id="{65E32D92-2B7C-4A6F-84F6-E124CA0D8865}"/>
              </a:ext>
            </a:extLst>
          </p:cNvPr>
          <p:cNvSpPr>
            <a:spLocks noGrp="1"/>
          </p:cNvSpPr>
          <p:nvPr/>
        </p:nvSpPr>
        <p:spPr>
          <a:xfrm>
            <a:off x="7807325" y="3395663"/>
            <a:ext cx="2927350" cy="257175"/>
          </a:xfrm>
          <a:prstGeom prst="rect">
            <a:avLst/>
          </a:prstGeom>
          <a:noFill/>
          <a:ln w="0">
            <a:noFill/>
          </a:ln>
        </p:spPr>
        <p:txBody>
          <a:bodyPr lIns="0" tIns="0" rIns="0" bIns="0" anchor="ctr"/>
          <a:lstStyle>
            <a:defPPr algn="l">
              <a:defRPr sz="1425" b="0">
                <a:solidFill>
                  <a:srgbClr val="FFFFFF"/>
                </a:solidFill>
                <a:latin typeface="Arial"/>
                <a:ea typeface="Arial"/>
                <a:cs typeface="Arial"/>
              </a:defRPr>
            </a:defPPr>
          </a:lstStyle>
          <a:p>
            <a:pPr algn="l">
              <a:defRPr sz="1425" b="0">
                <a:solidFill>
                  <a:srgbClr val="FFFFFF"/>
                </a:solidFill>
                <a:latin typeface="Arial"/>
                <a:ea typeface="Arial"/>
                <a:cs typeface="Arial"/>
              </a:defRPr>
            </a:pPr>
            <a:r>
              <a:rPr sz="1425" b="0">
                <a:solidFill>
                  <a:srgbClr val="FFFFFF"/>
                </a:solidFill>
                <a:latin typeface="Arial"/>
                <a:ea typeface="Arial"/>
                <a:cs typeface="Arial"/>
              </a:rPr>
              <a:t>Validate scope, create and write</a:t>
            </a:r>
          </a:p>
        </p:txBody>
      </p:sp>
      <p:cxnSp>
        <p:nvCxnSpPr>
          <p:cNvPr id="23" name="Straight Arrow Connector 22">
            <a:extLst>
              <a:ext uri="{FF2B5EF4-FFF2-40B4-BE49-F238E27FC236}">
                <a16:creationId xmlns:a16="http://schemas.microsoft.com/office/drawing/2014/main" id="{197A358E-DE80-4575-BCD9-F31CB6028E8F}"/>
              </a:ext>
            </a:extLst>
          </p:cNvPr>
          <p:cNvCxnSpPr/>
          <p:nvPr/>
        </p:nvCxnSpPr>
        <p:spPr>
          <a:xfrm flipH="1">
            <a:off x="7683500" y="3993356"/>
            <a:ext cx="3175000" cy="0"/>
          </a:xfrm>
          <a:prstGeom prst="straightConnector1">
            <a:avLst/>
          </a:prstGeom>
          <a:ln w="19050">
            <a:solidFill>
              <a:srgbClr val="BE98F6"/>
            </a:solidFill>
            <a:prstDash val="solid"/>
            <a:tailEnd type="triangle" w="med" len="med"/>
          </a:ln>
        </p:spPr>
      </p:cxnSp>
      <p:sp>
        <p:nvSpPr>
          <p:cNvPr id="24" name="Status + bytes written">
            <a:extLst>
              <a:ext uri="{FF2B5EF4-FFF2-40B4-BE49-F238E27FC236}">
                <a16:creationId xmlns:a16="http://schemas.microsoft.com/office/drawing/2014/main" id="{C6F060E8-11DC-4B6A-9BC2-0A74F3D3C1A9}"/>
              </a:ext>
            </a:extLst>
          </p:cNvPr>
          <p:cNvSpPr>
            <a:spLocks noGrp="1"/>
          </p:cNvSpPr>
          <p:nvPr/>
        </p:nvSpPr>
        <p:spPr>
          <a:xfrm>
            <a:off x="7807325" y="3717131"/>
            <a:ext cx="2927350" cy="257175"/>
          </a:xfrm>
          <a:prstGeom prst="rect">
            <a:avLst/>
          </a:prstGeom>
          <a:noFill/>
          <a:ln w="0">
            <a:noFill/>
          </a:ln>
        </p:spPr>
        <p:txBody>
          <a:bodyPr lIns="0" tIns="0" rIns="0" bIns="0" anchor="ctr"/>
          <a:lstStyle>
            <a:defPPr algn="l">
              <a:defRPr sz="1425" b="0">
                <a:solidFill>
                  <a:srgbClr val="FFFFFF"/>
                </a:solidFill>
                <a:latin typeface="Arial"/>
                <a:ea typeface="Arial"/>
                <a:cs typeface="Arial"/>
              </a:defRPr>
            </a:defPPr>
          </a:lstStyle>
          <a:p>
            <a:pPr algn="l">
              <a:defRPr sz="1425" b="0">
                <a:solidFill>
                  <a:srgbClr val="FFFFFF"/>
                </a:solidFill>
                <a:latin typeface="Arial"/>
                <a:ea typeface="Arial"/>
                <a:cs typeface="Arial"/>
              </a:defRPr>
            </a:pPr>
            <a:r>
              <a:rPr sz="1425" b="0">
                <a:solidFill>
                  <a:srgbClr val="FFFFFF"/>
                </a:solidFill>
                <a:latin typeface="Arial"/>
                <a:ea typeface="Arial"/>
                <a:cs typeface="Arial"/>
              </a:rPr>
              <a:t>Status + bytes written</a:t>
            </a:r>
          </a:p>
        </p:txBody>
      </p:sp>
      <p:cxnSp>
        <p:nvCxnSpPr>
          <p:cNvPr id="25" name="Straight Arrow Connector 24">
            <a:extLst>
              <a:ext uri="{FF2B5EF4-FFF2-40B4-BE49-F238E27FC236}">
                <a16:creationId xmlns:a16="http://schemas.microsoft.com/office/drawing/2014/main" id="{E611A354-E1B0-4990-815C-1BA71B0A305D}"/>
              </a:ext>
            </a:extLst>
          </p:cNvPr>
          <p:cNvCxnSpPr/>
          <p:nvPr/>
        </p:nvCxnSpPr>
        <p:spPr>
          <a:xfrm>
            <a:off x="7683500" y="4314825"/>
            <a:ext cx="3175000" cy="0"/>
          </a:xfrm>
          <a:prstGeom prst="straightConnector1">
            <a:avLst/>
          </a:prstGeom>
          <a:ln w="19050">
            <a:solidFill>
              <a:srgbClr val="BE98F6"/>
            </a:solidFill>
            <a:prstDash val="solid"/>
            <a:tailEnd type="triangle" w="med" len="med"/>
          </a:ln>
        </p:spPr>
      </p:cxnSp>
      <p:sp>
        <p:nvSpPr>
          <p:cNvPr id="26" name="Read back saved content">
            <a:extLst>
              <a:ext uri="{FF2B5EF4-FFF2-40B4-BE49-F238E27FC236}">
                <a16:creationId xmlns:a16="http://schemas.microsoft.com/office/drawing/2014/main" id="{2B9099FD-F6D8-4189-8DA6-6B9A0CA49E6C}"/>
              </a:ext>
            </a:extLst>
          </p:cNvPr>
          <p:cNvSpPr>
            <a:spLocks noGrp="1"/>
          </p:cNvSpPr>
          <p:nvPr/>
        </p:nvSpPr>
        <p:spPr>
          <a:xfrm>
            <a:off x="7807325" y="4038600"/>
            <a:ext cx="2927350" cy="257175"/>
          </a:xfrm>
          <a:prstGeom prst="rect">
            <a:avLst/>
          </a:prstGeom>
          <a:noFill/>
          <a:ln w="0">
            <a:noFill/>
          </a:ln>
        </p:spPr>
        <p:txBody>
          <a:bodyPr lIns="0" tIns="0" rIns="0" bIns="0" anchor="ctr"/>
          <a:lstStyle>
            <a:defPPr algn="l">
              <a:defRPr sz="1425" b="0">
                <a:solidFill>
                  <a:srgbClr val="FFFFFF"/>
                </a:solidFill>
                <a:latin typeface="Arial"/>
                <a:ea typeface="Arial"/>
                <a:cs typeface="Arial"/>
              </a:defRPr>
            </a:defPPr>
          </a:lstStyle>
          <a:p>
            <a:pPr algn="l">
              <a:defRPr sz="1425" b="0">
                <a:solidFill>
                  <a:srgbClr val="FFFFFF"/>
                </a:solidFill>
                <a:latin typeface="Arial"/>
                <a:ea typeface="Arial"/>
                <a:cs typeface="Arial"/>
              </a:defRPr>
            </a:pPr>
            <a:r>
              <a:rPr sz="1425" b="0">
                <a:solidFill>
                  <a:srgbClr val="FFFFFF"/>
                </a:solidFill>
                <a:latin typeface="Arial"/>
                <a:ea typeface="Arial"/>
                <a:cs typeface="Arial"/>
              </a:rPr>
              <a:t>Read back saved content</a:t>
            </a:r>
          </a:p>
        </p:txBody>
      </p:sp>
      <p:cxnSp>
        <p:nvCxnSpPr>
          <p:cNvPr id="27" name="Straight Arrow Connector 26">
            <a:extLst>
              <a:ext uri="{FF2B5EF4-FFF2-40B4-BE49-F238E27FC236}">
                <a16:creationId xmlns:a16="http://schemas.microsoft.com/office/drawing/2014/main" id="{EAF124E9-457B-4D19-89AD-49F3CC2C45BF}"/>
              </a:ext>
            </a:extLst>
          </p:cNvPr>
          <p:cNvCxnSpPr/>
          <p:nvPr/>
        </p:nvCxnSpPr>
        <p:spPr>
          <a:xfrm flipH="1">
            <a:off x="7683500" y="4636294"/>
            <a:ext cx="3175000" cy="0"/>
          </a:xfrm>
          <a:prstGeom prst="straightConnector1">
            <a:avLst/>
          </a:prstGeom>
          <a:ln w="19050">
            <a:solidFill>
              <a:srgbClr val="BE98F6"/>
            </a:solidFill>
            <a:prstDash val="solid"/>
            <a:tailEnd type="triangle" w="med" len="med"/>
          </a:ln>
        </p:spPr>
      </p:cxnSp>
      <p:sp>
        <p:nvSpPr>
          <p:cNvPr id="28" name="Return saved bytes">
            <a:extLst>
              <a:ext uri="{FF2B5EF4-FFF2-40B4-BE49-F238E27FC236}">
                <a16:creationId xmlns:a16="http://schemas.microsoft.com/office/drawing/2014/main" id="{0ED25776-FA91-45AB-BE63-9ED919DB448D}"/>
              </a:ext>
            </a:extLst>
          </p:cNvPr>
          <p:cNvSpPr>
            <a:spLocks noGrp="1"/>
          </p:cNvSpPr>
          <p:nvPr/>
        </p:nvSpPr>
        <p:spPr>
          <a:xfrm>
            <a:off x="7807325" y="4360069"/>
            <a:ext cx="2927350" cy="257175"/>
          </a:xfrm>
          <a:prstGeom prst="rect">
            <a:avLst/>
          </a:prstGeom>
          <a:noFill/>
          <a:ln w="0">
            <a:noFill/>
          </a:ln>
        </p:spPr>
        <p:txBody>
          <a:bodyPr lIns="0" tIns="0" rIns="0" bIns="0" anchor="ctr"/>
          <a:lstStyle>
            <a:defPPr algn="l">
              <a:defRPr sz="1425" b="0">
                <a:solidFill>
                  <a:srgbClr val="FFFFFF"/>
                </a:solidFill>
                <a:latin typeface="Arial"/>
                <a:ea typeface="Arial"/>
                <a:cs typeface="Arial"/>
              </a:defRPr>
            </a:defPPr>
          </a:lstStyle>
          <a:p>
            <a:pPr algn="l">
              <a:defRPr sz="1425" b="0">
                <a:solidFill>
                  <a:srgbClr val="FFFFFF"/>
                </a:solidFill>
                <a:latin typeface="Arial"/>
                <a:ea typeface="Arial"/>
                <a:cs typeface="Arial"/>
              </a:defRPr>
            </a:pPr>
            <a:r>
              <a:rPr sz="1425" b="0">
                <a:solidFill>
                  <a:srgbClr val="FFFFFF"/>
                </a:solidFill>
                <a:latin typeface="Arial"/>
                <a:ea typeface="Arial"/>
                <a:cs typeface="Arial"/>
              </a:rPr>
              <a:t>Return saved bytes</a:t>
            </a:r>
          </a:p>
        </p:txBody>
      </p:sp>
      <p:cxnSp>
        <p:nvCxnSpPr>
          <p:cNvPr id="29" name="Straight Arrow Connector 28">
            <a:extLst>
              <a:ext uri="{FF2B5EF4-FFF2-40B4-BE49-F238E27FC236}">
                <a16:creationId xmlns:a16="http://schemas.microsoft.com/office/drawing/2014/main" id="{2FA994FD-FDFD-4D2D-8347-01FE8B14A855}"/>
              </a:ext>
            </a:extLst>
          </p:cNvPr>
          <p:cNvCxnSpPr/>
          <p:nvPr/>
        </p:nvCxnSpPr>
        <p:spPr>
          <a:xfrm flipH="1">
            <a:off x="4508500" y="4957763"/>
            <a:ext cx="3175000" cy="0"/>
          </a:xfrm>
          <a:prstGeom prst="straightConnector1">
            <a:avLst/>
          </a:prstGeom>
          <a:ln w="19050">
            <a:solidFill>
              <a:srgbClr val="BE98F6"/>
            </a:solidFill>
            <a:prstDash val="solid"/>
            <a:tailEnd type="triangle" w="med" len="med"/>
          </a:ln>
        </p:spPr>
      </p:cxnSp>
      <p:sp>
        <p:nvSpPr>
          <p:cNvPr id="30" name="Verified tool result">
            <a:extLst>
              <a:ext uri="{FF2B5EF4-FFF2-40B4-BE49-F238E27FC236}">
                <a16:creationId xmlns:a16="http://schemas.microsoft.com/office/drawing/2014/main" id="{A12F3AAE-4BDC-4189-8B16-76FC08F891C1}"/>
              </a:ext>
            </a:extLst>
          </p:cNvPr>
          <p:cNvSpPr>
            <a:spLocks noGrp="1"/>
          </p:cNvSpPr>
          <p:nvPr/>
        </p:nvSpPr>
        <p:spPr>
          <a:xfrm>
            <a:off x="4632325" y="4681538"/>
            <a:ext cx="2927350" cy="257175"/>
          </a:xfrm>
          <a:prstGeom prst="rect">
            <a:avLst/>
          </a:prstGeom>
          <a:noFill/>
          <a:ln w="0">
            <a:noFill/>
          </a:ln>
        </p:spPr>
        <p:txBody>
          <a:bodyPr lIns="0" tIns="0" rIns="0" bIns="0" anchor="ctr"/>
          <a:lstStyle>
            <a:defPPr algn="l">
              <a:defRPr sz="1425" b="0">
                <a:solidFill>
                  <a:srgbClr val="FFFFFF"/>
                </a:solidFill>
                <a:latin typeface="Arial"/>
                <a:ea typeface="Arial"/>
                <a:cs typeface="Arial"/>
              </a:defRPr>
            </a:defPPr>
          </a:lstStyle>
          <a:p>
            <a:pPr algn="l">
              <a:defRPr sz="1425" b="0">
                <a:solidFill>
                  <a:srgbClr val="FFFFFF"/>
                </a:solidFill>
                <a:latin typeface="Arial"/>
                <a:ea typeface="Arial"/>
                <a:cs typeface="Arial"/>
              </a:defRPr>
            </a:pPr>
            <a:r>
              <a:rPr sz="1425" b="0">
                <a:solidFill>
                  <a:srgbClr val="FFFFFF"/>
                </a:solidFill>
                <a:latin typeface="Arial"/>
                <a:ea typeface="Arial"/>
                <a:cs typeface="Arial"/>
              </a:rPr>
              <a:t>Verified tool result</a:t>
            </a:r>
          </a:p>
        </p:txBody>
      </p:sp>
      <p:cxnSp>
        <p:nvCxnSpPr>
          <p:cNvPr id="31" name="Straight Arrow Connector 30">
            <a:extLst>
              <a:ext uri="{FF2B5EF4-FFF2-40B4-BE49-F238E27FC236}">
                <a16:creationId xmlns:a16="http://schemas.microsoft.com/office/drawing/2014/main" id="{8697E3AD-9CAE-4EEC-96A4-E1773DA1204E}"/>
              </a:ext>
            </a:extLst>
          </p:cNvPr>
          <p:cNvCxnSpPr/>
          <p:nvPr/>
        </p:nvCxnSpPr>
        <p:spPr>
          <a:xfrm flipH="1">
            <a:off x="1333500" y="5279231"/>
            <a:ext cx="3175000" cy="0"/>
          </a:xfrm>
          <a:prstGeom prst="straightConnector1">
            <a:avLst/>
          </a:prstGeom>
          <a:ln w="19050">
            <a:solidFill>
              <a:srgbClr val="BE98F6"/>
            </a:solidFill>
            <a:prstDash val="solid"/>
            <a:tailEnd type="triangle" w="med" len="med"/>
          </a:ln>
        </p:spPr>
      </p:cxnSp>
      <p:sp>
        <p:nvSpPr>
          <p:cNvPr id="32" name="File created">
            <a:extLst>
              <a:ext uri="{FF2B5EF4-FFF2-40B4-BE49-F238E27FC236}">
                <a16:creationId xmlns:a16="http://schemas.microsoft.com/office/drawing/2014/main" id="{AD9D15C8-EA16-47A1-96DB-68932EFE13CF}"/>
              </a:ext>
            </a:extLst>
          </p:cNvPr>
          <p:cNvSpPr>
            <a:spLocks noGrp="1"/>
          </p:cNvSpPr>
          <p:nvPr/>
        </p:nvSpPr>
        <p:spPr>
          <a:xfrm>
            <a:off x="1457325" y="5003006"/>
            <a:ext cx="2927350" cy="257175"/>
          </a:xfrm>
          <a:prstGeom prst="rect">
            <a:avLst/>
          </a:prstGeom>
          <a:noFill/>
          <a:ln w="0">
            <a:noFill/>
          </a:ln>
        </p:spPr>
        <p:txBody>
          <a:bodyPr lIns="0" tIns="0" rIns="0" bIns="0" anchor="ctr"/>
          <a:lstStyle>
            <a:defPPr algn="l">
              <a:defRPr sz="1425" b="0">
                <a:solidFill>
                  <a:srgbClr val="FFFFFF"/>
                </a:solidFill>
                <a:latin typeface="Arial"/>
                <a:ea typeface="Arial"/>
                <a:cs typeface="Arial"/>
              </a:defRPr>
            </a:defPPr>
          </a:lstStyle>
          <a:p>
            <a:pPr algn="l">
              <a:defRPr sz="1425" b="0">
                <a:solidFill>
                  <a:srgbClr val="FFFFFF"/>
                </a:solidFill>
                <a:latin typeface="Arial"/>
                <a:ea typeface="Arial"/>
                <a:cs typeface="Arial"/>
              </a:defRPr>
            </a:pPr>
            <a:r>
              <a:rPr sz="1425" b="0">
                <a:solidFill>
                  <a:srgbClr val="FFFFFF"/>
                </a:solidFill>
                <a:latin typeface="Arial"/>
                <a:ea typeface="Arial"/>
                <a:cs typeface="Arial"/>
              </a:rPr>
              <a:t>File created</a:t>
            </a:r>
          </a:p>
        </p:txBody>
      </p:sp>
      <p:sp>
        <p:nvSpPr>
          <p:cNvPr id="33" name="A successful model response alone does not p">
            <a:extLst>
              <a:ext uri="{FF2B5EF4-FFF2-40B4-BE49-F238E27FC236}">
                <a16:creationId xmlns:a16="http://schemas.microsoft.com/office/drawing/2014/main" id="{5ED35A32-697F-43B7-B245-89A8CC76696B}"/>
              </a:ext>
            </a:extLst>
          </p:cNvPr>
          <p:cNvSpPr>
            <a:spLocks noGrp="1"/>
          </p:cNvSpPr>
          <p:nvPr/>
        </p:nvSpPr>
        <p:spPr>
          <a:xfrm>
            <a:off x="609600" y="5648325"/>
            <a:ext cx="10972800" cy="504825"/>
          </a:xfrm>
          <a:prstGeom prst="rect">
            <a:avLst/>
          </a:prstGeom>
          <a:noFill/>
          <a:ln w="0">
            <a:noFill/>
          </a:ln>
        </p:spPr>
        <p:txBody>
          <a:bodyPr lIns="0" tIns="0" rIns="0" bIns="0" anchor="ctr"/>
          <a:lstStyle>
            <a:defPPr algn="l">
              <a:defRPr sz="1725" b="0">
                <a:solidFill>
                  <a:srgbClr val="D5C9E6"/>
                </a:solidFill>
                <a:latin typeface="Arial"/>
                <a:ea typeface="Arial"/>
                <a:cs typeface="Arial"/>
              </a:defRPr>
            </a:defPPr>
          </a:lstStyle>
          <a:p>
            <a:pPr algn="l">
              <a:defRPr sz="1725" b="0">
                <a:solidFill>
                  <a:srgbClr val="D5C9E6"/>
                </a:solidFill>
                <a:latin typeface="Arial"/>
                <a:ea typeface="Arial"/>
                <a:cs typeface="Arial"/>
              </a:defRPr>
            </a:pPr>
            <a:r>
              <a:rPr sz="1725" b="0">
                <a:solidFill>
                  <a:srgbClr val="D5C9E6"/>
                </a:solidFill>
                <a:latin typeface="Arial"/>
                <a:ea typeface="Arial"/>
                <a:cs typeface="Arial"/>
              </a:rPr>
              <a:t>A successful model response alone does not prove a filesystem change.</a:t>
            </a:r>
          </a:p>
        </p:txBody>
      </p:sp>
    </p:spTree>
    <p:extLst>
      <p:ext uri="{BB962C8B-B14F-4D97-AF65-F5344CB8AC3E}">
        <p14:creationId xmlns:p14="http://schemas.microsoft.com/office/powerpoint/2010/main" val="112655284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180B2B"/>
        </a:solidFill>
        <a:effectLst/>
      </p:bgPr>
    </p:bg>
    <p:spTree>
      <p:nvGrpSpPr>
        <p:cNvPr id="1" name=""/>
        <p:cNvGrpSpPr/>
        <p:nvPr/>
      </p:nvGrpSpPr>
      <p:grpSpPr>
        <a:xfrm>
          <a:off x="0" y="0"/>
          <a:ext cx="0" cy="0"/>
          <a:chOff x="0" y="0"/>
          <a:chExt cx="0" cy="0"/>
        </a:xfrm>
      </p:grpSpPr>
      <p:sp>
        <p:nvSpPr>
          <p:cNvPr id="17" name="AGENT ARCHITECTURE">
            <a:extLst>
              <a:ext uri="{FF2B5EF4-FFF2-40B4-BE49-F238E27FC236}">
                <a16:creationId xmlns:a16="http://schemas.microsoft.com/office/drawing/2014/main" id="{56E8C091-A5F8-451D-AF23-922FC7F13E18}"/>
              </a:ext>
            </a:extLst>
          </p:cNvPr>
          <p:cNvSpPr>
            <a:spLocks noGrp="1"/>
          </p:cNvSpPr>
          <p:nvPr/>
        </p:nvSpPr>
        <p:spPr>
          <a:xfrm>
            <a:off x="609600" y="323850"/>
            <a:ext cx="10001250" cy="228600"/>
          </a:xfrm>
          <a:prstGeom prst="rect">
            <a:avLst/>
          </a:prstGeom>
          <a:noFill/>
          <a:ln w="0">
            <a:noFill/>
          </a:ln>
        </p:spPr>
        <p:txBody>
          <a:bodyPr lIns="0" tIns="0" rIns="0" bIns="0" anchor="ctr"/>
          <a:lstStyle>
            <a:defPPr algn="l">
              <a:defRPr sz="1200" b="1">
                <a:solidFill>
                  <a:srgbClr val="BE98F6"/>
                </a:solidFill>
                <a:latin typeface="Arial"/>
                <a:ea typeface="Arial"/>
                <a:cs typeface="Arial"/>
              </a:defRPr>
            </a:defPPr>
          </a:lstStyle>
          <a:p>
            <a:pPr algn="l">
              <a:defRPr sz="1200" b="1">
                <a:solidFill>
                  <a:srgbClr val="BE98F6"/>
                </a:solidFill>
                <a:latin typeface="Arial"/>
                <a:ea typeface="Arial"/>
                <a:cs typeface="Arial"/>
              </a:defRPr>
            </a:pPr>
            <a:r>
              <a:rPr sz="1200" b="1">
                <a:solidFill>
                  <a:srgbClr val="BE98F6"/>
                </a:solidFill>
                <a:latin typeface="Arial"/>
                <a:ea typeface="Arial"/>
                <a:cs typeface="Arial"/>
              </a:rPr>
              <a:t>AGENT ARCHITECTURE</a:t>
            </a:r>
          </a:p>
        </p:txBody>
      </p:sp>
      <p:sp>
        <p:nvSpPr>
          <p:cNvPr id="2" name="Operation checks">
            <a:extLst>
              <a:ext uri="{FF2B5EF4-FFF2-40B4-BE49-F238E27FC236}">
                <a16:creationId xmlns:a16="http://schemas.microsoft.com/office/drawing/2014/main" id="{959028AA-1EA3-4403-8971-95A86064F315}"/>
              </a:ext>
            </a:extLst>
          </p:cNvPr>
          <p:cNvSpPr>
            <a:spLocks noGrp="1"/>
          </p:cNvSpPr>
          <p:nvPr/>
        </p:nvSpPr>
        <p:spPr>
          <a:xfrm>
            <a:off x="609600" y="876300"/>
            <a:ext cx="10972800" cy="952500"/>
          </a:xfrm>
          <a:prstGeom prst="rect">
            <a:avLst/>
          </a:prstGeom>
          <a:noFill/>
          <a:ln w="0">
            <a:noFill/>
          </a:ln>
        </p:spPr>
        <p:txBody>
          <a:bodyPr lIns="0" tIns="0" rIns="0" bIns="0" anchor="ctr"/>
          <a:lstStyle>
            <a:defPPr algn="l">
              <a:defRPr sz="3300" b="1">
                <a:solidFill>
                  <a:srgbClr val="FFFFFF"/>
                </a:solidFill>
                <a:latin typeface="Arial"/>
                <a:ea typeface="Arial"/>
                <a:cs typeface="Arial"/>
              </a:defRPr>
            </a:defPPr>
          </a:lstStyle>
          <a:p>
            <a:pPr algn="l">
              <a:defRPr sz="3300" b="1">
                <a:solidFill>
                  <a:srgbClr val="FFFFFF"/>
                </a:solidFill>
                <a:latin typeface="Arial"/>
                <a:ea typeface="Arial"/>
                <a:cs typeface="Arial"/>
              </a:defRPr>
            </a:pPr>
            <a:r>
              <a:rPr sz="3300" b="1">
                <a:solidFill>
                  <a:srgbClr val="FFFFFF"/>
                </a:solidFill>
                <a:latin typeface="Arial"/>
                <a:ea typeface="Arial"/>
                <a:cs typeface="Arial"/>
              </a:rPr>
              <a:t>Operation checks</a:t>
            </a:r>
          </a:p>
        </p:txBody>
      </p:sp>
      <p:sp>
        <p:nvSpPr>
          <p:cNvPr id="3" name="AGENTIC OS  /  MVP TECHNICAL WALKTHROUGH">
            <a:extLst>
              <a:ext uri="{FF2B5EF4-FFF2-40B4-BE49-F238E27FC236}">
                <a16:creationId xmlns:a16="http://schemas.microsoft.com/office/drawing/2014/main" id="{01E9EEC4-7E41-4957-B688-E0194F405CDC}"/>
              </a:ext>
            </a:extLst>
          </p:cNvPr>
          <p:cNvSpPr>
            <a:spLocks noGrp="1"/>
          </p:cNvSpPr>
          <p:nvPr/>
        </p:nvSpPr>
        <p:spPr>
          <a:xfrm>
            <a:off x="609600" y="6410325"/>
            <a:ext cx="10001250" cy="190500"/>
          </a:xfrm>
          <a:prstGeom prst="rect">
            <a:avLst/>
          </a:prstGeom>
          <a:noFill/>
          <a:ln w="0">
            <a:noFill/>
          </a:ln>
        </p:spPr>
        <p:txBody>
          <a:bodyPr lIns="0" tIns="0" rIns="0" bIns="0" anchor="ctr"/>
          <a:lstStyle>
            <a:defPPr algn="l">
              <a:defRPr sz="975" b="0">
                <a:solidFill>
                  <a:srgbClr val="D5C9E6"/>
                </a:solidFill>
                <a:latin typeface="Arial"/>
                <a:ea typeface="Arial"/>
                <a:cs typeface="Arial"/>
              </a:defRPr>
            </a:defPPr>
          </a:lstStyle>
          <a:p>
            <a:pPr algn="l">
              <a:defRPr sz="975" b="0">
                <a:solidFill>
                  <a:srgbClr val="D5C9E6"/>
                </a:solidFill>
                <a:latin typeface="Arial"/>
                <a:ea typeface="Arial"/>
                <a:cs typeface="Arial"/>
              </a:defRPr>
            </a:pPr>
            <a:r>
              <a:rPr sz="975" b="0">
                <a:solidFill>
                  <a:srgbClr val="D5C9E6"/>
                </a:solidFill>
                <a:latin typeface="Arial"/>
                <a:ea typeface="Arial"/>
                <a:cs typeface="Arial"/>
              </a:rPr>
              <a:t>AGENTIC OS  /  MVP TECHNICAL WALKTHROUGH</a:t>
            </a:r>
          </a:p>
        </p:txBody>
      </p:sp>
      <p:sp>
        <p:nvSpPr>
          <p:cNvPr id="4" name="29">
            <a:extLst>
              <a:ext uri="{FF2B5EF4-FFF2-40B4-BE49-F238E27FC236}">
                <a16:creationId xmlns:a16="http://schemas.microsoft.com/office/drawing/2014/main" id="{6AF515A4-B139-44B5-BFC7-FC7AE7AC6E72}"/>
              </a:ext>
            </a:extLst>
          </p:cNvPr>
          <p:cNvSpPr>
            <a:spLocks noGrp="1"/>
          </p:cNvSpPr>
          <p:nvPr/>
        </p:nvSpPr>
        <p:spPr>
          <a:xfrm>
            <a:off x="11029950" y="6372225"/>
            <a:ext cx="552450" cy="247650"/>
          </a:xfrm>
          <a:prstGeom prst="rect">
            <a:avLst/>
          </a:prstGeom>
          <a:noFill/>
          <a:ln w="0">
            <a:noFill/>
          </a:ln>
        </p:spPr>
        <p:txBody>
          <a:bodyPr lIns="0" tIns="0" rIns="0" bIns="0" anchor="ctr"/>
          <a:lstStyle>
            <a:defPPr algn="r">
              <a:defRPr sz="1275" b="0">
                <a:solidFill>
                  <a:srgbClr val="BE98F6"/>
                </a:solidFill>
                <a:latin typeface="Arial"/>
                <a:ea typeface="Arial"/>
                <a:cs typeface="Arial"/>
              </a:defRPr>
            </a:defPPr>
          </a:lstStyle>
          <a:p>
            <a:pPr algn="r">
              <a:defRPr sz="1275" b="0">
                <a:solidFill>
                  <a:srgbClr val="BE98F6"/>
                </a:solidFill>
                <a:latin typeface="Arial"/>
                <a:ea typeface="Arial"/>
                <a:cs typeface="Arial"/>
              </a:defRPr>
            </a:pPr>
            <a:r>
              <a:rPr sz="1275" b="0">
                <a:solidFill>
                  <a:srgbClr val="BE98F6"/>
                </a:solidFill>
                <a:latin typeface="Arial"/>
                <a:ea typeface="Arial"/>
                <a:cs typeface="Arial"/>
              </a:rPr>
              <a:t>29</a:t>
            </a:r>
          </a:p>
        </p:txBody>
      </p:sp>
      <p:sp>
        <p:nvSpPr>
          <p:cNvPr id="5" name="Rectangle 4">
            <a:extLst>
              <a:ext uri="{FF2B5EF4-FFF2-40B4-BE49-F238E27FC236}">
                <a16:creationId xmlns:a16="http://schemas.microsoft.com/office/drawing/2014/main" id="{937E32AD-6D9F-4169-AF2A-F0634ADB9A38}"/>
              </a:ext>
            </a:extLst>
          </p:cNvPr>
          <p:cNvSpPr>
            <a:spLocks noGrp="1"/>
          </p:cNvSpPr>
          <p:nvPr/>
        </p:nvSpPr>
        <p:spPr>
          <a:xfrm>
            <a:off x="609600" y="2762250"/>
            <a:ext cx="2471738" cy="1066800"/>
          </a:xfrm>
          <a:prstGeom prst="rect">
            <a:avLst/>
          </a:prstGeom>
          <a:solidFill>
            <a:srgbClr val="2A1547"/>
          </a:solidFill>
          <a:ln w="13335">
            <a:solidFill>
              <a:srgbClr val="7D43D5"/>
            </a:solidFill>
          </a:ln>
        </p:spPr>
      </p:sp>
      <p:sp>
        <p:nvSpPr>
          <p:cNvPr id="6" name="Tool&#10;allowlist">
            <a:extLst>
              <a:ext uri="{FF2B5EF4-FFF2-40B4-BE49-F238E27FC236}">
                <a16:creationId xmlns:a16="http://schemas.microsoft.com/office/drawing/2014/main" id="{E7065303-F590-4C95-9C4C-141911E1A5F2}"/>
              </a:ext>
            </a:extLst>
          </p:cNvPr>
          <p:cNvSpPr>
            <a:spLocks noGrp="1"/>
          </p:cNvSpPr>
          <p:nvPr/>
        </p:nvSpPr>
        <p:spPr>
          <a:xfrm>
            <a:off x="752475" y="2847975"/>
            <a:ext cx="2185988" cy="895350"/>
          </a:xfrm>
          <a:prstGeom prst="rect">
            <a:avLst/>
          </a:prstGeom>
          <a:noFill/>
          <a:ln w="0">
            <a:noFill/>
          </a:ln>
        </p:spPr>
        <p:txBody>
          <a:bodyPr lIns="0" tIns="0" rIns="0" bIns="0" anchor="ctr"/>
          <a:lstStyle>
            <a:defPPr algn="ctr">
              <a:defRPr sz="1800" b="1">
                <a:solidFill>
                  <a:srgbClr val="FFFFFF"/>
                </a:solidFill>
                <a:latin typeface="Arial"/>
                <a:ea typeface="Arial"/>
                <a:cs typeface="Arial"/>
              </a:defRPr>
            </a:defPPr>
          </a:lstStyle>
          <a:p>
            <a:pPr algn="ctr">
              <a:defRPr sz="1800" b="1">
                <a:solidFill>
                  <a:srgbClr val="FFFFFF"/>
                </a:solidFill>
                <a:latin typeface="Arial"/>
                <a:ea typeface="Arial"/>
                <a:cs typeface="Arial"/>
              </a:defRPr>
            </a:pPr>
            <a:r>
              <a:rPr sz="1800" b="1">
                <a:solidFill>
                  <a:srgbClr val="FFFFFF"/>
                </a:solidFill>
                <a:latin typeface="Arial"/>
                <a:ea typeface="Arial"/>
                <a:cs typeface="Arial"/>
              </a:rPr>
              <a:t>Tool</a:t>
            </a:r>
          </a:p>
          <a:p>
            <a:pPr algn="ctr">
              <a:defRPr sz="1800" b="1">
                <a:solidFill>
                  <a:srgbClr val="FFFFFF"/>
                </a:solidFill>
                <a:latin typeface="Arial"/>
                <a:ea typeface="Arial"/>
                <a:cs typeface="Arial"/>
              </a:defRPr>
            </a:pPr>
            <a:r>
              <a:rPr sz="1800" b="1">
                <a:solidFill>
                  <a:srgbClr val="FFFFFF"/>
                </a:solidFill>
                <a:latin typeface="Arial"/>
                <a:ea typeface="Arial"/>
                <a:cs typeface="Arial"/>
              </a:rPr>
              <a:t>allowlist</a:t>
            </a:r>
          </a:p>
        </p:txBody>
      </p:sp>
      <p:cxnSp>
        <p:nvCxnSpPr>
          <p:cNvPr id="7" name="Straight Arrow Connector 6">
            <a:extLst>
              <a:ext uri="{FF2B5EF4-FFF2-40B4-BE49-F238E27FC236}">
                <a16:creationId xmlns:a16="http://schemas.microsoft.com/office/drawing/2014/main" id="{AB08AE99-AF0B-4497-BDB6-812E3335E807}"/>
              </a:ext>
            </a:extLst>
          </p:cNvPr>
          <p:cNvCxnSpPr/>
          <p:nvPr/>
        </p:nvCxnSpPr>
        <p:spPr>
          <a:xfrm>
            <a:off x="3081338" y="3295650"/>
            <a:ext cx="295275" cy="0"/>
          </a:xfrm>
          <a:prstGeom prst="straightConnector1">
            <a:avLst/>
          </a:prstGeom>
          <a:ln w="19050">
            <a:solidFill>
              <a:srgbClr val="BE98F6"/>
            </a:solidFill>
            <a:prstDash val="solid"/>
            <a:tailEnd type="triangle" w="med" len="med"/>
          </a:ln>
        </p:spPr>
      </p:cxnSp>
      <p:sp>
        <p:nvSpPr>
          <p:cNvPr id="8" name="Rectangle 7">
            <a:extLst>
              <a:ext uri="{FF2B5EF4-FFF2-40B4-BE49-F238E27FC236}">
                <a16:creationId xmlns:a16="http://schemas.microsoft.com/office/drawing/2014/main" id="{6A75F4A1-FFBD-4AFB-896F-CF318A260FB5}"/>
              </a:ext>
            </a:extLst>
          </p:cNvPr>
          <p:cNvSpPr>
            <a:spLocks noGrp="1"/>
          </p:cNvSpPr>
          <p:nvPr/>
        </p:nvSpPr>
        <p:spPr>
          <a:xfrm>
            <a:off x="3443288" y="2762250"/>
            <a:ext cx="2471738" cy="1066800"/>
          </a:xfrm>
          <a:prstGeom prst="rect">
            <a:avLst/>
          </a:prstGeom>
          <a:solidFill>
            <a:srgbClr val="2A1547"/>
          </a:solidFill>
          <a:ln w="13335">
            <a:solidFill>
              <a:srgbClr val="7D43D5"/>
            </a:solidFill>
          </a:ln>
        </p:spPr>
      </p:sp>
      <p:sp>
        <p:nvSpPr>
          <p:cNvPr id="9" name="Normalized&#10;path + scope">
            <a:extLst>
              <a:ext uri="{FF2B5EF4-FFF2-40B4-BE49-F238E27FC236}">
                <a16:creationId xmlns:a16="http://schemas.microsoft.com/office/drawing/2014/main" id="{26E8B868-7487-4ED4-A8EB-3E6A3B7C09E1}"/>
              </a:ext>
            </a:extLst>
          </p:cNvPr>
          <p:cNvSpPr>
            <a:spLocks noGrp="1"/>
          </p:cNvSpPr>
          <p:nvPr/>
        </p:nvSpPr>
        <p:spPr>
          <a:xfrm>
            <a:off x="3586163" y="2847975"/>
            <a:ext cx="2185988" cy="895350"/>
          </a:xfrm>
          <a:prstGeom prst="rect">
            <a:avLst/>
          </a:prstGeom>
          <a:noFill/>
          <a:ln w="0">
            <a:noFill/>
          </a:ln>
        </p:spPr>
        <p:txBody>
          <a:bodyPr lIns="0" tIns="0" rIns="0" bIns="0" anchor="ctr"/>
          <a:lstStyle>
            <a:defPPr algn="ctr">
              <a:defRPr sz="1800" b="1">
                <a:solidFill>
                  <a:srgbClr val="FFFFFF"/>
                </a:solidFill>
                <a:latin typeface="Arial"/>
                <a:ea typeface="Arial"/>
                <a:cs typeface="Arial"/>
              </a:defRPr>
            </a:defPPr>
          </a:lstStyle>
          <a:p>
            <a:pPr algn="ctr">
              <a:defRPr sz="1800" b="1">
                <a:solidFill>
                  <a:srgbClr val="FFFFFF"/>
                </a:solidFill>
                <a:latin typeface="Arial"/>
                <a:ea typeface="Arial"/>
                <a:cs typeface="Arial"/>
              </a:defRPr>
            </a:pPr>
            <a:r>
              <a:rPr sz="1800" b="1">
                <a:solidFill>
                  <a:srgbClr val="FFFFFF"/>
                </a:solidFill>
                <a:latin typeface="Arial"/>
                <a:ea typeface="Arial"/>
                <a:cs typeface="Arial"/>
              </a:rPr>
              <a:t>Normalized</a:t>
            </a:r>
          </a:p>
          <a:p>
            <a:pPr algn="ctr">
              <a:defRPr sz="1800" b="1">
                <a:solidFill>
                  <a:srgbClr val="FFFFFF"/>
                </a:solidFill>
                <a:latin typeface="Arial"/>
                <a:ea typeface="Arial"/>
                <a:cs typeface="Arial"/>
              </a:defRPr>
            </a:pPr>
            <a:r>
              <a:rPr sz="1800" b="1">
                <a:solidFill>
                  <a:srgbClr val="FFFFFF"/>
                </a:solidFill>
                <a:latin typeface="Arial"/>
                <a:ea typeface="Arial"/>
                <a:cs typeface="Arial"/>
              </a:rPr>
              <a:t>path + scope</a:t>
            </a:r>
          </a:p>
        </p:txBody>
      </p:sp>
      <p:cxnSp>
        <p:nvCxnSpPr>
          <p:cNvPr id="10" name="Straight Arrow Connector 9">
            <a:extLst>
              <a:ext uri="{FF2B5EF4-FFF2-40B4-BE49-F238E27FC236}">
                <a16:creationId xmlns:a16="http://schemas.microsoft.com/office/drawing/2014/main" id="{BD9236C2-8C22-4E42-821F-9BE2CCE64E8B}"/>
              </a:ext>
            </a:extLst>
          </p:cNvPr>
          <p:cNvCxnSpPr/>
          <p:nvPr/>
        </p:nvCxnSpPr>
        <p:spPr>
          <a:xfrm>
            <a:off x="5915025" y="3295650"/>
            <a:ext cx="295275" cy="0"/>
          </a:xfrm>
          <a:prstGeom prst="straightConnector1">
            <a:avLst/>
          </a:prstGeom>
          <a:ln w="19050">
            <a:solidFill>
              <a:srgbClr val="BE98F6"/>
            </a:solidFill>
            <a:prstDash val="solid"/>
            <a:tailEnd type="triangle" w="med" len="med"/>
          </a:ln>
        </p:spPr>
      </p:cxnSp>
      <p:sp>
        <p:nvSpPr>
          <p:cNvPr id="11" name="Rectangle 10">
            <a:extLst>
              <a:ext uri="{FF2B5EF4-FFF2-40B4-BE49-F238E27FC236}">
                <a16:creationId xmlns:a16="http://schemas.microsoft.com/office/drawing/2014/main" id="{82D491D7-8F25-4500-BD3C-171EE58D3AF1}"/>
              </a:ext>
            </a:extLst>
          </p:cNvPr>
          <p:cNvSpPr>
            <a:spLocks noGrp="1"/>
          </p:cNvSpPr>
          <p:nvPr/>
        </p:nvSpPr>
        <p:spPr>
          <a:xfrm>
            <a:off x="6276975" y="2762250"/>
            <a:ext cx="2471738" cy="1066800"/>
          </a:xfrm>
          <a:prstGeom prst="rect">
            <a:avLst/>
          </a:prstGeom>
          <a:solidFill>
            <a:srgbClr val="2A1547"/>
          </a:solidFill>
          <a:ln w="13335">
            <a:solidFill>
              <a:srgbClr val="7D43D5"/>
            </a:solidFill>
          </a:ln>
        </p:spPr>
      </p:sp>
      <p:sp>
        <p:nvSpPr>
          <p:cNvPr id="12" name="Type + size&#10;validation">
            <a:extLst>
              <a:ext uri="{FF2B5EF4-FFF2-40B4-BE49-F238E27FC236}">
                <a16:creationId xmlns:a16="http://schemas.microsoft.com/office/drawing/2014/main" id="{5EBFD147-2042-42FC-8531-5B502754919C}"/>
              </a:ext>
            </a:extLst>
          </p:cNvPr>
          <p:cNvSpPr>
            <a:spLocks noGrp="1"/>
          </p:cNvSpPr>
          <p:nvPr/>
        </p:nvSpPr>
        <p:spPr>
          <a:xfrm>
            <a:off x="6419850" y="2847975"/>
            <a:ext cx="2185988" cy="895350"/>
          </a:xfrm>
          <a:prstGeom prst="rect">
            <a:avLst/>
          </a:prstGeom>
          <a:noFill/>
          <a:ln w="0">
            <a:noFill/>
          </a:ln>
        </p:spPr>
        <p:txBody>
          <a:bodyPr lIns="0" tIns="0" rIns="0" bIns="0" anchor="ctr"/>
          <a:lstStyle>
            <a:defPPr algn="ctr">
              <a:defRPr sz="1800" b="1">
                <a:solidFill>
                  <a:srgbClr val="FFFFFF"/>
                </a:solidFill>
                <a:latin typeface="Arial"/>
                <a:ea typeface="Arial"/>
                <a:cs typeface="Arial"/>
              </a:defRPr>
            </a:defPPr>
          </a:lstStyle>
          <a:p>
            <a:pPr algn="ctr">
              <a:defRPr sz="1800" b="1">
                <a:solidFill>
                  <a:srgbClr val="FFFFFF"/>
                </a:solidFill>
                <a:latin typeface="Arial"/>
                <a:ea typeface="Arial"/>
                <a:cs typeface="Arial"/>
              </a:defRPr>
            </a:pPr>
            <a:r>
              <a:rPr sz="1800" b="1">
                <a:solidFill>
                  <a:srgbClr val="FFFFFF"/>
                </a:solidFill>
                <a:latin typeface="Arial"/>
                <a:ea typeface="Arial"/>
                <a:cs typeface="Arial"/>
              </a:rPr>
              <a:t>Type + size</a:t>
            </a:r>
          </a:p>
          <a:p>
            <a:pPr algn="ctr">
              <a:defRPr sz="1800" b="1">
                <a:solidFill>
                  <a:srgbClr val="FFFFFF"/>
                </a:solidFill>
                <a:latin typeface="Arial"/>
                <a:ea typeface="Arial"/>
                <a:cs typeface="Arial"/>
              </a:defRPr>
            </a:pPr>
            <a:r>
              <a:rPr sz="1800" b="1">
                <a:solidFill>
                  <a:srgbClr val="FFFFFF"/>
                </a:solidFill>
                <a:latin typeface="Arial"/>
                <a:ea typeface="Arial"/>
                <a:cs typeface="Arial"/>
              </a:rPr>
              <a:t>validation</a:t>
            </a:r>
          </a:p>
        </p:txBody>
      </p:sp>
      <p:cxnSp>
        <p:nvCxnSpPr>
          <p:cNvPr id="13" name="Straight Arrow Connector 12">
            <a:extLst>
              <a:ext uri="{FF2B5EF4-FFF2-40B4-BE49-F238E27FC236}">
                <a16:creationId xmlns:a16="http://schemas.microsoft.com/office/drawing/2014/main" id="{CF91CA58-21F5-4AE8-A05F-FA1B58DDECBC}"/>
              </a:ext>
            </a:extLst>
          </p:cNvPr>
          <p:cNvCxnSpPr/>
          <p:nvPr/>
        </p:nvCxnSpPr>
        <p:spPr>
          <a:xfrm>
            <a:off x="8748713" y="3295650"/>
            <a:ext cx="295275" cy="0"/>
          </a:xfrm>
          <a:prstGeom prst="straightConnector1">
            <a:avLst/>
          </a:prstGeom>
          <a:ln w="19050">
            <a:solidFill>
              <a:srgbClr val="BE98F6"/>
            </a:solidFill>
            <a:prstDash val="solid"/>
            <a:tailEnd type="triangle" w="med" len="med"/>
          </a:ln>
        </p:spPr>
      </p:cxnSp>
      <p:sp>
        <p:nvSpPr>
          <p:cNvPr id="14" name="Rectangle 13">
            <a:extLst>
              <a:ext uri="{FF2B5EF4-FFF2-40B4-BE49-F238E27FC236}">
                <a16:creationId xmlns:a16="http://schemas.microsoft.com/office/drawing/2014/main" id="{16BBAAA6-07D1-4929-87F0-0392516F3140}"/>
              </a:ext>
            </a:extLst>
          </p:cNvPr>
          <p:cNvSpPr>
            <a:spLocks noGrp="1"/>
          </p:cNvSpPr>
          <p:nvPr/>
        </p:nvSpPr>
        <p:spPr>
          <a:xfrm>
            <a:off x="9110663" y="2762250"/>
            <a:ext cx="2471738" cy="1066800"/>
          </a:xfrm>
          <a:prstGeom prst="rect">
            <a:avLst/>
          </a:prstGeom>
          <a:solidFill>
            <a:srgbClr val="2A1547"/>
          </a:solidFill>
          <a:ln w="13335">
            <a:solidFill>
              <a:srgbClr val="7D43D5"/>
            </a:solidFill>
          </a:ln>
        </p:spPr>
      </p:sp>
      <p:sp>
        <p:nvSpPr>
          <p:cNvPr id="15" name="Execute +&#10;read back">
            <a:extLst>
              <a:ext uri="{FF2B5EF4-FFF2-40B4-BE49-F238E27FC236}">
                <a16:creationId xmlns:a16="http://schemas.microsoft.com/office/drawing/2014/main" id="{3F2A71A3-617A-4667-9D6B-A0B0A04C6B0A}"/>
              </a:ext>
            </a:extLst>
          </p:cNvPr>
          <p:cNvSpPr>
            <a:spLocks noGrp="1"/>
          </p:cNvSpPr>
          <p:nvPr/>
        </p:nvSpPr>
        <p:spPr>
          <a:xfrm>
            <a:off x="9253538" y="2847975"/>
            <a:ext cx="2185988" cy="895350"/>
          </a:xfrm>
          <a:prstGeom prst="rect">
            <a:avLst/>
          </a:prstGeom>
          <a:noFill/>
          <a:ln w="0">
            <a:noFill/>
          </a:ln>
        </p:spPr>
        <p:txBody>
          <a:bodyPr lIns="0" tIns="0" rIns="0" bIns="0" anchor="ctr"/>
          <a:lstStyle>
            <a:defPPr algn="ctr">
              <a:defRPr sz="1800" b="1">
                <a:solidFill>
                  <a:srgbClr val="FFFFFF"/>
                </a:solidFill>
                <a:latin typeface="Arial"/>
                <a:ea typeface="Arial"/>
                <a:cs typeface="Arial"/>
              </a:defRPr>
            </a:defPPr>
          </a:lstStyle>
          <a:p>
            <a:pPr algn="ctr">
              <a:defRPr sz="1800" b="1">
                <a:solidFill>
                  <a:srgbClr val="FFFFFF"/>
                </a:solidFill>
                <a:latin typeface="Arial"/>
                <a:ea typeface="Arial"/>
                <a:cs typeface="Arial"/>
              </a:defRPr>
            </a:pPr>
            <a:r>
              <a:rPr sz="1800" b="1">
                <a:solidFill>
                  <a:srgbClr val="FFFFFF"/>
                </a:solidFill>
                <a:latin typeface="Arial"/>
                <a:ea typeface="Arial"/>
                <a:cs typeface="Arial"/>
              </a:rPr>
              <a:t>Execute +</a:t>
            </a:r>
          </a:p>
          <a:p>
            <a:pPr algn="ctr">
              <a:defRPr sz="1800" b="1">
                <a:solidFill>
                  <a:srgbClr val="FFFFFF"/>
                </a:solidFill>
                <a:latin typeface="Arial"/>
                <a:ea typeface="Arial"/>
                <a:cs typeface="Arial"/>
              </a:defRPr>
            </a:pPr>
            <a:r>
              <a:rPr sz="1800" b="1">
                <a:solidFill>
                  <a:srgbClr val="FFFFFF"/>
                </a:solidFill>
                <a:latin typeface="Arial"/>
                <a:ea typeface="Arial"/>
                <a:cs typeface="Arial"/>
              </a:rPr>
              <a:t>read back</a:t>
            </a:r>
          </a:p>
        </p:txBody>
      </p:sp>
      <p:sp>
        <p:nvSpPr>
          <p:cNvPr id="16" name="Delete requests identify the exact path and ">
            <a:extLst>
              <a:ext uri="{FF2B5EF4-FFF2-40B4-BE49-F238E27FC236}">
                <a16:creationId xmlns:a16="http://schemas.microsoft.com/office/drawing/2014/main" id="{49C134D3-00B9-4268-B576-B32C6D0C6CB6}"/>
              </a:ext>
            </a:extLst>
          </p:cNvPr>
          <p:cNvSpPr>
            <a:spLocks noGrp="1"/>
          </p:cNvSpPr>
          <p:nvPr/>
        </p:nvSpPr>
        <p:spPr>
          <a:xfrm>
            <a:off x="609600" y="5648325"/>
            <a:ext cx="10972800" cy="504825"/>
          </a:xfrm>
          <a:prstGeom prst="rect">
            <a:avLst/>
          </a:prstGeom>
          <a:noFill/>
          <a:ln w="0">
            <a:noFill/>
          </a:ln>
        </p:spPr>
        <p:txBody>
          <a:bodyPr lIns="0" tIns="0" rIns="0" bIns="0" anchor="ctr"/>
          <a:lstStyle>
            <a:defPPr algn="l">
              <a:defRPr sz="1725" b="0">
                <a:solidFill>
                  <a:srgbClr val="D5C9E6"/>
                </a:solidFill>
                <a:latin typeface="Arial"/>
                <a:ea typeface="Arial"/>
                <a:cs typeface="Arial"/>
              </a:defRPr>
            </a:defPPr>
          </a:lstStyle>
          <a:p>
            <a:pPr algn="l">
              <a:defRPr sz="1725" b="0">
                <a:solidFill>
                  <a:srgbClr val="D5C9E6"/>
                </a:solidFill>
                <a:latin typeface="Arial"/>
                <a:ea typeface="Arial"/>
                <a:cs typeface="Arial"/>
              </a:defRPr>
            </a:pPr>
            <a:r>
              <a:rPr sz="1725" b="0">
                <a:solidFill>
                  <a:srgbClr val="D5C9E6"/>
                </a:solidFill>
                <a:latin typeface="Arial"/>
                <a:ea typeface="Arial"/>
                <a:cs typeface="Arial"/>
              </a:rPr>
              <a:t>Delete requests identify the exact path and pass the configured confirmation rule.</a:t>
            </a:r>
          </a:p>
        </p:txBody>
      </p:sp>
    </p:spTree>
    <p:extLst>
      <p:ext uri="{BB962C8B-B14F-4D97-AF65-F5344CB8AC3E}">
        <p14:creationId xmlns:p14="http://schemas.microsoft.com/office/powerpoint/2010/main" val="145388381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3" name="AGENT ARCHITECTURE">
            <a:extLst>
              <a:ext uri="{FF2B5EF4-FFF2-40B4-BE49-F238E27FC236}">
                <a16:creationId xmlns:a16="http://schemas.microsoft.com/office/drawing/2014/main" id="{21EA7DBD-CB45-4BCF-8D91-2A6F80230F58}"/>
              </a:ext>
            </a:extLst>
          </p:cNvPr>
          <p:cNvSpPr>
            <a:spLocks noGrp="1"/>
          </p:cNvSpPr>
          <p:nvPr/>
        </p:nvSpPr>
        <p:spPr>
          <a:xfrm>
            <a:off x="609600" y="323850"/>
            <a:ext cx="10001250" cy="228600"/>
          </a:xfrm>
          <a:prstGeom prst="rect">
            <a:avLst/>
          </a:prstGeom>
          <a:noFill/>
          <a:ln w="0">
            <a:noFill/>
          </a:ln>
        </p:spPr>
        <p:txBody>
          <a:bodyPr lIns="0" tIns="0" rIns="0" bIns="0" anchor="ctr"/>
          <a:lstStyle>
            <a:defPPr algn="l">
              <a:defRPr sz="1200" b="1">
                <a:solidFill>
                  <a:srgbClr val="7D43D5"/>
                </a:solidFill>
                <a:latin typeface="Arial"/>
                <a:ea typeface="Arial"/>
                <a:cs typeface="Arial"/>
              </a:defRPr>
            </a:defPPr>
          </a:lstStyle>
          <a:p>
            <a:pPr algn="l">
              <a:defRPr sz="1200" b="1">
                <a:solidFill>
                  <a:srgbClr val="7D43D5"/>
                </a:solidFill>
                <a:latin typeface="Arial"/>
                <a:ea typeface="Arial"/>
                <a:cs typeface="Arial"/>
              </a:defRPr>
            </a:pPr>
            <a:r>
              <a:rPr sz="1200" b="1">
                <a:solidFill>
                  <a:srgbClr val="7D43D5"/>
                </a:solidFill>
                <a:latin typeface="Arial"/>
                <a:ea typeface="Arial"/>
                <a:cs typeface="Arial"/>
              </a:rPr>
              <a:t>AGENT ARCHITECTURE</a:t>
            </a:r>
          </a:p>
        </p:txBody>
      </p:sp>
      <p:sp>
        <p:nvSpPr>
          <p:cNvPr id="2" name="Failure and recovery behavior">
            <a:extLst>
              <a:ext uri="{FF2B5EF4-FFF2-40B4-BE49-F238E27FC236}">
                <a16:creationId xmlns:a16="http://schemas.microsoft.com/office/drawing/2014/main" id="{9A199D13-5BDB-468D-89B1-B40128BEFE9B}"/>
              </a:ext>
            </a:extLst>
          </p:cNvPr>
          <p:cNvSpPr>
            <a:spLocks noGrp="1"/>
          </p:cNvSpPr>
          <p:nvPr/>
        </p:nvSpPr>
        <p:spPr>
          <a:xfrm>
            <a:off x="609600" y="876300"/>
            <a:ext cx="10972800" cy="952500"/>
          </a:xfrm>
          <a:prstGeom prst="rect">
            <a:avLst/>
          </a:prstGeom>
          <a:noFill/>
          <a:ln w="0">
            <a:noFill/>
          </a:ln>
        </p:spPr>
        <p:txBody>
          <a:bodyPr lIns="0" tIns="0" rIns="0" bIns="0" anchor="ctr"/>
          <a:lstStyle>
            <a:defPPr algn="l">
              <a:defRPr sz="3300" b="1">
                <a:solidFill>
                  <a:srgbClr val="251139"/>
                </a:solidFill>
                <a:latin typeface="Arial"/>
                <a:ea typeface="Arial"/>
                <a:cs typeface="Arial"/>
              </a:defRPr>
            </a:defPPr>
          </a:lstStyle>
          <a:p>
            <a:pPr algn="l">
              <a:defRPr sz="3300" b="1">
                <a:solidFill>
                  <a:srgbClr val="251139"/>
                </a:solidFill>
                <a:latin typeface="Arial"/>
                <a:ea typeface="Arial"/>
                <a:cs typeface="Arial"/>
              </a:defRPr>
            </a:pPr>
            <a:r>
              <a:rPr sz="3300" b="1">
                <a:solidFill>
                  <a:srgbClr val="251139"/>
                </a:solidFill>
                <a:latin typeface="Arial"/>
                <a:ea typeface="Arial"/>
                <a:cs typeface="Arial"/>
              </a:rPr>
              <a:t>Failure and recovery behavior</a:t>
            </a:r>
          </a:p>
        </p:txBody>
      </p:sp>
      <p:sp>
        <p:nvSpPr>
          <p:cNvPr id="3" name="AGENTIC OS  /  MVP TECHNICAL WALKTHROUGH">
            <a:extLst>
              <a:ext uri="{FF2B5EF4-FFF2-40B4-BE49-F238E27FC236}">
                <a16:creationId xmlns:a16="http://schemas.microsoft.com/office/drawing/2014/main" id="{A9F79054-C7AD-4CA1-94E2-70E0311168C4}"/>
              </a:ext>
            </a:extLst>
          </p:cNvPr>
          <p:cNvSpPr>
            <a:spLocks noGrp="1"/>
          </p:cNvSpPr>
          <p:nvPr/>
        </p:nvSpPr>
        <p:spPr>
          <a:xfrm>
            <a:off x="609600" y="6410325"/>
            <a:ext cx="10001250" cy="190500"/>
          </a:xfrm>
          <a:prstGeom prst="rect">
            <a:avLst/>
          </a:prstGeom>
          <a:noFill/>
          <a:ln w="0">
            <a:noFill/>
          </a:ln>
        </p:spPr>
        <p:txBody>
          <a:bodyPr lIns="0" tIns="0" rIns="0" bIns="0" anchor="ctr"/>
          <a:lstStyle>
            <a:defPPr algn="l">
              <a:defRPr sz="975" b="0">
                <a:solidFill>
                  <a:srgbClr val="7D43D5"/>
                </a:solidFill>
                <a:latin typeface="Arial"/>
                <a:ea typeface="Arial"/>
                <a:cs typeface="Arial"/>
              </a:defRPr>
            </a:defPPr>
          </a:lstStyle>
          <a:p>
            <a:pPr algn="l">
              <a:defRPr sz="975" b="0">
                <a:solidFill>
                  <a:srgbClr val="7D43D5"/>
                </a:solidFill>
                <a:latin typeface="Arial"/>
                <a:ea typeface="Arial"/>
                <a:cs typeface="Arial"/>
              </a:defRPr>
            </a:pPr>
            <a:r>
              <a:rPr sz="975" b="0">
                <a:solidFill>
                  <a:srgbClr val="7D43D5"/>
                </a:solidFill>
                <a:latin typeface="Arial"/>
                <a:ea typeface="Arial"/>
                <a:cs typeface="Arial"/>
              </a:rPr>
              <a:t>AGENTIC OS  /  MVP TECHNICAL WALKTHROUGH</a:t>
            </a:r>
          </a:p>
        </p:txBody>
      </p:sp>
      <p:sp>
        <p:nvSpPr>
          <p:cNvPr id="4" name="30">
            <a:extLst>
              <a:ext uri="{FF2B5EF4-FFF2-40B4-BE49-F238E27FC236}">
                <a16:creationId xmlns:a16="http://schemas.microsoft.com/office/drawing/2014/main" id="{72BF15E5-B7C1-406D-8E8B-5FCFED8B1FC4}"/>
              </a:ext>
            </a:extLst>
          </p:cNvPr>
          <p:cNvSpPr>
            <a:spLocks noGrp="1"/>
          </p:cNvSpPr>
          <p:nvPr/>
        </p:nvSpPr>
        <p:spPr>
          <a:xfrm>
            <a:off x="11029950" y="6372225"/>
            <a:ext cx="552450" cy="247650"/>
          </a:xfrm>
          <a:prstGeom prst="rect">
            <a:avLst/>
          </a:prstGeom>
          <a:noFill/>
          <a:ln w="0">
            <a:noFill/>
          </a:ln>
        </p:spPr>
        <p:txBody>
          <a:bodyPr lIns="0" tIns="0" rIns="0" bIns="0" anchor="ctr"/>
          <a:lstStyle>
            <a:defPPr algn="r">
              <a:defRPr sz="1275" b="0">
                <a:solidFill>
                  <a:srgbClr val="7D43D5"/>
                </a:solidFill>
                <a:latin typeface="Arial"/>
                <a:ea typeface="Arial"/>
                <a:cs typeface="Arial"/>
              </a:defRPr>
            </a:defPPr>
          </a:lstStyle>
          <a:p>
            <a:pPr algn="r">
              <a:defRPr sz="1275" b="0">
                <a:solidFill>
                  <a:srgbClr val="7D43D5"/>
                </a:solidFill>
                <a:latin typeface="Arial"/>
                <a:ea typeface="Arial"/>
                <a:cs typeface="Arial"/>
              </a:defRPr>
            </a:pPr>
            <a:r>
              <a:rPr sz="1275" b="0">
                <a:solidFill>
                  <a:srgbClr val="7D43D5"/>
                </a:solidFill>
                <a:latin typeface="Arial"/>
                <a:ea typeface="Arial"/>
                <a:cs typeface="Arial"/>
              </a:rPr>
              <a:t>30</a:t>
            </a:r>
          </a:p>
        </p:txBody>
      </p:sp>
      <p:sp>
        <p:nvSpPr>
          <p:cNvPr id="5" name="Initial model timeout">
            <a:extLst>
              <a:ext uri="{FF2B5EF4-FFF2-40B4-BE49-F238E27FC236}">
                <a16:creationId xmlns:a16="http://schemas.microsoft.com/office/drawing/2014/main" id="{7BAA3A98-2EC6-4FB0-B83C-D474FB5DFDA5}"/>
              </a:ext>
            </a:extLst>
          </p:cNvPr>
          <p:cNvSpPr>
            <a:spLocks noGrp="1"/>
          </p:cNvSpPr>
          <p:nvPr/>
        </p:nvSpPr>
        <p:spPr>
          <a:xfrm>
            <a:off x="609600" y="1971675"/>
            <a:ext cx="3048000" cy="428625"/>
          </a:xfrm>
          <a:prstGeom prst="rect">
            <a:avLst/>
          </a:prstGeom>
          <a:noFill/>
          <a:ln w="0">
            <a:noFill/>
          </a:ln>
        </p:spPr>
        <p:txBody>
          <a:bodyPr lIns="0" tIns="0" rIns="0" bIns="0" anchor="ctr"/>
          <a:lstStyle>
            <a:defPPr algn="l">
              <a:defRPr sz="2100" b="1">
                <a:solidFill>
                  <a:srgbClr val="7D43D5"/>
                </a:solidFill>
                <a:latin typeface="Arial"/>
                <a:ea typeface="Arial"/>
                <a:cs typeface="Arial"/>
              </a:defRPr>
            </a:defPPr>
          </a:lstStyle>
          <a:p>
            <a:pPr algn="l">
              <a:defRPr sz="2100" b="1">
                <a:solidFill>
                  <a:srgbClr val="7D43D5"/>
                </a:solidFill>
                <a:latin typeface="Arial"/>
                <a:ea typeface="Arial"/>
                <a:cs typeface="Arial"/>
              </a:defRPr>
            </a:pPr>
            <a:r>
              <a:rPr sz="2100" b="1">
                <a:solidFill>
                  <a:srgbClr val="7D43D5"/>
                </a:solidFill>
                <a:latin typeface="Arial"/>
                <a:ea typeface="Arial"/>
                <a:cs typeface="Arial"/>
              </a:rPr>
              <a:t>Initial model timeout</a:t>
            </a:r>
          </a:p>
        </p:txBody>
      </p:sp>
      <p:sp>
        <p:nvSpPr>
          <p:cNvPr id="6" name="Report the failure before any file operation">
            <a:extLst>
              <a:ext uri="{FF2B5EF4-FFF2-40B4-BE49-F238E27FC236}">
                <a16:creationId xmlns:a16="http://schemas.microsoft.com/office/drawing/2014/main" id="{CC9DB9A4-DE12-4B8D-AB09-1BD04322153B}"/>
              </a:ext>
            </a:extLst>
          </p:cNvPr>
          <p:cNvSpPr>
            <a:spLocks noGrp="1"/>
          </p:cNvSpPr>
          <p:nvPr/>
        </p:nvSpPr>
        <p:spPr>
          <a:xfrm>
            <a:off x="3943350" y="1971675"/>
            <a:ext cx="7639050" cy="714375"/>
          </a:xfrm>
          <a:prstGeom prst="rect">
            <a:avLst/>
          </a:prstGeom>
          <a:noFill/>
          <a:ln w="0">
            <a:noFill/>
          </a:ln>
        </p:spPr>
        <p:txBody>
          <a:bodyPr lIns="0" tIns="0" rIns="0" bIns="0" anchor="ctr"/>
          <a:lstStyle>
            <a:defPPr algn="l">
              <a:defRPr sz="2025" b="0">
                <a:solidFill>
                  <a:srgbClr val="251139"/>
                </a:solidFill>
                <a:latin typeface="Arial"/>
                <a:ea typeface="Arial"/>
                <a:cs typeface="Arial"/>
              </a:defRPr>
            </a:defPPr>
          </a:lstStyle>
          <a:p>
            <a:pPr algn="l">
              <a:defRPr sz="2025" b="0">
                <a:solidFill>
                  <a:srgbClr val="251139"/>
                </a:solidFill>
                <a:latin typeface="Arial"/>
                <a:ea typeface="Arial"/>
                <a:cs typeface="Arial"/>
              </a:defRPr>
            </a:pPr>
            <a:r>
              <a:rPr sz="2025" b="0">
                <a:solidFill>
                  <a:srgbClr val="251139"/>
                </a:solidFill>
                <a:latin typeface="Arial"/>
                <a:ea typeface="Arial"/>
                <a:cs typeface="Arial"/>
              </a:rPr>
              <a:t>Report the failure before any file operation</a:t>
            </a:r>
          </a:p>
        </p:txBody>
      </p:sp>
      <p:sp>
        <p:nvSpPr>
          <p:cNvPr id="7" name="Invalid tool call">
            <a:extLst>
              <a:ext uri="{FF2B5EF4-FFF2-40B4-BE49-F238E27FC236}">
                <a16:creationId xmlns:a16="http://schemas.microsoft.com/office/drawing/2014/main" id="{BBA7074B-C5A3-455B-8E9A-CD9C8897FE47}"/>
              </a:ext>
            </a:extLst>
          </p:cNvPr>
          <p:cNvSpPr>
            <a:spLocks noGrp="1"/>
          </p:cNvSpPr>
          <p:nvPr/>
        </p:nvSpPr>
        <p:spPr>
          <a:xfrm>
            <a:off x="609600" y="2886075"/>
            <a:ext cx="3048000" cy="428625"/>
          </a:xfrm>
          <a:prstGeom prst="rect">
            <a:avLst/>
          </a:prstGeom>
          <a:noFill/>
          <a:ln w="0">
            <a:noFill/>
          </a:ln>
        </p:spPr>
        <p:txBody>
          <a:bodyPr lIns="0" tIns="0" rIns="0" bIns="0" anchor="ctr"/>
          <a:lstStyle>
            <a:defPPr algn="l">
              <a:defRPr sz="2100" b="1">
                <a:solidFill>
                  <a:srgbClr val="7D43D5"/>
                </a:solidFill>
                <a:latin typeface="Arial"/>
                <a:ea typeface="Arial"/>
                <a:cs typeface="Arial"/>
              </a:defRPr>
            </a:defPPr>
          </a:lstStyle>
          <a:p>
            <a:pPr algn="l">
              <a:defRPr sz="2100" b="1">
                <a:solidFill>
                  <a:srgbClr val="7D43D5"/>
                </a:solidFill>
                <a:latin typeface="Arial"/>
                <a:ea typeface="Arial"/>
                <a:cs typeface="Arial"/>
              </a:defRPr>
            </a:pPr>
            <a:r>
              <a:rPr sz="2100" b="1">
                <a:solidFill>
                  <a:srgbClr val="7D43D5"/>
                </a:solidFill>
                <a:latin typeface="Arial"/>
                <a:ea typeface="Arial"/>
                <a:cs typeface="Arial"/>
              </a:rPr>
              <a:t>Invalid tool call</a:t>
            </a:r>
          </a:p>
        </p:txBody>
      </p:sp>
      <p:sp>
        <p:nvSpPr>
          <p:cNvPr id="8" name="Reject unknown tools or malformed arguments">
            <a:extLst>
              <a:ext uri="{FF2B5EF4-FFF2-40B4-BE49-F238E27FC236}">
                <a16:creationId xmlns:a16="http://schemas.microsoft.com/office/drawing/2014/main" id="{1040F453-FCEF-4BA6-9286-98DCFF81C2AB}"/>
              </a:ext>
            </a:extLst>
          </p:cNvPr>
          <p:cNvSpPr>
            <a:spLocks noGrp="1"/>
          </p:cNvSpPr>
          <p:nvPr/>
        </p:nvSpPr>
        <p:spPr>
          <a:xfrm>
            <a:off x="3943350" y="2886075"/>
            <a:ext cx="7639050" cy="714375"/>
          </a:xfrm>
          <a:prstGeom prst="rect">
            <a:avLst/>
          </a:prstGeom>
          <a:noFill/>
          <a:ln w="0">
            <a:noFill/>
          </a:ln>
        </p:spPr>
        <p:txBody>
          <a:bodyPr lIns="0" tIns="0" rIns="0" bIns="0" anchor="ctr"/>
          <a:lstStyle>
            <a:defPPr algn="l">
              <a:defRPr sz="2025" b="0">
                <a:solidFill>
                  <a:srgbClr val="251139"/>
                </a:solidFill>
                <a:latin typeface="Arial"/>
                <a:ea typeface="Arial"/>
                <a:cs typeface="Arial"/>
              </a:defRPr>
            </a:defPPr>
          </a:lstStyle>
          <a:p>
            <a:pPr algn="l">
              <a:defRPr sz="2025" b="0">
                <a:solidFill>
                  <a:srgbClr val="251139"/>
                </a:solidFill>
                <a:latin typeface="Arial"/>
                <a:ea typeface="Arial"/>
                <a:cs typeface="Arial"/>
              </a:defRPr>
            </a:pPr>
            <a:r>
              <a:rPr sz="2025" b="0">
                <a:solidFill>
                  <a:srgbClr val="251139"/>
                </a:solidFill>
                <a:latin typeface="Arial"/>
                <a:ea typeface="Arial"/>
                <a:cs typeface="Arial"/>
              </a:rPr>
              <a:t>Reject unknown tools or malformed arguments</a:t>
            </a:r>
          </a:p>
        </p:txBody>
      </p:sp>
      <p:sp>
        <p:nvSpPr>
          <p:cNvPr id="9" name="Lost write response">
            <a:extLst>
              <a:ext uri="{FF2B5EF4-FFF2-40B4-BE49-F238E27FC236}">
                <a16:creationId xmlns:a16="http://schemas.microsoft.com/office/drawing/2014/main" id="{01B6F0E3-3B7C-449F-8A39-B93EA05FCF0A}"/>
              </a:ext>
            </a:extLst>
          </p:cNvPr>
          <p:cNvSpPr>
            <a:spLocks noGrp="1"/>
          </p:cNvSpPr>
          <p:nvPr/>
        </p:nvSpPr>
        <p:spPr>
          <a:xfrm>
            <a:off x="609600" y="3800475"/>
            <a:ext cx="3048000" cy="428625"/>
          </a:xfrm>
          <a:prstGeom prst="rect">
            <a:avLst/>
          </a:prstGeom>
          <a:noFill/>
          <a:ln w="0">
            <a:noFill/>
          </a:ln>
        </p:spPr>
        <p:txBody>
          <a:bodyPr lIns="0" tIns="0" rIns="0" bIns="0" anchor="ctr"/>
          <a:lstStyle>
            <a:defPPr algn="l">
              <a:defRPr sz="2100" b="1">
                <a:solidFill>
                  <a:srgbClr val="7D43D5"/>
                </a:solidFill>
                <a:latin typeface="Arial"/>
                <a:ea typeface="Arial"/>
                <a:cs typeface="Arial"/>
              </a:defRPr>
            </a:defPPr>
          </a:lstStyle>
          <a:p>
            <a:pPr algn="l">
              <a:defRPr sz="2100" b="1">
                <a:solidFill>
                  <a:srgbClr val="7D43D5"/>
                </a:solidFill>
                <a:latin typeface="Arial"/>
                <a:ea typeface="Arial"/>
                <a:cs typeface="Arial"/>
              </a:defRPr>
            </a:pPr>
            <a:r>
              <a:rPr sz="2100" b="1">
                <a:solidFill>
                  <a:srgbClr val="7D43D5"/>
                </a:solidFill>
                <a:latin typeface="Arial"/>
                <a:ea typeface="Arial"/>
                <a:cs typeface="Arial"/>
              </a:rPr>
              <a:t>Lost write response</a:t>
            </a:r>
          </a:p>
        </p:txBody>
      </p:sp>
      <p:sp>
        <p:nvSpPr>
          <p:cNvPr id="10" name="Inspect file state before repeating the oper">
            <a:extLst>
              <a:ext uri="{FF2B5EF4-FFF2-40B4-BE49-F238E27FC236}">
                <a16:creationId xmlns:a16="http://schemas.microsoft.com/office/drawing/2014/main" id="{249DA97D-73E1-4B5E-BF6E-EA0DE601A7C1}"/>
              </a:ext>
            </a:extLst>
          </p:cNvPr>
          <p:cNvSpPr>
            <a:spLocks noGrp="1"/>
          </p:cNvSpPr>
          <p:nvPr/>
        </p:nvSpPr>
        <p:spPr>
          <a:xfrm>
            <a:off x="3943350" y="3800475"/>
            <a:ext cx="7639050" cy="714375"/>
          </a:xfrm>
          <a:prstGeom prst="rect">
            <a:avLst/>
          </a:prstGeom>
          <a:noFill/>
          <a:ln w="0">
            <a:noFill/>
          </a:ln>
        </p:spPr>
        <p:txBody>
          <a:bodyPr lIns="0" tIns="0" rIns="0" bIns="0" anchor="ctr"/>
          <a:lstStyle>
            <a:defPPr algn="l">
              <a:defRPr sz="2025" b="0">
                <a:solidFill>
                  <a:srgbClr val="251139"/>
                </a:solidFill>
                <a:latin typeface="Arial"/>
                <a:ea typeface="Arial"/>
                <a:cs typeface="Arial"/>
              </a:defRPr>
            </a:defPPr>
          </a:lstStyle>
          <a:p>
            <a:pPr algn="l">
              <a:defRPr sz="2025" b="0">
                <a:solidFill>
                  <a:srgbClr val="251139"/>
                </a:solidFill>
                <a:latin typeface="Arial"/>
                <a:ea typeface="Arial"/>
                <a:cs typeface="Arial"/>
              </a:defRPr>
            </a:pPr>
            <a:r>
              <a:rPr sz="2025" b="0">
                <a:solidFill>
                  <a:srgbClr val="251139"/>
                </a:solidFill>
                <a:latin typeface="Arial"/>
                <a:ea typeface="Arial"/>
                <a:cs typeface="Arial"/>
              </a:rPr>
              <a:t>Inspect file state before repeating the operation</a:t>
            </a:r>
          </a:p>
        </p:txBody>
      </p:sp>
      <p:sp>
        <p:nvSpPr>
          <p:cNvPr id="11" name="Missing file">
            <a:extLst>
              <a:ext uri="{FF2B5EF4-FFF2-40B4-BE49-F238E27FC236}">
                <a16:creationId xmlns:a16="http://schemas.microsoft.com/office/drawing/2014/main" id="{1DC064D9-4A47-4DDE-AB8E-6145C126014D}"/>
              </a:ext>
            </a:extLst>
          </p:cNvPr>
          <p:cNvSpPr>
            <a:spLocks noGrp="1"/>
          </p:cNvSpPr>
          <p:nvPr/>
        </p:nvSpPr>
        <p:spPr>
          <a:xfrm>
            <a:off x="609600" y="4714875"/>
            <a:ext cx="3048000" cy="428625"/>
          </a:xfrm>
          <a:prstGeom prst="rect">
            <a:avLst/>
          </a:prstGeom>
          <a:noFill/>
          <a:ln w="0">
            <a:noFill/>
          </a:ln>
        </p:spPr>
        <p:txBody>
          <a:bodyPr lIns="0" tIns="0" rIns="0" bIns="0" anchor="ctr"/>
          <a:lstStyle>
            <a:defPPr algn="l">
              <a:defRPr sz="2100" b="1">
                <a:solidFill>
                  <a:srgbClr val="7D43D5"/>
                </a:solidFill>
                <a:latin typeface="Arial"/>
                <a:ea typeface="Arial"/>
                <a:cs typeface="Arial"/>
              </a:defRPr>
            </a:defPPr>
          </a:lstStyle>
          <a:p>
            <a:pPr algn="l">
              <a:defRPr sz="2100" b="1">
                <a:solidFill>
                  <a:srgbClr val="7D43D5"/>
                </a:solidFill>
                <a:latin typeface="Arial"/>
                <a:ea typeface="Arial"/>
                <a:cs typeface="Arial"/>
              </a:defRPr>
            </a:pPr>
            <a:r>
              <a:rPr sz="2100" b="1">
                <a:solidFill>
                  <a:srgbClr val="7D43D5"/>
                </a:solidFill>
                <a:latin typeface="Arial"/>
                <a:ea typeface="Arial"/>
                <a:cs typeface="Arial"/>
              </a:rPr>
              <a:t>Missing file</a:t>
            </a:r>
          </a:p>
        </p:txBody>
      </p:sp>
      <p:sp>
        <p:nvSpPr>
          <p:cNvPr id="12" name="Return a filesystem error with the affected ">
            <a:extLst>
              <a:ext uri="{FF2B5EF4-FFF2-40B4-BE49-F238E27FC236}">
                <a16:creationId xmlns:a16="http://schemas.microsoft.com/office/drawing/2014/main" id="{6DBE41FF-3227-4EDD-BC73-20ED3E2CC956}"/>
              </a:ext>
            </a:extLst>
          </p:cNvPr>
          <p:cNvSpPr>
            <a:spLocks noGrp="1"/>
          </p:cNvSpPr>
          <p:nvPr/>
        </p:nvSpPr>
        <p:spPr>
          <a:xfrm>
            <a:off x="3943350" y="4714875"/>
            <a:ext cx="7639050" cy="714375"/>
          </a:xfrm>
          <a:prstGeom prst="rect">
            <a:avLst/>
          </a:prstGeom>
          <a:noFill/>
          <a:ln w="0">
            <a:noFill/>
          </a:ln>
        </p:spPr>
        <p:txBody>
          <a:bodyPr lIns="0" tIns="0" rIns="0" bIns="0" anchor="ctr"/>
          <a:lstStyle>
            <a:defPPr algn="l">
              <a:defRPr sz="2025" b="0">
                <a:solidFill>
                  <a:srgbClr val="251139"/>
                </a:solidFill>
                <a:latin typeface="Arial"/>
                <a:ea typeface="Arial"/>
                <a:cs typeface="Arial"/>
              </a:defRPr>
            </a:defPPr>
          </a:lstStyle>
          <a:p>
            <a:pPr algn="l">
              <a:defRPr sz="2025" b="0">
                <a:solidFill>
                  <a:srgbClr val="251139"/>
                </a:solidFill>
                <a:latin typeface="Arial"/>
                <a:ea typeface="Arial"/>
                <a:cs typeface="Arial"/>
              </a:defRPr>
            </a:pPr>
            <a:r>
              <a:rPr sz="2025" b="0">
                <a:solidFill>
                  <a:srgbClr val="251139"/>
                </a:solidFill>
                <a:latin typeface="Arial"/>
                <a:ea typeface="Arial"/>
                <a:cs typeface="Arial"/>
              </a:rPr>
              <a:t>Return a filesystem error with the affected path</a:t>
            </a:r>
          </a:p>
        </p:txBody>
      </p:sp>
    </p:spTree>
    <p:extLst>
      <p:ext uri="{BB962C8B-B14F-4D97-AF65-F5344CB8AC3E}">
        <p14:creationId xmlns:p14="http://schemas.microsoft.com/office/powerpoint/2010/main" val="132423288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180B2B"/>
        </a:solidFill>
        <a:effectLst/>
      </p:bgPr>
    </p:bg>
    <p:spTree>
      <p:nvGrpSpPr>
        <p:cNvPr id="1" name=""/>
        <p:cNvGrpSpPr/>
        <p:nvPr/>
      </p:nvGrpSpPr>
      <p:grpSpPr>
        <a:xfrm>
          <a:off x="0" y="0"/>
          <a:ext cx="0" cy="0"/>
          <a:chOff x="0" y="0"/>
          <a:chExt cx="0" cy="0"/>
        </a:xfrm>
      </p:grpSpPr>
      <p:sp>
        <p:nvSpPr>
          <p:cNvPr id="12" name="BUILD &amp; RUN">
            <a:extLst>
              <a:ext uri="{FF2B5EF4-FFF2-40B4-BE49-F238E27FC236}">
                <a16:creationId xmlns:a16="http://schemas.microsoft.com/office/drawing/2014/main" id="{E9B9BB34-E211-4036-8D7B-8BB08C6195BE}"/>
              </a:ext>
            </a:extLst>
          </p:cNvPr>
          <p:cNvSpPr>
            <a:spLocks noGrp="1"/>
          </p:cNvSpPr>
          <p:nvPr/>
        </p:nvSpPr>
        <p:spPr>
          <a:xfrm>
            <a:off x="609600" y="323850"/>
            <a:ext cx="10001250" cy="228600"/>
          </a:xfrm>
          <a:prstGeom prst="rect">
            <a:avLst/>
          </a:prstGeom>
          <a:noFill/>
          <a:ln w="0">
            <a:noFill/>
          </a:ln>
        </p:spPr>
        <p:txBody>
          <a:bodyPr lIns="0" tIns="0" rIns="0" bIns="0" anchor="ctr"/>
          <a:lstStyle>
            <a:defPPr algn="l">
              <a:defRPr sz="1200" b="1">
                <a:solidFill>
                  <a:srgbClr val="BE98F6"/>
                </a:solidFill>
                <a:latin typeface="Arial"/>
                <a:ea typeface="Arial"/>
                <a:cs typeface="Arial"/>
              </a:defRPr>
            </a:defPPr>
          </a:lstStyle>
          <a:p>
            <a:pPr algn="l">
              <a:defRPr sz="1200" b="1">
                <a:solidFill>
                  <a:srgbClr val="BE98F6"/>
                </a:solidFill>
                <a:latin typeface="Arial"/>
                <a:ea typeface="Arial"/>
                <a:cs typeface="Arial"/>
              </a:defRPr>
            </a:pPr>
            <a:r>
              <a:rPr sz="1200" b="1">
                <a:solidFill>
                  <a:srgbClr val="BE98F6"/>
                </a:solidFill>
                <a:latin typeface="Arial"/>
                <a:ea typeface="Arial"/>
                <a:cs typeface="Arial"/>
              </a:rPr>
              <a:t>BUILD &amp; RUN</a:t>
            </a:r>
          </a:p>
        </p:txBody>
      </p:sp>
      <p:sp>
        <p:nvSpPr>
          <p:cNvPr id="2" name="Run environment">
            <a:extLst>
              <a:ext uri="{FF2B5EF4-FFF2-40B4-BE49-F238E27FC236}">
                <a16:creationId xmlns:a16="http://schemas.microsoft.com/office/drawing/2014/main" id="{7B4FD81A-8B53-4215-9DE1-B277734C9EDB}"/>
              </a:ext>
            </a:extLst>
          </p:cNvPr>
          <p:cNvSpPr>
            <a:spLocks noGrp="1"/>
          </p:cNvSpPr>
          <p:nvPr/>
        </p:nvSpPr>
        <p:spPr>
          <a:xfrm>
            <a:off x="609600" y="876300"/>
            <a:ext cx="10972800" cy="952500"/>
          </a:xfrm>
          <a:prstGeom prst="rect">
            <a:avLst/>
          </a:prstGeom>
          <a:noFill/>
          <a:ln w="0">
            <a:noFill/>
          </a:ln>
        </p:spPr>
        <p:txBody>
          <a:bodyPr lIns="0" tIns="0" rIns="0" bIns="0" anchor="ctr"/>
          <a:lstStyle>
            <a:defPPr algn="l">
              <a:defRPr sz="3300" b="1">
                <a:solidFill>
                  <a:srgbClr val="FFFFFF"/>
                </a:solidFill>
                <a:latin typeface="Arial"/>
                <a:ea typeface="Arial"/>
                <a:cs typeface="Arial"/>
              </a:defRPr>
            </a:defPPr>
          </a:lstStyle>
          <a:p>
            <a:pPr algn="l">
              <a:defRPr sz="3300" b="1">
                <a:solidFill>
                  <a:srgbClr val="FFFFFF"/>
                </a:solidFill>
                <a:latin typeface="Arial"/>
                <a:ea typeface="Arial"/>
                <a:cs typeface="Arial"/>
              </a:defRPr>
            </a:pPr>
            <a:r>
              <a:rPr sz="3300" b="1">
                <a:solidFill>
                  <a:srgbClr val="FFFFFF"/>
                </a:solidFill>
                <a:latin typeface="Arial"/>
                <a:ea typeface="Arial"/>
                <a:cs typeface="Arial"/>
              </a:rPr>
              <a:t>Run environment</a:t>
            </a:r>
          </a:p>
        </p:txBody>
      </p:sp>
      <p:sp>
        <p:nvSpPr>
          <p:cNvPr id="3" name="AGENTIC OS  /  MVP TECHNICAL WALKTHROUGH">
            <a:extLst>
              <a:ext uri="{FF2B5EF4-FFF2-40B4-BE49-F238E27FC236}">
                <a16:creationId xmlns:a16="http://schemas.microsoft.com/office/drawing/2014/main" id="{98992F0E-6C15-44BB-8F4C-EF4FBD3E2E1E}"/>
              </a:ext>
            </a:extLst>
          </p:cNvPr>
          <p:cNvSpPr>
            <a:spLocks noGrp="1"/>
          </p:cNvSpPr>
          <p:nvPr/>
        </p:nvSpPr>
        <p:spPr>
          <a:xfrm>
            <a:off x="609600" y="6410325"/>
            <a:ext cx="10001250" cy="190500"/>
          </a:xfrm>
          <a:prstGeom prst="rect">
            <a:avLst/>
          </a:prstGeom>
          <a:noFill/>
          <a:ln w="0">
            <a:noFill/>
          </a:ln>
        </p:spPr>
        <p:txBody>
          <a:bodyPr lIns="0" tIns="0" rIns="0" bIns="0" anchor="ctr"/>
          <a:lstStyle>
            <a:defPPr algn="l">
              <a:defRPr sz="975" b="0">
                <a:solidFill>
                  <a:srgbClr val="D5C9E6"/>
                </a:solidFill>
                <a:latin typeface="Arial"/>
                <a:ea typeface="Arial"/>
                <a:cs typeface="Arial"/>
              </a:defRPr>
            </a:defPPr>
          </a:lstStyle>
          <a:p>
            <a:pPr algn="l">
              <a:defRPr sz="975" b="0">
                <a:solidFill>
                  <a:srgbClr val="D5C9E6"/>
                </a:solidFill>
                <a:latin typeface="Arial"/>
                <a:ea typeface="Arial"/>
                <a:cs typeface="Arial"/>
              </a:defRPr>
            </a:pPr>
            <a:r>
              <a:rPr sz="975" b="0">
                <a:solidFill>
                  <a:srgbClr val="D5C9E6"/>
                </a:solidFill>
                <a:latin typeface="Arial"/>
                <a:ea typeface="Arial"/>
                <a:cs typeface="Arial"/>
              </a:rPr>
              <a:t>AGENTIC OS  /  MVP TECHNICAL WALKTHROUGH</a:t>
            </a:r>
          </a:p>
        </p:txBody>
      </p:sp>
      <p:sp>
        <p:nvSpPr>
          <p:cNvPr id="4" name="31">
            <a:extLst>
              <a:ext uri="{FF2B5EF4-FFF2-40B4-BE49-F238E27FC236}">
                <a16:creationId xmlns:a16="http://schemas.microsoft.com/office/drawing/2014/main" id="{33DCDB0C-0A2D-4DDA-BA56-1942A1527C94}"/>
              </a:ext>
            </a:extLst>
          </p:cNvPr>
          <p:cNvSpPr>
            <a:spLocks noGrp="1"/>
          </p:cNvSpPr>
          <p:nvPr/>
        </p:nvSpPr>
        <p:spPr>
          <a:xfrm>
            <a:off x="11029950" y="6372225"/>
            <a:ext cx="552450" cy="247650"/>
          </a:xfrm>
          <a:prstGeom prst="rect">
            <a:avLst/>
          </a:prstGeom>
          <a:noFill/>
          <a:ln w="0">
            <a:noFill/>
          </a:ln>
        </p:spPr>
        <p:txBody>
          <a:bodyPr lIns="0" tIns="0" rIns="0" bIns="0" anchor="ctr"/>
          <a:lstStyle>
            <a:defPPr algn="r">
              <a:defRPr sz="1275" b="0">
                <a:solidFill>
                  <a:srgbClr val="BE98F6"/>
                </a:solidFill>
                <a:latin typeface="Arial"/>
                <a:ea typeface="Arial"/>
                <a:cs typeface="Arial"/>
              </a:defRPr>
            </a:defPPr>
          </a:lstStyle>
          <a:p>
            <a:pPr algn="r">
              <a:defRPr sz="1275" b="0">
                <a:solidFill>
                  <a:srgbClr val="BE98F6"/>
                </a:solidFill>
                <a:latin typeface="Arial"/>
                <a:ea typeface="Arial"/>
                <a:cs typeface="Arial"/>
              </a:defRPr>
            </a:pPr>
            <a:r>
              <a:rPr sz="1275" b="0">
                <a:solidFill>
                  <a:srgbClr val="BE98F6"/>
                </a:solidFill>
                <a:latin typeface="Arial"/>
                <a:ea typeface="Arial"/>
                <a:cs typeface="Arial"/>
              </a:rPr>
              <a:t>31</a:t>
            </a:r>
          </a:p>
        </p:txBody>
      </p:sp>
      <p:sp>
        <p:nvSpPr>
          <p:cNvPr id="5" name="Build machine">
            <a:extLst>
              <a:ext uri="{FF2B5EF4-FFF2-40B4-BE49-F238E27FC236}">
                <a16:creationId xmlns:a16="http://schemas.microsoft.com/office/drawing/2014/main" id="{1001984B-E742-4F79-AA1C-B7C5DB855658}"/>
              </a:ext>
            </a:extLst>
          </p:cNvPr>
          <p:cNvSpPr>
            <a:spLocks noGrp="1"/>
          </p:cNvSpPr>
          <p:nvPr/>
        </p:nvSpPr>
        <p:spPr>
          <a:xfrm>
            <a:off x="609600" y="2152650"/>
            <a:ext cx="3048000" cy="428625"/>
          </a:xfrm>
          <a:prstGeom prst="rect">
            <a:avLst/>
          </a:prstGeom>
          <a:noFill/>
          <a:ln w="0">
            <a:noFill/>
          </a:ln>
        </p:spPr>
        <p:txBody>
          <a:bodyPr lIns="0" tIns="0" rIns="0" bIns="0" anchor="ctr"/>
          <a:lstStyle>
            <a:defPPr algn="l">
              <a:defRPr sz="2100" b="1">
                <a:solidFill>
                  <a:srgbClr val="BE98F6"/>
                </a:solidFill>
                <a:latin typeface="Arial"/>
                <a:ea typeface="Arial"/>
                <a:cs typeface="Arial"/>
              </a:defRPr>
            </a:defPPr>
          </a:lstStyle>
          <a:p>
            <a:pPr algn="l">
              <a:defRPr sz="2100" b="1">
                <a:solidFill>
                  <a:srgbClr val="BE98F6"/>
                </a:solidFill>
                <a:latin typeface="Arial"/>
                <a:ea typeface="Arial"/>
                <a:cs typeface="Arial"/>
              </a:defRPr>
            </a:pPr>
            <a:r>
              <a:rPr sz="2100" b="1">
                <a:solidFill>
                  <a:srgbClr val="BE98F6"/>
                </a:solidFill>
                <a:latin typeface="Arial"/>
                <a:ea typeface="Arial"/>
                <a:cs typeface="Arial"/>
              </a:rPr>
              <a:t>Build machine</a:t>
            </a:r>
          </a:p>
        </p:txBody>
      </p:sp>
      <p:sp>
        <p:nvSpPr>
          <p:cNvPr id="6" name="Bash, NASM and i686-elf GCC/binutils">
            <a:extLst>
              <a:ext uri="{FF2B5EF4-FFF2-40B4-BE49-F238E27FC236}">
                <a16:creationId xmlns:a16="http://schemas.microsoft.com/office/drawing/2014/main" id="{6387DE08-B436-432B-B629-2A806EBB1547}"/>
              </a:ext>
            </a:extLst>
          </p:cNvPr>
          <p:cNvSpPr>
            <a:spLocks noGrp="1"/>
          </p:cNvSpPr>
          <p:nvPr/>
        </p:nvSpPr>
        <p:spPr>
          <a:xfrm>
            <a:off x="3943350" y="2152650"/>
            <a:ext cx="7639050" cy="714375"/>
          </a:xfrm>
          <a:prstGeom prst="rect">
            <a:avLst/>
          </a:prstGeom>
          <a:noFill/>
          <a:ln w="0">
            <a:noFill/>
          </a:ln>
        </p:spPr>
        <p:txBody>
          <a:bodyPr lIns="0" tIns="0" rIns="0" bIns="0" anchor="ctr"/>
          <a:lstStyle>
            <a:defPPr algn="l">
              <a:defRPr sz="2025" b="0">
                <a:solidFill>
                  <a:srgbClr val="FFFFFF"/>
                </a:solidFill>
                <a:latin typeface="Arial"/>
                <a:ea typeface="Arial"/>
                <a:cs typeface="Arial"/>
              </a:defRPr>
            </a:defPPr>
          </a:lstStyle>
          <a:p>
            <a:pPr algn="l">
              <a:defRPr sz="2025" b="0">
                <a:solidFill>
                  <a:srgbClr val="FFFFFF"/>
                </a:solidFill>
                <a:latin typeface="Arial"/>
                <a:ea typeface="Arial"/>
                <a:cs typeface="Arial"/>
              </a:defRPr>
            </a:pPr>
            <a:r>
              <a:rPr sz="2025" b="0">
                <a:solidFill>
                  <a:srgbClr val="FFFFFF"/>
                </a:solidFill>
                <a:latin typeface="Arial"/>
                <a:ea typeface="Arial"/>
                <a:cs typeface="Arial"/>
              </a:rPr>
              <a:t>Bash, NASM and i686-elf GCC/binutils</a:t>
            </a:r>
          </a:p>
        </p:txBody>
      </p:sp>
      <p:sp>
        <p:nvSpPr>
          <p:cNvPr id="7" name="Emulator">
            <a:extLst>
              <a:ext uri="{FF2B5EF4-FFF2-40B4-BE49-F238E27FC236}">
                <a16:creationId xmlns:a16="http://schemas.microsoft.com/office/drawing/2014/main" id="{8C7EA195-6DF6-49B6-8117-BE3DB2826E81}"/>
              </a:ext>
            </a:extLst>
          </p:cNvPr>
          <p:cNvSpPr>
            <a:spLocks noGrp="1"/>
          </p:cNvSpPr>
          <p:nvPr/>
        </p:nvSpPr>
        <p:spPr>
          <a:xfrm>
            <a:off x="609600" y="3219450"/>
            <a:ext cx="3048000" cy="428625"/>
          </a:xfrm>
          <a:prstGeom prst="rect">
            <a:avLst/>
          </a:prstGeom>
          <a:noFill/>
          <a:ln w="0">
            <a:noFill/>
          </a:ln>
        </p:spPr>
        <p:txBody>
          <a:bodyPr lIns="0" tIns="0" rIns="0" bIns="0" anchor="ctr"/>
          <a:lstStyle>
            <a:defPPr algn="l">
              <a:defRPr sz="2100" b="1">
                <a:solidFill>
                  <a:srgbClr val="BE98F6"/>
                </a:solidFill>
                <a:latin typeface="Arial"/>
                <a:ea typeface="Arial"/>
                <a:cs typeface="Arial"/>
              </a:defRPr>
            </a:defPPr>
          </a:lstStyle>
          <a:p>
            <a:pPr algn="l">
              <a:defRPr sz="2100" b="1">
                <a:solidFill>
                  <a:srgbClr val="BE98F6"/>
                </a:solidFill>
                <a:latin typeface="Arial"/>
                <a:ea typeface="Arial"/>
                <a:cs typeface="Arial"/>
              </a:defRPr>
            </a:pPr>
            <a:r>
              <a:rPr sz="2100" b="1">
                <a:solidFill>
                  <a:srgbClr val="BE98F6"/>
                </a:solidFill>
                <a:latin typeface="Arial"/>
                <a:ea typeface="Arial"/>
                <a:cs typeface="Arial"/>
              </a:rPr>
              <a:t>Emulator</a:t>
            </a:r>
          </a:p>
        </p:txBody>
      </p:sp>
      <p:sp>
        <p:nvSpPr>
          <p:cNvPr id="8" name="Bochs with BIOS, VGA BIOS and NE2000 support">
            <a:extLst>
              <a:ext uri="{FF2B5EF4-FFF2-40B4-BE49-F238E27FC236}">
                <a16:creationId xmlns:a16="http://schemas.microsoft.com/office/drawing/2014/main" id="{FEB53EEF-1743-4D20-A81D-3FA06A2D7E0E}"/>
              </a:ext>
            </a:extLst>
          </p:cNvPr>
          <p:cNvSpPr>
            <a:spLocks noGrp="1"/>
          </p:cNvSpPr>
          <p:nvPr/>
        </p:nvSpPr>
        <p:spPr>
          <a:xfrm>
            <a:off x="3943350" y="3219450"/>
            <a:ext cx="7639050" cy="714375"/>
          </a:xfrm>
          <a:prstGeom prst="rect">
            <a:avLst/>
          </a:prstGeom>
          <a:noFill/>
          <a:ln w="0">
            <a:noFill/>
          </a:ln>
        </p:spPr>
        <p:txBody>
          <a:bodyPr lIns="0" tIns="0" rIns="0" bIns="0" anchor="ctr"/>
          <a:lstStyle>
            <a:defPPr algn="l">
              <a:defRPr sz="2025" b="0">
                <a:solidFill>
                  <a:srgbClr val="FFFFFF"/>
                </a:solidFill>
                <a:latin typeface="Arial"/>
                <a:ea typeface="Arial"/>
                <a:cs typeface="Arial"/>
              </a:defRPr>
            </a:defPPr>
          </a:lstStyle>
          <a:p>
            <a:pPr algn="l">
              <a:defRPr sz="2025" b="0">
                <a:solidFill>
                  <a:srgbClr val="FFFFFF"/>
                </a:solidFill>
                <a:latin typeface="Arial"/>
                <a:ea typeface="Arial"/>
                <a:cs typeface="Arial"/>
              </a:defRPr>
            </a:pPr>
            <a:r>
              <a:rPr sz="2025" b="0">
                <a:solidFill>
                  <a:srgbClr val="FFFFFF"/>
                </a:solidFill>
                <a:latin typeface="Arial"/>
                <a:ea typeface="Arial"/>
                <a:cs typeface="Arial"/>
              </a:rPr>
              <a:t>Bochs with BIOS, VGA BIOS and NE2000 support</a:t>
            </a:r>
          </a:p>
        </p:txBody>
      </p:sp>
      <p:sp>
        <p:nvSpPr>
          <p:cNvPr id="9" name="Host utilities">
            <a:extLst>
              <a:ext uri="{FF2B5EF4-FFF2-40B4-BE49-F238E27FC236}">
                <a16:creationId xmlns:a16="http://schemas.microsoft.com/office/drawing/2014/main" id="{C6BFA955-92AF-4CD0-B69D-E75A36D3375B}"/>
              </a:ext>
            </a:extLst>
          </p:cNvPr>
          <p:cNvSpPr>
            <a:spLocks noGrp="1"/>
          </p:cNvSpPr>
          <p:nvPr/>
        </p:nvSpPr>
        <p:spPr>
          <a:xfrm>
            <a:off x="609600" y="4286250"/>
            <a:ext cx="3048000" cy="428625"/>
          </a:xfrm>
          <a:prstGeom prst="rect">
            <a:avLst/>
          </a:prstGeom>
          <a:noFill/>
          <a:ln w="0">
            <a:noFill/>
          </a:ln>
        </p:spPr>
        <p:txBody>
          <a:bodyPr lIns="0" tIns="0" rIns="0" bIns="0" anchor="ctr"/>
          <a:lstStyle>
            <a:defPPr algn="l">
              <a:defRPr sz="2100" b="1">
                <a:solidFill>
                  <a:srgbClr val="BE98F6"/>
                </a:solidFill>
                <a:latin typeface="Arial"/>
                <a:ea typeface="Arial"/>
                <a:cs typeface="Arial"/>
              </a:defRPr>
            </a:defPPr>
          </a:lstStyle>
          <a:p>
            <a:pPr algn="l">
              <a:defRPr sz="2100" b="1">
                <a:solidFill>
                  <a:srgbClr val="BE98F6"/>
                </a:solidFill>
                <a:latin typeface="Arial"/>
                <a:ea typeface="Arial"/>
                <a:cs typeface="Arial"/>
              </a:defRPr>
            </a:pPr>
            <a:r>
              <a:rPr sz="2100" b="1">
                <a:solidFill>
                  <a:srgbClr val="BE98F6"/>
                </a:solidFill>
                <a:latin typeface="Arial"/>
                <a:ea typeface="Arial"/>
                <a:cs typeface="Arial"/>
              </a:rPr>
              <a:t>Host utilities</a:t>
            </a:r>
          </a:p>
        </p:txBody>
      </p:sp>
      <p:sp>
        <p:nvSpPr>
          <p:cNvPr id="10" name="Python 3 for host_tools.tcp_ping">
            <a:extLst>
              <a:ext uri="{FF2B5EF4-FFF2-40B4-BE49-F238E27FC236}">
                <a16:creationId xmlns:a16="http://schemas.microsoft.com/office/drawing/2014/main" id="{74F47239-8C88-455B-9858-9A3DA0974644}"/>
              </a:ext>
            </a:extLst>
          </p:cNvPr>
          <p:cNvSpPr>
            <a:spLocks noGrp="1"/>
          </p:cNvSpPr>
          <p:nvPr/>
        </p:nvSpPr>
        <p:spPr>
          <a:xfrm>
            <a:off x="3943350" y="4286250"/>
            <a:ext cx="7639050" cy="714375"/>
          </a:xfrm>
          <a:prstGeom prst="rect">
            <a:avLst/>
          </a:prstGeom>
          <a:noFill/>
          <a:ln w="0">
            <a:noFill/>
          </a:ln>
        </p:spPr>
        <p:txBody>
          <a:bodyPr lIns="0" tIns="0" rIns="0" bIns="0" anchor="ctr"/>
          <a:lstStyle>
            <a:defPPr algn="l">
              <a:defRPr sz="2025" b="0">
                <a:solidFill>
                  <a:srgbClr val="FFFFFF"/>
                </a:solidFill>
                <a:latin typeface="Arial"/>
                <a:ea typeface="Arial"/>
                <a:cs typeface="Arial"/>
              </a:defRPr>
            </a:defPPr>
          </a:lstStyle>
          <a:p>
            <a:pPr algn="l">
              <a:defRPr sz="2025" b="0">
                <a:solidFill>
                  <a:srgbClr val="FFFFFF"/>
                </a:solidFill>
                <a:latin typeface="Arial"/>
                <a:ea typeface="Arial"/>
                <a:cs typeface="Arial"/>
              </a:defRPr>
            </a:pPr>
            <a:r>
              <a:rPr sz="2025" b="0">
                <a:solidFill>
                  <a:srgbClr val="FFFFFF"/>
                </a:solidFill>
                <a:latin typeface="Arial"/>
                <a:ea typeface="Arial"/>
                <a:cs typeface="Arial"/>
              </a:rPr>
              <a:t>Python 3 for host_tools.tcp_ping</a:t>
            </a:r>
          </a:p>
        </p:txBody>
      </p:sp>
      <p:sp>
        <p:nvSpPr>
          <p:cNvPr id="11" name="Run build commands from the repository root.">
            <a:extLst>
              <a:ext uri="{FF2B5EF4-FFF2-40B4-BE49-F238E27FC236}">
                <a16:creationId xmlns:a16="http://schemas.microsoft.com/office/drawing/2014/main" id="{01232CF8-4A1F-438C-ABED-DF8FAA8722B3}"/>
              </a:ext>
            </a:extLst>
          </p:cNvPr>
          <p:cNvSpPr>
            <a:spLocks noGrp="1"/>
          </p:cNvSpPr>
          <p:nvPr/>
        </p:nvSpPr>
        <p:spPr>
          <a:xfrm>
            <a:off x="609600" y="5648325"/>
            <a:ext cx="10972800" cy="504825"/>
          </a:xfrm>
          <a:prstGeom prst="rect">
            <a:avLst/>
          </a:prstGeom>
          <a:noFill/>
          <a:ln w="0">
            <a:noFill/>
          </a:ln>
        </p:spPr>
        <p:txBody>
          <a:bodyPr lIns="0" tIns="0" rIns="0" bIns="0" anchor="ctr"/>
          <a:lstStyle>
            <a:defPPr algn="l">
              <a:defRPr sz="1725" b="0">
                <a:solidFill>
                  <a:srgbClr val="D5C9E6"/>
                </a:solidFill>
                <a:latin typeface="Arial"/>
                <a:ea typeface="Arial"/>
                <a:cs typeface="Arial"/>
              </a:defRPr>
            </a:defPPr>
          </a:lstStyle>
          <a:p>
            <a:pPr algn="l">
              <a:defRPr sz="1725" b="0">
                <a:solidFill>
                  <a:srgbClr val="D5C9E6"/>
                </a:solidFill>
                <a:latin typeface="Arial"/>
                <a:ea typeface="Arial"/>
                <a:cs typeface="Arial"/>
              </a:defRPr>
            </a:pPr>
            <a:r>
              <a:rPr sz="1725" b="0">
                <a:solidFill>
                  <a:srgbClr val="D5C9E6"/>
                </a:solidFill>
                <a:latin typeface="Arial"/>
                <a:ea typeface="Arial"/>
                <a:cs typeface="Arial"/>
              </a:rPr>
              <a:t>Run build commands from the repository root.</a:t>
            </a:r>
          </a:p>
        </p:txBody>
      </p:sp>
    </p:spTree>
    <p:extLst>
      <p:ext uri="{BB962C8B-B14F-4D97-AF65-F5344CB8AC3E}">
        <p14:creationId xmlns:p14="http://schemas.microsoft.com/office/powerpoint/2010/main" val="39381097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3" name="BUILD &amp; RUN">
            <a:extLst>
              <a:ext uri="{FF2B5EF4-FFF2-40B4-BE49-F238E27FC236}">
                <a16:creationId xmlns:a16="http://schemas.microsoft.com/office/drawing/2014/main" id="{8AF9901F-EC25-424F-97C7-C393F6CB0AF5}"/>
              </a:ext>
            </a:extLst>
          </p:cNvPr>
          <p:cNvSpPr>
            <a:spLocks noGrp="1"/>
          </p:cNvSpPr>
          <p:nvPr/>
        </p:nvSpPr>
        <p:spPr>
          <a:xfrm>
            <a:off x="609600" y="323850"/>
            <a:ext cx="10001250" cy="228600"/>
          </a:xfrm>
          <a:prstGeom prst="rect">
            <a:avLst/>
          </a:prstGeom>
          <a:noFill/>
          <a:ln w="0">
            <a:noFill/>
          </a:ln>
        </p:spPr>
        <p:txBody>
          <a:bodyPr lIns="0" tIns="0" rIns="0" bIns="0" anchor="ctr"/>
          <a:lstStyle>
            <a:defPPr algn="l">
              <a:defRPr sz="1200" b="1">
                <a:solidFill>
                  <a:srgbClr val="7D43D5"/>
                </a:solidFill>
                <a:latin typeface="Arial"/>
                <a:ea typeface="Arial"/>
                <a:cs typeface="Arial"/>
              </a:defRPr>
            </a:defPPr>
          </a:lstStyle>
          <a:p>
            <a:pPr algn="l">
              <a:defRPr sz="1200" b="1">
                <a:solidFill>
                  <a:srgbClr val="7D43D5"/>
                </a:solidFill>
                <a:latin typeface="Arial"/>
                <a:ea typeface="Arial"/>
                <a:cs typeface="Arial"/>
              </a:defRPr>
            </a:pPr>
            <a:r>
              <a:rPr sz="1200" b="1">
                <a:solidFill>
                  <a:srgbClr val="7D43D5"/>
                </a:solidFill>
                <a:latin typeface="Arial"/>
                <a:ea typeface="Arial"/>
                <a:cs typeface="Arial"/>
              </a:rPr>
              <a:t>BUILD &amp; RUN</a:t>
            </a:r>
          </a:p>
        </p:txBody>
      </p:sp>
      <p:sp>
        <p:nvSpPr>
          <p:cNvPr id="2" name="Source and configuration preflight">
            <a:extLst>
              <a:ext uri="{FF2B5EF4-FFF2-40B4-BE49-F238E27FC236}">
                <a16:creationId xmlns:a16="http://schemas.microsoft.com/office/drawing/2014/main" id="{52151B3C-2B17-4FA9-8FF2-594ED05488CB}"/>
              </a:ext>
            </a:extLst>
          </p:cNvPr>
          <p:cNvSpPr>
            <a:spLocks noGrp="1"/>
          </p:cNvSpPr>
          <p:nvPr/>
        </p:nvSpPr>
        <p:spPr>
          <a:xfrm>
            <a:off x="609600" y="876300"/>
            <a:ext cx="10972800" cy="952500"/>
          </a:xfrm>
          <a:prstGeom prst="rect">
            <a:avLst/>
          </a:prstGeom>
          <a:noFill/>
          <a:ln w="0">
            <a:noFill/>
          </a:ln>
        </p:spPr>
        <p:txBody>
          <a:bodyPr lIns="0" tIns="0" rIns="0" bIns="0" anchor="ctr"/>
          <a:lstStyle>
            <a:defPPr algn="l">
              <a:defRPr sz="3300" b="1">
                <a:solidFill>
                  <a:srgbClr val="251139"/>
                </a:solidFill>
                <a:latin typeface="Arial"/>
                <a:ea typeface="Arial"/>
                <a:cs typeface="Arial"/>
              </a:defRPr>
            </a:defPPr>
          </a:lstStyle>
          <a:p>
            <a:pPr algn="l">
              <a:defRPr sz="3300" b="1">
                <a:solidFill>
                  <a:srgbClr val="251139"/>
                </a:solidFill>
                <a:latin typeface="Arial"/>
                <a:ea typeface="Arial"/>
                <a:cs typeface="Arial"/>
              </a:defRPr>
            </a:pPr>
            <a:r>
              <a:rPr sz="3300" b="1">
                <a:solidFill>
                  <a:srgbClr val="251139"/>
                </a:solidFill>
                <a:latin typeface="Arial"/>
                <a:ea typeface="Arial"/>
                <a:cs typeface="Arial"/>
              </a:rPr>
              <a:t>Source and configuration preflight</a:t>
            </a:r>
          </a:p>
        </p:txBody>
      </p:sp>
      <p:sp>
        <p:nvSpPr>
          <p:cNvPr id="3" name="AGENTIC OS  /  MVP TECHNICAL WALKTHROUGH">
            <a:extLst>
              <a:ext uri="{FF2B5EF4-FFF2-40B4-BE49-F238E27FC236}">
                <a16:creationId xmlns:a16="http://schemas.microsoft.com/office/drawing/2014/main" id="{09AD64BE-65AD-4975-9EAE-C2F661C5D47F}"/>
              </a:ext>
            </a:extLst>
          </p:cNvPr>
          <p:cNvSpPr>
            <a:spLocks noGrp="1"/>
          </p:cNvSpPr>
          <p:nvPr/>
        </p:nvSpPr>
        <p:spPr>
          <a:xfrm>
            <a:off x="609600" y="6410325"/>
            <a:ext cx="10001250" cy="190500"/>
          </a:xfrm>
          <a:prstGeom prst="rect">
            <a:avLst/>
          </a:prstGeom>
          <a:noFill/>
          <a:ln w="0">
            <a:noFill/>
          </a:ln>
        </p:spPr>
        <p:txBody>
          <a:bodyPr lIns="0" tIns="0" rIns="0" bIns="0" anchor="ctr"/>
          <a:lstStyle>
            <a:defPPr algn="l">
              <a:defRPr sz="975" b="0">
                <a:solidFill>
                  <a:srgbClr val="7D43D5"/>
                </a:solidFill>
                <a:latin typeface="Arial"/>
                <a:ea typeface="Arial"/>
                <a:cs typeface="Arial"/>
              </a:defRPr>
            </a:defPPr>
          </a:lstStyle>
          <a:p>
            <a:pPr algn="l">
              <a:defRPr sz="975" b="0">
                <a:solidFill>
                  <a:srgbClr val="7D43D5"/>
                </a:solidFill>
                <a:latin typeface="Arial"/>
                <a:ea typeface="Arial"/>
                <a:cs typeface="Arial"/>
              </a:defRPr>
            </a:pPr>
            <a:r>
              <a:rPr sz="975" b="0">
                <a:solidFill>
                  <a:srgbClr val="7D43D5"/>
                </a:solidFill>
                <a:latin typeface="Arial"/>
                <a:ea typeface="Arial"/>
                <a:cs typeface="Arial"/>
              </a:rPr>
              <a:t>AGENTIC OS  /  MVP TECHNICAL WALKTHROUGH</a:t>
            </a:r>
          </a:p>
        </p:txBody>
      </p:sp>
      <p:sp>
        <p:nvSpPr>
          <p:cNvPr id="4" name="32">
            <a:extLst>
              <a:ext uri="{FF2B5EF4-FFF2-40B4-BE49-F238E27FC236}">
                <a16:creationId xmlns:a16="http://schemas.microsoft.com/office/drawing/2014/main" id="{26AA4B5B-B7F4-4662-A8D0-B21FF8D4DED5}"/>
              </a:ext>
            </a:extLst>
          </p:cNvPr>
          <p:cNvSpPr>
            <a:spLocks noGrp="1"/>
          </p:cNvSpPr>
          <p:nvPr/>
        </p:nvSpPr>
        <p:spPr>
          <a:xfrm>
            <a:off x="11029950" y="6372225"/>
            <a:ext cx="552450" cy="247650"/>
          </a:xfrm>
          <a:prstGeom prst="rect">
            <a:avLst/>
          </a:prstGeom>
          <a:noFill/>
          <a:ln w="0">
            <a:noFill/>
          </a:ln>
        </p:spPr>
        <p:txBody>
          <a:bodyPr lIns="0" tIns="0" rIns="0" bIns="0" anchor="ctr"/>
          <a:lstStyle>
            <a:defPPr algn="r">
              <a:defRPr sz="1275" b="0">
                <a:solidFill>
                  <a:srgbClr val="7D43D5"/>
                </a:solidFill>
                <a:latin typeface="Arial"/>
                <a:ea typeface="Arial"/>
                <a:cs typeface="Arial"/>
              </a:defRPr>
            </a:defPPr>
          </a:lstStyle>
          <a:p>
            <a:pPr algn="r">
              <a:defRPr sz="1275" b="0">
                <a:solidFill>
                  <a:srgbClr val="7D43D5"/>
                </a:solidFill>
                <a:latin typeface="Arial"/>
                <a:ea typeface="Arial"/>
                <a:cs typeface="Arial"/>
              </a:defRPr>
            </a:pPr>
            <a:r>
              <a:rPr sz="1275" b="0">
                <a:solidFill>
                  <a:srgbClr val="7D43D5"/>
                </a:solidFill>
                <a:latin typeface="Arial"/>
                <a:ea typeface="Arial"/>
                <a:cs typeface="Arial"/>
              </a:rPr>
              <a:t>32</a:t>
            </a:r>
          </a:p>
        </p:txBody>
      </p:sp>
      <p:sp>
        <p:nvSpPr>
          <p:cNvPr id="5" name="Boot assembly">
            <a:extLst>
              <a:ext uri="{FF2B5EF4-FFF2-40B4-BE49-F238E27FC236}">
                <a16:creationId xmlns:a16="http://schemas.microsoft.com/office/drawing/2014/main" id="{0D496FD2-B351-4044-966D-964A8E463263}"/>
              </a:ext>
            </a:extLst>
          </p:cNvPr>
          <p:cNvSpPr>
            <a:spLocks noGrp="1"/>
          </p:cNvSpPr>
          <p:nvPr/>
        </p:nvSpPr>
        <p:spPr>
          <a:xfrm>
            <a:off x="609600" y="1971675"/>
            <a:ext cx="3048000" cy="428625"/>
          </a:xfrm>
          <a:prstGeom prst="rect">
            <a:avLst/>
          </a:prstGeom>
          <a:noFill/>
          <a:ln w="0">
            <a:noFill/>
          </a:ln>
        </p:spPr>
        <p:txBody>
          <a:bodyPr lIns="0" tIns="0" rIns="0" bIns="0" anchor="ctr"/>
          <a:lstStyle>
            <a:defPPr algn="l">
              <a:defRPr sz="2100" b="1">
                <a:solidFill>
                  <a:srgbClr val="7D43D5"/>
                </a:solidFill>
                <a:latin typeface="Arial"/>
                <a:ea typeface="Arial"/>
                <a:cs typeface="Arial"/>
              </a:defRPr>
            </a:defPPr>
          </a:lstStyle>
          <a:p>
            <a:pPr algn="l">
              <a:defRPr sz="2100" b="1">
                <a:solidFill>
                  <a:srgbClr val="7D43D5"/>
                </a:solidFill>
                <a:latin typeface="Arial"/>
                <a:ea typeface="Arial"/>
                <a:cs typeface="Arial"/>
              </a:defRPr>
            </a:pPr>
            <a:r>
              <a:rPr sz="2100" b="1">
                <a:solidFill>
                  <a:srgbClr val="7D43D5"/>
                </a:solidFill>
                <a:latin typeface="Arial"/>
                <a:ea typeface="Arial"/>
                <a:cs typeface="Arial"/>
              </a:rPr>
              <a:t>Boot assembly</a:t>
            </a:r>
          </a:p>
        </p:txBody>
      </p:sp>
      <p:sp>
        <p:nvSpPr>
          <p:cNvPr id="6" name="Correct “mo   v ds, ax” to “mov ds, ax”">
            <a:extLst>
              <a:ext uri="{FF2B5EF4-FFF2-40B4-BE49-F238E27FC236}">
                <a16:creationId xmlns:a16="http://schemas.microsoft.com/office/drawing/2014/main" id="{D67811B3-77E6-4036-8D54-8B10F1A007DC}"/>
              </a:ext>
            </a:extLst>
          </p:cNvPr>
          <p:cNvSpPr>
            <a:spLocks noGrp="1"/>
          </p:cNvSpPr>
          <p:nvPr/>
        </p:nvSpPr>
        <p:spPr>
          <a:xfrm>
            <a:off x="3943350" y="1971675"/>
            <a:ext cx="7639050" cy="714375"/>
          </a:xfrm>
          <a:prstGeom prst="rect">
            <a:avLst/>
          </a:prstGeom>
          <a:noFill/>
          <a:ln w="0">
            <a:noFill/>
          </a:ln>
        </p:spPr>
        <p:txBody>
          <a:bodyPr lIns="0" tIns="0" rIns="0" bIns="0" anchor="ctr"/>
          <a:lstStyle>
            <a:defPPr algn="l">
              <a:defRPr sz="2025" b="0">
                <a:solidFill>
                  <a:srgbClr val="251139"/>
                </a:solidFill>
                <a:latin typeface="Arial"/>
                <a:ea typeface="Arial"/>
                <a:cs typeface="Arial"/>
              </a:defRPr>
            </a:defPPr>
          </a:lstStyle>
          <a:p>
            <a:pPr algn="l">
              <a:defRPr sz="2025" b="0">
                <a:solidFill>
                  <a:srgbClr val="251139"/>
                </a:solidFill>
                <a:latin typeface="Arial"/>
                <a:ea typeface="Arial"/>
                <a:cs typeface="Arial"/>
              </a:defRPr>
            </a:pPr>
            <a:r>
              <a:rPr sz="2025" b="0">
                <a:solidFill>
                  <a:srgbClr val="251139"/>
                </a:solidFill>
                <a:latin typeface="Arial"/>
                <a:ea typeface="Arial"/>
                <a:cs typeface="Arial"/>
              </a:rPr>
              <a:t>Correct “mo   v ds, ax” to “mov ds, ax”</a:t>
            </a:r>
          </a:p>
        </p:txBody>
      </p:sp>
      <p:sp>
        <p:nvSpPr>
          <p:cNvPr id="7" name="Disk image">
            <a:extLst>
              <a:ext uri="{FF2B5EF4-FFF2-40B4-BE49-F238E27FC236}">
                <a16:creationId xmlns:a16="http://schemas.microsoft.com/office/drawing/2014/main" id="{CDCFBD17-A20C-4579-9701-DDE798161223}"/>
              </a:ext>
            </a:extLst>
          </p:cNvPr>
          <p:cNvSpPr>
            <a:spLocks noGrp="1"/>
          </p:cNvSpPr>
          <p:nvPr/>
        </p:nvSpPr>
        <p:spPr>
          <a:xfrm>
            <a:off x="609600" y="2886075"/>
            <a:ext cx="3048000" cy="428625"/>
          </a:xfrm>
          <a:prstGeom prst="rect">
            <a:avLst/>
          </a:prstGeom>
          <a:noFill/>
          <a:ln w="0">
            <a:noFill/>
          </a:ln>
        </p:spPr>
        <p:txBody>
          <a:bodyPr lIns="0" tIns="0" rIns="0" bIns="0" anchor="ctr"/>
          <a:lstStyle>
            <a:defPPr algn="l">
              <a:defRPr sz="2100" b="1">
                <a:solidFill>
                  <a:srgbClr val="7D43D5"/>
                </a:solidFill>
                <a:latin typeface="Arial"/>
                <a:ea typeface="Arial"/>
                <a:cs typeface="Arial"/>
              </a:defRPr>
            </a:defPPr>
          </a:lstStyle>
          <a:p>
            <a:pPr algn="l">
              <a:defRPr sz="2100" b="1">
                <a:solidFill>
                  <a:srgbClr val="7D43D5"/>
                </a:solidFill>
                <a:latin typeface="Arial"/>
                <a:ea typeface="Arial"/>
                <a:cs typeface="Arial"/>
              </a:defRPr>
            </a:pPr>
            <a:r>
              <a:rPr sz="2100" b="1">
                <a:solidFill>
                  <a:srgbClr val="7D43D5"/>
                </a:solidFill>
                <a:latin typeface="Arial"/>
                <a:ea typeface="Arial"/>
                <a:cs typeface="Arial"/>
              </a:rPr>
              <a:t>Disk image</a:t>
            </a:r>
          </a:p>
        </p:txBody>
      </p:sp>
      <p:sp>
        <p:nvSpPr>
          <p:cNvPr id="8" name="Point ata0-master to this project’s boot.img">
            <a:extLst>
              <a:ext uri="{FF2B5EF4-FFF2-40B4-BE49-F238E27FC236}">
                <a16:creationId xmlns:a16="http://schemas.microsoft.com/office/drawing/2014/main" id="{3E588406-1141-4A49-A622-CAFDBC9444FB}"/>
              </a:ext>
            </a:extLst>
          </p:cNvPr>
          <p:cNvSpPr>
            <a:spLocks noGrp="1"/>
          </p:cNvSpPr>
          <p:nvPr/>
        </p:nvSpPr>
        <p:spPr>
          <a:xfrm>
            <a:off x="3943350" y="2886075"/>
            <a:ext cx="7639050" cy="714375"/>
          </a:xfrm>
          <a:prstGeom prst="rect">
            <a:avLst/>
          </a:prstGeom>
          <a:noFill/>
          <a:ln w="0">
            <a:noFill/>
          </a:ln>
        </p:spPr>
        <p:txBody>
          <a:bodyPr lIns="0" tIns="0" rIns="0" bIns="0" anchor="ctr"/>
          <a:lstStyle>
            <a:defPPr algn="l">
              <a:defRPr sz="2025" b="0">
                <a:solidFill>
                  <a:srgbClr val="251139"/>
                </a:solidFill>
                <a:latin typeface="Arial"/>
                <a:ea typeface="Arial"/>
                <a:cs typeface="Arial"/>
              </a:defRPr>
            </a:defPPr>
          </a:lstStyle>
          <a:p>
            <a:pPr algn="l">
              <a:defRPr sz="2025" b="0">
                <a:solidFill>
                  <a:srgbClr val="251139"/>
                </a:solidFill>
                <a:latin typeface="Arial"/>
                <a:ea typeface="Arial"/>
                <a:cs typeface="Arial"/>
              </a:defRPr>
            </a:pPr>
            <a:r>
              <a:rPr sz="2025" b="0">
                <a:solidFill>
                  <a:srgbClr val="251139"/>
                </a:solidFill>
                <a:latin typeface="Arial"/>
                <a:ea typeface="Arial"/>
                <a:cs typeface="Arial"/>
              </a:rPr>
              <a:t>Point ata0-master to this project’s boot.img</a:t>
            </a:r>
          </a:p>
        </p:txBody>
      </p:sp>
      <p:sp>
        <p:nvSpPr>
          <p:cNvPr id="9" name="BIOS files">
            <a:extLst>
              <a:ext uri="{FF2B5EF4-FFF2-40B4-BE49-F238E27FC236}">
                <a16:creationId xmlns:a16="http://schemas.microsoft.com/office/drawing/2014/main" id="{42AA7C0E-D66D-471B-8D15-A44BCE80E674}"/>
              </a:ext>
            </a:extLst>
          </p:cNvPr>
          <p:cNvSpPr>
            <a:spLocks noGrp="1"/>
          </p:cNvSpPr>
          <p:nvPr/>
        </p:nvSpPr>
        <p:spPr>
          <a:xfrm>
            <a:off x="609600" y="3800475"/>
            <a:ext cx="3048000" cy="428625"/>
          </a:xfrm>
          <a:prstGeom prst="rect">
            <a:avLst/>
          </a:prstGeom>
          <a:noFill/>
          <a:ln w="0">
            <a:noFill/>
          </a:ln>
        </p:spPr>
        <p:txBody>
          <a:bodyPr lIns="0" tIns="0" rIns="0" bIns="0" anchor="ctr"/>
          <a:lstStyle>
            <a:defPPr algn="l">
              <a:defRPr sz="2100" b="1">
                <a:solidFill>
                  <a:srgbClr val="7D43D5"/>
                </a:solidFill>
                <a:latin typeface="Arial"/>
                <a:ea typeface="Arial"/>
                <a:cs typeface="Arial"/>
              </a:defRPr>
            </a:defPPr>
          </a:lstStyle>
          <a:p>
            <a:pPr algn="l">
              <a:defRPr sz="2100" b="1">
                <a:solidFill>
                  <a:srgbClr val="7D43D5"/>
                </a:solidFill>
                <a:latin typeface="Arial"/>
                <a:ea typeface="Arial"/>
                <a:cs typeface="Arial"/>
              </a:defRPr>
            </a:pPr>
            <a:r>
              <a:rPr sz="2100" b="1">
                <a:solidFill>
                  <a:srgbClr val="7D43D5"/>
                </a:solidFill>
                <a:latin typeface="Arial"/>
                <a:ea typeface="Arial"/>
                <a:cs typeface="Arial"/>
              </a:rPr>
              <a:t>BIOS files</a:t>
            </a:r>
          </a:p>
        </p:txBody>
      </p:sp>
      <p:sp>
        <p:nvSpPr>
          <p:cNvPr id="10" name="Match romimage and vgaromimage to your insta">
            <a:extLst>
              <a:ext uri="{FF2B5EF4-FFF2-40B4-BE49-F238E27FC236}">
                <a16:creationId xmlns:a16="http://schemas.microsoft.com/office/drawing/2014/main" id="{08874D2C-27AE-45E9-B837-1E0A0C25625C}"/>
              </a:ext>
            </a:extLst>
          </p:cNvPr>
          <p:cNvSpPr>
            <a:spLocks noGrp="1"/>
          </p:cNvSpPr>
          <p:nvPr/>
        </p:nvSpPr>
        <p:spPr>
          <a:xfrm>
            <a:off x="3943350" y="3800475"/>
            <a:ext cx="7639050" cy="714375"/>
          </a:xfrm>
          <a:prstGeom prst="rect">
            <a:avLst/>
          </a:prstGeom>
          <a:noFill/>
          <a:ln w="0">
            <a:noFill/>
          </a:ln>
        </p:spPr>
        <p:txBody>
          <a:bodyPr lIns="0" tIns="0" rIns="0" bIns="0" anchor="ctr"/>
          <a:lstStyle>
            <a:defPPr algn="l">
              <a:defRPr sz="2025" b="0">
                <a:solidFill>
                  <a:srgbClr val="251139"/>
                </a:solidFill>
                <a:latin typeface="Arial"/>
                <a:ea typeface="Arial"/>
                <a:cs typeface="Arial"/>
              </a:defRPr>
            </a:defPPr>
          </a:lstStyle>
          <a:p>
            <a:pPr algn="l">
              <a:defRPr sz="2025" b="0">
                <a:solidFill>
                  <a:srgbClr val="251139"/>
                </a:solidFill>
                <a:latin typeface="Arial"/>
                <a:ea typeface="Arial"/>
                <a:cs typeface="Arial"/>
              </a:defRPr>
            </a:pPr>
            <a:r>
              <a:rPr sz="2025" b="0">
                <a:solidFill>
                  <a:srgbClr val="251139"/>
                </a:solidFill>
                <a:latin typeface="Arial"/>
                <a:ea typeface="Arial"/>
                <a:cs typeface="Arial"/>
              </a:rPr>
              <a:t>Match romimage and vgaromimage to your installation</a:t>
            </a:r>
          </a:p>
        </p:txBody>
      </p:sp>
      <p:sp>
        <p:nvSpPr>
          <p:cNvPr id="11" name="Network backend">
            <a:extLst>
              <a:ext uri="{FF2B5EF4-FFF2-40B4-BE49-F238E27FC236}">
                <a16:creationId xmlns:a16="http://schemas.microsoft.com/office/drawing/2014/main" id="{B2367ABA-5E49-4B5E-AF32-69049B3DB75F}"/>
              </a:ext>
            </a:extLst>
          </p:cNvPr>
          <p:cNvSpPr>
            <a:spLocks noGrp="1"/>
          </p:cNvSpPr>
          <p:nvPr/>
        </p:nvSpPr>
        <p:spPr>
          <a:xfrm>
            <a:off x="609600" y="4714875"/>
            <a:ext cx="3048000" cy="428625"/>
          </a:xfrm>
          <a:prstGeom prst="rect">
            <a:avLst/>
          </a:prstGeom>
          <a:noFill/>
          <a:ln w="0">
            <a:noFill/>
          </a:ln>
        </p:spPr>
        <p:txBody>
          <a:bodyPr lIns="0" tIns="0" rIns="0" bIns="0" anchor="ctr"/>
          <a:lstStyle>
            <a:defPPr algn="l">
              <a:defRPr sz="2100" b="1">
                <a:solidFill>
                  <a:srgbClr val="7D43D5"/>
                </a:solidFill>
                <a:latin typeface="Arial"/>
                <a:ea typeface="Arial"/>
                <a:cs typeface="Arial"/>
              </a:defRPr>
            </a:defPPr>
          </a:lstStyle>
          <a:p>
            <a:pPr algn="l">
              <a:defRPr sz="2100" b="1">
                <a:solidFill>
                  <a:srgbClr val="7D43D5"/>
                </a:solidFill>
                <a:latin typeface="Arial"/>
                <a:ea typeface="Arial"/>
                <a:cs typeface="Arial"/>
              </a:defRPr>
            </a:pPr>
            <a:r>
              <a:rPr sz="2100" b="1">
                <a:solidFill>
                  <a:srgbClr val="7D43D5"/>
                </a:solidFill>
                <a:latin typeface="Arial"/>
                <a:ea typeface="Arial"/>
                <a:cs typeface="Arial"/>
              </a:rPr>
              <a:t>Network backend</a:t>
            </a:r>
          </a:p>
        </p:txBody>
      </p:sp>
      <p:sp>
        <p:nvSpPr>
          <p:cNvPr id="12" name="Match vnet/tap settings to the guest subnet">
            <a:extLst>
              <a:ext uri="{FF2B5EF4-FFF2-40B4-BE49-F238E27FC236}">
                <a16:creationId xmlns:a16="http://schemas.microsoft.com/office/drawing/2014/main" id="{724980B2-28E1-4B65-BFC2-39347A5C4190}"/>
              </a:ext>
            </a:extLst>
          </p:cNvPr>
          <p:cNvSpPr>
            <a:spLocks noGrp="1"/>
          </p:cNvSpPr>
          <p:nvPr/>
        </p:nvSpPr>
        <p:spPr>
          <a:xfrm>
            <a:off x="3943350" y="4714875"/>
            <a:ext cx="7639050" cy="714375"/>
          </a:xfrm>
          <a:prstGeom prst="rect">
            <a:avLst/>
          </a:prstGeom>
          <a:noFill/>
          <a:ln w="0">
            <a:noFill/>
          </a:ln>
        </p:spPr>
        <p:txBody>
          <a:bodyPr lIns="0" tIns="0" rIns="0" bIns="0" anchor="ctr"/>
          <a:lstStyle>
            <a:defPPr algn="l">
              <a:defRPr sz="2025" b="0">
                <a:solidFill>
                  <a:srgbClr val="251139"/>
                </a:solidFill>
                <a:latin typeface="Arial"/>
                <a:ea typeface="Arial"/>
                <a:cs typeface="Arial"/>
              </a:defRPr>
            </a:defPPr>
          </a:lstStyle>
          <a:p>
            <a:pPr algn="l">
              <a:defRPr sz="2025" b="0">
                <a:solidFill>
                  <a:srgbClr val="251139"/>
                </a:solidFill>
                <a:latin typeface="Arial"/>
                <a:ea typeface="Arial"/>
                <a:cs typeface="Arial"/>
              </a:defRPr>
            </a:pPr>
            <a:r>
              <a:rPr sz="2025" b="0">
                <a:solidFill>
                  <a:srgbClr val="251139"/>
                </a:solidFill>
                <a:latin typeface="Arial"/>
                <a:ea typeface="Arial"/>
                <a:cs typeface="Arial"/>
              </a:rPr>
              <a:t>Match vnet/tap settings to the guest subnet</a:t>
            </a:r>
          </a:p>
        </p:txBody>
      </p:sp>
    </p:spTree>
    <p:extLst>
      <p:ext uri="{BB962C8B-B14F-4D97-AF65-F5344CB8AC3E}">
        <p14:creationId xmlns:p14="http://schemas.microsoft.com/office/powerpoint/2010/main" val="26508202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180B2B"/>
        </a:solidFill>
        <a:effectLst/>
      </p:bgPr>
    </p:bg>
    <p:spTree>
      <p:nvGrpSpPr>
        <p:cNvPr id="1" name=""/>
        <p:cNvGrpSpPr/>
        <p:nvPr/>
      </p:nvGrpSpPr>
      <p:grpSpPr>
        <a:xfrm>
          <a:off x="0" y="0"/>
          <a:ext cx="0" cy="0"/>
          <a:chOff x="0" y="0"/>
          <a:chExt cx="0" cy="0"/>
        </a:xfrm>
      </p:grpSpPr>
      <p:sp>
        <p:nvSpPr>
          <p:cNvPr id="10" name="BUILD &amp; RUN">
            <a:extLst>
              <a:ext uri="{FF2B5EF4-FFF2-40B4-BE49-F238E27FC236}">
                <a16:creationId xmlns:a16="http://schemas.microsoft.com/office/drawing/2014/main" id="{1B29EE8D-316C-42E4-B446-1044D071EE4E}"/>
              </a:ext>
            </a:extLst>
          </p:cNvPr>
          <p:cNvSpPr>
            <a:spLocks noGrp="1"/>
          </p:cNvSpPr>
          <p:nvPr/>
        </p:nvSpPr>
        <p:spPr>
          <a:xfrm>
            <a:off x="609600" y="323850"/>
            <a:ext cx="10001250" cy="228600"/>
          </a:xfrm>
          <a:prstGeom prst="rect">
            <a:avLst/>
          </a:prstGeom>
          <a:noFill/>
          <a:ln w="0">
            <a:noFill/>
          </a:ln>
        </p:spPr>
        <p:txBody>
          <a:bodyPr lIns="0" tIns="0" rIns="0" bIns="0" anchor="ctr"/>
          <a:lstStyle>
            <a:defPPr algn="l">
              <a:defRPr sz="1200" b="1">
                <a:solidFill>
                  <a:srgbClr val="BE98F6"/>
                </a:solidFill>
                <a:latin typeface="Arial"/>
                <a:ea typeface="Arial"/>
                <a:cs typeface="Arial"/>
              </a:defRPr>
            </a:defPPr>
          </a:lstStyle>
          <a:p>
            <a:pPr algn="l">
              <a:defRPr sz="1200" b="1">
                <a:solidFill>
                  <a:srgbClr val="BE98F6"/>
                </a:solidFill>
                <a:latin typeface="Arial"/>
                <a:ea typeface="Arial"/>
                <a:cs typeface="Arial"/>
              </a:defRPr>
            </a:pPr>
            <a:r>
              <a:rPr sz="1200" b="1">
                <a:solidFill>
                  <a:srgbClr val="BE98F6"/>
                </a:solidFill>
                <a:latin typeface="Arial"/>
                <a:ea typeface="Arial"/>
                <a:cs typeface="Arial"/>
              </a:rPr>
              <a:t>BUILD &amp; RUN</a:t>
            </a:r>
          </a:p>
        </p:txBody>
      </p:sp>
      <p:sp>
        <p:nvSpPr>
          <p:cNvPr id="2" name="Build the boot image">
            <a:extLst>
              <a:ext uri="{FF2B5EF4-FFF2-40B4-BE49-F238E27FC236}">
                <a16:creationId xmlns:a16="http://schemas.microsoft.com/office/drawing/2014/main" id="{E1FD1FB6-397B-44CB-B3CE-6095C844A80B}"/>
              </a:ext>
            </a:extLst>
          </p:cNvPr>
          <p:cNvSpPr>
            <a:spLocks noGrp="1"/>
          </p:cNvSpPr>
          <p:nvPr/>
        </p:nvSpPr>
        <p:spPr>
          <a:xfrm>
            <a:off x="609600" y="876300"/>
            <a:ext cx="10972800" cy="952500"/>
          </a:xfrm>
          <a:prstGeom prst="rect">
            <a:avLst/>
          </a:prstGeom>
          <a:noFill/>
          <a:ln w="0">
            <a:noFill/>
          </a:ln>
        </p:spPr>
        <p:txBody>
          <a:bodyPr lIns="0" tIns="0" rIns="0" bIns="0" anchor="ctr"/>
          <a:lstStyle>
            <a:defPPr algn="l">
              <a:defRPr sz="3300" b="1">
                <a:solidFill>
                  <a:srgbClr val="FFFFFF"/>
                </a:solidFill>
                <a:latin typeface="Arial"/>
                <a:ea typeface="Arial"/>
                <a:cs typeface="Arial"/>
              </a:defRPr>
            </a:defPPr>
          </a:lstStyle>
          <a:p>
            <a:pPr algn="l">
              <a:defRPr sz="3300" b="1">
                <a:solidFill>
                  <a:srgbClr val="FFFFFF"/>
                </a:solidFill>
                <a:latin typeface="Arial"/>
                <a:ea typeface="Arial"/>
                <a:cs typeface="Arial"/>
              </a:defRPr>
            </a:pPr>
            <a:r>
              <a:rPr sz="3300" b="1">
                <a:solidFill>
                  <a:srgbClr val="FFFFFF"/>
                </a:solidFill>
                <a:latin typeface="Arial"/>
                <a:ea typeface="Arial"/>
                <a:cs typeface="Arial"/>
              </a:rPr>
              <a:t>Build the boot image</a:t>
            </a:r>
          </a:p>
        </p:txBody>
      </p:sp>
      <p:sp>
        <p:nvSpPr>
          <p:cNvPr id="3" name="AGENTIC OS  /  MVP TECHNICAL WALKTHROUGH">
            <a:extLst>
              <a:ext uri="{FF2B5EF4-FFF2-40B4-BE49-F238E27FC236}">
                <a16:creationId xmlns:a16="http://schemas.microsoft.com/office/drawing/2014/main" id="{70F48E34-9D6D-4F08-84DC-C9059F7B0838}"/>
              </a:ext>
            </a:extLst>
          </p:cNvPr>
          <p:cNvSpPr>
            <a:spLocks noGrp="1"/>
          </p:cNvSpPr>
          <p:nvPr/>
        </p:nvSpPr>
        <p:spPr>
          <a:xfrm>
            <a:off x="609600" y="6410325"/>
            <a:ext cx="10001250" cy="190500"/>
          </a:xfrm>
          <a:prstGeom prst="rect">
            <a:avLst/>
          </a:prstGeom>
          <a:noFill/>
          <a:ln w="0">
            <a:noFill/>
          </a:ln>
        </p:spPr>
        <p:txBody>
          <a:bodyPr lIns="0" tIns="0" rIns="0" bIns="0" anchor="ctr"/>
          <a:lstStyle>
            <a:defPPr algn="l">
              <a:defRPr sz="975" b="0">
                <a:solidFill>
                  <a:srgbClr val="D5C9E6"/>
                </a:solidFill>
                <a:latin typeface="Arial"/>
                <a:ea typeface="Arial"/>
                <a:cs typeface="Arial"/>
              </a:defRPr>
            </a:defPPr>
          </a:lstStyle>
          <a:p>
            <a:pPr algn="l">
              <a:defRPr sz="975" b="0">
                <a:solidFill>
                  <a:srgbClr val="D5C9E6"/>
                </a:solidFill>
                <a:latin typeface="Arial"/>
                <a:ea typeface="Arial"/>
                <a:cs typeface="Arial"/>
              </a:defRPr>
            </a:pPr>
            <a:r>
              <a:rPr sz="975" b="0">
                <a:solidFill>
                  <a:srgbClr val="D5C9E6"/>
                </a:solidFill>
                <a:latin typeface="Arial"/>
                <a:ea typeface="Arial"/>
                <a:cs typeface="Arial"/>
              </a:rPr>
              <a:t>AGENTIC OS  /  MVP TECHNICAL WALKTHROUGH</a:t>
            </a:r>
          </a:p>
        </p:txBody>
      </p:sp>
      <p:sp>
        <p:nvSpPr>
          <p:cNvPr id="4" name="33">
            <a:extLst>
              <a:ext uri="{FF2B5EF4-FFF2-40B4-BE49-F238E27FC236}">
                <a16:creationId xmlns:a16="http://schemas.microsoft.com/office/drawing/2014/main" id="{A73D3CF1-E365-419D-9D79-C15316313154}"/>
              </a:ext>
            </a:extLst>
          </p:cNvPr>
          <p:cNvSpPr>
            <a:spLocks noGrp="1"/>
          </p:cNvSpPr>
          <p:nvPr/>
        </p:nvSpPr>
        <p:spPr>
          <a:xfrm>
            <a:off x="11029950" y="6372225"/>
            <a:ext cx="552450" cy="247650"/>
          </a:xfrm>
          <a:prstGeom prst="rect">
            <a:avLst/>
          </a:prstGeom>
          <a:noFill/>
          <a:ln w="0">
            <a:noFill/>
          </a:ln>
        </p:spPr>
        <p:txBody>
          <a:bodyPr lIns="0" tIns="0" rIns="0" bIns="0" anchor="ctr"/>
          <a:lstStyle>
            <a:defPPr algn="r">
              <a:defRPr sz="1275" b="0">
                <a:solidFill>
                  <a:srgbClr val="BE98F6"/>
                </a:solidFill>
                <a:latin typeface="Arial"/>
                <a:ea typeface="Arial"/>
                <a:cs typeface="Arial"/>
              </a:defRPr>
            </a:defPPr>
          </a:lstStyle>
          <a:p>
            <a:pPr algn="r">
              <a:defRPr sz="1275" b="0">
                <a:solidFill>
                  <a:srgbClr val="BE98F6"/>
                </a:solidFill>
                <a:latin typeface="Arial"/>
                <a:ea typeface="Arial"/>
                <a:cs typeface="Arial"/>
              </a:defRPr>
            </a:pPr>
            <a:r>
              <a:rPr sz="1275" b="0">
                <a:solidFill>
                  <a:srgbClr val="BE98F6"/>
                </a:solidFill>
                <a:latin typeface="Arial"/>
                <a:ea typeface="Arial"/>
                <a:cs typeface="Arial"/>
              </a:rPr>
              <a:t>33</a:t>
            </a:r>
          </a:p>
        </p:txBody>
      </p:sp>
      <p:sp>
        <p:nvSpPr>
          <p:cNvPr id="5" name="Rectangle 4">
            <a:extLst>
              <a:ext uri="{FF2B5EF4-FFF2-40B4-BE49-F238E27FC236}">
                <a16:creationId xmlns:a16="http://schemas.microsoft.com/office/drawing/2014/main" id="{33AA2868-4607-48AD-ACE1-01D991E8E6FB}"/>
              </a:ext>
            </a:extLst>
          </p:cNvPr>
          <p:cNvSpPr>
            <a:spLocks noGrp="1"/>
          </p:cNvSpPr>
          <p:nvPr/>
        </p:nvSpPr>
        <p:spPr>
          <a:xfrm>
            <a:off x="609600" y="2124075"/>
            <a:ext cx="6858000" cy="3048000"/>
          </a:xfrm>
          <a:prstGeom prst="rect">
            <a:avLst/>
          </a:prstGeom>
          <a:solidFill>
            <a:srgbClr val="10071D"/>
          </a:solidFill>
          <a:ln w="13335">
            <a:solidFill>
              <a:srgbClr val="5D377E"/>
            </a:solidFill>
          </a:ln>
        </p:spPr>
      </p:sp>
      <p:sp>
        <p:nvSpPr>
          <p:cNvPr id="6" name="nasm -v&#10;i686-elf-gcc --version&#10;i686-elf-objc">
            <a:extLst>
              <a:ext uri="{FF2B5EF4-FFF2-40B4-BE49-F238E27FC236}">
                <a16:creationId xmlns:a16="http://schemas.microsoft.com/office/drawing/2014/main" id="{790894E1-A598-4D9E-8572-B7F8BC9A5DAD}"/>
              </a:ext>
            </a:extLst>
          </p:cNvPr>
          <p:cNvSpPr>
            <a:spLocks noGrp="1"/>
          </p:cNvSpPr>
          <p:nvPr/>
        </p:nvSpPr>
        <p:spPr>
          <a:xfrm>
            <a:off x="857250" y="2295525"/>
            <a:ext cx="6362700" cy="2705100"/>
          </a:xfrm>
          <a:prstGeom prst="rect">
            <a:avLst/>
          </a:prstGeom>
          <a:noFill/>
          <a:ln w="0">
            <a:noFill/>
          </a:ln>
        </p:spPr>
        <p:txBody>
          <a:bodyPr lIns="0" tIns="0" rIns="0" bIns="0" anchor="ctr"/>
          <a:lstStyle>
            <a:defPPr algn="l">
              <a:defRPr sz="2025" b="0">
                <a:solidFill>
                  <a:srgbClr val="FFFFFF"/>
                </a:solidFill>
                <a:latin typeface="Courier New"/>
                <a:ea typeface="Courier New"/>
                <a:cs typeface="Courier New"/>
              </a:defRPr>
            </a:defPPr>
          </a:lstStyle>
          <a:p>
            <a:pPr algn="l">
              <a:defRPr sz="2025" b="0">
                <a:solidFill>
                  <a:srgbClr val="FFFFFF"/>
                </a:solidFill>
                <a:latin typeface="Courier New"/>
                <a:ea typeface="Courier New"/>
                <a:cs typeface="Courier New"/>
              </a:defRPr>
            </a:pPr>
            <a:r>
              <a:rPr sz="2025" b="0">
                <a:solidFill>
                  <a:srgbClr val="FFFFFF"/>
                </a:solidFill>
                <a:latin typeface="Courier New"/>
                <a:ea typeface="Courier New"/>
                <a:cs typeface="Courier New"/>
              </a:rPr>
              <a:t>nasm -v</a:t>
            </a:r>
          </a:p>
          <a:p>
            <a:pPr algn="l">
              <a:defRPr sz="2025" b="0">
                <a:solidFill>
                  <a:srgbClr val="FFFFFF"/>
                </a:solidFill>
                <a:latin typeface="Courier New"/>
                <a:ea typeface="Courier New"/>
                <a:cs typeface="Courier New"/>
              </a:defRPr>
            </a:pPr>
            <a:r>
              <a:rPr sz="2025" b="0">
                <a:solidFill>
                  <a:srgbClr val="FFFFFF"/>
                </a:solidFill>
                <a:latin typeface="Courier New"/>
                <a:ea typeface="Courier New"/>
                <a:cs typeface="Courier New"/>
              </a:rPr>
              <a:t>i686-elf-gcc --version</a:t>
            </a:r>
          </a:p>
          <a:p>
            <a:pPr algn="l">
              <a:defRPr sz="2025" b="0">
                <a:solidFill>
                  <a:srgbClr val="FFFFFF"/>
                </a:solidFill>
                <a:latin typeface="Courier New"/>
                <a:ea typeface="Courier New"/>
                <a:cs typeface="Courier New"/>
              </a:defRPr>
            </a:pPr>
            <a:r>
              <a:rPr sz="2025" b="0">
                <a:solidFill>
                  <a:srgbClr val="FFFFFF"/>
                </a:solidFill>
                <a:latin typeface="Courier New"/>
                <a:ea typeface="Courier New"/>
                <a:cs typeface="Courier New"/>
              </a:rPr>
              <a:t>i686-elf-objcopy --version</a:t>
            </a:r>
          </a:p>
          <a:p>
            <a:endParaRPr sz="2025" b="0">
              <a:solidFill>
                <a:srgbClr val="FFFFFF"/>
              </a:solidFill>
              <a:latin typeface="Courier New"/>
              <a:ea typeface="Courier New"/>
              <a:cs typeface="Courier New"/>
            </a:endParaRPr>
          </a:p>
          <a:p>
            <a:pPr algn="l">
              <a:defRPr sz="2025" b="0">
                <a:solidFill>
                  <a:srgbClr val="FFFFFF"/>
                </a:solidFill>
                <a:latin typeface="Courier New"/>
                <a:ea typeface="Courier New"/>
                <a:cs typeface="Courier New"/>
              </a:defRPr>
            </a:pPr>
            <a:r>
              <a:rPr sz="2025" b="0">
                <a:solidFill>
                  <a:srgbClr val="FFFFFF"/>
                </a:solidFill>
                <a:latin typeface="Courier New"/>
                <a:ea typeface="Courier New"/>
                <a:cs typeface="Courier New"/>
              </a:rPr>
              <a:t>bash build.sh</a:t>
            </a:r>
          </a:p>
        </p:txBody>
      </p:sp>
      <p:sp>
        <p:nvSpPr>
          <p:cNvPr id="7" name="Output files">
            <a:extLst>
              <a:ext uri="{FF2B5EF4-FFF2-40B4-BE49-F238E27FC236}">
                <a16:creationId xmlns:a16="http://schemas.microsoft.com/office/drawing/2014/main" id="{2B0E2C33-E947-404B-843A-3B51F60655F7}"/>
              </a:ext>
            </a:extLst>
          </p:cNvPr>
          <p:cNvSpPr>
            <a:spLocks noGrp="1"/>
          </p:cNvSpPr>
          <p:nvPr/>
        </p:nvSpPr>
        <p:spPr>
          <a:xfrm>
            <a:off x="8058150" y="2219325"/>
            <a:ext cx="3238500" cy="457200"/>
          </a:xfrm>
          <a:prstGeom prst="rect">
            <a:avLst/>
          </a:prstGeom>
          <a:noFill/>
          <a:ln w="0">
            <a:noFill/>
          </a:ln>
        </p:spPr>
        <p:txBody>
          <a:bodyPr lIns="0" tIns="0" rIns="0" bIns="0" anchor="ctr"/>
          <a:lstStyle>
            <a:defPPr algn="l">
              <a:defRPr sz="2250" b="1">
                <a:solidFill>
                  <a:srgbClr val="BE98F6"/>
                </a:solidFill>
                <a:latin typeface="Arial"/>
                <a:ea typeface="Arial"/>
                <a:cs typeface="Arial"/>
              </a:defRPr>
            </a:defPPr>
          </a:lstStyle>
          <a:p>
            <a:pPr algn="l">
              <a:defRPr sz="2250" b="1">
                <a:solidFill>
                  <a:srgbClr val="BE98F6"/>
                </a:solidFill>
                <a:latin typeface="Arial"/>
                <a:ea typeface="Arial"/>
                <a:cs typeface="Arial"/>
              </a:defRPr>
            </a:pPr>
            <a:r>
              <a:rPr sz="2250" b="1">
                <a:solidFill>
                  <a:srgbClr val="BE98F6"/>
                </a:solidFill>
                <a:latin typeface="Arial"/>
                <a:ea typeface="Arial"/>
                <a:cs typeface="Arial"/>
              </a:rPr>
              <a:t>Output files</a:t>
            </a:r>
          </a:p>
        </p:txBody>
      </p:sp>
      <p:sp>
        <p:nvSpPr>
          <p:cNvPr id="8" name="kernel.elf&#10;kernel.bin&#10;boot.bin&#10;boot.img">
            <a:extLst>
              <a:ext uri="{FF2B5EF4-FFF2-40B4-BE49-F238E27FC236}">
                <a16:creationId xmlns:a16="http://schemas.microsoft.com/office/drawing/2014/main" id="{41E5897E-9AEB-4221-8526-82F429211F18}"/>
              </a:ext>
            </a:extLst>
          </p:cNvPr>
          <p:cNvSpPr>
            <a:spLocks noGrp="1"/>
          </p:cNvSpPr>
          <p:nvPr/>
        </p:nvSpPr>
        <p:spPr>
          <a:xfrm>
            <a:off x="8058150" y="2905125"/>
            <a:ext cx="3381375" cy="1933575"/>
          </a:xfrm>
          <a:prstGeom prst="rect">
            <a:avLst/>
          </a:prstGeom>
          <a:noFill/>
          <a:ln w="0">
            <a:noFill/>
          </a:ln>
        </p:spPr>
        <p:txBody>
          <a:bodyPr lIns="0" tIns="0" rIns="0" bIns="0" anchor="ctr"/>
          <a:lstStyle>
            <a:defPPr algn="l">
              <a:defRPr sz="2175" b="0">
                <a:solidFill>
                  <a:srgbClr val="FFFFFF"/>
                </a:solidFill>
                <a:latin typeface="Arial"/>
                <a:ea typeface="Arial"/>
                <a:cs typeface="Arial"/>
              </a:defRPr>
            </a:defPPr>
          </a:lstStyle>
          <a:p>
            <a:pPr algn="l">
              <a:defRPr sz="2175" b="0">
                <a:solidFill>
                  <a:srgbClr val="FFFFFF"/>
                </a:solidFill>
                <a:latin typeface="Arial"/>
                <a:ea typeface="Arial"/>
                <a:cs typeface="Arial"/>
              </a:defRPr>
            </a:pPr>
            <a:r>
              <a:rPr sz="2175" b="0">
                <a:solidFill>
                  <a:srgbClr val="FFFFFF"/>
                </a:solidFill>
                <a:latin typeface="Arial"/>
                <a:ea typeface="Arial"/>
                <a:cs typeface="Arial"/>
              </a:rPr>
              <a:t>kernel.elf</a:t>
            </a:r>
          </a:p>
          <a:p>
            <a:pPr algn="l">
              <a:defRPr sz="2175" b="0">
                <a:solidFill>
                  <a:srgbClr val="FFFFFF"/>
                </a:solidFill>
                <a:latin typeface="Arial"/>
                <a:ea typeface="Arial"/>
                <a:cs typeface="Arial"/>
              </a:defRPr>
            </a:pPr>
            <a:r>
              <a:rPr sz="2175" b="0">
                <a:solidFill>
                  <a:srgbClr val="FFFFFF"/>
                </a:solidFill>
                <a:latin typeface="Arial"/>
                <a:ea typeface="Arial"/>
                <a:cs typeface="Arial"/>
              </a:rPr>
              <a:t>kernel.bin</a:t>
            </a:r>
          </a:p>
          <a:p>
            <a:pPr algn="l">
              <a:defRPr sz="2175" b="0">
                <a:solidFill>
                  <a:srgbClr val="FFFFFF"/>
                </a:solidFill>
                <a:latin typeface="Arial"/>
                <a:ea typeface="Arial"/>
                <a:cs typeface="Arial"/>
              </a:defRPr>
            </a:pPr>
            <a:r>
              <a:rPr sz="2175" b="0">
                <a:solidFill>
                  <a:srgbClr val="FFFFFF"/>
                </a:solidFill>
                <a:latin typeface="Arial"/>
                <a:ea typeface="Arial"/>
                <a:cs typeface="Arial"/>
              </a:rPr>
              <a:t>boot.bin</a:t>
            </a:r>
          </a:p>
          <a:p>
            <a:pPr algn="l">
              <a:defRPr sz="2175" b="0">
                <a:solidFill>
                  <a:srgbClr val="FFFFFF"/>
                </a:solidFill>
                <a:latin typeface="Arial"/>
                <a:ea typeface="Arial"/>
                <a:cs typeface="Arial"/>
              </a:defRPr>
            </a:pPr>
            <a:r>
              <a:rPr sz="2175" b="0">
                <a:solidFill>
                  <a:srgbClr val="FFFFFF"/>
                </a:solidFill>
                <a:latin typeface="Arial"/>
                <a:ea typeface="Arial"/>
                <a:cs typeface="Arial"/>
              </a:rPr>
              <a:t>boot.img</a:t>
            </a:r>
          </a:p>
        </p:txBody>
      </p:sp>
      <p:sp>
        <p:nvSpPr>
          <p:cNvPr id="9" name="Resolve the preflight issues before running ">
            <a:extLst>
              <a:ext uri="{FF2B5EF4-FFF2-40B4-BE49-F238E27FC236}">
                <a16:creationId xmlns:a16="http://schemas.microsoft.com/office/drawing/2014/main" id="{02714610-B5B2-410B-BE94-724BBA6A31F6}"/>
              </a:ext>
            </a:extLst>
          </p:cNvPr>
          <p:cNvSpPr>
            <a:spLocks noGrp="1"/>
          </p:cNvSpPr>
          <p:nvPr/>
        </p:nvSpPr>
        <p:spPr>
          <a:xfrm>
            <a:off x="609600" y="5648325"/>
            <a:ext cx="10972800" cy="504825"/>
          </a:xfrm>
          <a:prstGeom prst="rect">
            <a:avLst/>
          </a:prstGeom>
          <a:noFill/>
          <a:ln w="0">
            <a:noFill/>
          </a:ln>
        </p:spPr>
        <p:txBody>
          <a:bodyPr lIns="0" tIns="0" rIns="0" bIns="0" anchor="ctr"/>
          <a:lstStyle>
            <a:defPPr algn="l">
              <a:defRPr sz="1725" b="0">
                <a:solidFill>
                  <a:srgbClr val="D5C9E6"/>
                </a:solidFill>
                <a:latin typeface="Arial"/>
                <a:ea typeface="Arial"/>
                <a:cs typeface="Arial"/>
              </a:defRPr>
            </a:defPPr>
          </a:lstStyle>
          <a:p>
            <a:pPr algn="l">
              <a:defRPr sz="1725" b="0">
                <a:solidFill>
                  <a:srgbClr val="D5C9E6"/>
                </a:solidFill>
                <a:latin typeface="Arial"/>
                <a:ea typeface="Arial"/>
                <a:cs typeface="Arial"/>
              </a:defRPr>
            </a:pPr>
            <a:r>
              <a:rPr sz="1725" b="0">
                <a:solidFill>
                  <a:srgbClr val="D5C9E6"/>
                </a:solidFill>
                <a:latin typeface="Arial"/>
                <a:ea typeface="Arial"/>
                <a:cs typeface="Arial"/>
              </a:rPr>
              <a:t>Resolve the preflight issues before running the build.</a:t>
            </a:r>
          </a:p>
        </p:txBody>
      </p:sp>
    </p:spTree>
    <p:extLst>
      <p:ext uri="{BB962C8B-B14F-4D97-AF65-F5344CB8AC3E}">
        <p14:creationId xmlns:p14="http://schemas.microsoft.com/office/powerpoint/2010/main" val="65632499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180B2B"/>
        </a:solidFill>
        <a:effectLst/>
      </p:bgPr>
    </p:bg>
    <p:spTree>
      <p:nvGrpSpPr>
        <p:cNvPr id="1" name=""/>
        <p:cNvGrpSpPr/>
        <p:nvPr/>
      </p:nvGrpSpPr>
      <p:grpSpPr>
        <a:xfrm>
          <a:off x="0" y="0"/>
          <a:ext cx="0" cy="0"/>
          <a:chOff x="0" y="0"/>
          <a:chExt cx="0" cy="0"/>
        </a:xfrm>
      </p:grpSpPr>
      <p:sp>
        <p:nvSpPr>
          <p:cNvPr id="19" name="BUILD &amp; RUN">
            <a:extLst>
              <a:ext uri="{FF2B5EF4-FFF2-40B4-BE49-F238E27FC236}">
                <a16:creationId xmlns:a16="http://schemas.microsoft.com/office/drawing/2014/main" id="{4E485020-3B0B-4DF0-A3BD-531838CC5072}"/>
              </a:ext>
            </a:extLst>
          </p:cNvPr>
          <p:cNvSpPr>
            <a:spLocks noGrp="1"/>
          </p:cNvSpPr>
          <p:nvPr/>
        </p:nvSpPr>
        <p:spPr>
          <a:xfrm>
            <a:off x="609600" y="323850"/>
            <a:ext cx="10001250" cy="228600"/>
          </a:xfrm>
          <a:prstGeom prst="rect">
            <a:avLst/>
          </a:prstGeom>
          <a:noFill/>
          <a:ln w="0">
            <a:noFill/>
          </a:ln>
        </p:spPr>
        <p:txBody>
          <a:bodyPr lIns="0" tIns="0" rIns="0" bIns="0" anchor="ctr"/>
          <a:lstStyle>
            <a:defPPr algn="l">
              <a:defRPr sz="1200" b="1">
                <a:solidFill>
                  <a:srgbClr val="BE98F6"/>
                </a:solidFill>
                <a:latin typeface="Arial"/>
                <a:ea typeface="Arial"/>
                <a:cs typeface="Arial"/>
              </a:defRPr>
            </a:defPPr>
          </a:lstStyle>
          <a:p>
            <a:pPr algn="l">
              <a:defRPr sz="1200" b="1">
                <a:solidFill>
                  <a:srgbClr val="BE98F6"/>
                </a:solidFill>
                <a:latin typeface="Arial"/>
                <a:ea typeface="Arial"/>
                <a:cs typeface="Arial"/>
              </a:defRPr>
            </a:pPr>
            <a:r>
              <a:rPr sz="1200" b="1">
                <a:solidFill>
                  <a:srgbClr val="BE98F6"/>
                </a:solidFill>
                <a:latin typeface="Arial"/>
                <a:ea typeface="Arial"/>
                <a:cs typeface="Arial"/>
              </a:rPr>
              <a:t>BUILD &amp; RUN</a:t>
            </a:r>
          </a:p>
        </p:txBody>
      </p:sp>
      <p:sp>
        <p:nvSpPr>
          <p:cNvPr id="2" name="Launch Bochs">
            <a:extLst>
              <a:ext uri="{FF2B5EF4-FFF2-40B4-BE49-F238E27FC236}">
                <a16:creationId xmlns:a16="http://schemas.microsoft.com/office/drawing/2014/main" id="{253E5B1A-B423-418D-857C-186BC99DFBC9}"/>
              </a:ext>
            </a:extLst>
          </p:cNvPr>
          <p:cNvSpPr>
            <a:spLocks noGrp="1"/>
          </p:cNvSpPr>
          <p:nvPr/>
        </p:nvSpPr>
        <p:spPr>
          <a:xfrm>
            <a:off x="609600" y="876300"/>
            <a:ext cx="10972800" cy="952500"/>
          </a:xfrm>
          <a:prstGeom prst="rect">
            <a:avLst/>
          </a:prstGeom>
          <a:noFill/>
          <a:ln w="0">
            <a:noFill/>
          </a:ln>
        </p:spPr>
        <p:txBody>
          <a:bodyPr lIns="0" tIns="0" rIns="0" bIns="0" anchor="ctr"/>
          <a:lstStyle>
            <a:defPPr algn="l">
              <a:defRPr sz="3300" b="1">
                <a:solidFill>
                  <a:srgbClr val="FFFFFF"/>
                </a:solidFill>
                <a:latin typeface="Arial"/>
                <a:ea typeface="Arial"/>
                <a:cs typeface="Arial"/>
              </a:defRPr>
            </a:defPPr>
          </a:lstStyle>
          <a:p>
            <a:pPr algn="l">
              <a:defRPr sz="3300" b="1">
                <a:solidFill>
                  <a:srgbClr val="FFFFFF"/>
                </a:solidFill>
                <a:latin typeface="Arial"/>
                <a:ea typeface="Arial"/>
                <a:cs typeface="Arial"/>
              </a:defRPr>
            </a:pPr>
            <a:r>
              <a:rPr sz="3300" b="1">
                <a:solidFill>
                  <a:srgbClr val="FFFFFF"/>
                </a:solidFill>
                <a:latin typeface="Arial"/>
                <a:ea typeface="Arial"/>
                <a:cs typeface="Arial"/>
              </a:rPr>
              <a:t>Launch Bochs</a:t>
            </a:r>
          </a:p>
        </p:txBody>
      </p:sp>
      <p:sp>
        <p:nvSpPr>
          <p:cNvPr id="3" name="AGENTIC OS  /  MVP TECHNICAL WALKTHROUGH">
            <a:extLst>
              <a:ext uri="{FF2B5EF4-FFF2-40B4-BE49-F238E27FC236}">
                <a16:creationId xmlns:a16="http://schemas.microsoft.com/office/drawing/2014/main" id="{673A5930-227D-4306-90C3-BC19347949C3}"/>
              </a:ext>
            </a:extLst>
          </p:cNvPr>
          <p:cNvSpPr>
            <a:spLocks noGrp="1"/>
          </p:cNvSpPr>
          <p:nvPr/>
        </p:nvSpPr>
        <p:spPr>
          <a:xfrm>
            <a:off x="609600" y="6410325"/>
            <a:ext cx="10001250" cy="190500"/>
          </a:xfrm>
          <a:prstGeom prst="rect">
            <a:avLst/>
          </a:prstGeom>
          <a:noFill/>
          <a:ln w="0">
            <a:noFill/>
          </a:ln>
        </p:spPr>
        <p:txBody>
          <a:bodyPr lIns="0" tIns="0" rIns="0" bIns="0" anchor="ctr"/>
          <a:lstStyle>
            <a:defPPr algn="l">
              <a:defRPr sz="975" b="0">
                <a:solidFill>
                  <a:srgbClr val="D5C9E6"/>
                </a:solidFill>
                <a:latin typeface="Arial"/>
                <a:ea typeface="Arial"/>
                <a:cs typeface="Arial"/>
              </a:defRPr>
            </a:defPPr>
          </a:lstStyle>
          <a:p>
            <a:pPr algn="l">
              <a:defRPr sz="975" b="0">
                <a:solidFill>
                  <a:srgbClr val="D5C9E6"/>
                </a:solidFill>
                <a:latin typeface="Arial"/>
                <a:ea typeface="Arial"/>
                <a:cs typeface="Arial"/>
              </a:defRPr>
            </a:pPr>
            <a:r>
              <a:rPr sz="975" b="0">
                <a:solidFill>
                  <a:srgbClr val="D5C9E6"/>
                </a:solidFill>
                <a:latin typeface="Arial"/>
                <a:ea typeface="Arial"/>
                <a:cs typeface="Arial"/>
              </a:rPr>
              <a:t>AGENTIC OS  /  MVP TECHNICAL WALKTHROUGH</a:t>
            </a:r>
          </a:p>
        </p:txBody>
      </p:sp>
      <p:sp>
        <p:nvSpPr>
          <p:cNvPr id="4" name="34">
            <a:extLst>
              <a:ext uri="{FF2B5EF4-FFF2-40B4-BE49-F238E27FC236}">
                <a16:creationId xmlns:a16="http://schemas.microsoft.com/office/drawing/2014/main" id="{CCCBB159-CA83-40BE-AB5A-0B92C8D2B87D}"/>
              </a:ext>
            </a:extLst>
          </p:cNvPr>
          <p:cNvSpPr>
            <a:spLocks noGrp="1"/>
          </p:cNvSpPr>
          <p:nvPr/>
        </p:nvSpPr>
        <p:spPr>
          <a:xfrm>
            <a:off x="11029950" y="6372225"/>
            <a:ext cx="552450" cy="247650"/>
          </a:xfrm>
          <a:prstGeom prst="rect">
            <a:avLst/>
          </a:prstGeom>
          <a:noFill/>
          <a:ln w="0">
            <a:noFill/>
          </a:ln>
        </p:spPr>
        <p:txBody>
          <a:bodyPr lIns="0" tIns="0" rIns="0" bIns="0" anchor="ctr"/>
          <a:lstStyle>
            <a:defPPr algn="r">
              <a:defRPr sz="1275" b="0">
                <a:solidFill>
                  <a:srgbClr val="BE98F6"/>
                </a:solidFill>
                <a:latin typeface="Arial"/>
                <a:ea typeface="Arial"/>
                <a:cs typeface="Arial"/>
              </a:defRPr>
            </a:defPPr>
          </a:lstStyle>
          <a:p>
            <a:pPr algn="r">
              <a:defRPr sz="1275" b="0">
                <a:solidFill>
                  <a:srgbClr val="BE98F6"/>
                </a:solidFill>
                <a:latin typeface="Arial"/>
                <a:ea typeface="Arial"/>
                <a:cs typeface="Arial"/>
              </a:defRPr>
            </a:pPr>
            <a:r>
              <a:rPr sz="1275" b="0">
                <a:solidFill>
                  <a:srgbClr val="BE98F6"/>
                </a:solidFill>
                <a:latin typeface="Arial"/>
                <a:ea typeface="Arial"/>
                <a:cs typeface="Arial"/>
              </a:rPr>
              <a:t>34</a:t>
            </a:r>
          </a:p>
        </p:txBody>
      </p:sp>
      <p:sp>
        <p:nvSpPr>
          <p:cNvPr id="5" name="Rectangle 4">
            <a:extLst>
              <a:ext uri="{FF2B5EF4-FFF2-40B4-BE49-F238E27FC236}">
                <a16:creationId xmlns:a16="http://schemas.microsoft.com/office/drawing/2014/main" id="{2C019183-5101-410B-8832-36FB5703222B}"/>
              </a:ext>
            </a:extLst>
          </p:cNvPr>
          <p:cNvSpPr>
            <a:spLocks noGrp="1"/>
          </p:cNvSpPr>
          <p:nvPr/>
        </p:nvSpPr>
        <p:spPr>
          <a:xfrm>
            <a:off x="609600" y="2162175"/>
            <a:ext cx="10972800" cy="1238250"/>
          </a:xfrm>
          <a:prstGeom prst="rect">
            <a:avLst/>
          </a:prstGeom>
          <a:solidFill>
            <a:srgbClr val="10071D"/>
          </a:solidFill>
          <a:ln w="13335">
            <a:solidFill>
              <a:srgbClr val="5D377E"/>
            </a:solidFill>
          </a:ln>
        </p:spPr>
      </p:sp>
      <p:sp>
        <p:nvSpPr>
          <p:cNvPr id="6" name="&amp; &quot;C:\Program Files\Bochs-3.0\bochs.exe&quot; `&#10; ">
            <a:extLst>
              <a:ext uri="{FF2B5EF4-FFF2-40B4-BE49-F238E27FC236}">
                <a16:creationId xmlns:a16="http://schemas.microsoft.com/office/drawing/2014/main" id="{512C2135-94F6-4084-BA19-17DBD634C8CE}"/>
              </a:ext>
            </a:extLst>
          </p:cNvPr>
          <p:cNvSpPr>
            <a:spLocks noGrp="1"/>
          </p:cNvSpPr>
          <p:nvPr/>
        </p:nvSpPr>
        <p:spPr>
          <a:xfrm>
            <a:off x="857250" y="2333625"/>
            <a:ext cx="10477500" cy="895350"/>
          </a:xfrm>
          <a:prstGeom prst="rect">
            <a:avLst/>
          </a:prstGeom>
          <a:noFill/>
          <a:ln w="0">
            <a:noFill/>
          </a:ln>
        </p:spPr>
        <p:txBody>
          <a:bodyPr lIns="0" tIns="0" rIns="0" bIns="0" anchor="ctr"/>
          <a:lstStyle>
            <a:defPPr algn="l">
              <a:defRPr sz="1950" b="0">
                <a:solidFill>
                  <a:srgbClr val="FFFFFF"/>
                </a:solidFill>
                <a:latin typeface="Courier New"/>
                <a:ea typeface="Courier New"/>
                <a:cs typeface="Courier New"/>
              </a:defRPr>
            </a:defPPr>
          </a:lstStyle>
          <a:p>
            <a:pPr algn="l">
              <a:defRPr sz="1950" b="0">
                <a:solidFill>
                  <a:srgbClr val="FFFFFF"/>
                </a:solidFill>
                <a:latin typeface="Courier New"/>
                <a:ea typeface="Courier New"/>
                <a:cs typeface="Courier New"/>
              </a:defRPr>
            </a:pPr>
            <a:r>
              <a:rPr sz="1950" b="0">
                <a:solidFill>
                  <a:srgbClr val="FFFFFF"/>
                </a:solidFill>
                <a:latin typeface="Courier New"/>
                <a:ea typeface="Courier New"/>
                <a:cs typeface="Courier New"/>
              </a:rPr>
              <a:t>&amp; "C:\Program Files\Bochs-3.0\bochs.exe" `</a:t>
            </a:r>
          </a:p>
          <a:p>
            <a:pPr algn="l">
              <a:defRPr sz="1950" b="0">
                <a:solidFill>
                  <a:srgbClr val="FFFFFF"/>
                </a:solidFill>
                <a:latin typeface="Courier New"/>
                <a:ea typeface="Courier New"/>
                <a:cs typeface="Courier New"/>
              </a:defRPr>
            </a:pPr>
            <a:r>
              <a:rPr sz="1950" b="0">
                <a:solidFill>
                  <a:srgbClr val="FFFFFF"/>
                </a:solidFill>
                <a:latin typeface="Courier New"/>
                <a:ea typeface="Courier New"/>
                <a:cs typeface="Courier New"/>
              </a:rPr>
              <a:t>  -q -f .\bochsrc.bxrc</a:t>
            </a:r>
          </a:p>
        </p:txBody>
      </p:sp>
      <p:sp>
        <p:nvSpPr>
          <p:cNvPr id="7" name="Rectangle 6">
            <a:extLst>
              <a:ext uri="{FF2B5EF4-FFF2-40B4-BE49-F238E27FC236}">
                <a16:creationId xmlns:a16="http://schemas.microsoft.com/office/drawing/2014/main" id="{002DE36F-38E9-4641-8934-E2664C2A46F7}"/>
              </a:ext>
            </a:extLst>
          </p:cNvPr>
          <p:cNvSpPr>
            <a:spLocks noGrp="1"/>
          </p:cNvSpPr>
          <p:nvPr/>
        </p:nvSpPr>
        <p:spPr>
          <a:xfrm>
            <a:off x="609600" y="4000500"/>
            <a:ext cx="2471738" cy="1066800"/>
          </a:xfrm>
          <a:prstGeom prst="rect">
            <a:avLst/>
          </a:prstGeom>
          <a:solidFill>
            <a:srgbClr val="2A1547"/>
          </a:solidFill>
          <a:ln w="13335">
            <a:solidFill>
              <a:srgbClr val="7D43D5"/>
            </a:solidFill>
          </a:ln>
        </p:spPr>
      </p:sp>
      <p:sp>
        <p:nvSpPr>
          <p:cNvPr id="8" name="BIOS boot">
            <a:extLst>
              <a:ext uri="{FF2B5EF4-FFF2-40B4-BE49-F238E27FC236}">
                <a16:creationId xmlns:a16="http://schemas.microsoft.com/office/drawing/2014/main" id="{B4865363-A9E9-4BCA-8741-E61B6765A21D}"/>
              </a:ext>
            </a:extLst>
          </p:cNvPr>
          <p:cNvSpPr>
            <a:spLocks noGrp="1"/>
          </p:cNvSpPr>
          <p:nvPr/>
        </p:nvSpPr>
        <p:spPr>
          <a:xfrm>
            <a:off x="752475" y="4086225"/>
            <a:ext cx="2185988" cy="895350"/>
          </a:xfrm>
          <a:prstGeom prst="rect">
            <a:avLst/>
          </a:prstGeom>
          <a:noFill/>
          <a:ln w="0">
            <a:noFill/>
          </a:ln>
        </p:spPr>
        <p:txBody>
          <a:bodyPr lIns="0" tIns="0" rIns="0" bIns="0" anchor="ctr"/>
          <a:lstStyle>
            <a:defPPr algn="ctr">
              <a:defRPr sz="1800" b="1">
                <a:solidFill>
                  <a:srgbClr val="FFFFFF"/>
                </a:solidFill>
                <a:latin typeface="Arial"/>
                <a:ea typeface="Arial"/>
                <a:cs typeface="Arial"/>
              </a:defRPr>
            </a:defPPr>
          </a:lstStyle>
          <a:p>
            <a:pPr algn="ctr">
              <a:defRPr sz="1800" b="1">
                <a:solidFill>
                  <a:srgbClr val="FFFFFF"/>
                </a:solidFill>
                <a:latin typeface="Arial"/>
                <a:ea typeface="Arial"/>
                <a:cs typeface="Arial"/>
              </a:defRPr>
            </a:pPr>
            <a:r>
              <a:rPr sz="1800" b="1">
                <a:solidFill>
                  <a:srgbClr val="FFFFFF"/>
                </a:solidFill>
                <a:latin typeface="Arial"/>
                <a:ea typeface="Arial"/>
                <a:cs typeface="Arial"/>
              </a:rPr>
              <a:t>BIOS boot</a:t>
            </a:r>
          </a:p>
        </p:txBody>
      </p:sp>
      <p:cxnSp>
        <p:nvCxnSpPr>
          <p:cNvPr id="9" name="Straight Arrow Connector 8">
            <a:extLst>
              <a:ext uri="{FF2B5EF4-FFF2-40B4-BE49-F238E27FC236}">
                <a16:creationId xmlns:a16="http://schemas.microsoft.com/office/drawing/2014/main" id="{F9A6ECF1-B231-4F44-96FB-7CD9990AE457}"/>
              </a:ext>
            </a:extLst>
          </p:cNvPr>
          <p:cNvCxnSpPr/>
          <p:nvPr/>
        </p:nvCxnSpPr>
        <p:spPr>
          <a:xfrm>
            <a:off x="3081338" y="4533900"/>
            <a:ext cx="295275" cy="0"/>
          </a:xfrm>
          <a:prstGeom prst="straightConnector1">
            <a:avLst/>
          </a:prstGeom>
          <a:ln w="19050">
            <a:solidFill>
              <a:srgbClr val="BE98F6"/>
            </a:solidFill>
            <a:prstDash val="solid"/>
            <a:tailEnd type="triangle" w="med" len="med"/>
          </a:ln>
        </p:spPr>
      </p:cxnSp>
      <p:sp>
        <p:nvSpPr>
          <p:cNvPr id="10" name="Rectangle 9">
            <a:extLst>
              <a:ext uri="{FF2B5EF4-FFF2-40B4-BE49-F238E27FC236}">
                <a16:creationId xmlns:a16="http://schemas.microsoft.com/office/drawing/2014/main" id="{2A8B0A10-030B-40F4-BC17-4EBBD5274B65}"/>
              </a:ext>
            </a:extLst>
          </p:cNvPr>
          <p:cNvSpPr>
            <a:spLocks noGrp="1"/>
          </p:cNvSpPr>
          <p:nvPr/>
        </p:nvSpPr>
        <p:spPr>
          <a:xfrm>
            <a:off x="3443288" y="4000500"/>
            <a:ext cx="2471738" cy="1066800"/>
          </a:xfrm>
          <a:prstGeom prst="rect">
            <a:avLst/>
          </a:prstGeom>
          <a:solidFill>
            <a:srgbClr val="2A1547"/>
          </a:solidFill>
          <a:ln w="13335">
            <a:solidFill>
              <a:srgbClr val="7D43D5"/>
            </a:solidFill>
          </a:ln>
        </p:spPr>
      </p:sp>
      <p:sp>
        <p:nvSpPr>
          <p:cNvPr id="11" name="Kernel banner">
            <a:extLst>
              <a:ext uri="{FF2B5EF4-FFF2-40B4-BE49-F238E27FC236}">
                <a16:creationId xmlns:a16="http://schemas.microsoft.com/office/drawing/2014/main" id="{2DEB416D-8CFA-4A3C-95BC-CDDFE5755495}"/>
              </a:ext>
            </a:extLst>
          </p:cNvPr>
          <p:cNvSpPr>
            <a:spLocks noGrp="1"/>
          </p:cNvSpPr>
          <p:nvPr/>
        </p:nvSpPr>
        <p:spPr>
          <a:xfrm>
            <a:off x="3586163" y="4086225"/>
            <a:ext cx="2185988" cy="895350"/>
          </a:xfrm>
          <a:prstGeom prst="rect">
            <a:avLst/>
          </a:prstGeom>
          <a:noFill/>
          <a:ln w="0">
            <a:noFill/>
          </a:ln>
        </p:spPr>
        <p:txBody>
          <a:bodyPr lIns="0" tIns="0" rIns="0" bIns="0" anchor="ctr"/>
          <a:lstStyle>
            <a:defPPr algn="ctr">
              <a:defRPr sz="1800" b="1">
                <a:solidFill>
                  <a:srgbClr val="FFFFFF"/>
                </a:solidFill>
                <a:latin typeface="Arial"/>
                <a:ea typeface="Arial"/>
                <a:cs typeface="Arial"/>
              </a:defRPr>
            </a:defPPr>
          </a:lstStyle>
          <a:p>
            <a:pPr algn="ctr">
              <a:defRPr sz="1800" b="1">
                <a:solidFill>
                  <a:srgbClr val="FFFFFF"/>
                </a:solidFill>
                <a:latin typeface="Arial"/>
                <a:ea typeface="Arial"/>
                <a:cs typeface="Arial"/>
              </a:defRPr>
            </a:pPr>
            <a:r>
              <a:rPr sz="1800" b="1">
                <a:solidFill>
                  <a:srgbClr val="FFFFFF"/>
                </a:solidFill>
                <a:latin typeface="Arial"/>
                <a:ea typeface="Arial"/>
                <a:cs typeface="Arial"/>
              </a:rPr>
              <a:t>Kernel banner</a:t>
            </a:r>
          </a:p>
        </p:txBody>
      </p:sp>
      <p:cxnSp>
        <p:nvCxnSpPr>
          <p:cNvPr id="12" name="Straight Arrow Connector 11">
            <a:extLst>
              <a:ext uri="{FF2B5EF4-FFF2-40B4-BE49-F238E27FC236}">
                <a16:creationId xmlns:a16="http://schemas.microsoft.com/office/drawing/2014/main" id="{EF46937B-2EF2-4C7B-AF7C-4FDDD05429FB}"/>
              </a:ext>
            </a:extLst>
          </p:cNvPr>
          <p:cNvCxnSpPr/>
          <p:nvPr/>
        </p:nvCxnSpPr>
        <p:spPr>
          <a:xfrm>
            <a:off x="5915025" y="4533900"/>
            <a:ext cx="295275" cy="0"/>
          </a:xfrm>
          <a:prstGeom prst="straightConnector1">
            <a:avLst/>
          </a:prstGeom>
          <a:ln w="19050">
            <a:solidFill>
              <a:srgbClr val="BE98F6"/>
            </a:solidFill>
            <a:prstDash val="solid"/>
            <a:tailEnd type="triangle" w="med" len="med"/>
          </a:ln>
        </p:spPr>
      </p:cxnSp>
      <p:sp>
        <p:nvSpPr>
          <p:cNvPr id="13" name="Rectangle 12">
            <a:extLst>
              <a:ext uri="{FF2B5EF4-FFF2-40B4-BE49-F238E27FC236}">
                <a16:creationId xmlns:a16="http://schemas.microsoft.com/office/drawing/2014/main" id="{EFE8CC3C-6171-4706-8DEB-E4F504255442}"/>
              </a:ext>
            </a:extLst>
          </p:cNvPr>
          <p:cNvSpPr>
            <a:spLocks noGrp="1"/>
          </p:cNvSpPr>
          <p:nvPr/>
        </p:nvSpPr>
        <p:spPr>
          <a:xfrm>
            <a:off x="6276975" y="4000500"/>
            <a:ext cx="2471738" cy="1066800"/>
          </a:xfrm>
          <a:prstGeom prst="rect">
            <a:avLst/>
          </a:prstGeom>
          <a:solidFill>
            <a:srgbClr val="2A1547"/>
          </a:solidFill>
          <a:ln w="13335">
            <a:solidFill>
              <a:srgbClr val="7D43D5"/>
            </a:solidFill>
          </a:ln>
        </p:spPr>
      </p:sp>
      <p:sp>
        <p:nvSpPr>
          <p:cNvPr id="14" name="Login gate">
            <a:extLst>
              <a:ext uri="{FF2B5EF4-FFF2-40B4-BE49-F238E27FC236}">
                <a16:creationId xmlns:a16="http://schemas.microsoft.com/office/drawing/2014/main" id="{2DF4E3A3-5177-47F9-869F-1E641CD95AE2}"/>
              </a:ext>
            </a:extLst>
          </p:cNvPr>
          <p:cNvSpPr>
            <a:spLocks noGrp="1"/>
          </p:cNvSpPr>
          <p:nvPr/>
        </p:nvSpPr>
        <p:spPr>
          <a:xfrm>
            <a:off x="6419850" y="4086225"/>
            <a:ext cx="2185988" cy="895350"/>
          </a:xfrm>
          <a:prstGeom prst="rect">
            <a:avLst/>
          </a:prstGeom>
          <a:noFill/>
          <a:ln w="0">
            <a:noFill/>
          </a:ln>
        </p:spPr>
        <p:txBody>
          <a:bodyPr lIns="0" tIns="0" rIns="0" bIns="0" anchor="ctr"/>
          <a:lstStyle>
            <a:defPPr algn="ctr">
              <a:defRPr sz="1800" b="1">
                <a:solidFill>
                  <a:srgbClr val="FFFFFF"/>
                </a:solidFill>
                <a:latin typeface="Arial"/>
                <a:ea typeface="Arial"/>
                <a:cs typeface="Arial"/>
              </a:defRPr>
            </a:defPPr>
          </a:lstStyle>
          <a:p>
            <a:pPr algn="ctr">
              <a:defRPr sz="1800" b="1">
                <a:solidFill>
                  <a:srgbClr val="FFFFFF"/>
                </a:solidFill>
                <a:latin typeface="Arial"/>
                <a:ea typeface="Arial"/>
                <a:cs typeface="Arial"/>
              </a:defRPr>
            </a:pPr>
            <a:r>
              <a:rPr sz="1800" b="1">
                <a:solidFill>
                  <a:srgbClr val="FFFFFF"/>
                </a:solidFill>
                <a:latin typeface="Arial"/>
                <a:ea typeface="Arial"/>
                <a:cs typeface="Arial"/>
              </a:rPr>
              <a:t>Login gate</a:t>
            </a:r>
          </a:p>
        </p:txBody>
      </p:sp>
      <p:cxnSp>
        <p:nvCxnSpPr>
          <p:cNvPr id="15" name="Straight Arrow Connector 14">
            <a:extLst>
              <a:ext uri="{FF2B5EF4-FFF2-40B4-BE49-F238E27FC236}">
                <a16:creationId xmlns:a16="http://schemas.microsoft.com/office/drawing/2014/main" id="{2EB37F16-FE40-4FEB-9A35-FD459218DF91}"/>
              </a:ext>
            </a:extLst>
          </p:cNvPr>
          <p:cNvCxnSpPr/>
          <p:nvPr/>
        </p:nvCxnSpPr>
        <p:spPr>
          <a:xfrm>
            <a:off x="8748713" y="4533900"/>
            <a:ext cx="295275" cy="0"/>
          </a:xfrm>
          <a:prstGeom prst="straightConnector1">
            <a:avLst/>
          </a:prstGeom>
          <a:ln w="19050">
            <a:solidFill>
              <a:srgbClr val="BE98F6"/>
            </a:solidFill>
            <a:prstDash val="solid"/>
            <a:tailEnd type="triangle" w="med" len="med"/>
          </a:ln>
        </p:spPr>
      </p:cxnSp>
      <p:sp>
        <p:nvSpPr>
          <p:cNvPr id="16" name="Rectangle 15">
            <a:extLst>
              <a:ext uri="{FF2B5EF4-FFF2-40B4-BE49-F238E27FC236}">
                <a16:creationId xmlns:a16="http://schemas.microsoft.com/office/drawing/2014/main" id="{E87A2871-416C-4AAE-A2E6-6C98B97C3CAC}"/>
              </a:ext>
            </a:extLst>
          </p:cNvPr>
          <p:cNvSpPr>
            <a:spLocks noGrp="1"/>
          </p:cNvSpPr>
          <p:nvPr/>
        </p:nvSpPr>
        <p:spPr>
          <a:xfrm>
            <a:off x="9110663" y="4000500"/>
            <a:ext cx="2471738" cy="1066800"/>
          </a:xfrm>
          <a:prstGeom prst="rect">
            <a:avLst/>
          </a:prstGeom>
          <a:solidFill>
            <a:srgbClr val="2A1547"/>
          </a:solidFill>
          <a:ln w="13335">
            <a:solidFill>
              <a:srgbClr val="7D43D5"/>
            </a:solidFill>
          </a:ln>
        </p:spPr>
      </p:sp>
      <p:sp>
        <p:nvSpPr>
          <p:cNvPr id="17" name="agentic:/$">
            <a:extLst>
              <a:ext uri="{FF2B5EF4-FFF2-40B4-BE49-F238E27FC236}">
                <a16:creationId xmlns:a16="http://schemas.microsoft.com/office/drawing/2014/main" id="{6C3D11D5-C19E-41E2-96E1-9A4F4D26BFEE}"/>
              </a:ext>
            </a:extLst>
          </p:cNvPr>
          <p:cNvSpPr>
            <a:spLocks noGrp="1"/>
          </p:cNvSpPr>
          <p:nvPr/>
        </p:nvSpPr>
        <p:spPr>
          <a:xfrm>
            <a:off x="9253538" y="4086225"/>
            <a:ext cx="2185988" cy="895350"/>
          </a:xfrm>
          <a:prstGeom prst="rect">
            <a:avLst/>
          </a:prstGeom>
          <a:noFill/>
          <a:ln w="0">
            <a:noFill/>
          </a:ln>
        </p:spPr>
        <p:txBody>
          <a:bodyPr lIns="0" tIns="0" rIns="0" bIns="0" anchor="ctr"/>
          <a:lstStyle>
            <a:defPPr algn="ctr">
              <a:defRPr sz="1800" b="1">
                <a:solidFill>
                  <a:srgbClr val="FFFFFF"/>
                </a:solidFill>
                <a:latin typeface="Arial"/>
                <a:ea typeface="Arial"/>
                <a:cs typeface="Arial"/>
              </a:defRPr>
            </a:defPPr>
          </a:lstStyle>
          <a:p>
            <a:pPr algn="ctr">
              <a:defRPr sz="1800" b="1">
                <a:solidFill>
                  <a:srgbClr val="FFFFFF"/>
                </a:solidFill>
                <a:latin typeface="Arial"/>
                <a:ea typeface="Arial"/>
                <a:cs typeface="Arial"/>
              </a:defRPr>
            </a:pPr>
            <a:r>
              <a:rPr sz="1800" b="1">
                <a:solidFill>
                  <a:srgbClr val="FFFFFF"/>
                </a:solidFill>
                <a:latin typeface="Arial"/>
                <a:ea typeface="Arial"/>
                <a:cs typeface="Arial"/>
              </a:rPr>
              <a:t>agentic:/$</a:t>
            </a:r>
          </a:p>
        </p:txBody>
      </p:sp>
      <p:sp>
        <p:nvSpPr>
          <p:cNvPr id="18" name="Use the development login configured in kern">
            <a:extLst>
              <a:ext uri="{FF2B5EF4-FFF2-40B4-BE49-F238E27FC236}">
                <a16:creationId xmlns:a16="http://schemas.microsoft.com/office/drawing/2014/main" id="{871AF8DD-144E-43DD-AEC0-93F8C0C7367B}"/>
              </a:ext>
            </a:extLst>
          </p:cNvPr>
          <p:cNvSpPr>
            <a:spLocks noGrp="1"/>
          </p:cNvSpPr>
          <p:nvPr/>
        </p:nvSpPr>
        <p:spPr>
          <a:xfrm>
            <a:off x="609600" y="5648325"/>
            <a:ext cx="10972800" cy="504825"/>
          </a:xfrm>
          <a:prstGeom prst="rect">
            <a:avLst/>
          </a:prstGeom>
          <a:noFill/>
          <a:ln w="0">
            <a:noFill/>
          </a:ln>
        </p:spPr>
        <p:txBody>
          <a:bodyPr lIns="0" tIns="0" rIns="0" bIns="0" anchor="ctr"/>
          <a:lstStyle>
            <a:defPPr algn="l">
              <a:defRPr sz="1725" b="0">
                <a:solidFill>
                  <a:srgbClr val="D5C9E6"/>
                </a:solidFill>
                <a:latin typeface="Arial"/>
                <a:ea typeface="Arial"/>
                <a:cs typeface="Arial"/>
              </a:defRPr>
            </a:defPPr>
          </a:lstStyle>
          <a:p>
            <a:pPr algn="l">
              <a:defRPr sz="1725" b="0">
                <a:solidFill>
                  <a:srgbClr val="D5C9E6"/>
                </a:solidFill>
                <a:latin typeface="Arial"/>
                <a:ea typeface="Arial"/>
                <a:cs typeface="Arial"/>
              </a:defRPr>
            </a:pPr>
            <a:r>
              <a:rPr sz="1725" b="0">
                <a:solidFill>
                  <a:srgbClr val="D5C9E6"/>
                </a:solidFill>
                <a:latin typeface="Arial"/>
                <a:ea typeface="Arial"/>
                <a:cs typeface="Arial"/>
              </a:rPr>
              <a:t>Use the development login configured in kernel/auth/login.c.</a:t>
            </a:r>
          </a:p>
        </p:txBody>
      </p:sp>
    </p:spTree>
    <p:extLst>
      <p:ext uri="{BB962C8B-B14F-4D97-AF65-F5344CB8AC3E}">
        <p14:creationId xmlns:p14="http://schemas.microsoft.com/office/powerpoint/2010/main" val="71310822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180B2B"/>
        </a:solidFill>
        <a:effectLst/>
      </p:bgPr>
    </p:bg>
    <p:spTree>
      <p:nvGrpSpPr>
        <p:cNvPr id="1" name=""/>
        <p:cNvGrpSpPr/>
        <p:nvPr/>
      </p:nvGrpSpPr>
      <p:grpSpPr>
        <a:xfrm>
          <a:off x="0" y="0"/>
          <a:ext cx="0" cy="0"/>
          <a:chOff x="0" y="0"/>
          <a:chExt cx="0" cy="0"/>
        </a:xfrm>
      </p:grpSpPr>
      <p:sp>
        <p:nvSpPr>
          <p:cNvPr id="9" name="BUILD &amp; RUN">
            <a:extLst>
              <a:ext uri="{FF2B5EF4-FFF2-40B4-BE49-F238E27FC236}">
                <a16:creationId xmlns:a16="http://schemas.microsoft.com/office/drawing/2014/main" id="{9174CEAC-8746-45C0-9FAF-67030D722833}"/>
              </a:ext>
            </a:extLst>
          </p:cNvPr>
          <p:cNvSpPr>
            <a:spLocks noGrp="1"/>
          </p:cNvSpPr>
          <p:nvPr/>
        </p:nvSpPr>
        <p:spPr>
          <a:xfrm>
            <a:off x="609600" y="323850"/>
            <a:ext cx="10001250" cy="228600"/>
          </a:xfrm>
          <a:prstGeom prst="rect">
            <a:avLst/>
          </a:prstGeom>
          <a:noFill/>
          <a:ln w="0">
            <a:noFill/>
          </a:ln>
        </p:spPr>
        <p:txBody>
          <a:bodyPr lIns="0" tIns="0" rIns="0" bIns="0" anchor="ctr"/>
          <a:lstStyle>
            <a:defPPr algn="l">
              <a:defRPr sz="1200" b="1">
                <a:solidFill>
                  <a:srgbClr val="BE98F6"/>
                </a:solidFill>
                <a:latin typeface="Arial"/>
                <a:ea typeface="Arial"/>
                <a:cs typeface="Arial"/>
              </a:defRPr>
            </a:defPPr>
          </a:lstStyle>
          <a:p>
            <a:pPr algn="l">
              <a:defRPr sz="1200" b="1">
                <a:solidFill>
                  <a:srgbClr val="BE98F6"/>
                </a:solidFill>
                <a:latin typeface="Arial"/>
                <a:ea typeface="Arial"/>
                <a:cs typeface="Arial"/>
              </a:defRPr>
            </a:pPr>
            <a:r>
              <a:rPr sz="1200" b="1">
                <a:solidFill>
                  <a:srgbClr val="BE98F6"/>
                </a:solidFill>
                <a:latin typeface="Arial"/>
                <a:ea typeface="Arial"/>
                <a:cs typeface="Arial"/>
              </a:rPr>
              <a:t>BUILD &amp; RUN</a:t>
            </a:r>
          </a:p>
        </p:txBody>
      </p:sp>
      <p:sp>
        <p:nvSpPr>
          <p:cNvPr id="2" name="A short filesystem demo">
            <a:extLst>
              <a:ext uri="{FF2B5EF4-FFF2-40B4-BE49-F238E27FC236}">
                <a16:creationId xmlns:a16="http://schemas.microsoft.com/office/drawing/2014/main" id="{8C86A985-79FD-4B07-8201-08ECE907C420}"/>
              </a:ext>
            </a:extLst>
          </p:cNvPr>
          <p:cNvSpPr>
            <a:spLocks noGrp="1"/>
          </p:cNvSpPr>
          <p:nvPr/>
        </p:nvSpPr>
        <p:spPr>
          <a:xfrm>
            <a:off x="609600" y="876300"/>
            <a:ext cx="10972800" cy="952500"/>
          </a:xfrm>
          <a:prstGeom prst="rect">
            <a:avLst/>
          </a:prstGeom>
          <a:noFill/>
          <a:ln w="0">
            <a:noFill/>
          </a:ln>
        </p:spPr>
        <p:txBody>
          <a:bodyPr lIns="0" tIns="0" rIns="0" bIns="0" anchor="ctr"/>
          <a:lstStyle>
            <a:defPPr algn="l">
              <a:defRPr sz="3300" b="1">
                <a:solidFill>
                  <a:srgbClr val="FFFFFF"/>
                </a:solidFill>
                <a:latin typeface="Arial"/>
                <a:ea typeface="Arial"/>
                <a:cs typeface="Arial"/>
              </a:defRPr>
            </a:defPPr>
          </a:lstStyle>
          <a:p>
            <a:pPr algn="l">
              <a:defRPr sz="3300" b="1">
                <a:solidFill>
                  <a:srgbClr val="FFFFFF"/>
                </a:solidFill>
                <a:latin typeface="Arial"/>
                <a:ea typeface="Arial"/>
                <a:cs typeface="Arial"/>
              </a:defRPr>
            </a:pPr>
            <a:r>
              <a:rPr sz="3300" b="1">
                <a:solidFill>
                  <a:srgbClr val="FFFFFF"/>
                </a:solidFill>
                <a:latin typeface="Arial"/>
                <a:ea typeface="Arial"/>
                <a:cs typeface="Arial"/>
              </a:rPr>
              <a:t>A short filesystem demo</a:t>
            </a:r>
          </a:p>
        </p:txBody>
      </p:sp>
      <p:sp>
        <p:nvSpPr>
          <p:cNvPr id="3" name="AGENTIC OS  /  MVP TECHNICAL WALKTHROUGH">
            <a:extLst>
              <a:ext uri="{FF2B5EF4-FFF2-40B4-BE49-F238E27FC236}">
                <a16:creationId xmlns:a16="http://schemas.microsoft.com/office/drawing/2014/main" id="{278DBBB0-AEE7-4014-9C03-FB29B939A984}"/>
              </a:ext>
            </a:extLst>
          </p:cNvPr>
          <p:cNvSpPr>
            <a:spLocks noGrp="1"/>
          </p:cNvSpPr>
          <p:nvPr/>
        </p:nvSpPr>
        <p:spPr>
          <a:xfrm>
            <a:off x="609600" y="6410325"/>
            <a:ext cx="10001250" cy="190500"/>
          </a:xfrm>
          <a:prstGeom prst="rect">
            <a:avLst/>
          </a:prstGeom>
          <a:noFill/>
          <a:ln w="0">
            <a:noFill/>
          </a:ln>
        </p:spPr>
        <p:txBody>
          <a:bodyPr lIns="0" tIns="0" rIns="0" bIns="0" anchor="ctr"/>
          <a:lstStyle>
            <a:defPPr algn="l">
              <a:defRPr sz="975" b="0">
                <a:solidFill>
                  <a:srgbClr val="D5C9E6"/>
                </a:solidFill>
                <a:latin typeface="Arial"/>
                <a:ea typeface="Arial"/>
                <a:cs typeface="Arial"/>
              </a:defRPr>
            </a:defPPr>
          </a:lstStyle>
          <a:p>
            <a:pPr algn="l">
              <a:defRPr sz="975" b="0">
                <a:solidFill>
                  <a:srgbClr val="D5C9E6"/>
                </a:solidFill>
                <a:latin typeface="Arial"/>
                <a:ea typeface="Arial"/>
                <a:cs typeface="Arial"/>
              </a:defRPr>
            </a:pPr>
            <a:r>
              <a:rPr sz="975" b="0">
                <a:solidFill>
                  <a:srgbClr val="D5C9E6"/>
                </a:solidFill>
                <a:latin typeface="Arial"/>
                <a:ea typeface="Arial"/>
                <a:cs typeface="Arial"/>
              </a:rPr>
              <a:t>AGENTIC OS  /  MVP TECHNICAL WALKTHROUGH</a:t>
            </a:r>
          </a:p>
        </p:txBody>
      </p:sp>
      <p:sp>
        <p:nvSpPr>
          <p:cNvPr id="4" name="35">
            <a:extLst>
              <a:ext uri="{FF2B5EF4-FFF2-40B4-BE49-F238E27FC236}">
                <a16:creationId xmlns:a16="http://schemas.microsoft.com/office/drawing/2014/main" id="{199BAFEC-F926-430D-9C22-06A8B28141AC}"/>
              </a:ext>
            </a:extLst>
          </p:cNvPr>
          <p:cNvSpPr>
            <a:spLocks noGrp="1"/>
          </p:cNvSpPr>
          <p:nvPr/>
        </p:nvSpPr>
        <p:spPr>
          <a:xfrm>
            <a:off x="11029950" y="6372225"/>
            <a:ext cx="552450" cy="247650"/>
          </a:xfrm>
          <a:prstGeom prst="rect">
            <a:avLst/>
          </a:prstGeom>
          <a:noFill/>
          <a:ln w="0">
            <a:noFill/>
          </a:ln>
        </p:spPr>
        <p:txBody>
          <a:bodyPr lIns="0" tIns="0" rIns="0" bIns="0" anchor="ctr"/>
          <a:lstStyle>
            <a:defPPr algn="r">
              <a:defRPr sz="1275" b="0">
                <a:solidFill>
                  <a:srgbClr val="BE98F6"/>
                </a:solidFill>
                <a:latin typeface="Arial"/>
                <a:ea typeface="Arial"/>
                <a:cs typeface="Arial"/>
              </a:defRPr>
            </a:defPPr>
          </a:lstStyle>
          <a:p>
            <a:pPr algn="r">
              <a:defRPr sz="1275" b="0">
                <a:solidFill>
                  <a:srgbClr val="BE98F6"/>
                </a:solidFill>
                <a:latin typeface="Arial"/>
                <a:ea typeface="Arial"/>
                <a:cs typeface="Arial"/>
              </a:defRPr>
            </a:pPr>
            <a:r>
              <a:rPr sz="1275" b="0">
                <a:solidFill>
                  <a:srgbClr val="BE98F6"/>
                </a:solidFill>
                <a:latin typeface="Arial"/>
                <a:ea typeface="Arial"/>
                <a:cs typeface="Arial"/>
              </a:rPr>
              <a:t>35</a:t>
            </a:r>
          </a:p>
        </p:txBody>
      </p:sp>
      <p:sp>
        <p:nvSpPr>
          <p:cNvPr id="5" name="Rectangle 4">
            <a:extLst>
              <a:ext uri="{FF2B5EF4-FFF2-40B4-BE49-F238E27FC236}">
                <a16:creationId xmlns:a16="http://schemas.microsoft.com/office/drawing/2014/main" id="{BB58A10D-5BEF-4753-995D-1B0A2B36A043}"/>
              </a:ext>
            </a:extLst>
          </p:cNvPr>
          <p:cNvSpPr>
            <a:spLocks noGrp="1"/>
          </p:cNvSpPr>
          <p:nvPr/>
        </p:nvSpPr>
        <p:spPr>
          <a:xfrm>
            <a:off x="609600" y="2066925"/>
            <a:ext cx="7772400" cy="3552825"/>
          </a:xfrm>
          <a:prstGeom prst="rect">
            <a:avLst/>
          </a:prstGeom>
          <a:solidFill>
            <a:srgbClr val="10071D"/>
          </a:solidFill>
          <a:ln w="13335">
            <a:solidFill>
              <a:srgbClr val="5D377E"/>
            </a:solidFill>
          </a:ln>
        </p:spPr>
      </p:sp>
      <p:sp>
        <p:nvSpPr>
          <p:cNvPr id="6" name="mkdir /notes&#10;touch /notes/demo.txt&#10;write /no">
            <a:extLst>
              <a:ext uri="{FF2B5EF4-FFF2-40B4-BE49-F238E27FC236}">
                <a16:creationId xmlns:a16="http://schemas.microsoft.com/office/drawing/2014/main" id="{25C2A48E-8240-4A98-857F-9B8EF68B4B31}"/>
              </a:ext>
            </a:extLst>
          </p:cNvPr>
          <p:cNvSpPr>
            <a:spLocks noGrp="1"/>
          </p:cNvSpPr>
          <p:nvPr/>
        </p:nvSpPr>
        <p:spPr>
          <a:xfrm>
            <a:off x="857250" y="2238375"/>
            <a:ext cx="7277100" cy="3209925"/>
          </a:xfrm>
          <a:prstGeom prst="rect">
            <a:avLst/>
          </a:prstGeom>
          <a:noFill/>
          <a:ln w="0">
            <a:noFill/>
          </a:ln>
        </p:spPr>
        <p:txBody>
          <a:bodyPr lIns="0" tIns="0" rIns="0" bIns="0" anchor="ctr"/>
          <a:lstStyle>
            <a:defPPr algn="l">
              <a:defRPr sz="1875" b="0">
                <a:solidFill>
                  <a:srgbClr val="FFFFFF"/>
                </a:solidFill>
                <a:latin typeface="Courier New"/>
                <a:ea typeface="Courier New"/>
                <a:cs typeface="Courier New"/>
              </a:defRPr>
            </a:defPPr>
          </a:lstStyle>
          <a:p>
            <a:pPr algn="l">
              <a:defRPr sz="1875" b="0">
                <a:solidFill>
                  <a:srgbClr val="FFFFFF"/>
                </a:solidFill>
                <a:latin typeface="Courier New"/>
                <a:ea typeface="Courier New"/>
                <a:cs typeface="Courier New"/>
              </a:defRPr>
            </a:pPr>
            <a:r>
              <a:rPr sz="1875" b="0">
                <a:solidFill>
                  <a:srgbClr val="FFFFFF"/>
                </a:solidFill>
                <a:latin typeface="Courier New"/>
                <a:ea typeface="Courier New"/>
                <a:cs typeface="Courier New"/>
              </a:rPr>
              <a:t>mkdir /notes</a:t>
            </a:r>
          </a:p>
          <a:p>
            <a:pPr algn="l">
              <a:defRPr sz="1875" b="0">
                <a:solidFill>
                  <a:srgbClr val="FFFFFF"/>
                </a:solidFill>
                <a:latin typeface="Courier New"/>
                <a:ea typeface="Courier New"/>
                <a:cs typeface="Courier New"/>
              </a:defRPr>
            </a:pPr>
            <a:r>
              <a:rPr sz="1875" b="0">
                <a:solidFill>
                  <a:srgbClr val="FFFFFF"/>
                </a:solidFill>
                <a:latin typeface="Courier New"/>
                <a:ea typeface="Courier New"/>
                <a:cs typeface="Courier New"/>
              </a:rPr>
              <a:t>touch /notes/demo.txt</a:t>
            </a:r>
          </a:p>
          <a:p>
            <a:pPr algn="l">
              <a:defRPr sz="1875" b="0">
                <a:solidFill>
                  <a:srgbClr val="FFFFFF"/>
                </a:solidFill>
                <a:latin typeface="Courier New"/>
                <a:ea typeface="Courier New"/>
                <a:cs typeface="Courier New"/>
              </a:defRPr>
            </a:pPr>
            <a:r>
              <a:rPr sz="1875" b="0">
                <a:solidFill>
                  <a:srgbClr val="FFFFFF"/>
                </a:solidFill>
                <a:latin typeface="Courier New"/>
                <a:ea typeface="Courier New"/>
                <a:cs typeface="Courier New"/>
              </a:rPr>
              <a:t>write /notes/demo.txt Hello Agentic OS</a:t>
            </a:r>
          </a:p>
          <a:p>
            <a:pPr algn="l">
              <a:defRPr sz="1875" b="0">
                <a:solidFill>
                  <a:srgbClr val="FFFFFF"/>
                </a:solidFill>
                <a:latin typeface="Courier New"/>
                <a:ea typeface="Courier New"/>
                <a:cs typeface="Courier New"/>
              </a:defRPr>
            </a:pPr>
            <a:r>
              <a:rPr sz="1875" b="0">
                <a:solidFill>
                  <a:srgbClr val="FFFFFF"/>
                </a:solidFill>
                <a:latin typeface="Courier New"/>
                <a:ea typeface="Courier New"/>
                <a:cs typeface="Courier New"/>
              </a:rPr>
              <a:t>cat /notes/demo.txt</a:t>
            </a:r>
          </a:p>
          <a:p>
            <a:pPr algn="l">
              <a:defRPr sz="1875" b="0">
                <a:solidFill>
                  <a:srgbClr val="FFFFFF"/>
                </a:solidFill>
                <a:latin typeface="Courier New"/>
                <a:ea typeface="Courier New"/>
                <a:cs typeface="Courier New"/>
              </a:defRPr>
            </a:pPr>
            <a:r>
              <a:rPr sz="1875" b="0">
                <a:solidFill>
                  <a:srgbClr val="FFFFFF"/>
                </a:solidFill>
                <a:latin typeface="Courier New"/>
                <a:ea typeface="Courier New"/>
                <a:cs typeface="Courier New"/>
              </a:rPr>
              <a:t>write /notes/demo.txt Updated note</a:t>
            </a:r>
          </a:p>
          <a:p>
            <a:pPr algn="l">
              <a:defRPr sz="1875" b="0">
                <a:solidFill>
                  <a:srgbClr val="FFFFFF"/>
                </a:solidFill>
                <a:latin typeface="Courier New"/>
                <a:ea typeface="Courier New"/>
                <a:cs typeface="Courier New"/>
              </a:defRPr>
            </a:pPr>
            <a:r>
              <a:rPr sz="1875" b="0">
                <a:solidFill>
                  <a:srgbClr val="FFFFFF"/>
                </a:solidFill>
                <a:latin typeface="Courier New"/>
                <a:ea typeface="Courier New"/>
                <a:cs typeface="Courier New"/>
              </a:rPr>
              <a:t>cat /notes/demo.txt</a:t>
            </a:r>
          </a:p>
          <a:p>
            <a:pPr algn="l">
              <a:defRPr sz="1875" b="0">
                <a:solidFill>
                  <a:srgbClr val="FFFFFF"/>
                </a:solidFill>
                <a:latin typeface="Courier New"/>
                <a:ea typeface="Courier New"/>
                <a:cs typeface="Courier New"/>
              </a:defRPr>
            </a:pPr>
            <a:r>
              <a:rPr sz="1875" b="0">
                <a:solidFill>
                  <a:srgbClr val="FFFFFF"/>
                </a:solidFill>
                <a:latin typeface="Courier New"/>
                <a:ea typeface="Courier New"/>
                <a:cs typeface="Courier New"/>
              </a:rPr>
              <a:t>rm /notes/demo.txt</a:t>
            </a:r>
          </a:p>
          <a:p>
            <a:pPr algn="l">
              <a:defRPr sz="1875" b="0">
                <a:solidFill>
                  <a:srgbClr val="FFFFFF"/>
                </a:solidFill>
                <a:latin typeface="Courier New"/>
                <a:ea typeface="Courier New"/>
                <a:cs typeface="Courier New"/>
              </a:defRPr>
            </a:pPr>
            <a:r>
              <a:rPr sz="1875" b="0">
                <a:solidFill>
                  <a:srgbClr val="FFFFFF"/>
                </a:solidFill>
                <a:latin typeface="Courier New"/>
                <a:ea typeface="Courier New"/>
                <a:cs typeface="Courier New"/>
              </a:rPr>
              <a:t>ls /notes</a:t>
            </a:r>
          </a:p>
        </p:txBody>
      </p:sp>
      <p:sp>
        <p:nvSpPr>
          <p:cNvPr id="7" name="Create&#10;Read&#10;Update&#10;Delete">
            <a:extLst>
              <a:ext uri="{FF2B5EF4-FFF2-40B4-BE49-F238E27FC236}">
                <a16:creationId xmlns:a16="http://schemas.microsoft.com/office/drawing/2014/main" id="{41294BD4-5EA8-4A41-8A0A-14BD099B2F5C}"/>
              </a:ext>
            </a:extLst>
          </p:cNvPr>
          <p:cNvSpPr>
            <a:spLocks noGrp="1"/>
          </p:cNvSpPr>
          <p:nvPr/>
        </p:nvSpPr>
        <p:spPr>
          <a:xfrm>
            <a:off x="8991600" y="2371725"/>
            <a:ext cx="2286000" cy="2619375"/>
          </a:xfrm>
          <a:prstGeom prst="rect">
            <a:avLst/>
          </a:prstGeom>
          <a:noFill/>
          <a:ln w="0">
            <a:noFill/>
          </a:ln>
        </p:spPr>
        <p:txBody>
          <a:bodyPr lIns="0" tIns="0" rIns="0" bIns="0" anchor="ctr"/>
          <a:lstStyle>
            <a:defPPr algn="l">
              <a:defRPr sz="2550" b="1">
                <a:solidFill>
                  <a:srgbClr val="BE98F6"/>
                </a:solidFill>
                <a:latin typeface="Arial"/>
                <a:ea typeface="Arial"/>
                <a:cs typeface="Arial"/>
              </a:defRPr>
            </a:defPPr>
          </a:lstStyle>
          <a:p>
            <a:pPr algn="l">
              <a:defRPr sz="2550" b="1">
                <a:solidFill>
                  <a:srgbClr val="BE98F6"/>
                </a:solidFill>
                <a:latin typeface="Arial"/>
                <a:ea typeface="Arial"/>
                <a:cs typeface="Arial"/>
              </a:defRPr>
            </a:pPr>
            <a:r>
              <a:rPr sz="2550" b="1">
                <a:solidFill>
                  <a:srgbClr val="BE98F6"/>
                </a:solidFill>
                <a:latin typeface="Arial"/>
                <a:ea typeface="Arial"/>
                <a:cs typeface="Arial"/>
              </a:rPr>
              <a:t>Create</a:t>
            </a:r>
          </a:p>
          <a:p>
            <a:pPr algn="l">
              <a:defRPr sz="2550" b="1">
                <a:solidFill>
                  <a:srgbClr val="BE98F6"/>
                </a:solidFill>
                <a:latin typeface="Arial"/>
                <a:ea typeface="Arial"/>
                <a:cs typeface="Arial"/>
              </a:defRPr>
            </a:pPr>
            <a:r>
              <a:rPr sz="2550" b="1">
                <a:solidFill>
                  <a:srgbClr val="BE98F6"/>
                </a:solidFill>
                <a:latin typeface="Arial"/>
                <a:ea typeface="Arial"/>
                <a:cs typeface="Arial"/>
              </a:rPr>
              <a:t>Read</a:t>
            </a:r>
          </a:p>
          <a:p>
            <a:pPr algn="l">
              <a:defRPr sz="2550" b="1">
                <a:solidFill>
                  <a:srgbClr val="BE98F6"/>
                </a:solidFill>
                <a:latin typeface="Arial"/>
                <a:ea typeface="Arial"/>
                <a:cs typeface="Arial"/>
              </a:defRPr>
            </a:pPr>
            <a:r>
              <a:rPr sz="2550" b="1">
                <a:solidFill>
                  <a:srgbClr val="BE98F6"/>
                </a:solidFill>
                <a:latin typeface="Arial"/>
                <a:ea typeface="Arial"/>
                <a:cs typeface="Arial"/>
              </a:rPr>
              <a:t>Update</a:t>
            </a:r>
          </a:p>
          <a:p>
            <a:pPr algn="l">
              <a:defRPr sz="2550" b="1">
                <a:solidFill>
                  <a:srgbClr val="BE98F6"/>
                </a:solidFill>
                <a:latin typeface="Arial"/>
                <a:ea typeface="Arial"/>
                <a:cs typeface="Arial"/>
              </a:defRPr>
            </a:pPr>
            <a:r>
              <a:rPr sz="2550" b="1">
                <a:solidFill>
                  <a:srgbClr val="BE98F6"/>
                </a:solidFill>
                <a:latin typeface="Arial"/>
                <a:ea typeface="Arial"/>
                <a:cs typeface="Arial"/>
              </a:rPr>
              <a:t>Delete</a:t>
            </a:r>
          </a:p>
        </p:txBody>
      </p:sp>
      <p:sp>
        <p:nvSpPr>
          <p:cNvPr id="8" name="Expected reads: “Hello Agentic OS”, then “Up">
            <a:extLst>
              <a:ext uri="{FF2B5EF4-FFF2-40B4-BE49-F238E27FC236}">
                <a16:creationId xmlns:a16="http://schemas.microsoft.com/office/drawing/2014/main" id="{EC9BAFFF-C146-4092-A734-D5E659C06E7C}"/>
              </a:ext>
            </a:extLst>
          </p:cNvPr>
          <p:cNvSpPr>
            <a:spLocks noGrp="1"/>
          </p:cNvSpPr>
          <p:nvPr/>
        </p:nvSpPr>
        <p:spPr>
          <a:xfrm>
            <a:off x="609600" y="5648325"/>
            <a:ext cx="10972800" cy="504825"/>
          </a:xfrm>
          <a:prstGeom prst="rect">
            <a:avLst/>
          </a:prstGeom>
          <a:noFill/>
          <a:ln w="0">
            <a:noFill/>
          </a:ln>
        </p:spPr>
        <p:txBody>
          <a:bodyPr lIns="0" tIns="0" rIns="0" bIns="0" anchor="ctr"/>
          <a:lstStyle>
            <a:defPPr algn="l">
              <a:defRPr sz="1725" b="0">
                <a:solidFill>
                  <a:srgbClr val="D5C9E6"/>
                </a:solidFill>
                <a:latin typeface="Arial"/>
                <a:ea typeface="Arial"/>
                <a:cs typeface="Arial"/>
              </a:defRPr>
            </a:defPPr>
          </a:lstStyle>
          <a:p>
            <a:pPr algn="l">
              <a:defRPr sz="1725" b="0">
                <a:solidFill>
                  <a:srgbClr val="D5C9E6"/>
                </a:solidFill>
                <a:latin typeface="Arial"/>
                <a:ea typeface="Arial"/>
                <a:cs typeface="Arial"/>
              </a:defRPr>
            </a:pPr>
            <a:r>
              <a:rPr sz="1725" b="0">
                <a:solidFill>
                  <a:srgbClr val="D5C9E6"/>
                </a:solidFill>
                <a:latin typeface="Arial"/>
                <a:ea typeface="Arial"/>
                <a:cs typeface="Arial"/>
              </a:rPr>
              <a:t>Expected reads: “Hello Agentic OS”, then “Updated note”.</a:t>
            </a:r>
          </a:p>
        </p:txBody>
      </p:sp>
    </p:spTree>
    <p:extLst>
      <p:ext uri="{BB962C8B-B14F-4D97-AF65-F5344CB8AC3E}">
        <p14:creationId xmlns:p14="http://schemas.microsoft.com/office/powerpoint/2010/main" val="54161237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180B2B"/>
        </a:solidFill>
        <a:effectLst/>
      </p:bgPr>
    </p:bg>
    <p:spTree>
      <p:nvGrpSpPr>
        <p:cNvPr id="1" name=""/>
        <p:cNvGrpSpPr/>
        <p:nvPr/>
      </p:nvGrpSpPr>
      <p:grpSpPr>
        <a:xfrm>
          <a:off x="0" y="0"/>
          <a:ext cx="0" cy="0"/>
          <a:chOff x="0" y="0"/>
          <a:chExt cx="0" cy="0"/>
        </a:xfrm>
      </p:grpSpPr>
      <p:sp>
        <p:nvSpPr>
          <p:cNvPr id="10" name="BUILD &amp; RUN">
            <a:extLst>
              <a:ext uri="{FF2B5EF4-FFF2-40B4-BE49-F238E27FC236}">
                <a16:creationId xmlns:a16="http://schemas.microsoft.com/office/drawing/2014/main" id="{1F797D9D-6DC2-46B8-A0B3-C28B0B47DDF5}"/>
              </a:ext>
            </a:extLst>
          </p:cNvPr>
          <p:cNvSpPr>
            <a:spLocks noGrp="1"/>
          </p:cNvSpPr>
          <p:nvPr/>
        </p:nvSpPr>
        <p:spPr>
          <a:xfrm>
            <a:off x="609600" y="323850"/>
            <a:ext cx="10001250" cy="228600"/>
          </a:xfrm>
          <a:prstGeom prst="rect">
            <a:avLst/>
          </a:prstGeom>
          <a:noFill/>
          <a:ln w="0">
            <a:noFill/>
          </a:ln>
        </p:spPr>
        <p:txBody>
          <a:bodyPr lIns="0" tIns="0" rIns="0" bIns="0" anchor="ctr"/>
          <a:lstStyle>
            <a:defPPr algn="l">
              <a:defRPr sz="1200" b="1">
                <a:solidFill>
                  <a:srgbClr val="BE98F6"/>
                </a:solidFill>
                <a:latin typeface="Arial"/>
                <a:ea typeface="Arial"/>
                <a:cs typeface="Arial"/>
              </a:defRPr>
            </a:defPPr>
          </a:lstStyle>
          <a:p>
            <a:pPr algn="l">
              <a:defRPr sz="1200" b="1">
                <a:solidFill>
                  <a:srgbClr val="BE98F6"/>
                </a:solidFill>
                <a:latin typeface="Arial"/>
                <a:ea typeface="Arial"/>
                <a:cs typeface="Arial"/>
              </a:defRPr>
            </a:pPr>
            <a:r>
              <a:rPr sz="1200" b="1">
                <a:solidFill>
                  <a:srgbClr val="BE98F6"/>
                </a:solidFill>
                <a:latin typeface="Arial"/>
                <a:ea typeface="Arial"/>
                <a:cs typeface="Arial"/>
              </a:rPr>
              <a:t>BUILD &amp; RUN</a:t>
            </a:r>
          </a:p>
        </p:txBody>
      </p:sp>
      <p:sp>
        <p:nvSpPr>
          <p:cNvPr id="2" name="Run the host network service">
            <a:extLst>
              <a:ext uri="{FF2B5EF4-FFF2-40B4-BE49-F238E27FC236}">
                <a16:creationId xmlns:a16="http://schemas.microsoft.com/office/drawing/2014/main" id="{9F8173A4-673E-48B7-887A-A8F90F887379}"/>
              </a:ext>
            </a:extLst>
          </p:cNvPr>
          <p:cNvSpPr>
            <a:spLocks noGrp="1"/>
          </p:cNvSpPr>
          <p:nvPr/>
        </p:nvSpPr>
        <p:spPr>
          <a:xfrm>
            <a:off x="609600" y="876300"/>
            <a:ext cx="10972800" cy="952500"/>
          </a:xfrm>
          <a:prstGeom prst="rect">
            <a:avLst/>
          </a:prstGeom>
          <a:noFill/>
          <a:ln w="0">
            <a:noFill/>
          </a:ln>
        </p:spPr>
        <p:txBody>
          <a:bodyPr lIns="0" tIns="0" rIns="0" bIns="0" anchor="ctr"/>
          <a:lstStyle>
            <a:defPPr algn="l">
              <a:defRPr sz="3300" b="1">
                <a:solidFill>
                  <a:srgbClr val="FFFFFF"/>
                </a:solidFill>
                <a:latin typeface="Arial"/>
                <a:ea typeface="Arial"/>
                <a:cs typeface="Arial"/>
              </a:defRPr>
            </a:defPPr>
          </a:lstStyle>
          <a:p>
            <a:pPr algn="l">
              <a:defRPr sz="3300" b="1">
                <a:solidFill>
                  <a:srgbClr val="FFFFFF"/>
                </a:solidFill>
                <a:latin typeface="Arial"/>
                <a:ea typeface="Arial"/>
                <a:cs typeface="Arial"/>
              </a:defRPr>
            </a:pPr>
            <a:r>
              <a:rPr sz="3300" b="1">
                <a:solidFill>
                  <a:srgbClr val="FFFFFF"/>
                </a:solidFill>
                <a:latin typeface="Arial"/>
                <a:ea typeface="Arial"/>
                <a:cs typeface="Arial"/>
              </a:rPr>
              <a:t>Run the host network service</a:t>
            </a:r>
          </a:p>
        </p:txBody>
      </p:sp>
      <p:sp>
        <p:nvSpPr>
          <p:cNvPr id="3" name="AGENTIC OS  /  MVP TECHNICAL WALKTHROUGH">
            <a:extLst>
              <a:ext uri="{FF2B5EF4-FFF2-40B4-BE49-F238E27FC236}">
                <a16:creationId xmlns:a16="http://schemas.microsoft.com/office/drawing/2014/main" id="{82A82B30-AF9F-4CD2-9110-60F15A42F4C1}"/>
              </a:ext>
            </a:extLst>
          </p:cNvPr>
          <p:cNvSpPr>
            <a:spLocks noGrp="1"/>
          </p:cNvSpPr>
          <p:nvPr/>
        </p:nvSpPr>
        <p:spPr>
          <a:xfrm>
            <a:off x="609600" y="6410325"/>
            <a:ext cx="10001250" cy="190500"/>
          </a:xfrm>
          <a:prstGeom prst="rect">
            <a:avLst/>
          </a:prstGeom>
          <a:noFill/>
          <a:ln w="0">
            <a:noFill/>
          </a:ln>
        </p:spPr>
        <p:txBody>
          <a:bodyPr lIns="0" tIns="0" rIns="0" bIns="0" anchor="ctr"/>
          <a:lstStyle>
            <a:defPPr algn="l">
              <a:defRPr sz="975" b="0">
                <a:solidFill>
                  <a:srgbClr val="D5C9E6"/>
                </a:solidFill>
                <a:latin typeface="Arial"/>
                <a:ea typeface="Arial"/>
                <a:cs typeface="Arial"/>
              </a:defRPr>
            </a:defPPr>
          </a:lstStyle>
          <a:p>
            <a:pPr algn="l">
              <a:defRPr sz="975" b="0">
                <a:solidFill>
                  <a:srgbClr val="D5C9E6"/>
                </a:solidFill>
                <a:latin typeface="Arial"/>
                <a:ea typeface="Arial"/>
                <a:cs typeface="Arial"/>
              </a:defRPr>
            </a:pPr>
            <a:r>
              <a:rPr sz="975" b="0">
                <a:solidFill>
                  <a:srgbClr val="D5C9E6"/>
                </a:solidFill>
                <a:latin typeface="Arial"/>
                <a:ea typeface="Arial"/>
                <a:cs typeface="Arial"/>
              </a:rPr>
              <a:t>AGENTIC OS  /  MVP TECHNICAL WALKTHROUGH</a:t>
            </a:r>
          </a:p>
        </p:txBody>
      </p:sp>
      <p:sp>
        <p:nvSpPr>
          <p:cNvPr id="4" name="36">
            <a:extLst>
              <a:ext uri="{FF2B5EF4-FFF2-40B4-BE49-F238E27FC236}">
                <a16:creationId xmlns:a16="http://schemas.microsoft.com/office/drawing/2014/main" id="{F85CC59B-36F6-4CAE-90AD-F96FB2954CE4}"/>
              </a:ext>
            </a:extLst>
          </p:cNvPr>
          <p:cNvSpPr>
            <a:spLocks noGrp="1"/>
          </p:cNvSpPr>
          <p:nvPr/>
        </p:nvSpPr>
        <p:spPr>
          <a:xfrm>
            <a:off x="11029950" y="6372225"/>
            <a:ext cx="552450" cy="247650"/>
          </a:xfrm>
          <a:prstGeom prst="rect">
            <a:avLst/>
          </a:prstGeom>
          <a:noFill/>
          <a:ln w="0">
            <a:noFill/>
          </a:ln>
        </p:spPr>
        <p:txBody>
          <a:bodyPr lIns="0" tIns="0" rIns="0" bIns="0" anchor="ctr"/>
          <a:lstStyle>
            <a:defPPr algn="r">
              <a:defRPr sz="1275" b="0">
                <a:solidFill>
                  <a:srgbClr val="BE98F6"/>
                </a:solidFill>
                <a:latin typeface="Arial"/>
                <a:ea typeface="Arial"/>
                <a:cs typeface="Arial"/>
              </a:defRPr>
            </a:defPPr>
          </a:lstStyle>
          <a:p>
            <a:pPr algn="r">
              <a:defRPr sz="1275" b="0">
                <a:solidFill>
                  <a:srgbClr val="BE98F6"/>
                </a:solidFill>
                <a:latin typeface="Arial"/>
                <a:ea typeface="Arial"/>
                <a:cs typeface="Arial"/>
              </a:defRPr>
            </a:pPr>
            <a:r>
              <a:rPr sz="1275" b="0">
                <a:solidFill>
                  <a:srgbClr val="BE98F6"/>
                </a:solidFill>
                <a:latin typeface="Arial"/>
                <a:ea typeface="Arial"/>
                <a:cs typeface="Arial"/>
              </a:rPr>
              <a:t>36</a:t>
            </a:r>
          </a:p>
        </p:txBody>
      </p:sp>
      <p:sp>
        <p:nvSpPr>
          <p:cNvPr id="5" name="Rectangle 4">
            <a:extLst>
              <a:ext uri="{FF2B5EF4-FFF2-40B4-BE49-F238E27FC236}">
                <a16:creationId xmlns:a16="http://schemas.microsoft.com/office/drawing/2014/main" id="{0DFAB2AD-97A2-412F-8931-D06F821A04F1}"/>
              </a:ext>
            </a:extLst>
          </p:cNvPr>
          <p:cNvSpPr>
            <a:spLocks noGrp="1"/>
          </p:cNvSpPr>
          <p:nvPr/>
        </p:nvSpPr>
        <p:spPr>
          <a:xfrm>
            <a:off x="609600" y="2162175"/>
            <a:ext cx="10972800" cy="2143125"/>
          </a:xfrm>
          <a:prstGeom prst="rect">
            <a:avLst/>
          </a:prstGeom>
          <a:solidFill>
            <a:srgbClr val="10071D"/>
          </a:solidFill>
          <a:ln w="13335">
            <a:solidFill>
              <a:srgbClr val="5D377E"/>
            </a:solidFill>
          </a:ln>
        </p:spPr>
      </p:sp>
      <p:sp>
        <p:nvSpPr>
          <p:cNvPr id="6" name="python -m host_tools.tcp_ping serve&#10;&#10;# In an">
            <a:extLst>
              <a:ext uri="{FF2B5EF4-FFF2-40B4-BE49-F238E27FC236}">
                <a16:creationId xmlns:a16="http://schemas.microsoft.com/office/drawing/2014/main" id="{E347F448-1141-4802-9FD7-05B18022434B}"/>
              </a:ext>
            </a:extLst>
          </p:cNvPr>
          <p:cNvSpPr>
            <a:spLocks noGrp="1"/>
          </p:cNvSpPr>
          <p:nvPr/>
        </p:nvSpPr>
        <p:spPr>
          <a:xfrm>
            <a:off x="857250" y="2333625"/>
            <a:ext cx="10477500" cy="1800225"/>
          </a:xfrm>
          <a:prstGeom prst="rect">
            <a:avLst/>
          </a:prstGeom>
          <a:noFill/>
          <a:ln w="0">
            <a:noFill/>
          </a:ln>
        </p:spPr>
        <p:txBody>
          <a:bodyPr lIns="0" tIns="0" rIns="0" bIns="0" anchor="ctr"/>
          <a:lstStyle>
            <a:defPPr algn="l">
              <a:defRPr sz="1950" b="0">
                <a:solidFill>
                  <a:srgbClr val="FFFFFF"/>
                </a:solidFill>
                <a:latin typeface="Courier New"/>
                <a:ea typeface="Courier New"/>
                <a:cs typeface="Courier New"/>
              </a:defRPr>
            </a:defPPr>
          </a:lstStyle>
          <a:p>
            <a:pPr algn="l">
              <a:defRPr sz="1950" b="0">
                <a:solidFill>
                  <a:srgbClr val="FFFFFF"/>
                </a:solidFill>
                <a:latin typeface="Courier New"/>
                <a:ea typeface="Courier New"/>
                <a:cs typeface="Courier New"/>
              </a:defRPr>
            </a:pPr>
            <a:r>
              <a:rPr sz="1950" b="0">
                <a:solidFill>
                  <a:srgbClr val="FFFFFF"/>
                </a:solidFill>
                <a:latin typeface="Courier New"/>
                <a:ea typeface="Courier New"/>
                <a:cs typeface="Courier New"/>
              </a:rPr>
              <a:t>python -m host_tools.tcp_ping serve</a:t>
            </a:r>
          </a:p>
          <a:p>
            <a:endParaRPr sz="1950" b="0">
              <a:solidFill>
                <a:srgbClr val="FFFFFF"/>
              </a:solidFill>
              <a:latin typeface="Courier New"/>
              <a:ea typeface="Courier New"/>
              <a:cs typeface="Courier New"/>
            </a:endParaRPr>
          </a:p>
          <a:p>
            <a:pPr algn="l">
              <a:defRPr sz="1950" b="0">
                <a:solidFill>
                  <a:srgbClr val="FFFFFF"/>
                </a:solidFill>
                <a:latin typeface="Courier New"/>
                <a:ea typeface="Courier New"/>
                <a:cs typeface="Courier New"/>
              </a:defRPr>
            </a:pPr>
            <a:r>
              <a:rPr sz="1950" b="0">
                <a:solidFill>
                  <a:srgbClr val="FFFFFF"/>
                </a:solidFill>
                <a:latin typeface="Courier New"/>
                <a:ea typeface="Courier New"/>
                <a:cs typeface="Courier New"/>
              </a:rPr>
              <a:t># In another PowerShell terminal</a:t>
            </a:r>
          </a:p>
          <a:p>
            <a:pPr algn="l">
              <a:defRPr sz="1950" b="0">
                <a:solidFill>
                  <a:srgbClr val="FFFFFF"/>
                </a:solidFill>
                <a:latin typeface="Courier New"/>
                <a:ea typeface="Courier New"/>
                <a:cs typeface="Courier New"/>
              </a:defRPr>
            </a:pPr>
            <a:r>
              <a:rPr sz="1950" b="0">
                <a:solidFill>
                  <a:srgbClr val="FFFFFF"/>
                </a:solidFill>
                <a:latin typeface="Courier New"/>
                <a:ea typeface="Courier New"/>
                <a:cs typeface="Courier New"/>
              </a:rPr>
              <a:t>Invoke-RestMethod http://127.0.0.1:8765/health</a:t>
            </a:r>
          </a:p>
        </p:txBody>
      </p:sp>
      <p:sp>
        <p:nvSpPr>
          <p:cNvPr id="7" name="Health response">
            <a:extLst>
              <a:ext uri="{FF2B5EF4-FFF2-40B4-BE49-F238E27FC236}">
                <a16:creationId xmlns:a16="http://schemas.microsoft.com/office/drawing/2014/main" id="{28791744-6A9A-4198-8E77-2E5657B3B6DB}"/>
              </a:ext>
            </a:extLst>
          </p:cNvPr>
          <p:cNvSpPr>
            <a:spLocks noGrp="1"/>
          </p:cNvSpPr>
          <p:nvPr/>
        </p:nvSpPr>
        <p:spPr>
          <a:xfrm>
            <a:off x="609600" y="4772025"/>
            <a:ext cx="3810000" cy="428625"/>
          </a:xfrm>
          <a:prstGeom prst="rect">
            <a:avLst/>
          </a:prstGeom>
          <a:noFill/>
          <a:ln w="0">
            <a:noFill/>
          </a:ln>
        </p:spPr>
        <p:txBody>
          <a:bodyPr lIns="0" tIns="0" rIns="0" bIns="0" anchor="ctr"/>
          <a:lstStyle>
            <a:defPPr algn="l">
              <a:defRPr sz="2250" b="1">
                <a:solidFill>
                  <a:srgbClr val="BE98F6"/>
                </a:solidFill>
                <a:latin typeface="Arial"/>
                <a:ea typeface="Arial"/>
                <a:cs typeface="Arial"/>
              </a:defRPr>
            </a:defPPr>
          </a:lstStyle>
          <a:p>
            <a:pPr algn="l">
              <a:defRPr sz="2250" b="1">
                <a:solidFill>
                  <a:srgbClr val="BE98F6"/>
                </a:solidFill>
                <a:latin typeface="Arial"/>
                <a:ea typeface="Arial"/>
                <a:cs typeface="Arial"/>
              </a:defRPr>
            </a:pPr>
            <a:r>
              <a:rPr sz="2250" b="1">
                <a:solidFill>
                  <a:srgbClr val="BE98F6"/>
                </a:solidFill>
                <a:latin typeface="Arial"/>
                <a:ea typeface="Arial"/>
                <a:cs typeface="Arial"/>
              </a:rPr>
              <a:t>Health response</a:t>
            </a:r>
          </a:p>
        </p:txBody>
      </p:sp>
      <p:sp>
        <p:nvSpPr>
          <p:cNvPr id="8" name="{ &quot;status&quot;: &quot;ok&quot; }">
            <a:extLst>
              <a:ext uri="{FF2B5EF4-FFF2-40B4-BE49-F238E27FC236}">
                <a16:creationId xmlns:a16="http://schemas.microsoft.com/office/drawing/2014/main" id="{03807106-B905-4778-A914-FED39400C17E}"/>
              </a:ext>
            </a:extLst>
          </p:cNvPr>
          <p:cNvSpPr>
            <a:spLocks noGrp="1"/>
          </p:cNvSpPr>
          <p:nvPr/>
        </p:nvSpPr>
        <p:spPr>
          <a:xfrm>
            <a:off x="4533900" y="4772025"/>
            <a:ext cx="6800850" cy="428625"/>
          </a:xfrm>
          <a:prstGeom prst="rect">
            <a:avLst/>
          </a:prstGeom>
          <a:noFill/>
          <a:ln w="0">
            <a:noFill/>
          </a:ln>
        </p:spPr>
        <p:txBody>
          <a:bodyPr lIns="0" tIns="0" rIns="0" bIns="0" anchor="ctr"/>
          <a:lstStyle>
            <a:defPPr algn="l">
              <a:defRPr sz="2250" b="0">
                <a:solidFill>
                  <a:srgbClr val="FFFFFF"/>
                </a:solidFill>
                <a:latin typeface="Arial"/>
                <a:ea typeface="Arial"/>
                <a:cs typeface="Arial"/>
              </a:defRPr>
            </a:defPPr>
          </a:lstStyle>
          <a:p>
            <a:pPr algn="l">
              <a:defRPr sz="2250" b="0">
                <a:solidFill>
                  <a:srgbClr val="FFFFFF"/>
                </a:solidFill>
                <a:latin typeface="Arial"/>
                <a:ea typeface="Arial"/>
                <a:cs typeface="Arial"/>
              </a:defRPr>
            </a:pPr>
            <a:r>
              <a:rPr sz="2250" b="0">
                <a:solidFill>
                  <a:srgbClr val="FFFFFF"/>
                </a:solidFill>
                <a:latin typeface="Arial"/>
                <a:ea typeface="Arial"/>
                <a:cs typeface="Arial"/>
              </a:rPr>
              <a:t>{ "status": "ok" }</a:t>
            </a:r>
          </a:p>
        </p:txBody>
      </p:sp>
      <p:sp>
        <p:nvSpPr>
          <p:cNvPr id="9" name="For interactive probes: python -m host_tools">
            <a:extLst>
              <a:ext uri="{FF2B5EF4-FFF2-40B4-BE49-F238E27FC236}">
                <a16:creationId xmlns:a16="http://schemas.microsoft.com/office/drawing/2014/main" id="{6241A379-EE46-4CB5-9B24-5C6D990ED058}"/>
              </a:ext>
            </a:extLst>
          </p:cNvPr>
          <p:cNvSpPr>
            <a:spLocks noGrp="1"/>
          </p:cNvSpPr>
          <p:nvPr/>
        </p:nvSpPr>
        <p:spPr>
          <a:xfrm>
            <a:off x="609600" y="5648325"/>
            <a:ext cx="10972800" cy="504825"/>
          </a:xfrm>
          <a:prstGeom prst="rect">
            <a:avLst/>
          </a:prstGeom>
          <a:noFill/>
          <a:ln w="0">
            <a:noFill/>
          </a:ln>
        </p:spPr>
        <p:txBody>
          <a:bodyPr lIns="0" tIns="0" rIns="0" bIns="0" anchor="ctr"/>
          <a:lstStyle>
            <a:defPPr algn="l">
              <a:defRPr sz="1725" b="0">
                <a:solidFill>
                  <a:srgbClr val="D5C9E6"/>
                </a:solidFill>
                <a:latin typeface="Arial"/>
                <a:ea typeface="Arial"/>
                <a:cs typeface="Arial"/>
              </a:defRPr>
            </a:defPPr>
          </a:lstStyle>
          <a:p>
            <a:pPr algn="l">
              <a:defRPr sz="1725" b="0">
                <a:solidFill>
                  <a:srgbClr val="D5C9E6"/>
                </a:solidFill>
                <a:latin typeface="Arial"/>
                <a:ea typeface="Arial"/>
                <a:cs typeface="Arial"/>
              </a:defRPr>
            </a:pPr>
            <a:r>
              <a:rPr sz="1725" b="0">
                <a:solidFill>
                  <a:srgbClr val="D5C9E6"/>
                </a:solidFill>
                <a:latin typeface="Arial"/>
                <a:ea typeface="Arial"/>
                <a:cs typeface="Arial"/>
              </a:rPr>
              <a:t>For interactive probes: python -m host_tools.tcp_ping shell</a:t>
            </a:r>
          </a:p>
        </p:txBody>
      </p:sp>
    </p:spTree>
    <p:extLst>
      <p:ext uri="{BB962C8B-B14F-4D97-AF65-F5344CB8AC3E}">
        <p14:creationId xmlns:p14="http://schemas.microsoft.com/office/powerpoint/2010/main" val="154254121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180B2B"/>
        </a:solidFill>
        <a:effectLst/>
      </p:bgPr>
    </p:bg>
    <p:spTree>
      <p:nvGrpSpPr>
        <p:cNvPr id="1" name=""/>
        <p:cNvGrpSpPr/>
        <p:nvPr/>
      </p:nvGrpSpPr>
      <p:grpSpPr>
        <a:xfrm>
          <a:off x="0" y="0"/>
          <a:ext cx="0" cy="0"/>
          <a:chOff x="0" y="0"/>
          <a:chExt cx="0" cy="0"/>
        </a:xfrm>
      </p:grpSpPr>
      <p:sp>
        <p:nvSpPr>
          <p:cNvPr id="11" name="BUILD &amp; RUN">
            <a:extLst>
              <a:ext uri="{FF2B5EF4-FFF2-40B4-BE49-F238E27FC236}">
                <a16:creationId xmlns:a16="http://schemas.microsoft.com/office/drawing/2014/main" id="{504448A4-A479-4993-8D56-5340139962C5}"/>
              </a:ext>
            </a:extLst>
          </p:cNvPr>
          <p:cNvSpPr>
            <a:spLocks noGrp="1"/>
          </p:cNvSpPr>
          <p:nvPr/>
        </p:nvSpPr>
        <p:spPr>
          <a:xfrm>
            <a:off x="609600" y="323850"/>
            <a:ext cx="10001250" cy="228600"/>
          </a:xfrm>
          <a:prstGeom prst="rect">
            <a:avLst/>
          </a:prstGeom>
          <a:noFill/>
          <a:ln w="0">
            <a:noFill/>
          </a:ln>
        </p:spPr>
        <p:txBody>
          <a:bodyPr lIns="0" tIns="0" rIns="0" bIns="0" anchor="ctr"/>
          <a:lstStyle>
            <a:defPPr algn="l">
              <a:defRPr sz="1200" b="1">
                <a:solidFill>
                  <a:srgbClr val="BE98F6"/>
                </a:solidFill>
                <a:latin typeface="Arial"/>
                <a:ea typeface="Arial"/>
                <a:cs typeface="Arial"/>
              </a:defRPr>
            </a:defPPr>
          </a:lstStyle>
          <a:p>
            <a:pPr algn="l">
              <a:defRPr sz="1200" b="1">
                <a:solidFill>
                  <a:srgbClr val="BE98F6"/>
                </a:solidFill>
                <a:latin typeface="Arial"/>
                <a:ea typeface="Arial"/>
                <a:cs typeface="Arial"/>
              </a:defRPr>
            </a:pPr>
            <a:r>
              <a:rPr sz="1200" b="1">
                <a:solidFill>
                  <a:srgbClr val="BE98F6"/>
                </a:solidFill>
                <a:latin typeface="Arial"/>
                <a:ea typeface="Arial"/>
                <a:cs typeface="Arial"/>
              </a:rPr>
              <a:t>BUILD &amp; RUN</a:t>
            </a:r>
          </a:p>
        </p:txBody>
      </p:sp>
      <p:sp>
        <p:nvSpPr>
          <p:cNvPr id="2" name="Connectivity and agent demo">
            <a:extLst>
              <a:ext uri="{FF2B5EF4-FFF2-40B4-BE49-F238E27FC236}">
                <a16:creationId xmlns:a16="http://schemas.microsoft.com/office/drawing/2014/main" id="{5D576F26-2438-4395-8DAE-76382B2126C0}"/>
              </a:ext>
            </a:extLst>
          </p:cNvPr>
          <p:cNvSpPr>
            <a:spLocks noGrp="1"/>
          </p:cNvSpPr>
          <p:nvPr/>
        </p:nvSpPr>
        <p:spPr>
          <a:xfrm>
            <a:off x="609600" y="876300"/>
            <a:ext cx="10972800" cy="952500"/>
          </a:xfrm>
          <a:prstGeom prst="rect">
            <a:avLst/>
          </a:prstGeom>
          <a:noFill/>
          <a:ln w="0">
            <a:noFill/>
          </a:ln>
        </p:spPr>
        <p:txBody>
          <a:bodyPr lIns="0" tIns="0" rIns="0" bIns="0" anchor="ctr"/>
          <a:lstStyle>
            <a:defPPr algn="l">
              <a:defRPr sz="3300" b="1">
                <a:solidFill>
                  <a:srgbClr val="FFFFFF"/>
                </a:solidFill>
                <a:latin typeface="Arial"/>
                <a:ea typeface="Arial"/>
                <a:cs typeface="Arial"/>
              </a:defRPr>
            </a:defPPr>
          </a:lstStyle>
          <a:p>
            <a:pPr algn="l">
              <a:defRPr sz="3300" b="1">
                <a:solidFill>
                  <a:srgbClr val="FFFFFF"/>
                </a:solidFill>
                <a:latin typeface="Arial"/>
                <a:ea typeface="Arial"/>
                <a:cs typeface="Arial"/>
              </a:defRPr>
            </a:pPr>
            <a:r>
              <a:rPr sz="3300" b="1">
                <a:solidFill>
                  <a:srgbClr val="FFFFFF"/>
                </a:solidFill>
                <a:latin typeface="Arial"/>
                <a:ea typeface="Arial"/>
                <a:cs typeface="Arial"/>
              </a:rPr>
              <a:t>Connectivity and agent demo</a:t>
            </a:r>
          </a:p>
        </p:txBody>
      </p:sp>
      <p:sp>
        <p:nvSpPr>
          <p:cNvPr id="3" name="AGENTIC OS  /  MVP TECHNICAL WALKTHROUGH">
            <a:extLst>
              <a:ext uri="{FF2B5EF4-FFF2-40B4-BE49-F238E27FC236}">
                <a16:creationId xmlns:a16="http://schemas.microsoft.com/office/drawing/2014/main" id="{C8535DC3-3F39-4A3A-92DD-B00B33A23B73}"/>
              </a:ext>
            </a:extLst>
          </p:cNvPr>
          <p:cNvSpPr>
            <a:spLocks noGrp="1"/>
          </p:cNvSpPr>
          <p:nvPr/>
        </p:nvSpPr>
        <p:spPr>
          <a:xfrm>
            <a:off x="609600" y="6410325"/>
            <a:ext cx="10001250" cy="190500"/>
          </a:xfrm>
          <a:prstGeom prst="rect">
            <a:avLst/>
          </a:prstGeom>
          <a:noFill/>
          <a:ln w="0">
            <a:noFill/>
          </a:ln>
        </p:spPr>
        <p:txBody>
          <a:bodyPr lIns="0" tIns="0" rIns="0" bIns="0" anchor="ctr"/>
          <a:lstStyle>
            <a:defPPr algn="l">
              <a:defRPr sz="975" b="0">
                <a:solidFill>
                  <a:srgbClr val="D5C9E6"/>
                </a:solidFill>
                <a:latin typeface="Arial"/>
                <a:ea typeface="Arial"/>
                <a:cs typeface="Arial"/>
              </a:defRPr>
            </a:defPPr>
          </a:lstStyle>
          <a:p>
            <a:pPr algn="l">
              <a:defRPr sz="975" b="0">
                <a:solidFill>
                  <a:srgbClr val="D5C9E6"/>
                </a:solidFill>
                <a:latin typeface="Arial"/>
                <a:ea typeface="Arial"/>
                <a:cs typeface="Arial"/>
              </a:defRPr>
            </a:pPr>
            <a:r>
              <a:rPr sz="975" b="0">
                <a:solidFill>
                  <a:srgbClr val="D5C9E6"/>
                </a:solidFill>
                <a:latin typeface="Arial"/>
                <a:ea typeface="Arial"/>
                <a:cs typeface="Arial"/>
              </a:rPr>
              <a:t>AGENTIC OS  /  MVP TECHNICAL WALKTHROUGH</a:t>
            </a:r>
          </a:p>
        </p:txBody>
      </p:sp>
      <p:sp>
        <p:nvSpPr>
          <p:cNvPr id="4" name="37">
            <a:extLst>
              <a:ext uri="{FF2B5EF4-FFF2-40B4-BE49-F238E27FC236}">
                <a16:creationId xmlns:a16="http://schemas.microsoft.com/office/drawing/2014/main" id="{A539461A-D427-4131-9876-EED0153A3DA9}"/>
              </a:ext>
            </a:extLst>
          </p:cNvPr>
          <p:cNvSpPr>
            <a:spLocks noGrp="1"/>
          </p:cNvSpPr>
          <p:nvPr/>
        </p:nvSpPr>
        <p:spPr>
          <a:xfrm>
            <a:off x="11029950" y="6372225"/>
            <a:ext cx="552450" cy="247650"/>
          </a:xfrm>
          <a:prstGeom prst="rect">
            <a:avLst/>
          </a:prstGeom>
          <a:noFill/>
          <a:ln w="0">
            <a:noFill/>
          </a:ln>
        </p:spPr>
        <p:txBody>
          <a:bodyPr lIns="0" tIns="0" rIns="0" bIns="0" anchor="ctr"/>
          <a:lstStyle>
            <a:defPPr algn="r">
              <a:defRPr sz="1275" b="0">
                <a:solidFill>
                  <a:srgbClr val="BE98F6"/>
                </a:solidFill>
                <a:latin typeface="Arial"/>
                <a:ea typeface="Arial"/>
                <a:cs typeface="Arial"/>
              </a:defRPr>
            </a:defPPr>
          </a:lstStyle>
          <a:p>
            <a:pPr algn="r">
              <a:defRPr sz="1275" b="0">
                <a:solidFill>
                  <a:srgbClr val="BE98F6"/>
                </a:solidFill>
                <a:latin typeface="Arial"/>
                <a:ea typeface="Arial"/>
                <a:cs typeface="Arial"/>
              </a:defRPr>
            </a:pPr>
            <a:r>
              <a:rPr sz="1275" b="0">
                <a:solidFill>
                  <a:srgbClr val="BE98F6"/>
                </a:solidFill>
                <a:latin typeface="Arial"/>
                <a:ea typeface="Arial"/>
                <a:cs typeface="Arial"/>
              </a:rPr>
              <a:t>37</a:t>
            </a:r>
          </a:p>
        </p:txBody>
      </p:sp>
      <p:sp>
        <p:nvSpPr>
          <p:cNvPr id="5" name="Guest connectivity">
            <a:extLst>
              <a:ext uri="{FF2B5EF4-FFF2-40B4-BE49-F238E27FC236}">
                <a16:creationId xmlns:a16="http://schemas.microsoft.com/office/drawing/2014/main" id="{7A5E053C-68AC-4FD9-AB69-4DAFC500A5D0}"/>
              </a:ext>
            </a:extLst>
          </p:cNvPr>
          <p:cNvSpPr>
            <a:spLocks noGrp="1"/>
          </p:cNvSpPr>
          <p:nvPr/>
        </p:nvSpPr>
        <p:spPr>
          <a:xfrm>
            <a:off x="609600" y="2076450"/>
            <a:ext cx="5715000" cy="428625"/>
          </a:xfrm>
          <a:prstGeom prst="rect">
            <a:avLst/>
          </a:prstGeom>
          <a:noFill/>
          <a:ln w="0">
            <a:noFill/>
          </a:ln>
        </p:spPr>
        <p:txBody>
          <a:bodyPr lIns="0" tIns="0" rIns="0" bIns="0" anchor="ctr"/>
          <a:lstStyle>
            <a:defPPr algn="l">
              <a:defRPr sz="2250" b="1">
                <a:solidFill>
                  <a:srgbClr val="BE98F6"/>
                </a:solidFill>
                <a:latin typeface="Arial"/>
                <a:ea typeface="Arial"/>
                <a:cs typeface="Arial"/>
              </a:defRPr>
            </a:defPPr>
          </a:lstStyle>
          <a:p>
            <a:pPr algn="l">
              <a:defRPr sz="2250" b="1">
                <a:solidFill>
                  <a:srgbClr val="BE98F6"/>
                </a:solidFill>
                <a:latin typeface="Arial"/>
                <a:ea typeface="Arial"/>
                <a:cs typeface="Arial"/>
              </a:defRPr>
            </a:pPr>
            <a:r>
              <a:rPr sz="2250" b="1">
                <a:solidFill>
                  <a:srgbClr val="BE98F6"/>
                </a:solidFill>
                <a:latin typeface="Arial"/>
                <a:ea typeface="Arial"/>
                <a:cs typeface="Arial"/>
              </a:rPr>
              <a:t>Guest connectivity</a:t>
            </a:r>
          </a:p>
        </p:txBody>
      </p:sp>
      <p:sp>
        <p:nvSpPr>
          <p:cNvPr id="6" name="Rectangle 5">
            <a:extLst>
              <a:ext uri="{FF2B5EF4-FFF2-40B4-BE49-F238E27FC236}">
                <a16:creationId xmlns:a16="http://schemas.microsoft.com/office/drawing/2014/main" id="{08DCDDD2-C815-43BC-AC2C-B8854D6E92A8}"/>
              </a:ext>
            </a:extLst>
          </p:cNvPr>
          <p:cNvSpPr>
            <a:spLocks noGrp="1"/>
          </p:cNvSpPr>
          <p:nvPr/>
        </p:nvSpPr>
        <p:spPr>
          <a:xfrm>
            <a:off x="609600" y="2667000"/>
            <a:ext cx="10972800" cy="762000"/>
          </a:xfrm>
          <a:prstGeom prst="rect">
            <a:avLst/>
          </a:prstGeom>
          <a:solidFill>
            <a:srgbClr val="10071D"/>
          </a:solidFill>
          <a:ln w="13335">
            <a:solidFill>
              <a:srgbClr val="5D377E"/>
            </a:solidFill>
          </a:ln>
        </p:spPr>
      </p:sp>
      <p:sp>
        <p:nvSpPr>
          <p:cNvPr id="7" name="tcpping &lt;reachable-ipv4&gt; &lt;port&gt;">
            <a:extLst>
              <a:ext uri="{FF2B5EF4-FFF2-40B4-BE49-F238E27FC236}">
                <a16:creationId xmlns:a16="http://schemas.microsoft.com/office/drawing/2014/main" id="{287BC232-34DD-4F45-AECD-19A69C79EF39}"/>
              </a:ext>
            </a:extLst>
          </p:cNvPr>
          <p:cNvSpPr>
            <a:spLocks noGrp="1"/>
          </p:cNvSpPr>
          <p:nvPr/>
        </p:nvSpPr>
        <p:spPr>
          <a:xfrm>
            <a:off x="857250" y="2838450"/>
            <a:ext cx="10477500" cy="419100"/>
          </a:xfrm>
          <a:prstGeom prst="rect">
            <a:avLst/>
          </a:prstGeom>
          <a:noFill/>
          <a:ln w="0">
            <a:noFill/>
          </a:ln>
        </p:spPr>
        <p:txBody>
          <a:bodyPr lIns="0" tIns="0" rIns="0" bIns="0" anchor="ctr"/>
          <a:lstStyle>
            <a:defPPr algn="l">
              <a:defRPr sz="1950" b="0">
                <a:solidFill>
                  <a:srgbClr val="FFFFFF"/>
                </a:solidFill>
                <a:latin typeface="Courier New"/>
                <a:ea typeface="Courier New"/>
                <a:cs typeface="Courier New"/>
              </a:defRPr>
            </a:defPPr>
          </a:lstStyle>
          <a:p>
            <a:pPr algn="l">
              <a:defRPr sz="1950" b="0">
                <a:solidFill>
                  <a:srgbClr val="FFFFFF"/>
                </a:solidFill>
                <a:latin typeface="Courier New"/>
                <a:ea typeface="Courier New"/>
                <a:cs typeface="Courier New"/>
              </a:defRPr>
            </a:pPr>
            <a:r>
              <a:rPr sz="1950" b="0">
                <a:solidFill>
                  <a:srgbClr val="FFFFFF"/>
                </a:solidFill>
                <a:latin typeface="Courier New"/>
                <a:ea typeface="Courier New"/>
                <a:cs typeface="Courier New"/>
              </a:rPr>
              <a:t>tcpping &lt;reachable-ipv4&gt; &lt;port&gt;</a:t>
            </a:r>
          </a:p>
        </p:txBody>
      </p:sp>
      <p:sp>
        <p:nvSpPr>
          <p:cNvPr id="8" name="Agent demonstration prompts">
            <a:extLst>
              <a:ext uri="{FF2B5EF4-FFF2-40B4-BE49-F238E27FC236}">
                <a16:creationId xmlns:a16="http://schemas.microsoft.com/office/drawing/2014/main" id="{88787A44-37D1-46C1-BD0C-D5B2BD2EE503}"/>
              </a:ext>
            </a:extLst>
          </p:cNvPr>
          <p:cNvSpPr>
            <a:spLocks noGrp="1"/>
          </p:cNvSpPr>
          <p:nvPr/>
        </p:nvSpPr>
        <p:spPr>
          <a:xfrm>
            <a:off x="609600" y="3781425"/>
            <a:ext cx="8572500" cy="428625"/>
          </a:xfrm>
          <a:prstGeom prst="rect">
            <a:avLst/>
          </a:prstGeom>
          <a:noFill/>
          <a:ln w="0">
            <a:noFill/>
          </a:ln>
        </p:spPr>
        <p:txBody>
          <a:bodyPr lIns="0" tIns="0" rIns="0" bIns="0" anchor="ctr"/>
          <a:lstStyle>
            <a:defPPr algn="l">
              <a:defRPr sz="2250" b="1">
                <a:solidFill>
                  <a:srgbClr val="BE98F6"/>
                </a:solidFill>
                <a:latin typeface="Arial"/>
                <a:ea typeface="Arial"/>
                <a:cs typeface="Arial"/>
              </a:defRPr>
            </a:defPPr>
          </a:lstStyle>
          <a:p>
            <a:pPr algn="l">
              <a:defRPr sz="2250" b="1">
                <a:solidFill>
                  <a:srgbClr val="BE98F6"/>
                </a:solidFill>
                <a:latin typeface="Arial"/>
                <a:ea typeface="Arial"/>
                <a:cs typeface="Arial"/>
              </a:defRPr>
            </a:pPr>
            <a:r>
              <a:rPr sz="2250" b="1">
                <a:solidFill>
                  <a:srgbClr val="BE98F6"/>
                </a:solidFill>
                <a:latin typeface="Arial"/>
                <a:ea typeface="Arial"/>
                <a:cs typeface="Arial"/>
              </a:rPr>
              <a:t>Agent demonstration prompts</a:t>
            </a:r>
          </a:p>
        </p:txBody>
      </p:sp>
      <p:sp>
        <p:nvSpPr>
          <p:cNvPr id="9" name="“Create a notes helper limited to /notes.”&#10;“">
            <a:extLst>
              <a:ext uri="{FF2B5EF4-FFF2-40B4-BE49-F238E27FC236}">
                <a16:creationId xmlns:a16="http://schemas.microsoft.com/office/drawing/2014/main" id="{38DCAE45-F874-4356-A2E9-F907B9A5B0EE}"/>
              </a:ext>
            </a:extLst>
          </p:cNvPr>
          <p:cNvSpPr>
            <a:spLocks noGrp="1"/>
          </p:cNvSpPr>
          <p:nvPr/>
        </p:nvSpPr>
        <p:spPr>
          <a:xfrm>
            <a:off x="609600" y="4448175"/>
            <a:ext cx="10972800" cy="904875"/>
          </a:xfrm>
          <a:prstGeom prst="rect">
            <a:avLst/>
          </a:prstGeom>
          <a:noFill/>
          <a:ln w="0">
            <a:noFill/>
          </a:ln>
        </p:spPr>
        <p:txBody>
          <a:bodyPr lIns="0" tIns="0" rIns="0" bIns="0" anchor="ctr"/>
          <a:lstStyle>
            <a:defPPr algn="l">
              <a:defRPr sz="2175" b="0">
                <a:solidFill>
                  <a:srgbClr val="FFFFFF"/>
                </a:solidFill>
                <a:latin typeface="Arial"/>
                <a:ea typeface="Arial"/>
                <a:cs typeface="Arial"/>
              </a:defRPr>
            </a:defPPr>
          </a:lstStyle>
          <a:p>
            <a:pPr algn="l">
              <a:defRPr sz="2175" b="0">
                <a:solidFill>
                  <a:srgbClr val="FFFFFF"/>
                </a:solidFill>
                <a:latin typeface="Arial"/>
                <a:ea typeface="Arial"/>
                <a:cs typeface="Arial"/>
              </a:defRPr>
            </a:pPr>
            <a:r>
              <a:rPr sz="2175" b="0">
                <a:solidFill>
                  <a:srgbClr val="FFFFFF"/>
                </a:solidFill>
                <a:latin typeface="Arial"/>
                <a:ea typeface="Arial"/>
                <a:cs typeface="Arial"/>
              </a:rPr>
              <a:t>“Create a notes helper limited to /notes.”</a:t>
            </a:r>
          </a:p>
          <a:p>
            <a:pPr algn="l">
              <a:defRPr sz="2175" b="0">
                <a:solidFill>
                  <a:srgbClr val="FFFFFF"/>
                </a:solidFill>
                <a:latin typeface="Arial"/>
                <a:ea typeface="Arial"/>
                <a:cs typeface="Arial"/>
              </a:defRPr>
            </a:pPr>
            <a:r>
              <a:rPr sz="2175" b="0">
                <a:solidFill>
                  <a:srgbClr val="FFFFFF"/>
                </a:solidFill>
                <a:latin typeface="Arial"/>
                <a:ea typeface="Arial"/>
                <a:cs typeface="Arial"/>
              </a:rPr>
              <a:t>“Create, read, update and delete /notes/demo.txt.”</a:t>
            </a:r>
          </a:p>
        </p:txBody>
      </p:sp>
      <p:sp>
        <p:nvSpPr>
          <p:cNvPr id="10" name="Gateway configuration: host API key, selecte">
            <a:extLst>
              <a:ext uri="{FF2B5EF4-FFF2-40B4-BE49-F238E27FC236}">
                <a16:creationId xmlns:a16="http://schemas.microsoft.com/office/drawing/2014/main" id="{B48C1D97-D314-495A-A968-EFE3746CE2DE}"/>
              </a:ext>
            </a:extLst>
          </p:cNvPr>
          <p:cNvSpPr>
            <a:spLocks noGrp="1"/>
          </p:cNvSpPr>
          <p:nvPr/>
        </p:nvSpPr>
        <p:spPr>
          <a:xfrm>
            <a:off x="609600" y="5648325"/>
            <a:ext cx="10972800" cy="504825"/>
          </a:xfrm>
          <a:prstGeom prst="rect">
            <a:avLst/>
          </a:prstGeom>
          <a:noFill/>
          <a:ln w="0">
            <a:noFill/>
          </a:ln>
        </p:spPr>
        <p:txBody>
          <a:bodyPr lIns="0" tIns="0" rIns="0" bIns="0" anchor="ctr"/>
          <a:lstStyle>
            <a:defPPr algn="l">
              <a:defRPr sz="1725" b="0">
                <a:solidFill>
                  <a:srgbClr val="D5C9E6"/>
                </a:solidFill>
                <a:latin typeface="Arial"/>
                <a:ea typeface="Arial"/>
                <a:cs typeface="Arial"/>
              </a:defRPr>
            </a:defPPr>
          </a:lstStyle>
          <a:p>
            <a:pPr algn="l">
              <a:defRPr sz="1725" b="0">
                <a:solidFill>
                  <a:srgbClr val="D5C9E6"/>
                </a:solidFill>
                <a:latin typeface="Arial"/>
                <a:ea typeface="Arial"/>
                <a:cs typeface="Arial"/>
              </a:defRPr>
            </a:pPr>
            <a:r>
              <a:rPr sz="1725" b="0">
                <a:solidFill>
                  <a:srgbClr val="D5C9E6"/>
                </a:solidFill>
                <a:latin typeface="Arial"/>
                <a:ea typeface="Arial"/>
                <a:cs typeface="Arial"/>
              </a:rPr>
              <a:t>Gateway configuration: host API key, selected model, guest endpoint and allowed tools.</a:t>
            </a:r>
          </a:p>
        </p:txBody>
      </p:sp>
    </p:spTree>
    <p:extLst>
      <p:ext uri="{BB962C8B-B14F-4D97-AF65-F5344CB8AC3E}">
        <p14:creationId xmlns:p14="http://schemas.microsoft.com/office/powerpoint/2010/main" val="142525935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3" name="BUILD &amp; RUN">
            <a:extLst>
              <a:ext uri="{FF2B5EF4-FFF2-40B4-BE49-F238E27FC236}">
                <a16:creationId xmlns:a16="http://schemas.microsoft.com/office/drawing/2014/main" id="{E8B66667-AEB3-4095-A0B1-93A8BE9FDA40}"/>
              </a:ext>
            </a:extLst>
          </p:cNvPr>
          <p:cNvSpPr>
            <a:spLocks noGrp="1"/>
          </p:cNvSpPr>
          <p:nvPr/>
        </p:nvSpPr>
        <p:spPr>
          <a:xfrm>
            <a:off x="609600" y="323850"/>
            <a:ext cx="10001250" cy="228600"/>
          </a:xfrm>
          <a:prstGeom prst="rect">
            <a:avLst/>
          </a:prstGeom>
          <a:noFill/>
          <a:ln w="0">
            <a:noFill/>
          </a:ln>
        </p:spPr>
        <p:txBody>
          <a:bodyPr lIns="0" tIns="0" rIns="0" bIns="0" anchor="ctr"/>
          <a:lstStyle>
            <a:defPPr algn="l">
              <a:defRPr sz="1200" b="1">
                <a:solidFill>
                  <a:srgbClr val="7D43D5"/>
                </a:solidFill>
                <a:latin typeface="Arial"/>
                <a:ea typeface="Arial"/>
                <a:cs typeface="Arial"/>
              </a:defRPr>
            </a:defPPr>
          </a:lstStyle>
          <a:p>
            <a:pPr algn="l">
              <a:defRPr sz="1200" b="1">
                <a:solidFill>
                  <a:srgbClr val="7D43D5"/>
                </a:solidFill>
                <a:latin typeface="Arial"/>
                <a:ea typeface="Arial"/>
                <a:cs typeface="Arial"/>
              </a:defRPr>
            </a:pPr>
            <a:r>
              <a:rPr sz="1200" b="1">
                <a:solidFill>
                  <a:srgbClr val="7D43D5"/>
                </a:solidFill>
                <a:latin typeface="Arial"/>
                <a:ea typeface="Arial"/>
                <a:cs typeface="Arial"/>
              </a:rPr>
              <a:t>BUILD &amp; RUN</a:t>
            </a:r>
          </a:p>
        </p:txBody>
      </p:sp>
      <p:sp>
        <p:nvSpPr>
          <p:cNvPr id="2" name="Troubleshooting map">
            <a:extLst>
              <a:ext uri="{FF2B5EF4-FFF2-40B4-BE49-F238E27FC236}">
                <a16:creationId xmlns:a16="http://schemas.microsoft.com/office/drawing/2014/main" id="{75904923-EE65-421A-ADAD-2DC4BED268AB}"/>
              </a:ext>
            </a:extLst>
          </p:cNvPr>
          <p:cNvSpPr>
            <a:spLocks noGrp="1"/>
          </p:cNvSpPr>
          <p:nvPr/>
        </p:nvSpPr>
        <p:spPr>
          <a:xfrm>
            <a:off x="609600" y="876300"/>
            <a:ext cx="10972800" cy="952500"/>
          </a:xfrm>
          <a:prstGeom prst="rect">
            <a:avLst/>
          </a:prstGeom>
          <a:noFill/>
          <a:ln w="0">
            <a:noFill/>
          </a:ln>
        </p:spPr>
        <p:txBody>
          <a:bodyPr lIns="0" tIns="0" rIns="0" bIns="0" anchor="ctr"/>
          <a:lstStyle>
            <a:defPPr algn="l">
              <a:defRPr sz="3300" b="1">
                <a:solidFill>
                  <a:srgbClr val="251139"/>
                </a:solidFill>
                <a:latin typeface="Arial"/>
                <a:ea typeface="Arial"/>
                <a:cs typeface="Arial"/>
              </a:defRPr>
            </a:defPPr>
          </a:lstStyle>
          <a:p>
            <a:pPr algn="l">
              <a:defRPr sz="3300" b="1">
                <a:solidFill>
                  <a:srgbClr val="251139"/>
                </a:solidFill>
                <a:latin typeface="Arial"/>
                <a:ea typeface="Arial"/>
                <a:cs typeface="Arial"/>
              </a:defRPr>
            </a:pPr>
            <a:r>
              <a:rPr sz="3300" b="1">
                <a:solidFill>
                  <a:srgbClr val="251139"/>
                </a:solidFill>
                <a:latin typeface="Arial"/>
                <a:ea typeface="Arial"/>
                <a:cs typeface="Arial"/>
              </a:rPr>
              <a:t>Troubleshooting map</a:t>
            </a:r>
          </a:p>
        </p:txBody>
      </p:sp>
      <p:sp>
        <p:nvSpPr>
          <p:cNvPr id="3" name="AGENTIC OS  /  MVP TECHNICAL WALKTHROUGH">
            <a:extLst>
              <a:ext uri="{FF2B5EF4-FFF2-40B4-BE49-F238E27FC236}">
                <a16:creationId xmlns:a16="http://schemas.microsoft.com/office/drawing/2014/main" id="{E9599257-603B-4B1F-8AD2-88E1275641AE}"/>
              </a:ext>
            </a:extLst>
          </p:cNvPr>
          <p:cNvSpPr>
            <a:spLocks noGrp="1"/>
          </p:cNvSpPr>
          <p:nvPr/>
        </p:nvSpPr>
        <p:spPr>
          <a:xfrm>
            <a:off x="609600" y="6410325"/>
            <a:ext cx="10001250" cy="190500"/>
          </a:xfrm>
          <a:prstGeom prst="rect">
            <a:avLst/>
          </a:prstGeom>
          <a:noFill/>
          <a:ln w="0">
            <a:noFill/>
          </a:ln>
        </p:spPr>
        <p:txBody>
          <a:bodyPr lIns="0" tIns="0" rIns="0" bIns="0" anchor="ctr"/>
          <a:lstStyle>
            <a:defPPr algn="l">
              <a:defRPr sz="975" b="0">
                <a:solidFill>
                  <a:srgbClr val="7D43D5"/>
                </a:solidFill>
                <a:latin typeface="Arial"/>
                <a:ea typeface="Arial"/>
                <a:cs typeface="Arial"/>
              </a:defRPr>
            </a:defPPr>
          </a:lstStyle>
          <a:p>
            <a:pPr algn="l">
              <a:defRPr sz="975" b="0">
                <a:solidFill>
                  <a:srgbClr val="7D43D5"/>
                </a:solidFill>
                <a:latin typeface="Arial"/>
                <a:ea typeface="Arial"/>
                <a:cs typeface="Arial"/>
              </a:defRPr>
            </a:pPr>
            <a:r>
              <a:rPr sz="975" b="0">
                <a:solidFill>
                  <a:srgbClr val="7D43D5"/>
                </a:solidFill>
                <a:latin typeface="Arial"/>
                <a:ea typeface="Arial"/>
                <a:cs typeface="Arial"/>
              </a:rPr>
              <a:t>AGENTIC OS  /  MVP TECHNICAL WALKTHROUGH</a:t>
            </a:r>
          </a:p>
        </p:txBody>
      </p:sp>
      <p:sp>
        <p:nvSpPr>
          <p:cNvPr id="4" name="38">
            <a:extLst>
              <a:ext uri="{FF2B5EF4-FFF2-40B4-BE49-F238E27FC236}">
                <a16:creationId xmlns:a16="http://schemas.microsoft.com/office/drawing/2014/main" id="{EF028693-9A99-462E-A0F8-D580E23B3D6A}"/>
              </a:ext>
            </a:extLst>
          </p:cNvPr>
          <p:cNvSpPr>
            <a:spLocks noGrp="1"/>
          </p:cNvSpPr>
          <p:nvPr/>
        </p:nvSpPr>
        <p:spPr>
          <a:xfrm>
            <a:off x="11029950" y="6372225"/>
            <a:ext cx="552450" cy="247650"/>
          </a:xfrm>
          <a:prstGeom prst="rect">
            <a:avLst/>
          </a:prstGeom>
          <a:noFill/>
          <a:ln w="0">
            <a:noFill/>
          </a:ln>
        </p:spPr>
        <p:txBody>
          <a:bodyPr lIns="0" tIns="0" rIns="0" bIns="0" anchor="ctr"/>
          <a:lstStyle>
            <a:defPPr algn="r">
              <a:defRPr sz="1275" b="0">
                <a:solidFill>
                  <a:srgbClr val="7D43D5"/>
                </a:solidFill>
                <a:latin typeface="Arial"/>
                <a:ea typeface="Arial"/>
                <a:cs typeface="Arial"/>
              </a:defRPr>
            </a:defPPr>
          </a:lstStyle>
          <a:p>
            <a:pPr algn="r">
              <a:defRPr sz="1275" b="0">
                <a:solidFill>
                  <a:srgbClr val="7D43D5"/>
                </a:solidFill>
                <a:latin typeface="Arial"/>
                <a:ea typeface="Arial"/>
                <a:cs typeface="Arial"/>
              </a:defRPr>
            </a:pPr>
            <a:r>
              <a:rPr sz="1275" b="0">
                <a:solidFill>
                  <a:srgbClr val="7D43D5"/>
                </a:solidFill>
                <a:latin typeface="Arial"/>
                <a:ea typeface="Arial"/>
                <a:cs typeface="Arial"/>
              </a:rPr>
              <a:t>38</a:t>
            </a:r>
          </a:p>
        </p:txBody>
      </p:sp>
      <p:sp>
        <p:nvSpPr>
          <p:cNvPr id="5" name="Assembler error">
            <a:extLst>
              <a:ext uri="{FF2B5EF4-FFF2-40B4-BE49-F238E27FC236}">
                <a16:creationId xmlns:a16="http://schemas.microsoft.com/office/drawing/2014/main" id="{8FE7EF92-7C00-4906-93F0-1069912ABCD5}"/>
              </a:ext>
            </a:extLst>
          </p:cNvPr>
          <p:cNvSpPr>
            <a:spLocks noGrp="1"/>
          </p:cNvSpPr>
          <p:nvPr/>
        </p:nvSpPr>
        <p:spPr>
          <a:xfrm>
            <a:off x="609600" y="1971675"/>
            <a:ext cx="3048000" cy="428625"/>
          </a:xfrm>
          <a:prstGeom prst="rect">
            <a:avLst/>
          </a:prstGeom>
          <a:noFill/>
          <a:ln w="0">
            <a:noFill/>
          </a:ln>
        </p:spPr>
        <p:txBody>
          <a:bodyPr lIns="0" tIns="0" rIns="0" bIns="0" anchor="ctr"/>
          <a:lstStyle>
            <a:defPPr algn="l">
              <a:defRPr sz="2100" b="1">
                <a:solidFill>
                  <a:srgbClr val="7D43D5"/>
                </a:solidFill>
                <a:latin typeface="Arial"/>
                <a:ea typeface="Arial"/>
                <a:cs typeface="Arial"/>
              </a:defRPr>
            </a:defPPr>
          </a:lstStyle>
          <a:p>
            <a:pPr algn="l">
              <a:defRPr sz="2100" b="1">
                <a:solidFill>
                  <a:srgbClr val="7D43D5"/>
                </a:solidFill>
                <a:latin typeface="Arial"/>
                <a:ea typeface="Arial"/>
                <a:cs typeface="Arial"/>
              </a:defRPr>
            </a:pPr>
            <a:r>
              <a:rPr sz="2100" b="1">
                <a:solidFill>
                  <a:srgbClr val="7D43D5"/>
                </a:solidFill>
                <a:latin typeface="Arial"/>
                <a:ea typeface="Arial"/>
                <a:cs typeface="Arial"/>
              </a:rPr>
              <a:t>Assembler error</a:t>
            </a:r>
          </a:p>
        </p:txBody>
      </p:sp>
      <p:sp>
        <p:nvSpPr>
          <p:cNvPr id="6" name="Check the boot.asm instruction and NASM inst">
            <a:extLst>
              <a:ext uri="{FF2B5EF4-FFF2-40B4-BE49-F238E27FC236}">
                <a16:creationId xmlns:a16="http://schemas.microsoft.com/office/drawing/2014/main" id="{8BB3D40B-443E-4870-AF73-5930E42572DC}"/>
              </a:ext>
            </a:extLst>
          </p:cNvPr>
          <p:cNvSpPr>
            <a:spLocks noGrp="1"/>
          </p:cNvSpPr>
          <p:nvPr/>
        </p:nvSpPr>
        <p:spPr>
          <a:xfrm>
            <a:off x="3943350" y="1971675"/>
            <a:ext cx="7639050" cy="714375"/>
          </a:xfrm>
          <a:prstGeom prst="rect">
            <a:avLst/>
          </a:prstGeom>
          <a:noFill/>
          <a:ln w="0">
            <a:noFill/>
          </a:ln>
        </p:spPr>
        <p:txBody>
          <a:bodyPr lIns="0" tIns="0" rIns="0" bIns="0" anchor="ctr"/>
          <a:lstStyle>
            <a:defPPr algn="l">
              <a:defRPr sz="2025" b="0">
                <a:solidFill>
                  <a:srgbClr val="251139"/>
                </a:solidFill>
                <a:latin typeface="Arial"/>
                <a:ea typeface="Arial"/>
                <a:cs typeface="Arial"/>
              </a:defRPr>
            </a:defPPr>
          </a:lstStyle>
          <a:p>
            <a:pPr algn="l">
              <a:defRPr sz="2025" b="0">
                <a:solidFill>
                  <a:srgbClr val="251139"/>
                </a:solidFill>
                <a:latin typeface="Arial"/>
                <a:ea typeface="Arial"/>
                <a:cs typeface="Arial"/>
              </a:defRPr>
            </a:pPr>
            <a:r>
              <a:rPr sz="2025" b="0">
                <a:solidFill>
                  <a:srgbClr val="251139"/>
                </a:solidFill>
                <a:latin typeface="Arial"/>
                <a:ea typeface="Arial"/>
                <a:cs typeface="Arial"/>
              </a:rPr>
              <a:t>Check the boot.asm instruction and NASM installation</a:t>
            </a:r>
          </a:p>
        </p:txBody>
      </p:sp>
      <p:sp>
        <p:nvSpPr>
          <p:cNvPr id="7" name="Boot loop or blank screen">
            <a:extLst>
              <a:ext uri="{FF2B5EF4-FFF2-40B4-BE49-F238E27FC236}">
                <a16:creationId xmlns:a16="http://schemas.microsoft.com/office/drawing/2014/main" id="{B439EA85-CD9F-4B9F-A927-E1A79DB27AF1}"/>
              </a:ext>
            </a:extLst>
          </p:cNvPr>
          <p:cNvSpPr>
            <a:spLocks noGrp="1"/>
          </p:cNvSpPr>
          <p:nvPr/>
        </p:nvSpPr>
        <p:spPr>
          <a:xfrm>
            <a:off x="609600" y="2886075"/>
            <a:ext cx="3048000" cy="428625"/>
          </a:xfrm>
          <a:prstGeom prst="rect">
            <a:avLst/>
          </a:prstGeom>
          <a:noFill/>
          <a:ln w="0">
            <a:noFill/>
          </a:ln>
        </p:spPr>
        <p:txBody>
          <a:bodyPr lIns="0" tIns="0" rIns="0" bIns="0" anchor="ctr"/>
          <a:lstStyle>
            <a:defPPr algn="l">
              <a:defRPr sz="2100" b="1">
                <a:solidFill>
                  <a:srgbClr val="7D43D5"/>
                </a:solidFill>
                <a:latin typeface="Arial"/>
                <a:ea typeface="Arial"/>
                <a:cs typeface="Arial"/>
              </a:defRPr>
            </a:defPPr>
          </a:lstStyle>
          <a:p>
            <a:pPr algn="l">
              <a:defRPr sz="2100" b="1">
                <a:solidFill>
                  <a:srgbClr val="7D43D5"/>
                </a:solidFill>
                <a:latin typeface="Arial"/>
                <a:ea typeface="Arial"/>
                <a:cs typeface="Arial"/>
              </a:defRPr>
            </a:pPr>
            <a:r>
              <a:rPr sz="2100" b="1">
                <a:solidFill>
                  <a:srgbClr val="7D43D5"/>
                </a:solidFill>
                <a:latin typeface="Arial"/>
                <a:ea typeface="Arial"/>
                <a:cs typeface="Arial"/>
              </a:rPr>
              <a:t>Boot loop or blank screen</a:t>
            </a:r>
          </a:p>
        </p:txBody>
      </p:sp>
      <p:sp>
        <p:nvSpPr>
          <p:cNvPr id="8" name="Check image path, raw kernel format and load">
            <a:extLst>
              <a:ext uri="{FF2B5EF4-FFF2-40B4-BE49-F238E27FC236}">
                <a16:creationId xmlns:a16="http://schemas.microsoft.com/office/drawing/2014/main" id="{411841AE-F293-4C0D-9FD0-70753185AC45}"/>
              </a:ext>
            </a:extLst>
          </p:cNvPr>
          <p:cNvSpPr>
            <a:spLocks noGrp="1"/>
          </p:cNvSpPr>
          <p:nvPr/>
        </p:nvSpPr>
        <p:spPr>
          <a:xfrm>
            <a:off x="3943350" y="2886075"/>
            <a:ext cx="7639050" cy="714375"/>
          </a:xfrm>
          <a:prstGeom prst="rect">
            <a:avLst/>
          </a:prstGeom>
          <a:noFill/>
          <a:ln w="0">
            <a:noFill/>
          </a:ln>
        </p:spPr>
        <p:txBody>
          <a:bodyPr lIns="0" tIns="0" rIns="0" bIns="0" anchor="ctr"/>
          <a:lstStyle>
            <a:defPPr algn="l">
              <a:defRPr sz="2025" b="0">
                <a:solidFill>
                  <a:srgbClr val="251139"/>
                </a:solidFill>
                <a:latin typeface="Arial"/>
                <a:ea typeface="Arial"/>
                <a:cs typeface="Arial"/>
              </a:defRPr>
            </a:defPPr>
          </a:lstStyle>
          <a:p>
            <a:pPr algn="l">
              <a:defRPr sz="2025" b="0">
                <a:solidFill>
                  <a:srgbClr val="251139"/>
                </a:solidFill>
                <a:latin typeface="Arial"/>
                <a:ea typeface="Arial"/>
                <a:cs typeface="Arial"/>
              </a:defRPr>
            </a:pPr>
            <a:r>
              <a:rPr sz="2025" b="0">
                <a:solidFill>
                  <a:srgbClr val="251139"/>
                </a:solidFill>
                <a:latin typeface="Arial"/>
                <a:ea typeface="Arial"/>
                <a:cs typeface="Arial"/>
              </a:rPr>
              <a:t>Check image path, raw kernel format and loaded sectors</a:t>
            </a:r>
          </a:p>
        </p:txBody>
      </p:sp>
      <p:sp>
        <p:nvSpPr>
          <p:cNvPr id="9" name="tcpping has no reply">
            <a:extLst>
              <a:ext uri="{FF2B5EF4-FFF2-40B4-BE49-F238E27FC236}">
                <a16:creationId xmlns:a16="http://schemas.microsoft.com/office/drawing/2014/main" id="{695CD138-766A-4A11-A233-C264CC3EF786}"/>
              </a:ext>
            </a:extLst>
          </p:cNvPr>
          <p:cNvSpPr>
            <a:spLocks noGrp="1"/>
          </p:cNvSpPr>
          <p:nvPr/>
        </p:nvSpPr>
        <p:spPr>
          <a:xfrm>
            <a:off x="609600" y="3800475"/>
            <a:ext cx="3048000" cy="428625"/>
          </a:xfrm>
          <a:prstGeom prst="rect">
            <a:avLst/>
          </a:prstGeom>
          <a:noFill/>
          <a:ln w="0">
            <a:noFill/>
          </a:ln>
        </p:spPr>
        <p:txBody>
          <a:bodyPr lIns="0" tIns="0" rIns="0" bIns="0" anchor="ctr"/>
          <a:lstStyle>
            <a:defPPr algn="l">
              <a:defRPr sz="2100" b="1">
                <a:solidFill>
                  <a:srgbClr val="7D43D5"/>
                </a:solidFill>
                <a:latin typeface="Arial"/>
                <a:ea typeface="Arial"/>
                <a:cs typeface="Arial"/>
              </a:defRPr>
            </a:defPPr>
          </a:lstStyle>
          <a:p>
            <a:pPr algn="l">
              <a:defRPr sz="2100" b="1">
                <a:solidFill>
                  <a:srgbClr val="7D43D5"/>
                </a:solidFill>
                <a:latin typeface="Arial"/>
                <a:ea typeface="Arial"/>
                <a:cs typeface="Arial"/>
              </a:defRPr>
            </a:pPr>
            <a:r>
              <a:rPr sz="2100" b="1">
                <a:solidFill>
                  <a:srgbClr val="7D43D5"/>
                </a:solidFill>
                <a:latin typeface="Arial"/>
                <a:ea typeface="Arial"/>
                <a:cs typeface="Arial"/>
              </a:rPr>
              <a:t>tcpping has no reply</a:t>
            </a:r>
          </a:p>
        </p:txBody>
      </p:sp>
      <p:sp>
        <p:nvSpPr>
          <p:cNvPr id="10" name="Check NIC settings, subnet, next hop and lis">
            <a:extLst>
              <a:ext uri="{FF2B5EF4-FFF2-40B4-BE49-F238E27FC236}">
                <a16:creationId xmlns:a16="http://schemas.microsoft.com/office/drawing/2014/main" id="{1402B465-632F-44E9-BCDD-152A49D1DB0F}"/>
              </a:ext>
            </a:extLst>
          </p:cNvPr>
          <p:cNvSpPr>
            <a:spLocks noGrp="1"/>
          </p:cNvSpPr>
          <p:nvPr/>
        </p:nvSpPr>
        <p:spPr>
          <a:xfrm>
            <a:off x="3943350" y="3800475"/>
            <a:ext cx="7639050" cy="714375"/>
          </a:xfrm>
          <a:prstGeom prst="rect">
            <a:avLst/>
          </a:prstGeom>
          <a:noFill/>
          <a:ln w="0">
            <a:noFill/>
          </a:ln>
        </p:spPr>
        <p:txBody>
          <a:bodyPr lIns="0" tIns="0" rIns="0" bIns="0" anchor="ctr"/>
          <a:lstStyle>
            <a:defPPr algn="l">
              <a:defRPr sz="2025" b="0">
                <a:solidFill>
                  <a:srgbClr val="251139"/>
                </a:solidFill>
                <a:latin typeface="Arial"/>
                <a:ea typeface="Arial"/>
                <a:cs typeface="Arial"/>
              </a:defRPr>
            </a:defPPr>
          </a:lstStyle>
          <a:p>
            <a:pPr algn="l">
              <a:defRPr sz="2025" b="0">
                <a:solidFill>
                  <a:srgbClr val="251139"/>
                </a:solidFill>
                <a:latin typeface="Arial"/>
                <a:ea typeface="Arial"/>
                <a:cs typeface="Arial"/>
              </a:defRPr>
            </a:pPr>
            <a:r>
              <a:rPr sz="2025" b="0">
                <a:solidFill>
                  <a:srgbClr val="251139"/>
                </a:solidFill>
                <a:latin typeface="Arial"/>
                <a:ea typeface="Arial"/>
                <a:cs typeface="Arial"/>
              </a:rPr>
              <a:t>Check NIC settings, subnet, next hop and listening port</a:t>
            </a:r>
          </a:p>
        </p:txBody>
      </p:sp>
      <p:sp>
        <p:nvSpPr>
          <p:cNvPr id="11" name="Files vanish on reboot">
            <a:extLst>
              <a:ext uri="{FF2B5EF4-FFF2-40B4-BE49-F238E27FC236}">
                <a16:creationId xmlns:a16="http://schemas.microsoft.com/office/drawing/2014/main" id="{B3223F52-5A06-46E6-9325-70BBE4D0EF0B}"/>
              </a:ext>
            </a:extLst>
          </p:cNvPr>
          <p:cNvSpPr>
            <a:spLocks noGrp="1"/>
          </p:cNvSpPr>
          <p:nvPr/>
        </p:nvSpPr>
        <p:spPr>
          <a:xfrm>
            <a:off x="609600" y="4714875"/>
            <a:ext cx="3048000" cy="428625"/>
          </a:xfrm>
          <a:prstGeom prst="rect">
            <a:avLst/>
          </a:prstGeom>
          <a:noFill/>
          <a:ln w="0">
            <a:noFill/>
          </a:ln>
        </p:spPr>
        <p:txBody>
          <a:bodyPr lIns="0" tIns="0" rIns="0" bIns="0" anchor="ctr"/>
          <a:lstStyle>
            <a:defPPr algn="l">
              <a:defRPr sz="2100" b="1">
                <a:solidFill>
                  <a:srgbClr val="7D43D5"/>
                </a:solidFill>
                <a:latin typeface="Arial"/>
                <a:ea typeface="Arial"/>
                <a:cs typeface="Arial"/>
              </a:defRPr>
            </a:defPPr>
          </a:lstStyle>
          <a:p>
            <a:pPr algn="l">
              <a:defRPr sz="2100" b="1">
                <a:solidFill>
                  <a:srgbClr val="7D43D5"/>
                </a:solidFill>
                <a:latin typeface="Arial"/>
                <a:ea typeface="Arial"/>
                <a:cs typeface="Arial"/>
              </a:defRPr>
            </a:pPr>
            <a:r>
              <a:rPr sz="2100" b="1">
                <a:solidFill>
                  <a:srgbClr val="7D43D5"/>
                </a:solidFill>
                <a:latin typeface="Arial"/>
                <a:ea typeface="Arial"/>
                <a:cs typeface="Arial"/>
              </a:rPr>
              <a:t>Files vanish on reboot</a:t>
            </a:r>
          </a:p>
        </p:txBody>
      </p:sp>
      <p:sp>
        <p:nvSpPr>
          <p:cNvPr id="12" name="RAMFS is volatile by design">
            <a:extLst>
              <a:ext uri="{FF2B5EF4-FFF2-40B4-BE49-F238E27FC236}">
                <a16:creationId xmlns:a16="http://schemas.microsoft.com/office/drawing/2014/main" id="{7DDE4AFF-D86D-4814-B167-4D2F74E6A8F0}"/>
              </a:ext>
            </a:extLst>
          </p:cNvPr>
          <p:cNvSpPr>
            <a:spLocks noGrp="1"/>
          </p:cNvSpPr>
          <p:nvPr/>
        </p:nvSpPr>
        <p:spPr>
          <a:xfrm>
            <a:off x="3943350" y="4714875"/>
            <a:ext cx="7639050" cy="714375"/>
          </a:xfrm>
          <a:prstGeom prst="rect">
            <a:avLst/>
          </a:prstGeom>
          <a:noFill/>
          <a:ln w="0">
            <a:noFill/>
          </a:ln>
        </p:spPr>
        <p:txBody>
          <a:bodyPr lIns="0" tIns="0" rIns="0" bIns="0" anchor="ctr"/>
          <a:lstStyle>
            <a:defPPr algn="l">
              <a:defRPr sz="2025" b="0">
                <a:solidFill>
                  <a:srgbClr val="251139"/>
                </a:solidFill>
                <a:latin typeface="Arial"/>
                <a:ea typeface="Arial"/>
                <a:cs typeface="Arial"/>
              </a:defRPr>
            </a:defPPr>
          </a:lstStyle>
          <a:p>
            <a:pPr algn="l">
              <a:defRPr sz="2025" b="0">
                <a:solidFill>
                  <a:srgbClr val="251139"/>
                </a:solidFill>
                <a:latin typeface="Arial"/>
                <a:ea typeface="Arial"/>
                <a:cs typeface="Arial"/>
              </a:defRPr>
            </a:pPr>
            <a:r>
              <a:rPr sz="2025" b="0">
                <a:solidFill>
                  <a:srgbClr val="251139"/>
                </a:solidFill>
                <a:latin typeface="Arial"/>
                <a:ea typeface="Arial"/>
                <a:cs typeface="Arial"/>
              </a:rPr>
              <a:t>RAMFS is volatile by design</a:t>
            </a:r>
          </a:p>
        </p:txBody>
      </p:sp>
    </p:spTree>
    <p:extLst>
      <p:ext uri="{BB962C8B-B14F-4D97-AF65-F5344CB8AC3E}">
        <p14:creationId xmlns:p14="http://schemas.microsoft.com/office/powerpoint/2010/main" val="169051515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180B2B"/>
        </a:solidFill>
        <a:effectLst/>
      </p:bgPr>
    </p:bg>
    <p:spTree>
      <p:nvGrpSpPr>
        <p:cNvPr id="1" name=""/>
        <p:cNvGrpSpPr/>
        <p:nvPr/>
      </p:nvGrpSpPr>
      <p:grpSpPr>
        <a:xfrm>
          <a:off x="0" y="0"/>
          <a:ext cx="0" cy="0"/>
          <a:chOff x="0" y="0"/>
          <a:chExt cx="0" cy="0"/>
        </a:xfrm>
      </p:grpSpPr>
      <p:sp>
        <p:nvSpPr>
          <p:cNvPr id="17" name="CLOSING">
            <a:extLst>
              <a:ext uri="{FF2B5EF4-FFF2-40B4-BE49-F238E27FC236}">
                <a16:creationId xmlns:a16="http://schemas.microsoft.com/office/drawing/2014/main" id="{1230178D-6530-41B6-BBBB-A4B31553DB2B}"/>
              </a:ext>
            </a:extLst>
          </p:cNvPr>
          <p:cNvSpPr>
            <a:spLocks noGrp="1"/>
          </p:cNvSpPr>
          <p:nvPr/>
        </p:nvSpPr>
        <p:spPr>
          <a:xfrm>
            <a:off x="609600" y="323850"/>
            <a:ext cx="10001250" cy="228600"/>
          </a:xfrm>
          <a:prstGeom prst="rect">
            <a:avLst/>
          </a:prstGeom>
          <a:noFill/>
          <a:ln w="0">
            <a:noFill/>
          </a:ln>
        </p:spPr>
        <p:txBody>
          <a:bodyPr lIns="0" tIns="0" rIns="0" bIns="0" anchor="ctr"/>
          <a:lstStyle>
            <a:defPPr algn="l">
              <a:defRPr sz="1200" b="1">
                <a:solidFill>
                  <a:srgbClr val="BE98F6"/>
                </a:solidFill>
                <a:latin typeface="Arial"/>
                <a:ea typeface="Arial"/>
                <a:cs typeface="Arial"/>
              </a:defRPr>
            </a:defPPr>
          </a:lstStyle>
          <a:p>
            <a:pPr algn="l">
              <a:defRPr sz="1200" b="1">
                <a:solidFill>
                  <a:srgbClr val="BE98F6"/>
                </a:solidFill>
                <a:latin typeface="Arial"/>
                <a:ea typeface="Arial"/>
                <a:cs typeface="Arial"/>
              </a:defRPr>
            </a:pPr>
            <a:r>
              <a:rPr sz="1200" b="1">
                <a:solidFill>
                  <a:srgbClr val="BE98F6"/>
                </a:solidFill>
                <a:latin typeface="Arial"/>
                <a:ea typeface="Arial"/>
                <a:cs typeface="Arial"/>
              </a:rPr>
              <a:t>CLOSING</a:t>
            </a:r>
          </a:p>
        </p:txBody>
      </p:sp>
      <p:sp>
        <p:nvSpPr>
          <p:cNvPr id="2" name="End-to-end walkthrough">
            <a:extLst>
              <a:ext uri="{FF2B5EF4-FFF2-40B4-BE49-F238E27FC236}">
                <a16:creationId xmlns:a16="http://schemas.microsoft.com/office/drawing/2014/main" id="{72FFB5F0-1ACF-48EF-B5AC-664A3D9A8793}"/>
              </a:ext>
            </a:extLst>
          </p:cNvPr>
          <p:cNvSpPr>
            <a:spLocks noGrp="1"/>
          </p:cNvSpPr>
          <p:nvPr/>
        </p:nvSpPr>
        <p:spPr>
          <a:xfrm>
            <a:off x="609600" y="876300"/>
            <a:ext cx="10972800" cy="952500"/>
          </a:xfrm>
          <a:prstGeom prst="rect">
            <a:avLst/>
          </a:prstGeom>
          <a:noFill/>
          <a:ln w="0">
            <a:noFill/>
          </a:ln>
        </p:spPr>
        <p:txBody>
          <a:bodyPr lIns="0" tIns="0" rIns="0" bIns="0" anchor="ctr"/>
          <a:lstStyle>
            <a:defPPr algn="l">
              <a:defRPr sz="3300" b="1">
                <a:solidFill>
                  <a:srgbClr val="FFFFFF"/>
                </a:solidFill>
                <a:latin typeface="Arial"/>
                <a:ea typeface="Arial"/>
                <a:cs typeface="Arial"/>
              </a:defRPr>
            </a:defPPr>
          </a:lstStyle>
          <a:p>
            <a:pPr algn="l">
              <a:defRPr sz="3300" b="1">
                <a:solidFill>
                  <a:srgbClr val="FFFFFF"/>
                </a:solidFill>
                <a:latin typeface="Arial"/>
                <a:ea typeface="Arial"/>
                <a:cs typeface="Arial"/>
              </a:defRPr>
            </a:pPr>
            <a:r>
              <a:rPr sz="3300" b="1">
                <a:solidFill>
                  <a:srgbClr val="FFFFFF"/>
                </a:solidFill>
                <a:latin typeface="Arial"/>
                <a:ea typeface="Arial"/>
                <a:cs typeface="Arial"/>
              </a:rPr>
              <a:t>End-to-end walkthrough</a:t>
            </a:r>
          </a:p>
        </p:txBody>
      </p:sp>
      <p:sp>
        <p:nvSpPr>
          <p:cNvPr id="3" name="AGENTIC OS  /  MVP TECHNICAL WALKTHROUGH">
            <a:extLst>
              <a:ext uri="{FF2B5EF4-FFF2-40B4-BE49-F238E27FC236}">
                <a16:creationId xmlns:a16="http://schemas.microsoft.com/office/drawing/2014/main" id="{7500C64F-4E8E-4D3E-AFBC-F0F01DEB4219}"/>
              </a:ext>
            </a:extLst>
          </p:cNvPr>
          <p:cNvSpPr>
            <a:spLocks noGrp="1"/>
          </p:cNvSpPr>
          <p:nvPr/>
        </p:nvSpPr>
        <p:spPr>
          <a:xfrm>
            <a:off x="609600" y="6410325"/>
            <a:ext cx="10001250" cy="190500"/>
          </a:xfrm>
          <a:prstGeom prst="rect">
            <a:avLst/>
          </a:prstGeom>
          <a:noFill/>
          <a:ln w="0">
            <a:noFill/>
          </a:ln>
        </p:spPr>
        <p:txBody>
          <a:bodyPr lIns="0" tIns="0" rIns="0" bIns="0" anchor="ctr"/>
          <a:lstStyle>
            <a:defPPr algn="l">
              <a:defRPr sz="975" b="0">
                <a:solidFill>
                  <a:srgbClr val="D5C9E6"/>
                </a:solidFill>
                <a:latin typeface="Arial"/>
                <a:ea typeface="Arial"/>
                <a:cs typeface="Arial"/>
              </a:defRPr>
            </a:defPPr>
          </a:lstStyle>
          <a:p>
            <a:pPr algn="l">
              <a:defRPr sz="975" b="0">
                <a:solidFill>
                  <a:srgbClr val="D5C9E6"/>
                </a:solidFill>
                <a:latin typeface="Arial"/>
                <a:ea typeface="Arial"/>
                <a:cs typeface="Arial"/>
              </a:defRPr>
            </a:pPr>
            <a:r>
              <a:rPr sz="975" b="0" dirty="0">
                <a:solidFill>
                  <a:srgbClr val="D5C9E6"/>
                </a:solidFill>
                <a:latin typeface="Arial"/>
                <a:ea typeface="Arial"/>
                <a:cs typeface="Arial"/>
              </a:rPr>
              <a:t>AGENTIC OS  /  MVP TECHNICAL WALKTHROUGH</a:t>
            </a:r>
          </a:p>
        </p:txBody>
      </p:sp>
      <p:sp>
        <p:nvSpPr>
          <p:cNvPr id="4" name="39">
            <a:extLst>
              <a:ext uri="{FF2B5EF4-FFF2-40B4-BE49-F238E27FC236}">
                <a16:creationId xmlns:a16="http://schemas.microsoft.com/office/drawing/2014/main" id="{BBD13822-48B1-4B54-BE60-88C096C3FE35}"/>
              </a:ext>
            </a:extLst>
          </p:cNvPr>
          <p:cNvSpPr>
            <a:spLocks noGrp="1"/>
          </p:cNvSpPr>
          <p:nvPr/>
        </p:nvSpPr>
        <p:spPr>
          <a:xfrm>
            <a:off x="11029950" y="6372225"/>
            <a:ext cx="552450" cy="247650"/>
          </a:xfrm>
          <a:prstGeom prst="rect">
            <a:avLst/>
          </a:prstGeom>
          <a:noFill/>
          <a:ln w="0">
            <a:noFill/>
          </a:ln>
        </p:spPr>
        <p:txBody>
          <a:bodyPr lIns="0" tIns="0" rIns="0" bIns="0" anchor="ctr"/>
          <a:lstStyle>
            <a:defPPr algn="r">
              <a:defRPr sz="1275" b="0">
                <a:solidFill>
                  <a:srgbClr val="BE98F6"/>
                </a:solidFill>
                <a:latin typeface="Arial"/>
                <a:ea typeface="Arial"/>
                <a:cs typeface="Arial"/>
              </a:defRPr>
            </a:defPPr>
          </a:lstStyle>
          <a:p>
            <a:pPr algn="r">
              <a:defRPr sz="1275" b="0">
                <a:solidFill>
                  <a:srgbClr val="BE98F6"/>
                </a:solidFill>
                <a:latin typeface="Arial"/>
                <a:ea typeface="Arial"/>
                <a:cs typeface="Arial"/>
              </a:defRPr>
            </a:pPr>
            <a:r>
              <a:rPr sz="1275" b="0">
                <a:solidFill>
                  <a:srgbClr val="BE98F6"/>
                </a:solidFill>
                <a:latin typeface="Arial"/>
                <a:ea typeface="Arial"/>
                <a:cs typeface="Arial"/>
              </a:rPr>
              <a:t>39</a:t>
            </a:r>
          </a:p>
        </p:txBody>
      </p:sp>
      <p:sp>
        <p:nvSpPr>
          <p:cNvPr id="5" name="Rectangle 4">
            <a:extLst>
              <a:ext uri="{FF2B5EF4-FFF2-40B4-BE49-F238E27FC236}">
                <a16:creationId xmlns:a16="http://schemas.microsoft.com/office/drawing/2014/main" id="{66128658-DBB8-41ED-BBD5-9C50C4F29188}"/>
              </a:ext>
            </a:extLst>
          </p:cNvPr>
          <p:cNvSpPr>
            <a:spLocks noGrp="1"/>
          </p:cNvSpPr>
          <p:nvPr/>
        </p:nvSpPr>
        <p:spPr>
          <a:xfrm>
            <a:off x="609600" y="2762250"/>
            <a:ext cx="2471738" cy="1066800"/>
          </a:xfrm>
          <a:prstGeom prst="rect">
            <a:avLst/>
          </a:prstGeom>
          <a:solidFill>
            <a:srgbClr val="2A1547"/>
          </a:solidFill>
          <a:ln w="13335">
            <a:solidFill>
              <a:srgbClr val="7D43D5"/>
            </a:solidFill>
          </a:ln>
        </p:spPr>
      </p:sp>
      <p:sp>
        <p:nvSpPr>
          <p:cNvPr id="6" name="Boot the OS">
            <a:extLst>
              <a:ext uri="{FF2B5EF4-FFF2-40B4-BE49-F238E27FC236}">
                <a16:creationId xmlns:a16="http://schemas.microsoft.com/office/drawing/2014/main" id="{37830F49-1156-49BA-81BC-105837618001}"/>
              </a:ext>
            </a:extLst>
          </p:cNvPr>
          <p:cNvSpPr>
            <a:spLocks noGrp="1"/>
          </p:cNvSpPr>
          <p:nvPr/>
        </p:nvSpPr>
        <p:spPr>
          <a:xfrm>
            <a:off x="752475" y="2847975"/>
            <a:ext cx="2185988" cy="895350"/>
          </a:xfrm>
          <a:prstGeom prst="rect">
            <a:avLst/>
          </a:prstGeom>
          <a:noFill/>
          <a:ln w="0">
            <a:noFill/>
          </a:ln>
        </p:spPr>
        <p:txBody>
          <a:bodyPr lIns="0" tIns="0" rIns="0" bIns="0" anchor="ctr"/>
          <a:lstStyle>
            <a:defPPr algn="ctr">
              <a:defRPr sz="1800" b="1">
                <a:solidFill>
                  <a:srgbClr val="FFFFFF"/>
                </a:solidFill>
                <a:latin typeface="Arial"/>
                <a:ea typeface="Arial"/>
                <a:cs typeface="Arial"/>
              </a:defRPr>
            </a:defPPr>
          </a:lstStyle>
          <a:p>
            <a:pPr algn="ctr">
              <a:defRPr sz="1800" b="1">
                <a:solidFill>
                  <a:srgbClr val="FFFFFF"/>
                </a:solidFill>
                <a:latin typeface="Arial"/>
                <a:ea typeface="Arial"/>
                <a:cs typeface="Arial"/>
              </a:defRPr>
            </a:pPr>
            <a:r>
              <a:rPr sz="1800" b="1">
                <a:solidFill>
                  <a:srgbClr val="FFFFFF"/>
                </a:solidFill>
                <a:latin typeface="Arial"/>
                <a:ea typeface="Arial"/>
                <a:cs typeface="Arial"/>
              </a:rPr>
              <a:t>Boot the OS</a:t>
            </a:r>
          </a:p>
        </p:txBody>
      </p:sp>
      <p:cxnSp>
        <p:nvCxnSpPr>
          <p:cNvPr id="7" name="Straight Arrow Connector 6">
            <a:extLst>
              <a:ext uri="{FF2B5EF4-FFF2-40B4-BE49-F238E27FC236}">
                <a16:creationId xmlns:a16="http://schemas.microsoft.com/office/drawing/2014/main" id="{DAE07CC5-586B-4907-A1F3-73B09AF62A63}"/>
              </a:ext>
            </a:extLst>
          </p:cNvPr>
          <p:cNvCxnSpPr/>
          <p:nvPr/>
        </p:nvCxnSpPr>
        <p:spPr>
          <a:xfrm>
            <a:off x="3081338" y="3295650"/>
            <a:ext cx="295275" cy="0"/>
          </a:xfrm>
          <a:prstGeom prst="straightConnector1">
            <a:avLst/>
          </a:prstGeom>
          <a:ln w="19050">
            <a:solidFill>
              <a:srgbClr val="BE98F6"/>
            </a:solidFill>
            <a:prstDash val="solid"/>
            <a:tailEnd type="triangle" w="med" len="med"/>
          </a:ln>
        </p:spPr>
      </p:cxnSp>
      <p:sp>
        <p:nvSpPr>
          <p:cNvPr id="8" name="Rectangle 7">
            <a:extLst>
              <a:ext uri="{FF2B5EF4-FFF2-40B4-BE49-F238E27FC236}">
                <a16:creationId xmlns:a16="http://schemas.microsoft.com/office/drawing/2014/main" id="{CF9FD085-900E-4183-962C-9A0B4521C046}"/>
              </a:ext>
            </a:extLst>
          </p:cNvPr>
          <p:cNvSpPr>
            <a:spLocks noGrp="1"/>
          </p:cNvSpPr>
          <p:nvPr/>
        </p:nvSpPr>
        <p:spPr>
          <a:xfrm>
            <a:off x="3443288" y="2762250"/>
            <a:ext cx="2471738" cy="1066800"/>
          </a:xfrm>
          <a:prstGeom prst="rect">
            <a:avLst/>
          </a:prstGeom>
          <a:solidFill>
            <a:srgbClr val="2A1547"/>
          </a:solidFill>
          <a:ln w="13335">
            <a:solidFill>
              <a:srgbClr val="7D43D5"/>
            </a:solidFill>
          </a:ln>
        </p:spPr>
      </p:sp>
      <p:sp>
        <p:nvSpPr>
          <p:cNvPr id="9" name="Reach the&#10;network">
            <a:extLst>
              <a:ext uri="{FF2B5EF4-FFF2-40B4-BE49-F238E27FC236}">
                <a16:creationId xmlns:a16="http://schemas.microsoft.com/office/drawing/2014/main" id="{35264069-C843-442F-AD0C-A5D60AE81054}"/>
              </a:ext>
            </a:extLst>
          </p:cNvPr>
          <p:cNvSpPr>
            <a:spLocks noGrp="1"/>
          </p:cNvSpPr>
          <p:nvPr/>
        </p:nvSpPr>
        <p:spPr>
          <a:xfrm>
            <a:off x="3586163" y="2847975"/>
            <a:ext cx="2185988" cy="895350"/>
          </a:xfrm>
          <a:prstGeom prst="rect">
            <a:avLst/>
          </a:prstGeom>
          <a:noFill/>
          <a:ln w="0">
            <a:noFill/>
          </a:ln>
        </p:spPr>
        <p:txBody>
          <a:bodyPr lIns="0" tIns="0" rIns="0" bIns="0" anchor="ctr"/>
          <a:lstStyle>
            <a:defPPr algn="ctr">
              <a:defRPr sz="1800" b="1">
                <a:solidFill>
                  <a:srgbClr val="FFFFFF"/>
                </a:solidFill>
                <a:latin typeface="Arial"/>
                <a:ea typeface="Arial"/>
                <a:cs typeface="Arial"/>
              </a:defRPr>
            </a:defPPr>
          </a:lstStyle>
          <a:p>
            <a:pPr algn="ctr">
              <a:defRPr sz="1800" b="1">
                <a:solidFill>
                  <a:srgbClr val="FFFFFF"/>
                </a:solidFill>
                <a:latin typeface="Arial"/>
                <a:ea typeface="Arial"/>
                <a:cs typeface="Arial"/>
              </a:defRPr>
            </a:pPr>
            <a:r>
              <a:rPr sz="1800" b="1">
                <a:solidFill>
                  <a:srgbClr val="FFFFFF"/>
                </a:solidFill>
                <a:latin typeface="Arial"/>
                <a:ea typeface="Arial"/>
                <a:cs typeface="Arial"/>
              </a:rPr>
              <a:t>Reach the</a:t>
            </a:r>
          </a:p>
          <a:p>
            <a:pPr algn="ctr">
              <a:defRPr sz="1800" b="1">
                <a:solidFill>
                  <a:srgbClr val="FFFFFF"/>
                </a:solidFill>
                <a:latin typeface="Arial"/>
                <a:ea typeface="Arial"/>
                <a:cs typeface="Arial"/>
              </a:defRPr>
            </a:pPr>
            <a:r>
              <a:rPr sz="1800" b="1">
                <a:solidFill>
                  <a:srgbClr val="FFFFFF"/>
                </a:solidFill>
                <a:latin typeface="Arial"/>
                <a:ea typeface="Arial"/>
                <a:cs typeface="Arial"/>
              </a:rPr>
              <a:t>network</a:t>
            </a:r>
          </a:p>
        </p:txBody>
      </p:sp>
      <p:cxnSp>
        <p:nvCxnSpPr>
          <p:cNvPr id="10" name="Straight Arrow Connector 9">
            <a:extLst>
              <a:ext uri="{FF2B5EF4-FFF2-40B4-BE49-F238E27FC236}">
                <a16:creationId xmlns:a16="http://schemas.microsoft.com/office/drawing/2014/main" id="{5FB96AA6-BE33-4FD2-8125-5E5BFDA3329B}"/>
              </a:ext>
            </a:extLst>
          </p:cNvPr>
          <p:cNvCxnSpPr/>
          <p:nvPr/>
        </p:nvCxnSpPr>
        <p:spPr>
          <a:xfrm>
            <a:off x="5915025" y="3295650"/>
            <a:ext cx="295275" cy="0"/>
          </a:xfrm>
          <a:prstGeom prst="straightConnector1">
            <a:avLst/>
          </a:prstGeom>
          <a:ln w="19050">
            <a:solidFill>
              <a:srgbClr val="BE98F6"/>
            </a:solidFill>
            <a:prstDash val="solid"/>
            <a:tailEnd type="triangle" w="med" len="med"/>
          </a:ln>
        </p:spPr>
      </p:cxnSp>
      <p:sp>
        <p:nvSpPr>
          <p:cNvPr id="11" name="Rectangle 10">
            <a:extLst>
              <a:ext uri="{FF2B5EF4-FFF2-40B4-BE49-F238E27FC236}">
                <a16:creationId xmlns:a16="http://schemas.microsoft.com/office/drawing/2014/main" id="{F4350525-5F24-4F0D-8D58-A69A7A87C9A0}"/>
              </a:ext>
            </a:extLst>
          </p:cNvPr>
          <p:cNvSpPr>
            <a:spLocks noGrp="1"/>
          </p:cNvSpPr>
          <p:nvPr/>
        </p:nvSpPr>
        <p:spPr>
          <a:xfrm>
            <a:off x="6276975" y="2762250"/>
            <a:ext cx="2471738" cy="1066800"/>
          </a:xfrm>
          <a:prstGeom prst="rect">
            <a:avLst/>
          </a:prstGeom>
          <a:solidFill>
            <a:srgbClr val="2A1547"/>
          </a:solidFill>
          <a:ln w="13335">
            <a:solidFill>
              <a:srgbClr val="7D43D5"/>
            </a:solidFill>
          </a:ln>
        </p:spPr>
      </p:sp>
      <p:sp>
        <p:nvSpPr>
          <p:cNvPr id="12" name="Create an&#10;agent">
            <a:extLst>
              <a:ext uri="{FF2B5EF4-FFF2-40B4-BE49-F238E27FC236}">
                <a16:creationId xmlns:a16="http://schemas.microsoft.com/office/drawing/2014/main" id="{0382349C-67DD-4DF3-A751-18BFF1D34524}"/>
              </a:ext>
            </a:extLst>
          </p:cNvPr>
          <p:cNvSpPr>
            <a:spLocks noGrp="1"/>
          </p:cNvSpPr>
          <p:nvPr/>
        </p:nvSpPr>
        <p:spPr>
          <a:xfrm>
            <a:off x="6419850" y="2847975"/>
            <a:ext cx="2185988" cy="895350"/>
          </a:xfrm>
          <a:prstGeom prst="rect">
            <a:avLst/>
          </a:prstGeom>
          <a:noFill/>
          <a:ln w="0">
            <a:noFill/>
          </a:ln>
        </p:spPr>
        <p:txBody>
          <a:bodyPr lIns="0" tIns="0" rIns="0" bIns="0" anchor="ctr"/>
          <a:lstStyle>
            <a:defPPr algn="ctr">
              <a:defRPr sz="1800" b="1">
                <a:solidFill>
                  <a:srgbClr val="FFFFFF"/>
                </a:solidFill>
                <a:latin typeface="Arial"/>
                <a:ea typeface="Arial"/>
                <a:cs typeface="Arial"/>
              </a:defRPr>
            </a:defPPr>
          </a:lstStyle>
          <a:p>
            <a:pPr algn="ctr">
              <a:defRPr sz="1800" b="1">
                <a:solidFill>
                  <a:srgbClr val="FFFFFF"/>
                </a:solidFill>
                <a:latin typeface="Arial"/>
                <a:ea typeface="Arial"/>
                <a:cs typeface="Arial"/>
              </a:defRPr>
            </a:pPr>
            <a:r>
              <a:rPr sz="1800" b="1">
                <a:solidFill>
                  <a:srgbClr val="FFFFFF"/>
                </a:solidFill>
                <a:latin typeface="Arial"/>
                <a:ea typeface="Arial"/>
                <a:cs typeface="Arial"/>
              </a:rPr>
              <a:t>Create an</a:t>
            </a:r>
          </a:p>
          <a:p>
            <a:pPr algn="ctr">
              <a:defRPr sz="1800" b="1">
                <a:solidFill>
                  <a:srgbClr val="FFFFFF"/>
                </a:solidFill>
                <a:latin typeface="Arial"/>
                <a:ea typeface="Arial"/>
                <a:cs typeface="Arial"/>
              </a:defRPr>
            </a:pPr>
            <a:r>
              <a:rPr sz="1800" b="1">
                <a:solidFill>
                  <a:srgbClr val="FFFFFF"/>
                </a:solidFill>
                <a:latin typeface="Arial"/>
                <a:ea typeface="Arial"/>
                <a:cs typeface="Arial"/>
              </a:rPr>
              <a:t>agent</a:t>
            </a:r>
          </a:p>
        </p:txBody>
      </p:sp>
      <p:cxnSp>
        <p:nvCxnSpPr>
          <p:cNvPr id="13" name="Straight Arrow Connector 12">
            <a:extLst>
              <a:ext uri="{FF2B5EF4-FFF2-40B4-BE49-F238E27FC236}">
                <a16:creationId xmlns:a16="http://schemas.microsoft.com/office/drawing/2014/main" id="{DBF1B5ED-E543-4EF0-BD3D-6597D504192E}"/>
              </a:ext>
            </a:extLst>
          </p:cNvPr>
          <p:cNvCxnSpPr/>
          <p:nvPr/>
        </p:nvCxnSpPr>
        <p:spPr>
          <a:xfrm>
            <a:off x="8748713" y="3295650"/>
            <a:ext cx="295275" cy="0"/>
          </a:xfrm>
          <a:prstGeom prst="straightConnector1">
            <a:avLst/>
          </a:prstGeom>
          <a:ln w="19050">
            <a:solidFill>
              <a:srgbClr val="BE98F6"/>
            </a:solidFill>
            <a:prstDash val="solid"/>
            <a:tailEnd type="triangle" w="med" len="med"/>
          </a:ln>
        </p:spPr>
      </p:cxnSp>
      <p:sp>
        <p:nvSpPr>
          <p:cNvPr id="14" name="Rectangle 13">
            <a:extLst>
              <a:ext uri="{FF2B5EF4-FFF2-40B4-BE49-F238E27FC236}">
                <a16:creationId xmlns:a16="http://schemas.microsoft.com/office/drawing/2014/main" id="{440D5488-29AF-4327-A755-716F3D5C8E91}"/>
              </a:ext>
            </a:extLst>
          </p:cNvPr>
          <p:cNvSpPr>
            <a:spLocks noGrp="1"/>
          </p:cNvSpPr>
          <p:nvPr/>
        </p:nvSpPr>
        <p:spPr>
          <a:xfrm>
            <a:off x="9110663" y="2762250"/>
            <a:ext cx="2471738" cy="1066800"/>
          </a:xfrm>
          <a:prstGeom prst="rect">
            <a:avLst/>
          </a:prstGeom>
          <a:solidFill>
            <a:srgbClr val="2A1547"/>
          </a:solidFill>
          <a:ln w="13335">
            <a:solidFill>
              <a:srgbClr val="7D43D5"/>
            </a:solidFill>
          </a:ln>
        </p:spPr>
      </p:sp>
      <p:sp>
        <p:nvSpPr>
          <p:cNvPr id="15" name="Verify file&#10;changes">
            <a:extLst>
              <a:ext uri="{FF2B5EF4-FFF2-40B4-BE49-F238E27FC236}">
                <a16:creationId xmlns:a16="http://schemas.microsoft.com/office/drawing/2014/main" id="{84360891-56B7-46D4-A40F-5F0B65E00014}"/>
              </a:ext>
            </a:extLst>
          </p:cNvPr>
          <p:cNvSpPr>
            <a:spLocks noGrp="1"/>
          </p:cNvSpPr>
          <p:nvPr/>
        </p:nvSpPr>
        <p:spPr>
          <a:xfrm>
            <a:off x="9253538" y="2847975"/>
            <a:ext cx="2185988" cy="895350"/>
          </a:xfrm>
          <a:prstGeom prst="rect">
            <a:avLst/>
          </a:prstGeom>
          <a:noFill/>
          <a:ln w="0">
            <a:noFill/>
          </a:ln>
        </p:spPr>
        <p:txBody>
          <a:bodyPr lIns="0" tIns="0" rIns="0" bIns="0" anchor="ctr"/>
          <a:lstStyle>
            <a:defPPr algn="ctr">
              <a:defRPr sz="1800" b="1">
                <a:solidFill>
                  <a:srgbClr val="FFFFFF"/>
                </a:solidFill>
                <a:latin typeface="Arial"/>
                <a:ea typeface="Arial"/>
                <a:cs typeface="Arial"/>
              </a:defRPr>
            </a:defPPr>
          </a:lstStyle>
          <a:p>
            <a:pPr algn="ctr">
              <a:defRPr sz="1800" b="1">
                <a:solidFill>
                  <a:srgbClr val="FFFFFF"/>
                </a:solidFill>
                <a:latin typeface="Arial"/>
                <a:ea typeface="Arial"/>
                <a:cs typeface="Arial"/>
              </a:defRPr>
            </a:pPr>
            <a:r>
              <a:rPr sz="1800" b="1">
                <a:solidFill>
                  <a:srgbClr val="FFFFFF"/>
                </a:solidFill>
                <a:latin typeface="Arial"/>
                <a:ea typeface="Arial"/>
                <a:cs typeface="Arial"/>
              </a:rPr>
              <a:t>Verify file</a:t>
            </a:r>
          </a:p>
          <a:p>
            <a:pPr algn="ctr">
              <a:defRPr sz="1800" b="1">
                <a:solidFill>
                  <a:srgbClr val="FFFFFF"/>
                </a:solidFill>
                <a:latin typeface="Arial"/>
                <a:ea typeface="Arial"/>
                <a:cs typeface="Arial"/>
              </a:defRPr>
            </a:pPr>
            <a:r>
              <a:rPr sz="1800" b="1">
                <a:solidFill>
                  <a:srgbClr val="FFFFFF"/>
                </a:solidFill>
                <a:latin typeface="Arial"/>
                <a:ea typeface="Arial"/>
                <a:cs typeface="Arial"/>
              </a:rPr>
              <a:t>changes</a:t>
            </a:r>
          </a:p>
        </p:txBody>
      </p:sp>
      <p:sp>
        <p:nvSpPr>
          <p:cNvPr id="16" name="A visible chain from user intent&#10;to a concre">
            <a:extLst>
              <a:ext uri="{FF2B5EF4-FFF2-40B4-BE49-F238E27FC236}">
                <a16:creationId xmlns:a16="http://schemas.microsoft.com/office/drawing/2014/main" id="{741F48B6-ADAB-46F1-BD84-AF514BD477F5}"/>
              </a:ext>
            </a:extLst>
          </p:cNvPr>
          <p:cNvSpPr>
            <a:spLocks noGrp="1"/>
          </p:cNvSpPr>
          <p:nvPr/>
        </p:nvSpPr>
        <p:spPr>
          <a:xfrm>
            <a:off x="609600" y="4514850"/>
            <a:ext cx="10906125" cy="981075"/>
          </a:xfrm>
          <a:prstGeom prst="rect">
            <a:avLst/>
          </a:prstGeom>
          <a:noFill/>
          <a:ln w="0">
            <a:noFill/>
          </a:ln>
        </p:spPr>
        <p:txBody>
          <a:bodyPr lIns="0" tIns="0" rIns="0" bIns="0" anchor="ctr"/>
          <a:lstStyle>
            <a:defPPr algn="l">
              <a:defRPr sz="3150" b="1">
                <a:solidFill>
                  <a:srgbClr val="BE98F6"/>
                </a:solidFill>
                <a:latin typeface="Arial"/>
                <a:ea typeface="Arial"/>
                <a:cs typeface="Arial"/>
              </a:defRPr>
            </a:defPPr>
          </a:lstStyle>
          <a:p>
            <a:pPr algn="l">
              <a:defRPr sz="3150" b="1">
                <a:solidFill>
                  <a:srgbClr val="BE98F6"/>
                </a:solidFill>
                <a:latin typeface="Arial"/>
                <a:ea typeface="Arial"/>
                <a:cs typeface="Arial"/>
              </a:defRPr>
            </a:pPr>
            <a:r>
              <a:rPr sz="3150" b="1">
                <a:solidFill>
                  <a:srgbClr val="BE98F6"/>
                </a:solidFill>
                <a:latin typeface="Arial"/>
                <a:ea typeface="Arial"/>
                <a:cs typeface="Arial"/>
              </a:rPr>
              <a:t>A visible chain from user intent</a:t>
            </a:r>
          </a:p>
          <a:p>
            <a:pPr algn="l">
              <a:defRPr sz="3150" b="1">
                <a:solidFill>
                  <a:srgbClr val="BE98F6"/>
                </a:solidFill>
                <a:latin typeface="Arial"/>
                <a:ea typeface="Arial"/>
                <a:cs typeface="Arial"/>
              </a:defRPr>
            </a:pPr>
            <a:r>
              <a:rPr sz="3150" b="1">
                <a:solidFill>
                  <a:srgbClr val="BE98F6"/>
                </a:solidFill>
                <a:latin typeface="Arial"/>
                <a:ea typeface="Arial"/>
                <a:cs typeface="Arial"/>
              </a:rPr>
              <a:t>to a concrete filesystem result</a:t>
            </a:r>
          </a:p>
        </p:txBody>
      </p:sp>
    </p:spTree>
    <p:extLst>
      <p:ext uri="{BB962C8B-B14F-4D97-AF65-F5344CB8AC3E}">
        <p14:creationId xmlns:p14="http://schemas.microsoft.com/office/powerpoint/2010/main" val="2112545946"/>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4629</Words>
  <Application>Microsoft Office PowerPoint</Application>
  <DocSecurity>0</DocSecurity>
  <PresentationFormat>Widescreen</PresentationFormat>
  <Paragraphs>524</Paragraphs>
  <Slides>39</Slides>
  <Notes>39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39</vt:i4>
      </vt:variant>
    </vt:vector>
  </HeadingPairs>
  <TitlesOfParts>
    <vt:vector size="43" baseType="lpstr">
      <vt:lpstr>Aptos</vt:lpstr>
      <vt:lpstr>Arial</vt:lpstr>
      <vt:lpstr>Courier New</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amarnath pandey</cp:lastModifiedBy>
  <cp:revision>1</cp:revision>
  <dcterms:created xsi:type="dcterms:W3CDTF">2026-10-14T05:44:41Z</dcterms:created>
  <dcterms:modified xsi:type="dcterms:W3CDTF">2026-10-14T05:48:19Z</dcterms:modified>
</cp:coreProperties>
</file>